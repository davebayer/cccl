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Relationship Id="rIdDeck10" Type="http://schemas.openxmlformats.org/officeDocument/2006/relationships/slide" Target="slides/slide10.xml" /><Relationship Id="rIdDeck11" Type="http://schemas.openxmlformats.org/officeDocument/2006/relationships/slide" Target="slides/slide11.xml" /><Relationship Id="rIdDeck12" Type="http://schemas.openxmlformats.org/officeDocument/2006/relationships/slide" Target="slides/slide12.xml" /><Relationship Id="rIdDeck13" Type="http://schemas.openxmlformats.org/officeDocument/2006/relationships/slide" Target="slides/slide13.xml" /><Relationship Id="rIdDeck14" Type="http://schemas.openxmlformats.org/officeDocument/2006/relationships/slide" Target="slides/slide14.xml" /><Relationship Id="rIdDeck15" Type="http://schemas.openxmlformats.org/officeDocument/2006/relationships/slide" Target="slides/slide15.xml" /><Relationship Id="rIdDeck16" Type="http://schemas.openxmlformats.org/officeDocument/2006/relationships/slide" Target="slides/slide16.xml" /><Relationship Id="rIdDeck17" Type="http://schemas.openxmlformats.org/officeDocument/2006/relationships/slide" Target="slides/slide17.xml" /><Relationship Id="rIdDeck18" Type="http://schemas.openxmlformats.org/officeDocument/2006/relationships/slide" Target="slides/slide18.xml" /><Relationship Id="rIdDeck19" Type="http://schemas.openxmlformats.org/officeDocument/2006/relationships/slide" Target="slides/slide19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y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y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Why?</a:t>
            </a:r>
          </a:p>
        </p:txBody>
      </p:sp>
      <p:sp>
        <p:nvSpPr>
          <p:cNvPr id="3" name="Two complementary pieces for cooperative problem solving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Two complementary pieces for cooperative problem solving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 clear abstraction to organize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into groups that can cooperate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APIs that implement algorithms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for the common problems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When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en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When?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Ambitious goal: GTC · March 2027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4" name="Initial `reduce`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reduce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7" name="Initial `any_of`, `all_of`, `shuffle`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any_of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all_of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shuffle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threads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units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Arbitrary thread selection · two blocks per pa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 · Arbitrary thread selection · two blocks per panel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Selecting the first and third warps · two bloc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 · Selecting the first and third warps · two blocks per panel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General 3D rank expression"/>
          <p:cNvSpPr/>
          <p:nvPr/>
        </p:nvSpPr>
        <p:spPr>
          <a:xfrm>
            <a:off x="24688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General 3D rank expression</a:t>
            </a: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4" name="Verbatim C++ snippet" descr="Verbatim fenced C++ snippet from slides.md"/>
          <p:cNvSpPr/>
          <p:nvPr/>
        </p:nvSpPr>
        <p:spPr>
          <a:xfrm>
            <a:off x="194995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General 3D rank expression"/>
          <p:cNvSpPr/>
          <p:nvPr/>
        </p:nvSpPr>
        <p:spPr>
          <a:xfrm>
            <a:off x="194995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General 3D rank expression</a:t>
            </a:r>
          </a:p>
        </p:txBody>
      </p:sp>
      <p:sp>
        <p:nvSpPr>
          <p:cNvPr id="16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09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General 3D rank expression"/>
          <p:cNvSpPr/>
          <p:nvPr/>
        </p:nvSpPr>
        <p:spPr>
          <a:xfrm>
            <a:off x="24688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General 3D rank expression</a:t>
            </a: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4" name="Verbatim C++ snippet" descr="Verbatim fenced C++ snippet from slides.md"/>
          <p:cNvSpPr/>
          <p:nvPr/>
        </p:nvSpPr>
        <p:spPr>
          <a:xfrm>
            <a:off x="194995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Rank is the x coordinate"/>
          <p:cNvSpPr/>
          <p:nvPr/>
        </p:nvSpPr>
        <p:spPr>
          <a:xfrm>
            <a:off x="194995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Rank is the x coordinate</a:t>
            </a:r>
          </a:p>
        </p:txBody>
      </p:sp>
      <p:sp>
        <p:nvSpPr>
          <p:cNvPr id="16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With a known 1D block, CCCL uses threadIdx.x directly.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e same thread rank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queries · The same thread rank</a:t>
            </a:r>
          </a:p>
        </p:txBody>
      </p:sp>
      <p:sp>
        <p:nvSpPr>
          <p:cNvPr id="4" name="1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5" name="Highlighted thread: block thread 75 (in block warp 2)"/>
          <p:cNvSpPr/>
          <p:nvPr/>
        </p:nvSpPr>
        <p:spPr>
          <a:xfrm>
            <a:off x="1874520" y="5074920"/>
            <a:ext cx="32461200" cy="9829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Highlighted thread: block thread 75 (in block warp 2)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75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147" name="Group: all threads&#10;in the block"/>
          <p:cNvSpPr/>
          <p:nvPr/>
        </p:nvSpPr>
        <p:spPr>
          <a:xfrm>
            <a:off x="117043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3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6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19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1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2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3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4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7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88" name="75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289" name="Group: all threads&#10;in the block"/>
          <p:cNvSpPr/>
          <p:nvPr/>
        </p:nvSpPr>
        <p:spPr>
          <a:xfrm>
            <a:off x="287350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290" name="Both APIs report thread rank 75 within this block-wide group."/>
          <p:cNvSpPr/>
          <p:nvPr/>
        </p:nvSpPr>
        <p:spPr>
          <a:xfrm>
            <a:off x="1874520" y="18013680"/>
            <a:ext cx="320040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Both APIs report thread rank 75 within this block-wide group.</a:t>
            </a:r>
          </a:p>
        </p:txBody>
      </p:sp>
      <p:sp>
        <p:nvSpPr>
          <p:cNvPr id="291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3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4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5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6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e first and third warps form the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queries · The first and third warps form the group</a:t>
            </a:r>
          </a:p>
        </p:txBody>
      </p:sp>
      <p:sp>
        <p:nvSpPr>
          <p:cNvPr id="4" name="1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5" name="Highlighted thread: block thread 75 (in block warp 2)"/>
          <p:cNvSpPr/>
          <p:nvPr/>
        </p:nvSpPr>
        <p:spPr>
          <a:xfrm>
            <a:off x="1874520" y="5074920"/>
            <a:ext cx="32461200" cy="9829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Highlighted thread: block thread 75 (in block warp 2)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43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147" name="Thread rank only"/>
          <p:cNvSpPr/>
          <p:nvPr/>
        </p:nvSpPr>
        <p:spPr>
          <a:xfrm>
            <a:off x="11704320" y="14584680"/>
            <a:ext cx="5143500" cy="1371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Thread rank only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Selected warp unit 0"/>
          <p:cNvSpPr/>
          <p:nvPr/>
        </p:nvSpPr>
        <p:spPr>
          <a:xfrm>
            <a:off x="19705320" y="928116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4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7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Selected warp unit 2"/>
          <p:cNvSpPr/>
          <p:nvPr/>
        </p:nvSpPr>
        <p:spPr>
          <a:xfrm>
            <a:off x="19705320" y="1307592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21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3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4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5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6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8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9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0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1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2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3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4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6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1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6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9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90" name="43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291" name="Warp rank"/>
          <p:cNvSpPr/>
          <p:nvPr/>
        </p:nvSpPr>
        <p:spPr>
          <a:xfrm>
            <a:off x="28735020" y="14218920"/>
            <a:ext cx="5394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Warp rank</a:t>
            </a:r>
          </a:p>
        </p:txBody>
      </p:sp>
      <p:sp>
        <p:nvSpPr>
          <p:cNvPr id="292" name="1"/>
          <p:cNvSpPr/>
          <p:nvPr/>
        </p:nvSpPr>
        <p:spPr>
          <a:xfrm>
            <a:off x="28735020" y="15133320"/>
            <a:ext cx="5029200" cy="16002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820" b="1">
                <a:solidFill>
                  <a:schemeClr val="accent4"/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93" name="Thread rank 43 = 32 threads in warp 0 + 11 earlier threads in war"/>
          <p:cNvSpPr/>
          <p:nvPr/>
        </p:nvSpPr>
        <p:spPr>
          <a:xfrm>
            <a:off x="1874520" y="18013680"/>
            <a:ext cx="328041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Thread rank 43 = 32 threads in warp 0 + 11 earlier threads in warp 2.</a:t>
            </a:r>
          </a:p>
        </p:txBody>
      </p:sp>
      <p:sp>
        <p:nvSpPr>
          <p:cNvPr id="294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6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7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8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9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What makes them different? — Partition and synchron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Separation of Partition and Synchroniz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Separation of Partition and Synchronization</a:t>
            </a:r>
          </a:p>
        </p:txBody>
      </p:sp>
      <p:sp>
        <p:nvSpPr>
          <p:cNvPr id="4" name="1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" name="How units are grouped is independent of&#10;how they are synchronized"/>
          <p:cNvSpPr/>
          <p:nvPr/>
        </p:nvSpPr>
        <p:spPr>
          <a:xfrm>
            <a:off x="1874520" y="4983480"/>
            <a:ext cx="32004000" cy="2057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units are grouped is independent of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they are synchronized.</a:t>
            </a:r>
          </a:p>
        </p:txBody>
      </p:sp>
      <p:sp>
        <p:nvSpPr>
          <p:cNvPr id="6" name="Unit choice"/>
          <p:cNvSpPr/>
          <p:nvPr/>
        </p:nvSpPr>
        <p:spPr>
          <a:xfrm>
            <a:off x="182880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7" name="Choice number"/>
          <p:cNvSpPr/>
          <p:nvPr/>
        </p:nvSpPr>
        <p:spPr>
          <a:xfrm>
            <a:off x="230886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" name="1"/>
          <p:cNvSpPr/>
          <p:nvPr/>
        </p:nvSpPr>
        <p:spPr>
          <a:xfrm>
            <a:off x="230886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Unit"/>
          <p:cNvSpPr/>
          <p:nvPr/>
        </p:nvSpPr>
        <p:spPr>
          <a:xfrm>
            <a:off x="347472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Unit</a:t>
            </a:r>
          </a:p>
        </p:txBody>
      </p:sp>
      <p:sp>
        <p:nvSpPr>
          <p:cNvPr id="10" name="What is being&#10;grouped?"/>
          <p:cNvSpPr/>
          <p:nvPr/>
        </p:nvSpPr>
        <p:spPr>
          <a:xfrm>
            <a:off x="235458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What is being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11" name="Threads, warps, …"/>
          <p:cNvSpPr/>
          <p:nvPr/>
        </p:nvSpPr>
        <p:spPr>
          <a:xfrm>
            <a:off x="235458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2" name="Next design choice"/>
          <p:cNvSpPr/>
          <p:nvPr/>
        </p:nvSpPr>
        <p:spPr>
          <a:xfrm>
            <a:off x="950976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13" name="Upper boundary choice"/>
          <p:cNvSpPr/>
          <p:nvPr/>
        </p:nvSpPr>
        <p:spPr>
          <a:xfrm>
            <a:off x="1033272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4" name="Choice number"/>
          <p:cNvSpPr/>
          <p:nvPr/>
        </p:nvSpPr>
        <p:spPr>
          <a:xfrm>
            <a:off x="1081278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1081278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"/>
          <p:cNvSpPr/>
          <p:nvPr/>
        </p:nvSpPr>
        <p:spPr>
          <a:xfrm>
            <a:off x="1197864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17" name="Within what?"/>
          <p:cNvSpPr/>
          <p:nvPr/>
        </p:nvSpPr>
        <p:spPr>
          <a:xfrm>
            <a:off x="1085850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Within what?</a:t>
            </a:r>
          </a:p>
        </p:txBody>
      </p:sp>
      <p:sp>
        <p:nvSpPr>
          <p:cNvPr id="18" name="A block, another group, …"/>
          <p:cNvSpPr/>
          <p:nvPr/>
        </p:nvSpPr>
        <p:spPr>
          <a:xfrm>
            <a:off x="1085850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A block, another group, …</a:t>
            </a:r>
          </a:p>
        </p:txBody>
      </p:sp>
      <p:sp>
        <p:nvSpPr>
          <p:cNvPr id="19" name="Next design choice"/>
          <p:cNvSpPr/>
          <p:nvPr/>
        </p:nvSpPr>
        <p:spPr>
          <a:xfrm>
            <a:off x="1801368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0" name="Mapping choice"/>
          <p:cNvSpPr/>
          <p:nvPr/>
        </p:nvSpPr>
        <p:spPr>
          <a:xfrm>
            <a:off x="1883664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1" name="Choice number"/>
          <p:cNvSpPr/>
          <p:nvPr/>
        </p:nvSpPr>
        <p:spPr>
          <a:xfrm>
            <a:off x="1931670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3"/>
          <p:cNvSpPr/>
          <p:nvPr/>
        </p:nvSpPr>
        <p:spPr>
          <a:xfrm>
            <a:off x="1931670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3" name="Mapping"/>
          <p:cNvSpPr/>
          <p:nvPr/>
        </p:nvSpPr>
        <p:spPr>
          <a:xfrm>
            <a:off x="2048256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24" name="How are units&#10;grouped?"/>
          <p:cNvSpPr/>
          <p:nvPr/>
        </p:nvSpPr>
        <p:spPr>
          <a:xfrm>
            <a:off x="1936242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are units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25" name="By 4, a predicate, …"/>
          <p:cNvSpPr/>
          <p:nvPr/>
        </p:nvSpPr>
        <p:spPr>
          <a:xfrm>
            <a:off x="1936242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By 4, a predicate, …</a:t>
            </a:r>
          </a:p>
        </p:txBody>
      </p:sp>
      <p:sp>
        <p:nvSpPr>
          <p:cNvPr id="26" name="Next design choice"/>
          <p:cNvSpPr/>
          <p:nvPr/>
        </p:nvSpPr>
        <p:spPr>
          <a:xfrm>
            <a:off x="2651760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7" name="Synchronizer Selection choice"/>
          <p:cNvSpPr/>
          <p:nvPr/>
        </p:nvSpPr>
        <p:spPr>
          <a:xfrm>
            <a:off x="2734056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8" name="Choice number"/>
          <p:cNvSpPr/>
          <p:nvPr/>
        </p:nvSpPr>
        <p:spPr>
          <a:xfrm>
            <a:off x="2782062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4"/>
          <p:cNvSpPr/>
          <p:nvPr/>
        </p:nvSpPr>
        <p:spPr>
          <a:xfrm>
            <a:off x="2782062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0" name="Synchronizer Selection"/>
          <p:cNvSpPr/>
          <p:nvPr/>
        </p:nvSpPr>
        <p:spPr>
          <a:xfrm>
            <a:off x="2898648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Synchronizer Selection</a:t>
            </a:r>
          </a:p>
        </p:txBody>
      </p:sp>
      <p:sp>
        <p:nvSpPr>
          <p:cNvPr id="31" name="How shall it&#10;synchronize?"/>
          <p:cNvSpPr/>
          <p:nvPr/>
        </p:nvSpPr>
        <p:spPr>
          <a:xfrm>
            <a:off x="2786634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shall it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synchronize?</a:t>
            </a:r>
          </a:p>
        </p:txBody>
      </p:sp>
      <p:sp>
        <p:nvSpPr>
          <p:cNvPr id="32" name="Barrier, __syncwarp(), …"/>
          <p:cNvSpPr/>
          <p:nvPr/>
        </p:nvSpPr>
        <p:spPr>
          <a:xfrm>
            <a:off x="2786634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Barrier, __syncwarp(), …</a:t>
            </a:r>
          </a:p>
        </p:txBody>
      </p:sp>
      <p:sp>
        <p:nvSpPr>
          <p:cNvPr id="33" name="Partition choices"/>
          <p:cNvSpPr/>
          <p:nvPr/>
        </p:nvSpPr>
        <p:spPr>
          <a:xfrm>
            <a:off x="1828800" y="15567660"/>
            <a:ext cx="2441448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4" name="Synchronization choice"/>
          <p:cNvSpPr/>
          <p:nvPr/>
        </p:nvSpPr>
        <p:spPr>
          <a:xfrm>
            <a:off x="27340560" y="15567660"/>
            <a:ext cx="740664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5" name="Partition"/>
          <p:cNvSpPr/>
          <p:nvPr/>
        </p:nvSpPr>
        <p:spPr>
          <a:xfrm>
            <a:off x="1828800" y="16207740"/>
            <a:ext cx="2441448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Partition</a:t>
            </a:r>
          </a:p>
        </p:txBody>
      </p:sp>
      <p:sp>
        <p:nvSpPr>
          <p:cNvPr id="36" name="Unit + upper boundary + mapping"/>
          <p:cNvSpPr/>
          <p:nvPr/>
        </p:nvSpPr>
        <p:spPr>
          <a:xfrm>
            <a:off x="1828800" y="17442180"/>
            <a:ext cx="244144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Unit + upper boundary + mapping</a:t>
            </a:r>
          </a:p>
        </p:txBody>
      </p:sp>
      <p:sp>
        <p:nvSpPr>
          <p:cNvPr id="37" name="Synchronization"/>
          <p:cNvSpPr/>
          <p:nvPr/>
        </p:nvSpPr>
        <p:spPr>
          <a:xfrm>
            <a:off x="27340560" y="16207740"/>
            <a:ext cx="740664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</a:t>
            </a:r>
          </a:p>
        </p:txBody>
      </p:sp>
      <p:sp>
        <p:nvSpPr>
          <p:cNvPr id="38" name="Choose the mechanism"/>
          <p:cNvSpPr/>
          <p:nvPr/>
        </p:nvSpPr>
        <p:spPr>
          <a:xfrm>
            <a:off x="27340560" y="17442180"/>
            <a:ext cx="740664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Choose the mechanism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What makes them different? — Optional particip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Optional particip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Optional participation</a:t>
            </a:r>
          </a:p>
        </p:txBody>
      </p:sp>
      <p:sp>
        <p:nvSpPr>
          <p:cNvPr id="4" name="1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" name="CCCL Cooperative Groups support non-exhaustive mapping."/>
          <p:cNvSpPr/>
          <p:nvPr/>
        </p:nvSpPr>
        <p:spPr>
          <a:xfrm>
            <a:off x="1874520" y="4983480"/>
            <a:ext cx="323469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CCCL Cooperative Groups support non-exhaustive mapping.</a:t>
            </a:r>
          </a:p>
        </p:txBody>
      </p:sp>
      <p:sp>
        <p:nvSpPr>
          <p:cNvPr id="6" name="Parent group · one warp"/>
          <p:cNvSpPr/>
          <p:nvPr/>
        </p:nvSpPr>
        <p:spPr>
          <a:xfrm>
            <a:off x="1828800" y="7132320"/>
            <a:ext cx="8343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Parent group · one warp</a:t>
            </a:r>
          </a:p>
        </p:txBody>
      </p:sp>
      <p:sp>
        <p:nvSpPr>
          <p:cNvPr id="7" name="Resulting groups"/>
          <p:cNvSpPr/>
          <p:nvPr/>
        </p:nvSpPr>
        <p:spPr>
          <a:xfrm>
            <a:off x="22860000" y="7132320"/>
            <a:ext cx="118872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Resulting groups</a:t>
            </a:r>
          </a:p>
        </p:txBody>
      </p:sp>
      <p:sp>
        <p:nvSpPr>
          <p:cNvPr id="8" name="Parent group: one 32-thread warp"/>
          <p:cNvSpPr/>
          <p:nvPr/>
        </p:nvSpPr>
        <p:spPr>
          <a:xfrm>
            <a:off x="1828800" y="8641080"/>
            <a:ext cx="8343900" cy="6858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Parent group upper boundary"/>
          <p:cNvSpPr/>
          <p:nvPr/>
        </p:nvSpPr>
        <p:spPr>
          <a:xfrm>
            <a:off x="1668780" y="8481060"/>
            <a:ext cx="8663940" cy="7178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Parent thread 0"/>
          <p:cNvSpPr/>
          <p:nvPr/>
        </p:nvSpPr>
        <p:spPr>
          <a:xfrm>
            <a:off x="25603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Parent thread 1"/>
          <p:cNvSpPr/>
          <p:nvPr/>
        </p:nvSpPr>
        <p:spPr>
          <a:xfrm>
            <a:off x="34518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Parent thread 2"/>
          <p:cNvSpPr/>
          <p:nvPr/>
        </p:nvSpPr>
        <p:spPr>
          <a:xfrm>
            <a:off x="43434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Parent thread 3"/>
          <p:cNvSpPr/>
          <p:nvPr/>
        </p:nvSpPr>
        <p:spPr>
          <a:xfrm>
            <a:off x="523494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Parent thread 4"/>
          <p:cNvSpPr/>
          <p:nvPr/>
        </p:nvSpPr>
        <p:spPr>
          <a:xfrm>
            <a:off x="612648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Parent thread 5"/>
          <p:cNvSpPr/>
          <p:nvPr/>
        </p:nvSpPr>
        <p:spPr>
          <a:xfrm>
            <a:off x="70180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Parent thread 6"/>
          <p:cNvSpPr/>
          <p:nvPr/>
        </p:nvSpPr>
        <p:spPr>
          <a:xfrm>
            <a:off x="79095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Parent thread 7"/>
          <p:cNvSpPr/>
          <p:nvPr/>
        </p:nvSpPr>
        <p:spPr>
          <a:xfrm>
            <a:off x="88011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Parent thread 8"/>
          <p:cNvSpPr/>
          <p:nvPr/>
        </p:nvSpPr>
        <p:spPr>
          <a:xfrm>
            <a:off x="25603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Parent thread 9"/>
          <p:cNvSpPr/>
          <p:nvPr/>
        </p:nvSpPr>
        <p:spPr>
          <a:xfrm>
            <a:off x="34518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Parent thread 10"/>
          <p:cNvSpPr/>
          <p:nvPr/>
        </p:nvSpPr>
        <p:spPr>
          <a:xfrm>
            <a:off x="43434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Parent thread 11"/>
          <p:cNvSpPr/>
          <p:nvPr/>
        </p:nvSpPr>
        <p:spPr>
          <a:xfrm>
            <a:off x="523494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Parent thread 12"/>
          <p:cNvSpPr/>
          <p:nvPr/>
        </p:nvSpPr>
        <p:spPr>
          <a:xfrm>
            <a:off x="612648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Parent thread 13"/>
          <p:cNvSpPr/>
          <p:nvPr/>
        </p:nvSpPr>
        <p:spPr>
          <a:xfrm>
            <a:off x="70180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Parent thread 14"/>
          <p:cNvSpPr/>
          <p:nvPr/>
        </p:nvSpPr>
        <p:spPr>
          <a:xfrm>
            <a:off x="79095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Parent thread 15"/>
          <p:cNvSpPr/>
          <p:nvPr/>
        </p:nvSpPr>
        <p:spPr>
          <a:xfrm>
            <a:off x="88011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Parent thread 16"/>
          <p:cNvSpPr/>
          <p:nvPr/>
        </p:nvSpPr>
        <p:spPr>
          <a:xfrm>
            <a:off x="25603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Parent thread 17"/>
          <p:cNvSpPr/>
          <p:nvPr/>
        </p:nvSpPr>
        <p:spPr>
          <a:xfrm>
            <a:off x="34518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Parent thread 18"/>
          <p:cNvSpPr/>
          <p:nvPr/>
        </p:nvSpPr>
        <p:spPr>
          <a:xfrm>
            <a:off x="43434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Parent thread 19"/>
          <p:cNvSpPr/>
          <p:nvPr/>
        </p:nvSpPr>
        <p:spPr>
          <a:xfrm>
            <a:off x="523494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Parent thread 20"/>
          <p:cNvSpPr/>
          <p:nvPr/>
        </p:nvSpPr>
        <p:spPr>
          <a:xfrm>
            <a:off x="612648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thread 21"/>
          <p:cNvSpPr/>
          <p:nvPr/>
        </p:nvSpPr>
        <p:spPr>
          <a:xfrm>
            <a:off x="70180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Parent thread 22"/>
          <p:cNvSpPr/>
          <p:nvPr/>
        </p:nvSpPr>
        <p:spPr>
          <a:xfrm>
            <a:off x="79095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Parent thread 23"/>
          <p:cNvSpPr/>
          <p:nvPr/>
        </p:nvSpPr>
        <p:spPr>
          <a:xfrm>
            <a:off x="88011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Parent thread 24"/>
          <p:cNvSpPr/>
          <p:nvPr/>
        </p:nvSpPr>
        <p:spPr>
          <a:xfrm>
            <a:off x="25603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Parent thread 25"/>
          <p:cNvSpPr/>
          <p:nvPr/>
        </p:nvSpPr>
        <p:spPr>
          <a:xfrm>
            <a:off x="34518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Parent thread 26"/>
          <p:cNvSpPr/>
          <p:nvPr/>
        </p:nvSpPr>
        <p:spPr>
          <a:xfrm>
            <a:off x="43434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Parent thread 27"/>
          <p:cNvSpPr/>
          <p:nvPr/>
        </p:nvSpPr>
        <p:spPr>
          <a:xfrm>
            <a:off x="523494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Parent thread 28"/>
          <p:cNvSpPr/>
          <p:nvPr/>
        </p:nvSpPr>
        <p:spPr>
          <a:xfrm>
            <a:off x="612648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Parent thread 29"/>
          <p:cNvSpPr/>
          <p:nvPr/>
        </p:nvSpPr>
        <p:spPr>
          <a:xfrm>
            <a:off x="70180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Parent thread 30"/>
          <p:cNvSpPr/>
          <p:nvPr/>
        </p:nvSpPr>
        <p:spPr>
          <a:xfrm>
            <a:off x="79095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Parent thread 31"/>
          <p:cNvSpPr/>
          <p:nvPr/>
        </p:nvSpPr>
        <p:spPr>
          <a:xfrm>
            <a:off x="88011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32 threads"/>
          <p:cNvSpPr/>
          <p:nvPr/>
        </p:nvSpPr>
        <p:spPr>
          <a:xfrm>
            <a:off x="2377440" y="14424660"/>
            <a:ext cx="722376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32 threads</a:t>
            </a:r>
          </a:p>
        </p:txBody>
      </p:sp>
      <p:sp>
        <p:nvSpPr>
          <p:cNvPr id="43" name="Parent to mapping"/>
          <p:cNvSpPr/>
          <p:nvPr/>
        </p:nvSpPr>
        <p:spPr>
          <a:xfrm>
            <a:off x="1085850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4" name="Mapping: group by five"/>
          <p:cNvSpPr/>
          <p:nvPr/>
        </p:nvSpPr>
        <p:spPr>
          <a:xfrm>
            <a:off x="13235940" y="9989820"/>
            <a:ext cx="6515100" cy="37261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5" name="MAPPING"/>
          <p:cNvSpPr/>
          <p:nvPr/>
        </p:nvSpPr>
        <p:spPr>
          <a:xfrm>
            <a:off x="13624560" y="10538460"/>
            <a:ext cx="571500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46" name="Group by 5"/>
          <p:cNvSpPr/>
          <p:nvPr/>
        </p:nvSpPr>
        <p:spPr>
          <a:xfrm>
            <a:off x="13624560" y="11635740"/>
            <a:ext cx="5715000" cy="13030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5940" b="1">
                <a:solidFill>
                  <a:schemeClr val="dk1"/>
                </a:solidFill>
                <a:latin typeface="NVIDIA Sans Medium"/>
              </a:rPr>
              <a:t xml:space="preserve">Group by 5</a:t>
            </a:r>
          </a:p>
        </p:txBody>
      </p:sp>
      <p:sp>
        <p:nvSpPr>
          <p:cNvPr id="47" name="Mapping to resulting groups"/>
          <p:cNvSpPr/>
          <p:nvPr/>
        </p:nvSpPr>
        <p:spPr>
          <a:xfrm>
            <a:off x="2048256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8" name="Resulting group 0: five threads"/>
          <p:cNvSpPr/>
          <p:nvPr/>
        </p:nvSpPr>
        <p:spPr>
          <a:xfrm>
            <a:off x="228600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Group 0"/>
          <p:cNvSpPr/>
          <p:nvPr/>
        </p:nvSpPr>
        <p:spPr>
          <a:xfrm>
            <a:off x="231800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0</a:t>
            </a:r>
          </a:p>
        </p:txBody>
      </p:sp>
      <p:sp>
        <p:nvSpPr>
          <p:cNvPr id="50" name="Mapped thread 0 in group 0"/>
          <p:cNvSpPr/>
          <p:nvPr/>
        </p:nvSpPr>
        <p:spPr>
          <a:xfrm>
            <a:off x="233629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Mapped thread 1 in group 0"/>
          <p:cNvSpPr/>
          <p:nvPr/>
        </p:nvSpPr>
        <p:spPr>
          <a:xfrm>
            <a:off x="243687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Mapped thread 2 in group 0"/>
          <p:cNvSpPr/>
          <p:nvPr/>
        </p:nvSpPr>
        <p:spPr>
          <a:xfrm>
            <a:off x="253746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Mapped thread 3 in group 0"/>
          <p:cNvSpPr/>
          <p:nvPr/>
        </p:nvSpPr>
        <p:spPr>
          <a:xfrm>
            <a:off x="263804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Mapped thread 4 in group 0"/>
          <p:cNvSpPr/>
          <p:nvPr/>
        </p:nvSpPr>
        <p:spPr>
          <a:xfrm>
            <a:off x="273862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Resulting group 1: five threads"/>
          <p:cNvSpPr/>
          <p:nvPr/>
        </p:nvSpPr>
        <p:spPr>
          <a:xfrm>
            <a:off x="290322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Group 1"/>
          <p:cNvSpPr/>
          <p:nvPr/>
        </p:nvSpPr>
        <p:spPr>
          <a:xfrm>
            <a:off x="293522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1</a:t>
            </a:r>
          </a:p>
        </p:txBody>
      </p:sp>
      <p:sp>
        <p:nvSpPr>
          <p:cNvPr id="57" name="Mapped thread 5 in group 1"/>
          <p:cNvSpPr/>
          <p:nvPr/>
        </p:nvSpPr>
        <p:spPr>
          <a:xfrm>
            <a:off x="295351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Mapped thread 6 in group 1"/>
          <p:cNvSpPr/>
          <p:nvPr/>
        </p:nvSpPr>
        <p:spPr>
          <a:xfrm>
            <a:off x="305409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Mapped thread 7 in group 1"/>
          <p:cNvSpPr/>
          <p:nvPr/>
        </p:nvSpPr>
        <p:spPr>
          <a:xfrm>
            <a:off x="315468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Mapped thread 8 in group 1"/>
          <p:cNvSpPr/>
          <p:nvPr/>
        </p:nvSpPr>
        <p:spPr>
          <a:xfrm>
            <a:off x="325526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Mapped thread 9 in group 1"/>
          <p:cNvSpPr/>
          <p:nvPr/>
        </p:nvSpPr>
        <p:spPr>
          <a:xfrm>
            <a:off x="335584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Resulting group 2: five threads"/>
          <p:cNvSpPr/>
          <p:nvPr/>
        </p:nvSpPr>
        <p:spPr>
          <a:xfrm>
            <a:off x="228600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Group 2"/>
          <p:cNvSpPr/>
          <p:nvPr/>
        </p:nvSpPr>
        <p:spPr>
          <a:xfrm>
            <a:off x="231800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2</a:t>
            </a:r>
          </a:p>
        </p:txBody>
      </p:sp>
      <p:sp>
        <p:nvSpPr>
          <p:cNvPr id="64" name="Mapped thread 10 in group 2"/>
          <p:cNvSpPr/>
          <p:nvPr/>
        </p:nvSpPr>
        <p:spPr>
          <a:xfrm>
            <a:off x="233629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Mapped thread 11 in group 2"/>
          <p:cNvSpPr/>
          <p:nvPr/>
        </p:nvSpPr>
        <p:spPr>
          <a:xfrm>
            <a:off x="243687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Mapped thread 12 in group 2"/>
          <p:cNvSpPr/>
          <p:nvPr/>
        </p:nvSpPr>
        <p:spPr>
          <a:xfrm>
            <a:off x="253746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Mapped thread 13 in group 2"/>
          <p:cNvSpPr/>
          <p:nvPr/>
        </p:nvSpPr>
        <p:spPr>
          <a:xfrm>
            <a:off x="263804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Mapped thread 14 in group 2"/>
          <p:cNvSpPr/>
          <p:nvPr/>
        </p:nvSpPr>
        <p:spPr>
          <a:xfrm>
            <a:off x="273862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Resulting group 3: five threads"/>
          <p:cNvSpPr/>
          <p:nvPr/>
        </p:nvSpPr>
        <p:spPr>
          <a:xfrm>
            <a:off x="290322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Group 3"/>
          <p:cNvSpPr/>
          <p:nvPr/>
        </p:nvSpPr>
        <p:spPr>
          <a:xfrm>
            <a:off x="293522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3</a:t>
            </a:r>
          </a:p>
        </p:txBody>
      </p:sp>
      <p:sp>
        <p:nvSpPr>
          <p:cNvPr id="71" name="Mapped thread 15 in group 3"/>
          <p:cNvSpPr/>
          <p:nvPr/>
        </p:nvSpPr>
        <p:spPr>
          <a:xfrm>
            <a:off x="295351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Mapped thread 16 in group 3"/>
          <p:cNvSpPr/>
          <p:nvPr/>
        </p:nvSpPr>
        <p:spPr>
          <a:xfrm>
            <a:off x="305409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Mapped thread 17 in group 3"/>
          <p:cNvSpPr/>
          <p:nvPr/>
        </p:nvSpPr>
        <p:spPr>
          <a:xfrm>
            <a:off x="315468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Mapped thread 18 in group 3"/>
          <p:cNvSpPr/>
          <p:nvPr/>
        </p:nvSpPr>
        <p:spPr>
          <a:xfrm>
            <a:off x="325526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Mapped thread 19 in group 3"/>
          <p:cNvSpPr/>
          <p:nvPr/>
        </p:nvSpPr>
        <p:spPr>
          <a:xfrm>
            <a:off x="335584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Resulting group 4: five threads"/>
          <p:cNvSpPr/>
          <p:nvPr/>
        </p:nvSpPr>
        <p:spPr>
          <a:xfrm>
            <a:off x="228600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Group 4"/>
          <p:cNvSpPr/>
          <p:nvPr/>
        </p:nvSpPr>
        <p:spPr>
          <a:xfrm>
            <a:off x="231800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4</a:t>
            </a:r>
          </a:p>
        </p:txBody>
      </p:sp>
      <p:sp>
        <p:nvSpPr>
          <p:cNvPr id="78" name="Mapped thread 20 in group 4"/>
          <p:cNvSpPr/>
          <p:nvPr/>
        </p:nvSpPr>
        <p:spPr>
          <a:xfrm>
            <a:off x="233629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Mapped thread 21 in group 4"/>
          <p:cNvSpPr/>
          <p:nvPr/>
        </p:nvSpPr>
        <p:spPr>
          <a:xfrm>
            <a:off x="243687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Mapped thread 22 in group 4"/>
          <p:cNvSpPr/>
          <p:nvPr/>
        </p:nvSpPr>
        <p:spPr>
          <a:xfrm>
            <a:off x="253746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Mapped thread 23 in group 4"/>
          <p:cNvSpPr/>
          <p:nvPr/>
        </p:nvSpPr>
        <p:spPr>
          <a:xfrm>
            <a:off x="263804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Mapped thread 24 in group 4"/>
          <p:cNvSpPr/>
          <p:nvPr/>
        </p:nvSpPr>
        <p:spPr>
          <a:xfrm>
            <a:off x="273862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Resulting group 5: five threads"/>
          <p:cNvSpPr/>
          <p:nvPr/>
        </p:nvSpPr>
        <p:spPr>
          <a:xfrm>
            <a:off x="290322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Group 5"/>
          <p:cNvSpPr/>
          <p:nvPr/>
        </p:nvSpPr>
        <p:spPr>
          <a:xfrm>
            <a:off x="293522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5</a:t>
            </a:r>
          </a:p>
        </p:txBody>
      </p:sp>
      <p:sp>
        <p:nvSpPr>
          <p:cNvPr id="85" name="Mapped thread 25 in group 5"/>
          <p:cNvSpPr/>
          <p:nvPr/>
        </p:nvSpPr>
        <p:spPr>
          <a:xfrm>
            <a:off x="295351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Mapped thread 26 in group 5"/>
          <p:cNvSpPr/>
          <p:nvPr/>
        </p:nvSpPr>
        <p:spPr>
          <a:xfrm>
            <a:off x="305409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Mapped thread 27 in group 5"/>
          <p:cNvSpPr/>
          <p:nvPr/>
        </p:nvSpPr>
        <p:spPr>
          <a:xfrm>
            <a:off x="315468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Mapped thread 28 in group 5"/>
          <p:cNvSpPr/>
          <p:nvPr/>
        </p:nvSpPr>
        <p:spPr>
          <a:xfrm>
            <a:off x="325526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Mapped thread 29 in group 5"/>
          <p:cNvSpPr/>
          <p:nvPr/>
        </p:nvSpPr>
        <p:spPr>
          <a:xfrm>
            <a:off x="335584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No group"/>
          <p:cNvSpPr/>
          <p:nvPr/>
        </p:nvSpPr>
        <p:spPr>
          <a:xfrm>
            <a:off x="22860000" y="16162020"/>
            <a:ext cx="38862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dk1"/>
                </a:solidFill>
                <a:latin typeface="NVIDIA Sans Medium"/>
              </a:rPr>
              <a:t xml:space="preserve">No group</a:t>
            </a:r>
          </a:p>
        </p:txBody>
      </p:sp>
      <p:sp>
        <p:nvSpPr>
          <p:cNvPr id="91" name="Thread 30: no resulting group"/>
          <p:cNvSpPr/>
          <p:nvPr/>
        </p:nvSpPr>
        <p:spPr>
          <a:xfrm>
            <a:off x="2750058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31: no resulting group"/>
          <p:cNvSpPr/>
          <p:nvPr/>
        </p:nvSpPr>
        <p:spPr>
          <a:xfrm>
            <a:off x="2850642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3" name="2 threads"/>
          <p:cNvSpPr/>
          <p:nvPr/>
        </p:nvSpPr>
        <p:spPr>
          <a:xfrm>
            <a:off x="29946600" y="16207740"/>
            <a:ext cx="48006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2 threads</a:t>
            </a:r>
          </a:p>
        </p:txBody>
      </p:sp>
      <p:sp>
        <p:nvSpPr>
          <p:cNvPr id="94" name="32 threads → 6 groups × 5 threads + 2 threads without a group"/>
          <p:cNvSpPr/>
          <p:nvPr/>
        </p:nvSpPr>
        <p:spPr>
          <a:xfrm>
            <a:off x="1874520" y="18356580"/>
            <a:ext cx="3287268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32 threads → 6 groups × 5 threads + 2 threads without a group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Requirements on groups —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What a group specifies and provide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a group specifies and provides</a:t>
            </a:r>
          </a:p>
        </p:txBody>
      </p:sp>
      <p:sp>
        <p:nvSpPr>
          <p:cNvPr id="4" name="1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6035040"/>
            <a:ext cx="195453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22860000" y="6035040"/>
            <a:ext cx="118872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035040"/>
            <a:ext cx="195453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Shape"/>
          <p:cNvSpPr/>
          <p:nvPr/>
        </p:nvSpPr>
        <p:spPr>
          <a:xfrm>
            <a:off x="22860000" y="6035040"/>
            <a:ext cx="118872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It should specify"/>
          <p:cNvSpPr/>
          <p:nvPr/>
        </p:nvSpPr>
        <p:spPr>
          <a:xfrm>
            <a:off x="2514600" y="6789420"/>
            <a:ext cx="181737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It should specify</a:t>
            </a:r>
          </a:p>
        </p:txBody>
      </p:sp>
      <p:sp>
        <p:nvSpPr>
          <p:cNvPr id="10" name="Shape"/>
          <p:cNvSpPr/>
          <p:nvPr/>
        </p:nvSpPr>
        <p:spPr>
          <a:xfrm>
            <a:off x="2560320" y="9121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1"/>
          <p:cNvSpPr/>
          <p:nvPr/>
        </p:nvSpPr>
        <p:spPr>
          <a:xfrm>
            <a:off x="2560320" y="9212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2" name="Units being grouped"/>
          <p:cNvSpPr/>
          <p:nvPr/>
        </p:nvSpPr>
        <p:spPr>
          <a:xfrm>
            <a:off x="4114800" y="9029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Units being grouped</a:t>
            </a:r>
          </a:p>
        </p:txBody>
      </p:sp>
      <p:sp>
        <p:nvSpPr>
          <p:cNvPr id="13" name="Threads, warps, …"/>
          <p:cNvSpPr/>
          <p:nvPr/>
        </p:nvSpPr>
        <p:spPr>
          <a:xfrm>
            <a:off x="4114800" y="10058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4" name="Shape"/>
          <p:cNvSpPr/>
          <p:nvPr/>
        </p:nvSpPr>
        <p:spPr>
          <a:xfrm>
            <a:off x="2560320" y="11407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2560320" y="11498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 level"/>
          <p:cNvSpPr/>
          <p:nvPr/>
        </p:nvSpPr>
        <p:spPr>
          <a:xfrm>
            <a:off x="4114800" y="11315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Upper boundary level</a:t>
            </a:r>
          </a:p>
        </p:txBody>
      </p:sp>
      <p:sp>
        <p:nvSpPr>
          <p:cNvPr id="17" name="Block, grid, …"/>
          <p:cNvSpPr/>
          <p:nvPr/>
        </p:nvSpPr>
        <p:spPr>
          <a:xfrm>
            <a:off x="4114800" y="12344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Block, grid, …</a:t>
            </a:r>
          </a:p>
        </p:txBody>
      </p:sp>
      <p:sp>
        <p:nvSpPr>
          <p:cNvPr id="18" name="Shape"/>
          <p:cNvSpPr/>
          <p:nvPr/>
        </p:nvSpPr>
        <p:spPr>
          <a:xfrm>
            <a:off x="2560320" y="13693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3"/>
          <p:cNvSpPr/>
          <p:nvPr/>
        </p:nvSpPr>
        <p:spPr>
          <a:xfrm>
            <a:off x="2560320" y="13784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0" name="Hierarchy"/>
          <p:cNvSpPr/>
          <p:nvPr/>
        </p:nvSpPr>
        <p:spPr>
          <a:xfrm>
            <a:off x="4114800" y="13601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Hierarchy</a:t>
            </a:r>
          </a:p>
        </p:txBody>
      </p:sp>
      <p:sp>
        <p:nvSpPr>
          <p:cNvPr id="21" name="The hierarchy in which the group exists"/>
          <p:cNvSpPr/>
          <p:nvPr/>
        </p:nvSpPr>
        <p:spPr>
          <a:xfrm>
            <a:off x="4114800" y="14630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The hierarchy in which the group exists</a:t>
            </a:r>
          </a:p>
        </p:txBody>
      </p:sp>
      <p:sp>
        <p:nvSpPr>
          <p:cNvPr id="22" name="It should provide"/>
          <p:cNvSpPr/>
          <p:nvPr/>
        </p:nvSpPr>
        <p:spPr>
          <a:xfrm>
            <a:off x="23545800" y="6789420"/>
            <a:ext cx="105156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It should provide</a:t>
            </a:r>
          </a:p>
        </p:txBody>
      </p:sp>
      <p:sp>
        <p:nvSpPr>
          <p:cNvPr id="23" name="Query APIs"/>
          <p:cNvSpPr/>
          <p:nvPr/>
        </p:nvSpPr>
        <p:spPr>
          <a:xfrm>
            <a:off x="23545800" y="937260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Query APIs</a:t>
            </a:r>
          </a:p>
        </p:txBody>
      </p:sp>
      <p:sp>
        <p:nvSpPr>
          <p:cNvPr id="24" name="Information about the group"/>
          <p:cNvSpPr/>
          <p:nvPr/>
        </p:nvSpPr>
        <p:spPr>
          <a:xfrm>
            <a:off x="23545800" y="1062990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Information about the group</a:t>
            </a:r>
          </a:p>
        </p:txBody>
      </p:sp>
      <p:sp>
        <p:nvSpPr>
          <p:cNvPr id="25" name="Shape"/>
          <p:cNvSpPr/>
          <p:nvPr/>
        </p:nvSpPr>
        <p:spPr>
          <a:xfrm>
            <a:off x="23545800" y="12595860"/>
            <a:ext cx="105156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6" name="Synchronization APIs"/>
          <p:cNvSpPr/>
          <p:nvPr/>
        </p:nvSpPr>
        <p:spPr>
          <a:xfrm>
            <a:off x="23545800" y="1351026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 APIs</a:t>
            </a:r>
          </a:p>
        </p:txBody>
      </p:sp>
      <p:sp>
        <p:nvSpPr>
          <p:cNvPr id="27" name="Synchronization of its units"/>
          <p:cNvSpPr/>
          <p:nvPr/>
        </p:nvSpPr>
        <p:spPr>
          <a:xfrm>
            <a:off x="23545800" y="1476756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Synchronization of its units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Requirements on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The group concept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The group concept</a:t>
            </a:r>
          </a:p>
        </p:txBody>
      </p:sp>
      <p:sp>
        <p:nvSpPr>
          <p:cNvPr id="4" name="1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0574000" cy="135102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CONCEPT"/>
          <p:cNvSpPr/>
          <p:nvPr/>
        </p:nvSpPr>
        <p:spPr>
          <a:xfrm>
            <a:off x="2423160" y="5532120"/>
            <a:ext cx="193167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1">
                <a:solidFill>
                  <a:schemeClr val="accent6"/>
                </a:solidFill>
                <a:latin typeface="NVIDIA Sans Medium"/>
              </a:rPr>
              <a:t xml:space="preserve">CONCEPT</a:t>
            </a:r>
          </a:p>
        </p:txBody>
      </p:sp>
      <p:sp>
        <p:nvSpPr>
          <p:cNvPr id="7" name="Verbatim C++ snippet" descr="Verbatim fenced C++ snippet from slides.md"/>
          <p:cNvSpPr/>
          <p:nvPr/>
        </p:nvSpPr>
        <p:spPr>
          <a:xfrm>
            <a:off x="2423160" y="6858000"/>
            <a:ext cx="19431000" cy="10972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T&gt;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group =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(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T&amp; t)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Member types.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/*is-hierarchy-level*/&lt;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T::unit_type&gt;;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/*is-hierarchy-level*/&lt;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T::level_type&gt;;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T::hierarchy_type&gt;;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Getters.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t.hierarchy()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 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T::hierarchy_type&amp;&gt;;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Synchronization.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t.sync()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  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t.sync_aligned()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Properties.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T::is_always_contiguous()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 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bool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                      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(7), must be constexpr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8" name="1"/>
          <p:cNvSpPr/>
          <p:nvPr/>
        </p:nvSpPr>
        <p:spPr>
          <a:xfrm>
            <a:off x="23545800" y="54635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what units are being grouped"/>
          <p:cNvSpPr/>
          <p:nvPr/>
        </p:nvSpPr>
        <p:spPr>
          <a:xfrm>
            <a:off x="24665940" y="546354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what units are being grouped</a:t>
            </a:r>
          </a:p>
        </p:txBody>
      </p:sp>
      <p:sp>
        <p:nvSpPr>
          <p:cNvPr id="10" name="2"/>
          <p:cNvSpPr/>
          <p:nvPr/>
        </p:nvSpPr>
        <p:spPr>
          <a:xfrm>
            <a:off x="23545800" y="72237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1" name="within which level"/>
          <p:cNvSpPr/>
          <p:nvPr/>
        </p:nvSpPr>
        <p:spPr>
          <a:xfrm>
            <a:off x="24665940" y="722376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within which level</a:t>
            </a:r>
          </a:p>
        </p:txBody>
      </p:sp>
      <p:sp>
        <p:nvSpPr>
          <p:cNvPr id="12" name="3"/>
          <p:cNvSpPr/>
          <p:nvPr/>
        </p:nvSpPr>
        <p:spPr>
          <a:xfrm>
            <a:off x="23545800" y="89839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3" name="in which hierarchy"/>
          <p:cNvSpPr/>
          <p:nvPr/>
        </p:nvSpPr>
        <p:spPr>
          <a:xfrm>
            <a:off x="24665940" y="898398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 which hierarchy</a:t>
            </a:r>
          </a:p>
        </p:txBody>
      </p:sp>
      <p:sp>
        <p:nvSpPr>
          <p:cNvPr id="14" name="4"/>
          <p:cNvSpPr/>
          <p:nvPr/>
        </p:nvSpPr>
        <p:spPr>
          <a:xfrm>
            <a:off x="23545800" y="10744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5" name="hierarchy getter"/>
          <p:cNvSpPr/>
          <p:nvPr/>
        </p:nvSpPr>
        <p:spPr>
          <a:xfrm>
            <a:off x="24665940" y="1074420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hierarchy getter</a:t>
            </a:r>
          </a:p>
        </p:txBody>
      </p:sp>
      <p:sp>
        <p:nvSpPr>
          <p:cNvPr id="16" name="5"/>
          <p:cNvSpPr/>
          <p:nvPr/>
        </p:nvSpPr>
        <p:spPr>
          <a:xfrm>
            <a:off x="23545800" y="125044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7" name="synchronizes all units"/>
          <p:cNvSpPr/>
          <p:nvPr/>
        </p:nvSpPr>
        <p:spPr>
          <a:xfrm>
            <a:off x="24665940" y="1250442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</a:t>
            </a:r>
          </a:p>
        </p:txBody>
      </p:sp>
      <p:sp>
        <p:nvSpPr>
          <p:cNvPr id="18" name="6"/>
          <p:cNvSpPr/>
          <p:nvPr/>
        </p:nvSpPr>
        <p:spPr>
          <a:xfrm>
            <a:off x="23545800" y="142646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19" name="synchronizes all units, requires context alignment"/>
          <p:cNvSpPr/>
          <p:nvPr/>
        </p:nvSpPr>
        <p:spPr>
          <a:xfrm>
            <a:off x="24665940" y="1426464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units, requires context alignment</a:t>
            </a:r>
          </a:p>
        </p:txBody>
      </p:sp>
      <p:sp>
        <p:nvSpPr>
          <p:cNvPr id="20" name="7"/>
          <p:cNvSpPr/>
          <p:nvPr/>
        </p:nvSpPr>
        <p:spPr>
          <a:xfrm>
            <a:off x="23545800" y="160248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7</a:t>
            </a:r>
          </a:p>
        </p:txBody>
      </p:sp>
      <p:sp>
        <p:nvSpPr>
          <p:cNvPr id="21" name="`true` if each group occupies a contiguous range of physical unit"/>
          <p:cNvSpPr/>
          <p:nvPr/>
        </p:nvSpPr>
        <p:spPr>
          <a:xfrm>
            <a:off x="24665940" y="1602486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true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if each group occupies a contiguous range of physical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querie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queries</a:t>
            </a:r>
          </a:p>
        </p:txBody>
      </p:sp>
      <p:sp>
        <p:nvSpPr>
          <p:cNvPr id="3" name="Sub-unit and super-level querie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Sub-unit and super-level queries</a:t>
            </a:r>
          </a:p>
        </p:txBody>
      </p:sp>
      <p:sp>
        <p:nvSpPr>
          <p:cNvPr id="4" name="1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Sub-unit queries"/>
          <p:cNvSpPr/>
          <p:nvPr/>
        </p:nvSpPr>
        <p:spPr>
          <a:xfrm>
            <a:off x="22402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Sub-unit queries</a:t>
            </a:r>
          </a:p>
        </p:txBody>
      </p:sp>
      <p:sp>
        <p:nvSpPr>
          <p:cNvPr id="7" name="Query information about levels that are below the group's unit ty"/>
          <p:cNvSpPr/>
          <p:nvPr/>
        </p:nvSpPr>
        <p:spPr>
          <a:xfrm>
            <a:off x="22402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below the group's unit type.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9" name="Verbatim C++ snippet" descr="Verbatim fenced C++ snippet from slides.md"/>
          <p:cNvSpPr/>
          <p:nvPr/>
        </p:nvSpPr>
        <p:spPr>
          <a:xfrm>
            <a:off x="2240280" y="9395460"/>
            <a:ext cx="1506474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qunit.static_count(group);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(1), always constexpr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qunit.count_as&lt;T&gt;(group);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qunit.rank_as&lt;T&gt;(group);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qunit.count(group);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qunit.rank(group);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qunit.is_root_rank(group);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1"/>
          <p:cNvSpPr/>
          <p:nvPr/>
        </p:nvSpPr>
        <p:spPr>
          <a:xfrm>
            <a:off x="2171700" y="139903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1" name="Statically known number of `qunit` within `group`"/>
          <p:cNvSpPr/>
          <p:nvPr/>
        </p:nvSpPr>
        <p:spPr>
          <a:xfrm>
            <a:off x="3291840" y="1399032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2"/>
          <p:cNvSpPr/>
          <p:nvPr/>
        </p:nvSpPr>
        <p:spPr>
          <a:xfrm>
            <a:off x="2171700" y="148132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3" name="Number of `qunit` within `group` returned as `T`"/>
          <p:cNvSpPr/>
          <p:nvPr/>
        </p:nvSpPr>
        <p:spPr>
          <a:xfrm>
            <a:off x="3291840" y="1481328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4" name="3"/>
          <p:cNvSpPr/>
          <p:nvPr/>
        </p:nvSpPr>
        <p:spPr>
          <a:xfrm>
            <a:off x="2171700" y="156362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5" name="Current `qunit`'s rank within `group` returned as `T`"/>
          <p:cNvSpPr/>
          <p:nvPr/>
        </p:nvSpPr>
        <p:spPr>
          <a:xfrm>
            <a:off x="3291840" y="1563624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6" name="4"/>
          <p:cNvSpPr/>
          <p:nvPr/>
        </p:nvSpPr>
        <p:spPr>
          <a:xfrm>
            <a:off x="2171700" y="16459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7" name="Same as `qunit.count_as&lt;/*default-T*/&gt;(group)`"/>
          <p:cNvSpPr/>
          <p:nvPr/>
        </p:nvSpPr>
        <p:spPr>
          <a:xfrm>
            <a:off x="3291840" y="1645920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qunit.count_as&lt;/*default-T*/&gt;(group)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8" name="5"/>
          <p:cNvSpPr/>
          <p:nvPr/>
        </p:nvSpPr>
        <p:spPr>
          <a:xfrm>
            <a:off x="2171700" y="172821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9" name="Same as `qunit.rank_as&lt;/*default-T*/&gt;(group)`"/>
          <p:cNvSpPr/>
          <p:nvPr/>
        </p:nvSpPr>
        <p:spPr>
          <a:xfrm>
            <a:off x="3291840" y="1728216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0" name="6"/>
          <p:cNvSpPr/>
          <p:nvPr/>
        </p:nvSpPr>
        <p:spPr>
          <a:xfrm>
            <a:off x="2171700" y="181051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21" name="Same as `qunit.rank(group) == 0`"/>
          <p:cNvSpPr/>
          <p:nvPr/>
        </p:nvSpPr>
        <p:spPr>
          <a:xfrm>
            <a:off x="3291840" y="1810512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qunit.rank(group) == 0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Shape"/>
          <p:cNvSpPr/>
          <p:nvPr/>
        </p:nvSpPr>
        <p:spPr>
          <a:xfrm>
            <a:off x="188595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Super-level queries"/>
          <p:cNvSpPr/>
          <p:nvPr/>
        </p:nvSpPr>
        <p:spPr>
          <a:xfrm>
            <a:off x="192709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Super-level queries</a:t>
            </a:r>
          </a:p>
        </p:txBody>
      </p:sp>
      <p:sp>
        <p:nvSpPr>
          <p:cNvPr id="24" name="Query information about levels that are above the group's upper b"/>
          <p:cNvSpPr/>
          <p:nvPr/>
        </p:nvSpPr>
        <p:spPr>
          <a:xfrm>
            <a:off x="192709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above the group's upper boundary type.</a:t>
            </a:r>
          </a:p>
        </p:txBody>
      </p:sp>
      <p:sp>
        <p:nvSpPr>
          <p:cNvPr id="25" name="Shape"/>
          <p:cNvSpPr/>
          <p:nvPr/>
        </p:nvSpPr>
        <p:spPr>
          <a:xfrm>
            <a:off x="188595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26" name="Verbatim C++ snippet" descr="Verbatim fenced C++ snippet from slides.md"/>
          <p:cNvSpPr/>
          <p:nvPr/>
        </p:nvSpPr>
        <p:spPr>
          <a:xfrm>
            <a:off x="19270980" y="9395460"/>
            <a:ext cx="1506474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group.static_count(/*parent-group-or-qlevel*/);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(1), always constexpr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group.count_as&lt;T&gt;(/*parent-group-or-qlevel*/);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group.rank_as&lt;T&gt;(/*parent-group-or-qlevel*/);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group.count(/*parent-group-or-qlevel*/);     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group.rank(/*parent-group-or-qlevel*/);      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endParaRPr lang="en-US" sz="261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27" name="1"/>
          <p:cNvSpPr/>
          <p:nvPr/>
        </p:nvSpPr>
        <p:spPr>
          <a:xfrm>
            <a:off x="19202400" y="139903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8" name="Statically known number of `group` within `/*parent-group-or-qlev"/>
          <p:cNvSpPr/>
          <p:nvPr/>
        </p:nvSpPr>
        <p:spPr>
          <a:xfrm>
            <a:off x="20322540" y="139903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9" name="2"/>
          <p:cNvSpPr/>
          <p:nvPr/>
        </p:nvSpPr>
        <p:spPr>
          <a:xfrm>
            <a:off x="19202400" y="149047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30" name="Number of `group` within `/*parent-group-or-qlevel*/` returned as"/>
          <p:cNvSpPr/>
          <p:nvPr/>
        </p:nvSpPr>
        <p:spPr>
          <a:xfrm>
            <a:off x="20322540" y="149047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3"/>
          <p:cNvSpPr/>
          <p:nvPr/>
        </p:nvSpPr>
        <p:spPr>
          <a:xfrm>
            <a:off x="19202400" y="158191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32" name="Current `group`'s rank within `/*parent-group-or-qlevel*/` return"/>
          <p:cNvSpPr/>
          <p:nvPr/>
        </p:nvSpPr>
        <p:spPr>
          <a:xfrm>
            <a:off x="20322540" y="158191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3" name="4"/>
          <p:cNvSpPr/>
          <p:nvPr/>
        </p:nvSpPr>
        <p:spPr>
          <a:xfrm>
            <a:off x="19202400" y="16733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4" name="Same as `group.count_as&lt;/*default-T*/&gt;(/*parent-group-or-qlevel*/"/>
          <p:cNvSpPr/>
          <p:nvPr/>
        </p:nvSpPr>
        <p:spPr>
          <a:xfrm>
            <a:off x="20322540" y="167335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group.count_as&lt;/*default-T*/&gt;(/*parent-group-or-qlevel*/)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5"/>
          <p:cNvSpPr/>
          <p:nvPr/>
        </p:nvSpPr>
        <p:spPr>
          <a:xfrm>
            <a:off x="19202400" y="176479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36" name="Same as `group.rank_as&lt;/*default-T*/&gt;(/*parent-group-or-qlevel*/)"/>
          <p:cNvSpPr/>
          <p:nvPr/>
        </p:nvSpPr>
        <p:spPr>
          <a:xfrm>
            <a:off x="20322540" y="176479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group.rank_as&lt;/*default-T*/&gt;(/*parent-group-or-qlevel*/)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7" name="default-T is the default result type."/>
          <p:cNvSpPr/>
          <p:nvPr/>
        </p:nvSpPr>
        <p:spPr>
          <a:xfrm>
            <a:off x="1874520" y="19133820"/>
            <a:ext cx="323469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default-T is the default result type.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Predefined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Groups</a:t>
            </a:r>
          </a:p>
        </p:txBody>
      </p:sp>
      <p:sp>
        <p:nvSpPr>
          <p:cNvPr id="3" name="Building blocks, partitions, and view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Building blocks, partitions, and views</a:t>
            </a:r>
          </a:p>
        </p:txBody>
      </p:sp>
      <p:sp>
        <p:nvSpPr>
          <p:cNvPr id="4" name="1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" name="CCCL Cooperative Groups come with several predefined group types.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CCCL Cooperative Groups come with several predefined group types.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01"/>
          <p:cNvSpPr/>
          <p:nvPr/>
        </p:nvSpPr>
        <p:spPr>
          <a:xfrm>
            <a:off x="24231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9" name="Implicit groups"/>
          <p:cNvSpPr/>
          <p:nvPr/>
        </p:nvSpPr>
        <p:spPr>
          <a:xfrm>
            <a:off x="24231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10" name="Shape"/>
          <p:cNvSpPr/>
          <p:nvPr/>
        </p:nvSpPr>
        <p:spPr>
          <a:xfrm>
            <a:off x="130302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30302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36245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Split from a parent"/>
          <p:cNvSpPr/>
          <p:nvPr/>
        </p:nvSpPr>
        <p:spPr>
          <a:xfrm>
            <a:off x="136245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Split from a parent</a:t>
            </a:r>
          </a:p>
        </p:txBody>
      </p:sp>
      <p:sp>
        <p:nvSpPr>
          <p:cNvPr id="14" name="Shape"/>
          <p:cNvSpPr/>
          <p:nvPr/>
        </p:nvSpPr>
        <p:spPr>
          <a:xfrm>
            <a:off x="242316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hape"/>
          <p:cNvSpPr/>
          <p:nvPr/>
        </p:nvSpPr>
        <p:spPr>
          <a:xfrm>
            <a:off x="242316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03"/>
          <p:cNvSpPr/>
          <p:nvPr/>
        </p:nvSpPr>
        <p:spPr>
          <a:xfrm>
            <a:off x="248259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03</a:t>
            </a:r>
          </a:p>
        </p:txBody>
      </p:sp>
      <p:sp>
        <p:nvSpPr>
          <p:cNvPr id="17" name="Non-owning view"/>
          <p:cNvSpPr/>
          <p:nvPr/>
        </p:nvSpPr>
        <p:spPr>
          <a:xfrm>
            <a:off x="248259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Non-owning view</a:t>
            </a:r>
          </a:p>
        </p:txBody>
      </p:sp>
      <p:sp>
        <p:nvSpPr>
          <p:cNvPr id="18" name="Independent building block"/>
          <p:cNvSpPr/>
          <p:nvPr/>
        </p:nvSpPr>
        <p:spPr>
          <a:xfrm>
            <a:off x="2743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Independent building block"/>
          <p:cNvSpPr/>
          <p:nvPr/>
        </p:nvSpPr>
        <p:spPr>
          <a:xfrm>
            <a:off x="56007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Independent building block"/>
          <p:cNvSpPr/>
          <p:nvPr/>
        </p:nvSpPr>
        <p:spPr>
          <a:xfrm>
            <a:off x="8458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`this_{level} groups`"/>
          <p:cNvSpPr/>
          <p:nvPr/>
        </p:nvSpPr>
        <p:spPr>
          <a:xfrm>
            <a:off x="2423160" y="1273302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 groups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`coalesced_group`"/>
          <p:cNvSpPr/>
          <p:nvPr/>
        </p:nvSpPr>
        <p:spPr>
          <a:xfrm>
            <a:off x="2423160" y="1383030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3" name="NEW"/>
          <p:cNvSpPr/>
          <p:nvPr/>
        </p:nvSpPr>
        <p:spPr>
          <a:xfrm>
            <a:off x="7520940" y="1394460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24" name="No parent group; building blocks&#10;for other groups."/>
          <p:cNvSpPr/>
          <p:nvPr/>
        </p:nvSpPr>
        <p:spPr>
          <a:xfrm>
            <a:off x="24231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 parent group; building blocks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other groups.</a:t>
            </a:r>
          </a:p>
        </p:txBody>
      </p:sp>
      <p:sp>
        <p:nvSpPr>
          <p:cNvPr id="25" name="Parent group"/>
          <p:cNvSpPr/>
          <p:nvPr/>
        </p:nvSpPr>
        <p:spPr>
          <a:xfrm>
            <a:off x="16299180" y="10378440"/>
            <a:ext cx="3977640" cy="100584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6" name="Parent group"/>
          <p:cNvSpPr/>
          <p:nvPr/>
        </p:nvSpPr>
        <p:spPr>
          <a:xfrm>
            <a:off x="16299180" y="10538460"/>
            <a:ext cx="397764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420" b="0">
                <a:solidFill>
                  <a:schemeClr val="dk1"/>
                </a:solidFill>
                <a:latin typeface="NVIDIA Sans"/>
              </a:rPr>
              <a:t xml:space="preserve">Parent group</a:t>
            </a:r>
          </a:p>
        </p:txBody>
      </p:sp>
      <p:sp>
        <p:nvSpPr>
          <p:cNvPr id="27" name="Split from parent"/>
          <p:cNvSpPr/>
          <p:nvPr/>
        </p:nvSpPr>
        <p:spPr>
          <a:xfrm>
            <a:off x="150876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8" name="Result of splitting"/>
          <p:cNvSpPr/>
          <p:nvPr/>
        </p:nvSpPr>
        <p:spPr>
          <a:xfrm>
            <a:off x="141960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Split from parent"/>
          <p:cNvSpPr/>
          <p:nvPr/>
        </p:nvSpPr>
        <p:spPr>
          <a:xfrm>
            <a:off x="201168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0" name="Result of splitting"/>
          <p:cNvSpPr/>
          <p:nvPr/>
        </p:nvSpPr>
        <p:spPr>
          <a:xfrm>
            <a:off x="192252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split branches"/>
          <p:cNvSpPr/>
          <p:nvPr/>
        </p:nvSpPr>
        <p:spPr>
          <a:xfrm>
            <a:off x="15361920" y="11498580"/>
            <a:ext cx="5029200" cy="457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2" name="Shape"/>
          <p:cNvSpPr/>
          <p:nvPr/>
        </p:nvSpPr>
        <p:spPr>
          <a:xfrm>
            <a:off x="18265140" y="11384280"/>
            <a:ext cx="45720" cy="1600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3" name="`generic_group`"/>
          <p:cNvSpPr/>
          <p:nvPr/>
        </p:nvSpPr>
        <p:spPr>
          <a:xfrm>
            <a:off x="136245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4" name="`virtual_group`"/>
          <p:cNvSpPr/>
          <p:nvPr/>
        </p:nvSpPr>
        <p:spPr>
          <a:xfrm>
            <a:off x="13624560" y="1483614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NEW"/>
          <p:cNvSpPr/>
          <p:nvPr/>
        </p:nvSpPr>
        <p:spPr>
          <a:xfrm>
            <a:off x="18288000" y="1495044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36" name="Created by splitting another group."/>
          <p:cNvSpPr/>
          <p:nvPr/>
        </p:nvSpPr>
        <p:spPr>
          <a:xfrm>
            <a:off x="13624560" y="16116300"/>
            <a:ext cx="93268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Created by splitting another group.</a:t>
            </a:r>
          </a:p>
        </p:txBody>
      </p:sp>
      <p:sp>
        <p:nvSpPr>
          <p:cNvPr id="37" name="Existing group"/>
          <p:cNvSpPr/>
          <p:nvPr/>
        </p:nvSpPr>
        <p:spPr>
          <a:xfrm>
            <a:off x="25786080" y="10607040"/>
            <a:ext cx="6492240" cy="221742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38" name="Viewed group member"/>
          <p:cNvSpPr/>
          <p:nvPr/>
        </p:nvSpPr>
        <p:spPr>
          <a:xfrm>
            <a:off x="262890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9" name="Viewed group member"/>
          <p:cNvSpPr/>
          <p:nvPr/>
        </p:nvSpPr>
        <p:spPr>
          <a:xfrm>
            <a:off x="2718054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0" name="Viewed group member"/>
          <p:cNvSpPr/>
          <p:nvPr/>
        </p:nvSpPr>
        <p:spPr>
          <a:xfrm>
            <a:off x="2807208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1" name="Viewed group member"/>
          <p:cNvSpPr/>
          <p:nvPr/>
        </p:nvSpPr>
        <p:spPr>
          <a:xfrm>
            <a:off x="2896362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2" name="Viewed group member"/>
          <p:cNvSpPr/>
          <p:nvPr/>
        </p:nvSpPr>
        <p:spPr>
          <a:xfrm>
            <a:off x="2985516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3" name="Viewed group member"/>
          <p:cNvSpPr/>
          <p:nvPr/>
        </p:nvSpPr>
        <p:spPr>
          <a:xfrm>
            <a:off x="307467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4" name="Non-owning view of existing group"/>
          <p:cNvSpPr/>
          <p:nvPr/>
        </p:nvSpPr>
        <p:spPr>
          <a:xfrm>
            <a:off x="26220420" y="10241280"/>
            <a:ext cx="6492240" cy="221742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45" name="`group_view`"/>
          <p:cNvSpPr/>
          <p:nvPr/>
        </p:nvSpPr>
        <p:spPr>
          <a:xfrm>
            <a:off x="248259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46" name="NEW"/>
          <p:cNvSpPr/>
          <p:nvPr/>
        </p:nvSpPr>
        <p:spPr>
          <a:xfrm>
            <a:off x="28666440" y="1396746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47" name="A non-owning group view&#10;over a group."/>
          <p:cNvSpPr/>
          <p:nvPr/>
        </p:nvSpPr>
        <p:spPr>
          <a:xfrm>
            <a:off x="248259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non-owning group view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 a group.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Implicit Groups — This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This group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This groups</a:t>
            </a:r>
          </a:p>
        </p:txBody>
      </p:sp>
      <p:sp>
        <p:nvSpPr>
          <p:cNvPr id="4" name="1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Level, 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class /*this-group*/ : public /*group-interface-for*/&lt;/*this-group*/&gt;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 using unit_type       = Level;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 using level_type      = Level;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 using hierarchy_type  = Hierarchy;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 /*this-group*/() = delete;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 __device__ /*this-group*/(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&amp; hierarchy_like) 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 /*this-group*/(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/*this-group*/&amp;) = delete;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 /*this-group*/(/*this-group*/&amp;&amp;) = delete;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 /*this-group*/&amp; operator=(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/*this-group*/&amp;) = delete;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 /*this-group*/&amp; operator=(/*this-group*/&amp;&amp;) = delete;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class this_thread : public /*this-group*/&lt;thread_level, Hierarchy&gt; {};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class this_warp : public /*this-group*/&lt;warp_level, Hierarchy&gt; {};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class this_block : public /*this-group*/&lt;block_level, Hierarchy&gt; {};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class this_cluster : public /*this-group*/&lt;cluster_level, Hierarchy&gt; {};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5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r>
              <a:rPr lang="en-US" sz="2853" b="0">
                <a:solidFill>
                  <a:schemeClr val="dk1"/>
                </a:solidFill>
                <a:latin typeface="DejaVu Sans Mono"/>
              </a:rPr>
              <a:t xml:space="preserve">class this_grid : public /*this-group*/&lt;grid_level, Hierarchy&gt; {};</a:t>
            </a:r>
            <a:endParaRPr lang="en-US" sz="285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39"/>
              </a:lnSpc>
              <a:spcBef>
                <a:spcPts val="0"/>
              </a:spcBef>
              <a:spcAft>
                <a:spcPts val="0"/>
              </a:spcAft>
              <a:buNone/>
              <a:defRPr lang="en-US" sz="2853" b="0">
                <a:solidFill>
                  <a:schemeClr val="dk1"/>
                </a:solidFill>
                <a:latin typeface="DejaVu Sans Mono"/>
              </a:defRPr>
            </a:pPr>
            <a:endParaRPr lang="en-US" sz="2853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61264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1 class per level"/>
          <p:cNvSpPr/>
          <p:nvPr/>
        </p:nvSpPr>
        <p:spPr>
          <a:xfrm>
            <a:off x="25671780" y="59436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1 class per level</a:t>
            </a:r>
          </a:p>
        </p:txBody>
      </p:sp>
      <p:sp>
        <p:nvSpPr>
          <p:cNvPr id="9" name="Shape"/>
          <p:cNvSpPr/>
          <p:nvPr/>
        </p:nvSpPr>
        <p:spPr>
          <a:xfrm>
            <a:off x="24917400" y="86410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contain a single unit within the same level"/>
          <p:cNvSpPr/>
          <p:nvPr/>
        </p:nvSpPr>
        <p:spPr>
          <a:xfrm>
            <a:off x="25671780" y="84582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contain a single unit within the same level</a:t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11556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building blocks for other groups"/>
          <p:cNvSpPr/>
          <p:nvPr/>
        </p:nvSpPr>
        <p:spPr>
          <a:xfrm>
            <a:off x="25671780" y="109728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building blocks for other groups</a:t>
            </a:r>
          </a:p>
        </p:txBody>
      </p:sp>
      <p:sp>
        <p:nvSpPr>
          <p:cNvPr id="13" name="Shape"/>
          <p:cNvSpPr/>
          <p:nvPr/>
        </p:nvSpPr>
        <p:spPr>
          <a:xfrm>
            <a:off x="24917400" y="136702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lways contiguous"/>
          <p:cNvSpPr/>
          <p:nvPr/>
        </p:nvSpPr>
        <p:spPr>
          <a:xfrm>
            <a:off x="25671780" y="134874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always contiguous</a:t>
            </a:r>
          </a:p>
        </p:txBody>
      </p:sp>
      <p:sp>
        <p:nvSpPr>
          <p:cNvPr id="15" name="Shape"/>
          <p:cNvSpPr/>
          <p:nvPr/>
        </p:nvSpPr>
        <p:spPr>
          <a:xfrm>
            <a:off x="24917400" y="161848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use `level_synchronizer` for synchronization"/>
          <p:cNvSpPr/>
          <p:nvPr/>
        </p:nvSpPr>
        <p:spPr>
          <a:xfrm>
            <a:off x="25671780" y="160020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use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level_synchronizer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for synchronization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Implicit Groups — Coalesced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Coalesced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Coalesced group</a:t>
            </a:r>
          </a:p>
        </p:txBody>
      </p:sp>
      <p:sp>
        <p:nvSpPr>
          <p:cNvPr id="4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coalesced_group : public /*group-interface-for*/&lt;coalesced_group&gt;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unit_type       = thread_level;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level_type      = warp_level;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hierarchy_type  = Hierarchy;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coalesced_group() = delete;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explicit coalesced_group(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 hierarchy_like)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coalesced_group(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coalesced_group&amp;) = delete;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coalesced_group(coalesced_group&amp;&amp;) = delete;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coalesced_group&amp; operator=(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coalesced_group&amp;) = delete;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coalesced_group&amp; operator=(coalesced_group&amp;&amp;) = delete;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64693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groups all currently active threads within a warp based on `__act"/>
          <p:cNvSpPr/>
          <p:nvPr/>
        </p:nvSpPr>
        <p:spPr>
          <a:xfrm>
            <a:off x="25671780" y="62865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groups all currently active threads within a warp based on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__activemask()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24917400" y="9395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useful for opportunistic programming"/>
          <p:cNvSpPr/>
          <p:nvPr/>
        </p:nvSpPr>
        <p:spPr>
          <a:xfrm>
            <a:off x="25671780" y="921258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useful for opportunistic programming</a:t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232154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t is not always contiguous"/>
          <p:cNvSpPr/>
          <p:nvPr/>
        </p:nvSpPr>
        <p:spPr>
          <a:xfrm>
            <a:off x="25671780" y="1213866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it is not always contiguous</a:t>
            </a:r>
          </a:p>
        </p:txBody>
      </p:sp>
      <p:sp>
        <p:nvSpPr>
          <p:cNvPr id="13" name="Shape"/>
          <p:cNvSpPr/>
          <p:nvPr/>
        </p:nvSpPr>
        <p:spPr>
          <a:xfrm>
            <a:off x="24917400" y="152476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uses `lane_synchronizer` for synchronization"/>
          <p:cNvSpPr/>
          <p:nvPr/>
        </p:nvSpPr>
        <p:spPr>
          <a:xfrm>
            <a:off x="25671780" y="1506474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for synchronization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19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