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1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Metadata/LabelInfo.xml" ContentType="application/vnd.ms-office.classificationlabel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openxmlformats.org/officeDocument/2006/relationships/custom-properties" Target="docProps/custom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embedTrueType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6" r:id="rIdDeck1"/>
    <p:sldId id="257" r:id="rIdDeck2"/>
    <p:sldId id="258" r:id="rIdDeck3"/>
    <p:sldId id="259" r:id="rIdDeck4"/>
    <p:sldId id="260" r:id="rIdDeck5"/>
    <p:sldId id="261" r:id="rIdDeck6"/>
    <p:sldId id="262" r:id="rIdDeck7"/>
    <p:sldId id="263" r:id="rIdDeck8"/>
    <p:sldId id="264" r:id="rIdDeck9"/>
    <p:sldId id="265" r:id="rIdDeck10"/>
    <p:sldId id="266" r:id="rIdDeck11"/>
    <p:sldId id="267" r:id="rIdDeck12"/>
    <p:sldId id="268" r:id="rIdDeck13"/>
    <p:sldId id="269" r:id="rIdDeck14"/>
    <p:sldId id="270" r:id="rIdDeck15"/>
    <p:sldId id="271" r:id="rIdDeck16"/>
    <p:sldId id="272" r:id="rIdDeck17"/>
    <p:sldId id="273" r:id="rIdDeck18"/>
    <p:sldId id="274" r:id="rIdDeck19"/>
    <p:sldId id="275" r:id="rIdDeck20"/>
    <p:sldId id="276" r:id="rIdDeck21"/>
    <p:sldId id="277" r:id="rIdDeck22"/>
    <p:sldId id="278" r:id="rIdDeck23"/>
    <p:sldId id="279" r:id="rIdDeck24"/>
    <p:sldId id="280" r:id="rIdDeck25"/>
    <p:sldId id="281" r:id="rIdDeck26"/>
    <p:sldId id="282" r:id="rIdDeck27"/>
    <p:sldId id="283" r:id="rIdDeck28"/>
    <p:sldId id="284" r:id="rIdDeck29"/>
    <p:sldId id="285" r:id="rIdDeck30"/>
    <p:sldId id="286" r:id="rIdDeck31"/>
    <p:sldId id="287" r:id="rIdDeck32"/>
    <p:sldId id="288" r:id="rIdDeck33"/>
    <p:sldId id="289" r:id="rIdDeck34"/>
    <p:sldId id="290" r:id="rIdDeck35"/>
    <p:sldId id="291" r:id="rIdDeck36"/>
    <p:sldId id="292" r:id="rIdDeck37"/>
    <p:sldId id="293" r:id="rIdDeck38"/>
    <p:sldId id="294" r:id="rIdDeck39"/>
    <p:sldId id="295" r:id="rIdDeck40"/>
    <p:sldId id="296" r:id="rIdDeck41"/>
    <p:sldId id="297" r:id="rIdDeck42"/>
    <p:sldId id="298" r:id="rIdDeck43"/>
    <p:sldId id="299" r:id="rIdDeck44"/>
  </p:sldIdLst>
  <p:sldSz cx="36576000" cy="20574000"/>
  <p:notesSz cx="6858000" cy="9144000"/>
  <p:embeddedFontLst>
    <p:embeddedFont>
      <p:font typeface="NVIDIA Sans" panose="020B0503020203020204" pitchFamily="34" charset="0"/>
      <p:regular r:id="rId62"/>
      <p:bold r:id="rId63"/>
      <p:italic r:id="rId64"/>
      <p:boldItalic r:id="rId65"/>
    </p:embeddedFont>
    <p:embeddedFont>
      <p:font typeface="NVIDIA Sans Medium" panose="020B0603020203020204" pitchFamily="34" charset="0"/>
      <p:regular r:id="rId66"/>
      <p:italic r:id="rId67"/>
    </p:embeddedFont>
    <p:embeddedFont>
      <p:font typeface="Roboto Mono" panose="00000009000000000000" pitchFamily="49" charset="0"/>
      <p:regular r:id="rId68"/>
      <p:bold r:id="rId69"/>
      <p:italic r:id="rId70"/>
      <p:boldItalic r:id="rId71"/>
    </p:embeddedFont>
    <p:embeddedFont>
      <p:font typeface="Roboto Mono Medium" panose="00000009000000000000" pitchFamily="49" charset="0"/>
      <p:regular r:id="rId72"/>
      <p:italic r:id="rId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12" autoAdjust="0"/>
    <p:restoredTop sz="92647" autoAdjust="0"/>
  </p:normalViewPr>
  <p:slideViewPr>
    <p:cSldViewPr snapToGrid="0" showGuides="1">
      <p:cViewPr varScale="1">
        <p:scale>
          <a:sx n="34" d="100"/>
          <a:sy n="34" d="100"/>
        </p:scale>
        <p:origin x="102" y="942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-8328"/>
    </p:cViewPr>
  </p:sorterViewPr>
  <p:notesViewPr>
    <p:cSldViewPr snapToGrid="0" showGuides="1">
      <p:cViewPr varScale="1">
        <p:scale>
          <a:sx n="114" d="100"/>
          <a:sy n="114" d="100"/>
        </p:scale>
        <p:origin x="2508" y="96"/>
      </p:cViewPr>
      <p:guideLst/>
    </p:cSldViewPr>
  </p:notesViewPr>
  <p:gridSpacing cx="76200" cy="76200"/>
</p:viewPr>
</file>

<file path=ppt/_rels/presentation.xml.rels><?xml version='1.0' encoding='utf-8'?>
<Relationships xmlns="http://schemas.openxmlformats.org/package/2006/relationships"><Relationship Id="rId63" Type="http://schemas.openxmlformats.org/officeDocument/2006/relationships/font" Target="fonts/font2.fntdata" /><Relationship Id="rId68" Type="http://schemas.openxmlformats.org/officeDocument/2006/relationships/font" Target="fonts/font7.fntdata" /><Relationship Id="rId74" Type="http://schemas.openxmlformats.org/officeDocument/2006/relationships/presProps" Target="presProps.xml" /><Relationship Id="rId79" Type="http://schemas.openxmlformats.org/officeDocument/2006/relationships/customXml" Target="../customXml/item1.xml" /><Relationship Id="rId61" Type="http://schemas.openxmlformats.org/officeDocument/2006/relationships/handoutMaster" Target="handoutMasters/handoutMaster1.xml" /><Relationship Id="rId64" Type="http://schemas.openxmlformats.org/officeDocument/2006/relationships/font" Target="fonts/font3.fntdata" /><Relationship Id="rId69" Type="http://schemas.openxmlformats.org/officeDocument/2006/relationships/font" Target="fonts/font8.fntdata" /><Relationship Id="rId77" Type="http://schemas.openxmlformats.org/officeDocument/2006/relationships/tableStyles" Target="tableStyles.xml" /><Relationship Id="rId72" Type="http://schemas.openxmlformats.org/officeDocument/2006/relationships/font" Target="fonts/font11.fntdata" /><Relationship Id="rId80" Type="http://schemas.openxmlformats.org/officeDocument/2006/relationships/customXml" Target="../customXml/item2.xml" /><Relationship Id="rId67" Type="http://schemas.openxmlformats.org/officeDocument/2006/relationships/font" Target="fonts/font6.fntdata" /><Relationship Id="rId62" Type="http://schemas.openxmlformats.org/officeDocument/2006/relationships/font" Target="fonts/font1.fntdata" /><Relationship Id="rId70" Type="http://schemas.openxmlformats.org/officeDocument/2006/relationships/font" Target="fonts/font9.fntdata" /><Relationship Id="rId75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60" Type="http://schemas.openxmlformats.org/officeDocument/2006/relationships/notesMaster" Target="notesMasters/notesMaster1.xml" /><Relationship Id="rId65" Type="http://schemas.openxmlformats.org/officeDocument/2006/relationships/font" Target="fonts/font4.fntdata" /><Relationship Id="rId73" Type="http://schemas.openxmlformats.org/officeDocument/2006/relationships/font" Target="fonts/font12.fntdata" /><Relationship Id="rId78" Type="http://schemas.microsoft.com/office/2018/10/relationships/authors" Target="authors.xml" /><Relationship Id="rId81" Type="http://schemas.openxmlformats.org/officeDocument/2006/relationships/customXml" Target="../customXml/item3.xml" /><Relationship Id="rId76" Type="http://schemas.openxmlformats.org/officeDocument/2006/relationships/theme" Target="theme/theme1.xml" /><Relationship Id="rId71" Type="http://schemas.openxmlformats.org/officeDocument/2006/relationships/font" Target="fonts/font10.fntdata" /><Relationship Id="rId66" Type="http://schemas.openxmlformats.org/officeDocument/2006/relationships/font" Target="fonts/font5.fntdata" /><Relationship Id="rIdDeck1" Type="http://schemas.openxmlformats.org/officeDocument/2006/relationships/slide" Target="slides/slide1.xml" /><Relationship Id="rIdDeck2" Type="http://schemas.openxmlformats.org/officeDocument/2006/relationships/slide" Target="slides/slide2.xml" /><Relationship Id="rIdDeck3" Type="http://schemas.openxmlformats.org/officeDocument/2006/relationships/slide" Target="slides/slide3.xml" /><Relationship Id="rIdDeck4" Type="http://schemas.openxmlformats.org/officeDocument/2006/relationships/slide" Target="slides/slide4.xml" /><Relationship Id="rIdDeck5" Type="http://schemas.openxmlformats.org/officeDocument/2006/relationships/slide" Target="slides/slide5.xml" /><Relationship Id="rIdDeck6" Type="http://schemas.openxmlformats.org/officeDocument/2006/relationships/slide" Target="slides/slide6.xml" /><Relationship Id="rIdDeck7" Type="http://schemas.openxmlformats.org/officeDocument/2006/relationships/slide" Target="slides/slide7.xml" /><Relationship Id="rIdDeck8" Type="http://schemas.openxmlformats.org/officeDocument/2006/relationships/slide" Target="slides/slide8.xml" /><Relationship Id="rIdDeck9" Type="http://schemas.openxmlformats.org/officeDocument/2006/relationships/slide" Target="slides/slide9.xml" /><Relationship Id="rIdDeck10" Type="http://schemas.openxmlformats.org/officeDocument/2006/relationships/slide" Target="slides/slide10.xml" /><Relationship Id="rIdDeck11" Type="http://schemas.openxmlformats.org/officeDocument/2006/relationships/slide" Target="slides/slide11.xml" /><Relationship Id="rIdDeck12" Type="http://schemas.openxmlformats.org/officeDocument/2006/relationships/slide" Target="slides/slide12.xml" /><Relationship Id="rIdDeck13" Type="http://schemas.openxmlformats.org/officeDocument/2006/relationships/slide" Target="slides/slide13.xml" /><Relationship Id="rIdDeck14" Type="http://schemas.openxmlformats.org/officeDocument/2006/relationships/slide" Target="slides/slide14.xml" /><Relationship Id="rIdDeck15" Type="http://schemas.openxmlformats.org/officeDocument/2006/relationships/slide" Target="slides/slide15.xml" /><Relationship Id="rIdDeck16" Type="http://schemas.openxmlformats.org/officeDocument/2006/relationships/slide" Target="slides/slide16.xml" /><Relationship Id="rIdDeck17" Type="http://schemas.openxmlformats.org/officeDocument/2006/relationships/slide" Target="slides/slide17.xml" /><Relationship Id="rIdDeck18" Type="http://schemas.openxmlformats.org/officeDocument/2006/relationships/slide" Target="slides/slide18.xml" /><Relationship Id="rIdDeck19" Type="http://schemas.openxmlformats.org/officeDocument/2006/relationships/slide" Target="slides/slide19.xml" /><Relationship Id="rIdDeck20" Type="http://schemas.openxmlformats.org/officeDocument/2006/relationships/slide" Target="slides/slide20.xml" /><Relationship Id="rIdDeck21" Type="http://schemas.openxmlformats.org/officeDocument/2006/relationships/slide" Target="slides/slide21.xml" /><Relationship Id="rIdDeck22" Type="http://schemas.openxmlformats.org/officeDocument/2006/relationships/slide" Target="slides/slide22.xml" /><Relationship Id="rIdDeck23" Type="http://schemas.openxmlformats.org/officeDocument/2006/relationships/slide" Target="slides/slide23.xml" /><Relationship Id="rIdDeck24" Type="http://schemas.openxmlformats.org/officeDocument/2006/relationships/slide" Target="slides/slide24.xml" /><Relationship Id="rIdDeck25" Type="http://schemas.openxmlformats.org/officeDocument/2006/relationships/slide" Target="slides/slide25.xml" /><Relationship Id="rIdDeck26" Type="http://schemas.openxmlformats.org/officeDocument/2006/relationships/slide" Target="slides/slide26.xml" /><Relationship Id="rIdDeck27" Type="http://schemas.openxmlformats.org/officeDocument/2006/relationships/slide" Target="slides/slide27.xml" /><Relationship Id="rIdDeck28" Type="http://schemas.openxmlformats.org/officeDocument/2006/relationships/slide" Target="slides/slide28.xml" /><Relationship Id="rIdDeck29" Type="http://schemas.openxmlformats.org/officeDocument/2006/relationships/slide" Target="slides/slide29.xml" /><Relationship Id="rIdDeck30" Type="http://schemas.openxmlformats.org/officeDocument/2006/relationships/slide" Target="slides/slide30.xml" /><Relationship Id="rIdDeck31" Type="http://schemas.openxmlformats.org/officeDocument/2006/relationships/slide" Target="slides/slide31.xml" /><Relationship Id="rIdDeck32" Type="http://schemas.openxmlformats.org/officeDocument/2006/relationships/slide" Target="slides/slide32.xml" /><Relationship Id="rIdDeck33" Type="http://schemas.openxmlformats.org/officeDocument/2006/relationships/slide" Target="slides/slide33.xml" /><Relationship Id="rIdDeck34" Type="http://schemas.openxmlformats.org/officeDocument/2006/relationships/slide" Target="slides/slide34.xml" /><Relationship Id="rIdDeck35" Type="http://schemas.openxmlformats.org/officeDocument/2006/relationships/slide" Target="slides/slide35.xml" /><Relationship Id="rIdDeck36" Type="http://schemas.openxmlformats.org/officeDocument/2006/relationships/slide" Target="slides/slide36.xml" /><Relationship Id="rIdDeck37" Type="http://schemas.openxmlformats.org/officeDocument/2006/relationships/slide" Target="slides/slide37.xml" /><Relationship Id="rIdDeck38" Type="http://schemas.openxmlformats.org/officeDocument/2006/relationships/slide" Target="slides/slide38.xml" /><Relationship Id="rIdDeck39" Type="http://schemas.openxmlformats.org/officeDocument/2006/relationships/slide" Target="slides/slide39.xml" /><Relationship Id="rIdDeck40" Type="http://schemas.openxmlformats.org/officeDocument/2006/relationships/slide" Target="slides/slide40.xml" /><Relationship Id="rIdDeck41" Type="http://schemas.openxmlformats.org/officeDocument/2006/relationships/slide" Target="slides/slide41.xml" /><Relationship Id="rIdDeck42" Type="http://schemas.openxmlformats.org/officeDocument/2006/relationships/slide" Target="slides/slide42.xml" /><Relationship Id="rIdDeck43" Type="http://schemas.openxmlformats.org/officeDocument/2006/relationships/slide" Target="slides/slide43.xml" /><Relationship Id="rIdDeck44" Type="http://schemas.openxmlformats.org/officeDocument/2006/relationships/slide" Target="slides/slide44.xml" 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8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2" name="Gradient">
            <a:extLst>
              <a:ext uri="{FF2B5EF4-FFF2-40B4-BE49-F238E27FC236}">
                <a16:creationId xmlns:a16="http://schemas.microsoft.com/office/drawing/2014/main" id="{BCF38184-F10E-5413-DFC7-636D799CF93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6365200" cy="20574000"/>
          </a:xfrm>
          <a:prstGeom prst="rect">
            <a:avLst/>
          </a:prstGeom>
          <a:gradFill flip="none" rotWithShape="1">
            <a:gsLst>
              <a:gs pos="50000">
                <a:srgbClr val="FFFFFF">
                  <a:alpha val="75000"/>
                </a:srgbClr>
              </a:gs>
              <a:gs pos="0">
                <a:schemeClr val="bg1">
                  <a:alpha val="8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Occupation Placeholder 3">
            <a:extLst>
              <a:ext uri="{FF2B5EF4-FFF2-40B4-BE49-F238E27FC236}">
                <a16:creationId xmlns:a16="http://schemas.microsoft.com/office/drawing/2014/main" id="{0EB760A4-0BDA-FCD7-294C-06DD0458085F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6" name="Name Placeholder 3">
            <a:extLst>
              <a:ext uri="{FF2B5EF4-FFF2-40B4-BE49-F238E27FC236}">
                <a16:creationId xmlns:a16="http://schemas.microsoft.com/office/drawing/2014/main" id="{2A7EE98A-14CA-4FDE-3BBC-547CA78134A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65035A17-84AD-B446-290E-48C215AFB587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6" name="Occupation Placeholder 2">
            <a:extLst>
              <a:ext uri="{FF2B5EF4-FFF2-40B4-BE49-F238E27FC236}">
                <a16:creationId xmlns:a16="http://schemas.microsoft.com/office/drawing/2014/main" id="{3BCECAB6-EED4-6C61-619E-0CB03435E448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17" name="Name Placeholder 2">
            <a:extLst>
              <a:ext uri="{FF2B5EF4-FFF2-40B4-BE49-F238E27FC236}">
                <a16:creationId xmlns:a16="http://schemas.microsoft.com/office/drawing/2014/main" id="{AD4CF95F-54EF-099D-AB51-5F454C5C206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903A1C07-C832-6984-03F5-70F355004BC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9" name="Occupation Placeholder 1">
            <a:extLst>
              <a:ext uri="{FF2B5EF4-FFF2-40B4-BE49-F238E27FC236}">
                <a16:creationId xmlns:a16="http://schemas.microsoft.com/office/drawing/2014/main" id="{2CF04087-50EE-96A6-22F4-7B9B652690B0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866936"/>
            <a:ext cx="6400800" cy="920935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20" name="Name Placeholder 1">
            <a:extLst>
              <a:ext uri="{FF2B5EF4-FFF2-40B4-BE49-F238E27FC236}">
                <a16:creationId xmlns:a16="http://schemas.microsoft.com/office/drawing/2014/main" id="{44AB9F9F-C0EC-6E66-8AE9-84E99191AB9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18410"/>
            <a:ext cx="6400800" cy="707886"/>
          </a:xfrm>
        </p:spPr>
        <p:txBody>
          <a:bodyPr anchor="b">
            <a:sp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ED721DC3-5019-6710-1D8A-B709232FCF2C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00B4E871-88C4-CC33-C003-7170BE2B6E83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 sz="4000"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4000"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Region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8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8EE1D5E4-E8E0-5B54-14BB-7082F4260ADB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067222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40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b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4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2" name="Slide Number Placeholder">
            <a:extLst>
              <a:ext uri="{FF2B5EF4-FFF2-40B4-BE49-F238E27FC236}">
                <a16:creationId xmlns:a16="http://schemas.microsoft.com/office/drawing/2014/main" id="{261AB175-E8DE-A841-4B8F-E21ED9AEA401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724914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66CDA03-9F6B-B45E-4491-BEA246B29A9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8331200" y="17866936"/>
            <a:ext cx="19913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5D3AFFC-2277-939B-5E7E-1C91C2E44E0C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8331200" y="17241080"/>
            <a:ext cx="19913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F9432913-9912-7965-4991-AF53AA33AF98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331200" y="5806441"/>
            <a:ext cx="199136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A489FF99-1831-0DF9-96D8-11325791CEA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A3F58F9F-B870-3263-F3DA-BE2292FA36E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57BC260F-02B3-8D2B-42BC-6A5E504780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78A3DE93-2758-FED4-5A4D-0F3E593B509E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9552660" y="17866936"/>
            <a:ext cx="15194539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7" name="Image Text Placeholder 1">
            <a:extLst>
              <a:ext uri="{FF2B5EF4-FFF2-40B4-BE49-F238E27FC236}">
                <a16:creationId xmlns:a16="http://schemas.microsoft.com/office/drawing/2014/main" id="{B9398613-710D-4865-371A-946865EB5A7E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9552660" y="17241080"/>
            <a:ext cx="15194539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0" name="Picture Placeholder 1">
            <a:extLst>
              <a:ext uri="{FF2B5EF4-FFF2-40B4-BE49-F238E27FC236}">
                <a16:creationId xmlns:a16="http://schemas.microsoft.com/office/drawing/2014/main" id="{49C45D48-BD52-B9A0-732B-FA64DCFE4D4D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9552659" y="1828799"/>
            <a:ext cx="15194539" cy="151790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D6BC34D6-8DA8-62F3-C4A5-0A0FEC0CDE9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799" y="16510766"/>
            <a:ext cx="16114094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177DC77-7F2C-E8FC-2CDE-5AAC4F8253DD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799" y="15884910"/>
            <a:ext cx="16114094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753BC23-DCCB-C3D7-C895-2D393A014C60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799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2435354-F5C5-05C1-E1C7-7E065BFD8E8A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6" y="16510766"/>
            <a:ext cx="16114093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F8ACF7E-0030-50A0-D85A-4EE4E128618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6" y="15884910"/>
            <a:ext cx="16114093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90F7F8E4-D9D6-AE31-E63B-120BB054530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6" y="6583679"/>
            <a:ext cx="16114094" cy="9067992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64316FE9-EFB5-B502-D80B-58C700B9A377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741493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648AF9-5D21-C55C-50D0-96E31ACF3A7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741493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76125F03-AC1F-128A-BA68-7071018BEC7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741493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F69DD0CA-6122-E4E8-7442-680BF49033F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8633107" y="17866936"/>
            <a:ext cx="112014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2" name="Image Text Placeholder 2">
            <a:extLst>
              <a:ext uri="{FF2B5EF4-FFF2-40B4-BE49-F238E27FC236}">
                <a16:creationId xmlns:a16="http://schemas.microsoft.com/office/drawing/2014/main" id="{3A83E94B-F03A-A8F4-B0FE-74E5234C8B2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8633107" y="17241080"/>
            <a:ext cx="112014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B6BA6D6-DE4B-9D43-AB0B-4FC40D8CC866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8633107" y="5806441"/>
            <a:ext cx="11201400" cy="11201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1B44D39-6100-C773-3F91-47C5994A926D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80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5EC83629-467F-BCD7-68B9-3BAC22BB0C41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80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19E092C-D874-79CA-ABAB-947657DFB00A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D798EC41-5120-B538-7AC3-88E72857542C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7" y="14455080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C5A1394-8081-7AD2-5890-4DDDBE4D2A49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7" y="13829224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95F7F591-C716-E009-C823-90D5057809D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2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051DB240-39A0-04BE-1CDD-E6EEE91AC77B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1" y="14455080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0034F399-18E8-4520-3F5F-0B6DBB8B679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1" y="13829224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48EC521D-B4C2-799A-C6A3-69D700BE76C1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600" y="7681205"/>
            <a:ext cx="10515600" cy="591478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E989AB6-3F8A-A6ED-AEAA-3F4507FAE2A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679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729B0D1C-E74A-6F76-763E-92270DC85217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679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3654486B-3E43-161E-6F9D-7970C825ED51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5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3C0214F-858F-1E84-7ED0-A95E5B48C9ED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3030846" y="17181135"/>
            <a:ext cx="1051430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74E97535-A80D-5E31-72B1-DEDF80DC12A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3030846" y="16555279"/>
            <a:ext cx="1051430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2">
            <a:extLst>
              <a:ext uri="{FF2B5EF4-FFF2-40B4-BE49-F238E27FC236}">
                <a16:creationId xmlns:a16="http://schemas.microsoft.com/office/drawing/2014/main" id="{3676709D-CEED-E005-62E2-4CCF531B5FF4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30301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2BC77D-45BF-7FDA-7EE9-8D65EF1E8E2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4231600" y="17181135"/>
            <a:ext cx="1051560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3">
            <a:extLst>
              <a:ext uri="{FF2B5EF4-FFF2-40B4-BE49-F238E27FC236}">
                <a16:creationId xmlns:a16="http://schemas.microsoft.com/office/drawing/2014/main" id="{6C79E746-D7C4-814F-EBF8-ABC47AE2B43C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4231600" y="16555279"/>
            <a:ext cx="1051560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3">
            <a:extLst>
              <a:ext uri="{FF2B5EF4-FFF2-40B4-BE49-F238E27FC236}">
                <a16:creationId xmlns:a16="http://schemas.microsoft.com/office/drawing/2014/main" id="{C065D92D-38E1-039A-DFD5-9DC9C8B2918B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4231599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CEA58440-CE73-CF57-A5D3-F04B9BC8C4F1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65692E4-AE1D-AF93-35F5-37E53D0E10EB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482BED8-85E9-155E-CAB6-03B9511045E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30B187E3-3ED9-A3C3-676A-A55F0061F8A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3658409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2B3E8CC9-E7D8-3011-48CE-2439EF0A4EB7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3032553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F431FA93-762C-283A-FBA5-617E6FBED603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E88DE121-B036-8DB7-1405-0F594E0DE4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3658409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874E24E6-0D3F-F95F-BF6A-AF4A6AE3E83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3032553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736223F6-ED4F-5EB7-24DB-8928CCD0CAB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131287F0-44BE-1A7C-7C97-7CB8156721DD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3658409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A3604A9E-3F18-C956-DBA1-BAF9223D669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3032553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D49BD1B3-F0BB-0985-BCDE-55C4D1B7A11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7029498" y="8458200"/>
            <a:ext cx="771785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02EF665F-9D0A-0403-3D51-144BAE4168D8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5021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443B728-38A9-6A14-7F65-ADDB3F8A36A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5021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F2D3DCE-C6B1-3A69-F3C0-56DC23888CF5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4386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5905AF9-2F65-7BF7-FC63-55E2A9CD41D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8359" y="15754671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4" name="Image Text Placeholder 2">
            <a:extLst>
              <a:ext uri="{FF2B5EF4-FFF2-40B4-BE49-F238E27FC236}">
                <a16:creationId xmlns:a16="http://schemas.microsoft.com/office/drawing/2014/main" id="{AE1C74E4-2132-AD47-ED08-2369DE447A5C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8359" y="15128815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D035698C-1109-8300-B0FB-A35C03D3D74E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6090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95DFBE2B-369F-F09A-65BC-FF0DBB72C152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30426" y="15754671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357DC4B3-E29C-793D-AEB4-BBA50DFB2BC0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30426" y="15128815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F10DEB43-363E-B53B-77E4-9F82FC85D2AC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7794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FA9041DC-1795-EED4-DDFE-D3AD657A98FF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184" y="15754671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4">
            <a:extLst>
              <a:ext uri="{FF2B5EF4-FFF2-40B4-BE49-F238E27FC236}">
                <a16:creationId xmlns:a16="http://schemas.microsoft.com/office/drawing/2014/main" id="{5561A87B-4FBB-4FC4-8C9B-B8680657BFB8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184" y="15128815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4">
            <a:extLst>
              <a:ext uri="{FF2B5EF4-FFF2-40B4-BE49-F238E27FC236}">
                <a16:creationId xmlns:a16="http://schemas.microsoft.com/office/drawing/2014/main" id="{2C37A541-A293-8F4C-0BF2-0D815710DE2F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498" y="7178040"/>
            <a:ext cx="771785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1E79C4-9B0C-46C7-60B4-6967DE29993C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3E06B777-E79F-FFC8-EF9B-CDE4545CCE29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8C8B3A7F-5AE2-F8E5-87CC-20365DF66F4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98DBBE60-4AF1-670D-E84D-BABD51D4E268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2">
            <a:extLst>
              <a:ext uri="{FF2B5EF4-FFF2-40B4-BE49-F238E27FC236}">
                <a16:creationId xmlns:a16="http://schemas.microsoft.com/office/drawing/2014/main" id="{E39037D6-9F9D-5080-0BAE-F8A253C9F89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69F8812A-C8DB-AC9E-EBA1-083A2F95F6A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C5315ECD-854E-8EF0-38DF-8D5CCC50960C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5ECD1294-0328-1129-68E8-AAE34DBFC925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353AA046-BEA5-C6DF-0D01-1143CD367C23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DDB95454-AD37-062B-F77D-DF4B010799D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F3412B85-B6C4-A7D9-058F-3589C209799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065589F0-4249-3363-1606-46E3EB63CB6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4C779D-1289-7F23-4E19-51847B7A1583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626963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" name="Image Text Placeholder 1">
            <a:extLst>
              <a:ext uri="{FF2B5EF4-FFF2-40B4-BE49-F238E27FC236}">
                <a16:creationId xmlns:a16="http://schemas.microsoft.com/office/drawing/2014/main" id="{F76961B5-F844-4038-F188-A49A39698E0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626963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36C120A5-07CB-24F7-DEC3-1A083DB8BBC3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626328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3797122-CD5F-BC47-54A7-CDDE8ED1FE9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27030301" y="10125477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3" name="Image Text Placeholder 2">
            <a:extLst>
              <a:ext uri="{FF2B5EF4-FFF2-40B4-BE49-F238E27FC236}">
                <a16:creationId xmlns:a16="http://schemas.microsoft.com/office/drawing/2014/main" id="{DA1BC0F2-421E-35D2-6412-53FE2276AAEF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27030301" y="9499621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DA93A493-6E6A-9DF1-33B6-08C4085805AB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27029506" y="4925269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5" name="Text Placeholder 3">
            <a:extLst>
              <a:ext uri="{FF2B5EF4-FFF2-40B4-BE49-F238E27FC236}">
                <a16:creationId xmlns:a16="http://schemas.microsoft.com/office/drawing/2014/main" id="{2FC3CCE9-700E-9738-BC0E-BA6F9152235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6013" y="16468722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6" name="Image Text Placeholder 3">
            <a:extLst>
              <a:ext uri="{FF2B5EF4-FFF2-40B4-BE49-F238E27FC236}">
                <a16:creationId xmlns:a16="http://schemas.microsoft.com/office/drawing/2014/main" id="{D8679204-EF4D-054E-A2BC-86DA76EA0E2A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6013" y="15842866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7" name="Picture Placeholder 3">
            <a:extLst>
              <a:ext uri="{FF2B5EF4-FFF2-40B4-BE49-F238E27FC236}">
                <a16:creationId xmlns:a16="http://schemas.microsoft.com/office/drawing/2014/main" id="{29E129EE-2038-7A83-2F5C-CBEB36A7D937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6328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9BB27D65-9EE9-7CEE-0656-743DCE5A356B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2" y="16468722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9" name="Image Text Placeholder 4">
            <a:extLst>
              <a:ext uri="{FF2B5EF4-FFF2-40B4-BE49-F238E27FC236}">
                <a16:creationId xmlns:a16="http://schemas.microsoft.com/office/drawing/2014/main" id="{510D12E5-14C8-9A05-8C28-162A2A620925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2" y="15842866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0" name="Picture Placeholder 4">
            <a:extLst>
              <a:ext uri="{FF2B5EF4-FFF2-40B4-BE49-F238E27FC236}">
                <a16:creationId xmlns:a16="http://schemas.microsoft.com/office/drawing/2014/main" id="{AE316532-0119-5CFD-ED05-9D2A2CFCB85B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6" y="11268514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AAB18B-9133-491C-1E1C-6BD5DB04A14B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DF593F3D-53E7-743F-A7AB-FD173EC6B9DF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ABA80F-3B27-63BC-0780-B8706E84645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94612C4-2B22-1A13-9F38-A6071B7679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2">
            <a:extLst>
              <a:ext uri="{FF2B5EF4-FFF2-40B4-BE49-F238E27FC236}">
                <a16:creationId xmlns:a16="http://schemas.microsoft.com/office/drawing/2014/main" id="{890A0AB1-58E8-9767-0FFD-53160155C9A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D03A865E-9B3C-F764-75DD-CA2578A664FA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07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9D0EEA9-9F7A-BC6A-58B0-47F71162388A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3">
            <a:extLst>
              <a:ext uri="{FF2B5EF4-FFF2-40B4-BE49-F238E27FC236}">
                <a16:creationId xmlns:a16="http://schemas.microsoft.com/office/drawing/2014/main" id="{6358D607-A7E9-759C-60F6-E7FC907EC923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3">
            <a:extLst>
              <a:ext uri="{FF2B5EF4-FFF2-40B4-BE49-F238E27FC236}">
                <a16:creationId xmlns:a16="http://schemas.microsoft.com/office/drawing/2014/main" id="{335E8AE4-9A02-9810-1E15-BCA5A0C1536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A9D0247F-FA89-44E4-1CA1-1F5AEE787528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10227169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4">
            <a:extLst>
              <a:ext uri="{FF2B5EF4-FFF2-40B4-BE49-F238E27FC236}">
                <a16:creationId xmlns:a16="http://schemas.microsoft.com/office/drawing/2014/main" id="{448E8154-F1A2-E4A4-85EE-DCD89AFA221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10227169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958483D-099B-4C62-19C9-2B85FC8AC7D2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10227483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5">
            <a:extLst>
              <a:ext uri="{FF2B5EF4-FFF2-40B4-BE49-F238E27FC236}">
                <a16:creationId xmlns:a16="http://schemas.microsoft.com/office/drawing/2014/main" id="{EBD74182-8588-BED7-CB44-072C8348CA9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630661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5">
            <a:extLst>
              <a:ext uri="{FF2B5EF4-FFF2-40B4-BE49-F238E27FC236}">
                <a16:creationId xmlns:a16="http://schemas.microsoft.com/office/drawing/2014/main" id="{9944992B-DC18-0E0F-439B-CF5C3C53DFFB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630661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5">
            <a:extLst>
              <a:ext uri="{FF2B5EF4-FFF2-40B4-BE49-F238E27FC236}">
                <a16:creationId xmlns:a16="http://schemas.microsoft.com/office/drawing/2014/main" id="{660631FB-B5DA-07AA-ABD5-3A8EC0F4C82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630661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13D154E7-1249-288A-E918-3888EF51EA1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026529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A6414C37-B65D-7CFA-A936-13DD6985E4B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6026529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A30AF97F-0DF5-2039-130A-AFA6905358C9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602589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0D628B38-5048-7037-2221-587E87B736B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4429867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2">
            <a:extLst>
              <a:ext uri="{FF2B5EF4-FFF2-40B4-BE49-F238E27FC236}">
                <a16:creationId xmlns:a16="http://schemas.microsoft.com/office/drawing/2014/main" id="{1559EC85-71F8-78BA-14E5-E387758E373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4429867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1B7CBA0B-C380-3AC2-AC3D-1A857EAD6A58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4429232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AE3AE4FC-B0E7-62F1-6FD6-0A1971A66E1E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22831934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3">
            <a:extLst>
              <a:ext uri="{FF2B5EF4-FFF2-40B4-BE49-F238E27FC236}">
                <a16:creationId xmlns:a16="http://schemas.microsoft.com/office/drawing/2014/main" id="{6D6580E3-F809-71DE-F83B-A584CBC85B92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22831934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3">
            <a:extLst>
              <a:ext uri="{FF2B5EF4-FFF2-40B4-BE49-F238E27FC236}">
                <a16:creationId xmlns:a16="http://schemas.microsoft.com/office/drawing/2014/main" id="{9A4FA4A2-4CAA-6FA7-31D5-D43DEBDB5A75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22832249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79AD7B08-053C-9190-0D12-F1BAB2E286B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6025581" y="17349893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4">
            <a:extLst>
              <a:ext uri="{FF2B5EF4-FFF2-40B4-BE49-F238E27FC236}">
                <a16:creationId xmlns:a16="http://schemas.microsoft.com/office/drawing/2014/main" id="{4FA4ED94-57E4-AE6B-B890-F274DC4FC0DE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6025581" y="16724037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4">
            <a:extLst>
              <a:ext uri="{FF2B5EF4-FFF2-40B4-BE49-F238E27FC236}">
                <a16:creationId xmlns:a16="http://schemas.microsoft.com/office/drawing/2014/main" id="{9E19E24C-979D-3C9A-9C76-CB5B03D44096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602589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5">
            <a:extLst>
              <a:ext uri="{FF2B5EF4-FFF2-40B4-BE49-F238E27FC236}">
                <a16:creationId xmlns:a16="http://schemas.microsoft.com/office/drawing/2014/main" id="{06964C24-EB2D-973F-CAEE-52230749F92F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442907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5">
            <a:extLst>
              <a:ext uri="{FF2B5EF4-FFF2-40B4-BE49-F238E27FC236}">
                <a16:creationId xmlns:a16="http://schemas.microsoft.com/office/drawing/2014/main" id="{ED4E3AFB-8939-61FB-5FF0-F1534EC387E1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442907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5">
            <a:extLst>
              <a:ext uri="{FF2B5EF4-FFF2-40B4-BE49-F238E27FC236}">
                <a16:creationId xmlns:a16="http://schemas.microsoft.com/office/drawing/2014/main" id="{A1B13653-F43D-0A5E-38A6-CB5001465815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E5FC1EDC-3D2A-65A9-871F-F197CDBEA69B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22832249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6">
            <a:extLst>
              <a:ext uri="{FF2B5EF4-FFF2-40B4-BE49-F238E27FC236}">
                <a16:creationId xmlns:a16="http://schemas.microsoft.com/office/drawing/2014/main" id="{44682B27-3A3D-0B94-5ECC-DDBB5EF455C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22832249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6">
            <a:extLst>
              <a:ext uri="{FF2B5EF4-FFF2-40B4-BE49-F238E27FC236}">
                <a16:creationId xmlns:a16="http://schemas.microsoft.com/office/drawing/2014/main" id="{128F8CF0-9FA1-4567-B0F3-85953E786502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22832249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F630764C-4CB7-CC58-55C7-3434EE0A9C55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4423268B-E454-8182-6279-77138725F4F5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DAC03B5C-BB34-99BA-EFE5-0FE346472297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471458BD-9DE8-FE1C-2920-68BCEC79588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04109424-82FD-CF0B-FFDE-7FAC1BA6DAC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BE5B7F7B-783A-A0EA-4897-EDF8C1F02592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16727525-F12D-CFFD-1ED0-4E2EC8BCCDC5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076934D6-602D-6CCF-6B31-35575C07928E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2E3916C6-FCD1-6F9A-445E-3D0915995F1A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C58D469-AAB0-CB8B-CE5A-DF474F6D8C13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157879AC-2842-1C0D-BE88-A53BB7AC05CD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623824F2-BD7A-FF50-B0BD-D3C1B01D9489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BC68CEEF-5DD1-4DA6-978B-0EE9C83F2FD0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602894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7851B54C-7488-089C-D52C-4A52B32CC48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602894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21ED7823-61D2-2FFA-CA90-BF25752944E3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602894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D513BBBB-DE5A-527D-46E8-1743A8031B88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4429232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7E60EE3D-5E59-F26C-8AD9-2188B7C96528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4429232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3EDD73EC-F926-8897-6059-C200AC5FE9EE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4429232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4A6E0E99-4BE8-903E-B9C7-B082801EF3DE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22829520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ED6A66F4-9D18-8D19-BF9D-6CD753BA735A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22829520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6876670D-7D23-4CF6-8548-FE090C8A76B3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22829520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7978D673-0BDB-8A27-A8D7-CE578AEA3CBF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1532DC11-96E1-4F5D-35B2-D80108E71F62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9E6D5051-4FCC-CB02-0C06-B1F5332FD706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1828800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E2CDFFA7-9E02-725D-0EDB-D93305C6A6E2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10229723" y="11006648"/>
            <a:ext cx="771722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2">
            <a:extLst>
              <a:ext uri="{FF2B5EF4-FFF2-40B4-BE49-F238E27FC236}">
                <a16:creationId xmlns:a16="http://schemas.microsoft.com/office/drawing/2014/main" id="{B0CA0F5C-334B-B584-E06F-1E2F109F9AB6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10229723" y="10381469"/>
            <a:ext cx="771722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2">
            <a:extLst>
              <a:ext uri="{FF2B5EF4-FFF2-40B4-BE49-F238E27FC236}">
                <a16:creationId xmlns:a16="http://schemas.microsoft.com/office/drawing/2014/main" id="{C536FB7D-F1F0-781E-34AB-3F1ABF5CE191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10229088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E1F4CC7B-C72C-4672-E74C-6D61EC928816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8628848" y="11006648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3">
            <a:extLst>
              <a:ext uri="{FF2B5EF4-FFF2-40B4-BE49-F238E27FC236}">
                <a16:creationId xmlns:a16="http://schemas.microsoft.com/office/drawing/2014/main" id="{641EC321-A433-3051-F6F8-BF4CB5E94084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8628848" y="10381469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3">
            <a:extLst>
              <a:ext uri="{FF2B5EF4-FFF2-40B4-BE49-F238E27FC236}">
                <a16:creationId xmlns:a16="http://schemas.microsoft.com/office/drawing/2014/main" id="{DED3346E-BCE7-4488-337D-3A6A02329800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8629376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9AF78149-262D-6518-1A2F-47D582DC9B5A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7029351" y="11006648"/>
            <a:ext cx="7718170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4">
            <a:extLst>
              <a:ext uri="{FF2B5EF4-FFF2-40B4-BE49-F238E27FC236}">
                <a16:creationId xmlns:a16="http://schemas.microsoft.com/office/drawing/2014/main" id="{1AD5F046-F946-28E3-7E59-15789CD85452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7029351" y="10381469"/>
            <a:ext cx="7718170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4">
            <a:extLst>
              <a:ext uri="{FF2B5EF4-FFF2-40B4-BE49-F238E27FC236}">
                <a16:creationId xmlns:a16="http://schemas.microsoft.com/office/drawing/2014/main" id="{148034F7-3860-40F0-3BFE-91AD4D05A0F8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7029664" y="5806440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5">
            <a:extLst>
              <a:ext uri="{FF2B5EF4-FFF2-40B4-BE49-F238E27FC236}">
                <a16:creationId xmlns:a16="http://schemas.microsoft.com/office/drawing/2014/main" id="{F7E32F74-3796-25BA-BB04-53971CE7834A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18281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5">
            <a:extLst>
              <a:ext uri="{FF2B5EF4-FFF2-40B4-BE49-F238E27FC236}">
                <a16:creationId xmlns:a16="http://schemas.microsoft.com/office/drawing/2014/main" id="{AC0EEF07-6B9F-F5FC-B330-CB47B5A55A5E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8281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5">
            <a:extLst>
              <a:ext uri="{FF2B5EF4-FFF2-40B4-BE49-F238E27FC236}">
                <a16:creationId xmlns:a16="http://schemas.microsoft.com/office/drawing/2014/main" id="{AEF5DC33-5308-239C-B13F-2AA57684D6B9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1828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8B41D1B9-66C7-13BB-2E1F-CD69E9131E1C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0228665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6">
            <a:extLst>
              <a:ext uri="{FF2B5EF4-FFF2-40B4-BE49-F238E27FC236}">
                <a16:creationId xmlns:a16="http://schemas.microsoft.com/office/drawing/2014/main" id="{C5498CBA-E497-16C1-742F-C3C26EC95DB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228665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6">
            <a:extLst>
              <a:ext uri="{FF2B5EF4-FFF2-40B4-BE49-F238E27FC236}">
                <a16:creationId xmlns:a16="http://schemas.microsoft.com/office/drawing/2014/main" id="{213EF361-63C9-84EA-0E58-4BC930EB7A36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02286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7">
            <a:extLst>
              <a:ext uri="{FF2B5EF4-FFF2-40B4-BE49-F238E27FC236}">
                <a16:creationId xmlns:a16="http://schemas.microsoft.com/office/drawing/2014/main" id="{3B075A3F-076B-6F14-D6D7-7BB067058D1B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8629164" y="17350073"/>
            <a:ext cx="7717856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7">
            <a:extLst>
              <a:ext uri="{FF2B5EF4-FFF2-40B4-BE49-F238E27FC236}">
                <a16:creationId xmlns:a16="http://schemas.microsoft.com/office/drawing/2014/main" id="{5AE371D2-9890-D27E-0C89-F23BED97E6B3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18629164" y="16724037"/>
            <a:ext cx="7717856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7">
            <a:extLst>
              <a:ext uri="{FF2B5EF4-FFF2-40B4-BE49-F238E27FC236}">
                <a16:creationId xmlns:a16="http://schemas.microsoft.com/office/drawing/2014/main" id="{F2777701-1439-D1A7-FE1A-91F9E6F53389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18629165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8">
            <a:extLst>
              <a:ext uri="{FF2B5EF4-FFF2-40B4-BE49-F238E27FC236}">
                <a16:creationId xmlns:a16="http://schemas.microsoft.com/office/drawing/2014/main" id="{E3611A72-8635-0768-FE24-C8BE5A068040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27029664" y="17350073"/>
            <a:ext cx="7718171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8">
            <a:extLst>
              <a:ext uri="{FF2B5EF4-FFF2-40B4-BE49-F238E27FC236}">
                <a16:creationId xmlns:a16="http://schemas.microsoft.com/office/drawing/2014/main" id="{15F22903-F879-146C-D653-1C953D51F1D7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27029664" y="16724037"/>
            <a:ext cx="7718171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8">
            <a:extLst>
              <a:ext uri="{FF2B5EF4-FFF2-40B4-BE49-F238E27FC236}">
                <a16:creationId xmlns:a16="http://schemas.microsoft.com/office/drawing/2014/main" id="{C9A3B76A-47E4-4BBA-C00F-A605F3B99E75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27029664" y="12149685"/>
            <a:ext cx="7717856" cy="434129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B0131B47-B5B7-F148-4002-DAA1E5650ED4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C28ABF7D-29F2-B0CE-ED9F-DA065CC298BA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EF7AEB09-C474-CC1F-2F31-49DF258D068D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CE648B61-48E8-01D9-A502-3E3367EC1737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0" name="Image Text Placeholder 2">
            <a:extLst>
              <a:ext uri="{FF2B5EF4-FFF2-40B4-BE49-F238E27FC236}">
                <a16:creationId xmlns:a16="http://schemas.microsoft.com/office/drawing/2014/main" id="{8F5F26B8-D130-D082-2689-D29B52860340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E9B78BB-2018-F789-2158-46DB09119372}"/>
              </a:ext>
            </a:extLst>
          </p:cNvPr>
          <p:cNvSpPr>
            <a:spLocks noGrp="1" noChangeAspect="1"/>
          </p:cNvSpPr>
          <p:nvPr>
            <p:ph type="pic" sz="quarter" idx="53" hasCustomPrompt="1"/>
          </p:nvPr>
        </p:nvSpPr>
        <p:spPr>
          <a:xfrm>
            <a:off x="8549639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ED95C055-507D-5FF5-F328-389CA07DE9F4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 3">
            <a:extLst>
              <a:ext uri="{FF2B5EF4-FFF2-40B4-BE49-F238E27FC236}">
                <a16:creationId xmlns:a16="http://schemas.microsoft.com/office/drawing/2014/main" id="{41777126-549B-A339-2679-A2A046510D09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4" name="Picture Placeholder 3">
            <a:extLst>
              <a:ext uri="{FF2B5EF4-FFF2-40B4-BE49-F238E27FC236}">
                <a16:creationId xmlns:a16="http://schemas.microsoft.com/office/drawing/2014/main" id="{76135777-EFA0-9BD8-210B-552D97D43DD2}"/>
              </a:ext>
            </a:extLst>
          </p:cNvPr>
          <p:cNvSpPr>
            <a:spLocks noGrp="1" noChangeAspect="1"/>
          </p:cNvSpPr>
          <p:nvPr>
            <p:ph type="pic" sz="quarter" idx="58" hasCustomPrompt="1"/>
          </p:nvPr>
        </p:nvSpPr>
        <p:spPr>
          <a:xfrm>
            <a:off x="15270478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95D2C89D-8974-CC88-56D5-D4BD01270335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6" name="Image Text Placeholder 4">
            <a:extLst>
              <a:ext uri="{FF2B5EF4-FFF2-40B4-BE49-F238E27FC236}">
                <a16:creationId xmlns:a16="http://schemas.microsoft.com/office/drawing/2014/main" id="{635F3C2A-EFEC-FA7C-C6D2-B28E72D1C6CE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17" name="Picture Placeholder 4">
            <a:extLst>
              <a:ext uri="{FF2B5EF4-FFF2-40B4-BE49-F238E27FC236}">
                <a16:creationId xmlns:a16="http://schemas.microsoft.com/office/drawing/2014/main" id="{BBF0B83C-1493-7A37-3CF6-731E6F6E6A62}"/>
              </a:ext>
            </a:extLst>
          </p:cNvPr>
          <p:cNvSpPr>
            <a:spLocks noGrp="1" noChangeAspect="1"/>
          </p:cNvSpPr>
          <p:nvPr>
            <p:ph type="pic" sz="quarter" idx="61" hasCustomPrompt="1"/>
          </p:nvPr>
        </p:nvSpPr>
        <p:spPr>
          <a:xfrm>
            <a:off x="21991317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8" name="Text Placeholder 5">
            <a:extLst>
              <a:ext uri="{FF2B5EF4-FFF2-40B4-BE49-F238E27FC236}">
                <a16:creationId xmlns:a16="http://schemas.microsoft.com/office/drawing/2014/main" id="{D0BCB15C-5A68-FE62-7189-812C1AFDDAE2}"/>
              </a:ext>
            </a:extLst>
          </p:cNvPr>
          <p:cNvSpPr>
            <a:spLocks noGrp="1"/>
          </p:cNvSpPr>
          <p:nvPr>
            <p:ph type="body" sz="quarter" idx="62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9" name="Image Text Placeholder 5">
            <a:extLst>
              <a:ext uri="{FF2B5EF4-FFF2-40B4-BE49-F238E27FC236}">
                <a16:creationId xmlns:a16="http://schemas.microsoft.com/office/drawing/2014/main" id="{BBAA1C0A-15A8-D7A5-8438-1586FF72B38B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0" name="Picture Placeholder 5">
            <a:extLst>
              <a:ext uri="{FF2B5EF4-FFF2-40B4-BE49-F238E27FC236}">
                <a16:creationId xmlns:a16="http://schemas.microsoft.com/office/drawing/2014/main" id="{54DF6266-8BCE-586C-72A7-55A96425A734}"/>
              </a:ext>
            </a:extLst>
          </p:cNvPr>
          <p:cNvSpPr>
            <a:spLocks noGrp="1" noChangeAspect="1"/>
          </p:cNvSpPr>
          <p:nvPr>
            <p:ph type="pic" sz="quarter" idx="64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C66E5329-4388-E232-62F0-6321508ED4A3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518890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2" name="Image Text Placeholder 6">
            <a:extLst>
              <a:ext uri="{FF2B5EF4-FFF2-40B4-BE49-F238E27FC236}">
                <a16:creationId xmlns:a16="http://schemas.microsoft.com/office/drawing/2014/main" id="{C8C7CD6C-8D24-F322-0F0C-F048846B1B0D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518890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3" name="Picture Placeholder 6">
            <a:extLst>
              <a:ext uri="{FF2B5EF4-FFF2-40B4-BE49-F238E27FC236}">
                <a16:creationId xmlns:a16="http://schemas.microsoft.com/office/drawing/2014/main" id="{82987E90-FC5A-5018-2FE1-CA06551E8D25}"/>
              </a:ext>
            </a:extLst>
          </p:cNvPr>
          <p:cNvSpPr>
            <a:spLocks noGrp="1" noChangeAspect="1"/>
          </p:cNvSpPr>
          <p:nvPr>
            <p:ph type="pic" sz="quarter" idx="67" hasCustomPrompt="1"/>
          </p:nvPr>
        </p:nvSpPr>
        <p:spPr>
          <a:xfrm>
            <a:off x="518922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EA58AAC9-BDA0-4352-363F-2C4B20AC270C}"/>
              </a:ext>
            </a:extLst>
          </p:cNvPr>
          <p:cNvSpPr>
            <a:spLocks noGrp="1"/>
          </p:cNvSpPr>
          <p:nvPr>
            <p:ph type="body" sz="quarter" idx="68" hasCustomPrompt="1"/>
          </p:nvPr>
        </p:nvSpPr>
        <p:spPr>
          <a:xfrm>
            <a:off x="11909741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5" name="Image Text Placeholder 7">
            <a:extLst>
              <a:ext uri="{FF2B5EF4-FFF2-40B4-BE49-F238E27FC236}">
                <a16:creationId xmlns:a16="http://schemas.microsoft.com/office/drawing/2014/main" id="{416F6586-0240-36B8-9B04-583616DB2AFF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11909741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6" name="Picture Placeholder 7">
            <a:extLst>
              <a:ext uri="{FF2B5EF4-FFF2-40B4-BE49-F238E27FC236}">
                <a16:creationId xmlns:a16="http://schemas.microsoft.com/office/drawing/2014/main" id="{9C92ADFF-6064-8070-CF54-2062716EC50B}"/>
              </a:ext>
            </a:extLst>
          </p:cNvPr>
          <p:cNvSpPr>
            <a:spLocks noGrp="1" noChangeAspect="1"/>
          </p:cNvSpPr>
          <p:nvPr>
            <p:ph type="pic" sz="quarter" idx="70" hasCustomPrompt="1"/>
          </p:nvPr>
        </p:nvSpPr>
        <p:spPr>
          <a:xfrm>
            <a:off x="1191006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7" name="Text Placeholder 8">
            <a:extLst>
              <a:ext uri="{FF2B5EF4-FFF2-40B4-BE49-F238E27FC236}">
                <a16:creationId xmlns:a16="http://schemas.microsoft.com/office/drawing/2014/main" id="{BCDD1216-1AB2-3445-C1F2-C6212232509D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186305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28" name="Image Text Placeholder 8">
            <a:extLst>
              <a:ext uri="{FF2B5EF4-FFF2-40B4-BE49-F238E27FC236}">
                <a16:creationId xmlns:a16="http://schemas.microsoft.com/office/drawing/2014/main" id="{7DDF0955-0E96-8C32-2EA7-67141F5F86CB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86305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29" name="Picture Placeholder 8">
            <a:extLst>
              <a:ext uri="{FF2B5EF4-FFF2-40B4-BE49-F238E27FC236}">
                <a16:creationId xmlns:a16="http://schemas.microsoft.com/office/drawing/2014/main" id="{345C2C78-DA02-9F5C-15A6-E68CD36D0C74}"/>
              </a:ext>
            </a:extLst>
          </p:cNvPr>
          <p:cNvSpPr>
            <a:spLocks noGrp="1" noChangeAspect="1"/>
          </p:cNvSpPr>
          <p:nvPr>
            <p:ph type="pic" sz="quarter" idx="73" hasCustomPrompt="1"/>
          </p:nvPr>
        </p:nvSpPr>
        <p:spPr>
          <a:xfrm>
            <a:off x="186309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0" name="Text Placeholder 9">
            <a:extLst>
              <a:ext uri="{FF2B5EF4-FFF2-40B4-BE49-F238E27FC236}">
                <a16:creationId xmlns:a16="http://schemas.microsoft.com/office/drawing/2014/main" id="{7A1BDC1E-1B14-3737-389C-3D1609D760B9}"/>
              </a:ext>
            </a:extLst>
          </p:cNvPr>
          <p:cNvSpPr>
            <a:spLocks noGrp="1"/>
          </p:cNvSpPr>
          <p:nvPr>
            <p:ph type="body" sz="quarter" idx="74" hasCustomPrompt="1"/>
          </p:nvPr>
        </p:nvSpPr>
        <p:spPr>
          <a:xfrm>
            <a:off x="25351419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9">
            <a:extLst>
              <a:ext uri="{FF2B5EF4-FFF2-40B4-BE49-F238E27FC236}">
                <a16:creationId xmlns:a16="http://schemas.microsoft.com/office/drawing/2014/main" id="{57FFD21B-106E-D0F6-6084-C07EBEE9CB81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5351419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9">
            <a:extLst>
              <a:ext uri="{FF2B5EF4-FFF2-40B4-BE49-F238E27FC236}">
                <a16:creationId xmlns:a16="http://schemas.microsoft.com/office/drawing/2014/main" id="{F4798C5A-7E62-4B47-5ACD-F9CF8E66C7EB}"/>
              </a:ext>
            </a:extLst>
          </p:cNvPr>
          <p:cNvSpPr>
            <a:spLocks noGrp="1" noChangeAspect="1"/>
          </p:cNvSpPr>
          <p:nvPr>
            <p:ph type="pic" sz="quarter" idx="76" hasCustomPrompt="1"/>
          </p:nvPr>
        </p:nvSpPr>
        <p:spPr>
          <a:xfrm>
            <a:off x="2535174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5541D50E-AD73-9B43-6942-5D3896418D19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182880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 1">
            <a:extLst>
              <a:ext uri="{FF2B5EF4-FFF2-40B4-BE49-F238E27FC236}">
                <a16:creationId xmlns:a16="http://schemas.microsoft.com/office/drawing/2014/main" id="{0A8DB497-AE6A-0DF8-9C97-FC43C5D2770C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82880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" name="Picture Placeholder 1">
            <a:extLst>
              <a:ext uri="{FF2B5EF4-FFF2-40B4-BE49-F238E27FC236}">
                <a16:creationId xmlns:a16="http://schemas.microsoft.com/office/drawing/2014/main" id="{58D13341-F599-599A-5F0F-2EF6A1BED6F5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A6B8157A-B098-20EA-AFC9-9B4CC65D4D5F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8549005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1" name="Image Text Placeholder 2">
            <a:extLst>
              <a:ext uri="{FF2B5EF4-FFF2-40B4-BE49-F238E27FC236}">
                <a16:creationId xmlns:a16="http://schemas.microsoft.com/office/drawing/2014/main" id="{9F7772A2-141A-2C32-35BF-03721C006E4B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8549005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2" name="Picture Placeholder 2">
            <a:extLst>
              <a:ext uri="{FF2B5EF4-FFF2-40B4-BE49-F238E27FC236}">
                <a16:creationId xmlns:a16="http://schemas.microsoft.com/office/drawing/2014/main" id="{9D12C4FE-EA14-DC16-E035-07F6E2255DD5}"/>
              </a:ext>
            </a:extLst>
          </p:cNvPr>
          <p:cNvSpPr>
            <a:spLocks noGrp="1" noChangeAspect="1"/>
          </p:cNvSpPr>
          <p:nvPr>
            <p:ph type="pic" sz="quarter" idx="56" hasCustomPrompt="1"/>
          </p:nvPr>
        </p:nvSpPr>
        <p:spPr>
          <a:xfrm>
            <a:off x="8549005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3" name="Text Placeholder 3">
            <a:extLst>
              <a:ext uri="{FF2B5EF4-FFF2-40B4-BE49-F238E27FC236}">
                <a16:creationId xmlns:a16="http://schemas.microsoft.com/office/drawing/2014/main" id="{0ECDEBEB-E52F-C256-D4BC-3CD8FBACF261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1527048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34" name="Image Text Placeholder 3">
            <a:extLst>
              <a:ext uri="{FF2B5EF4-FFF2-40B4-BE49-F238E27FC236}">
                <a16:creationId xmlns:a16="http://schemas.microsoft.com/office/drawing/2014/main" id="{785D8308-6DC4-5070-FBE7-A99AC6478429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527048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DEC4416E-D910-82FA-849C-D1F0138FE8BF}"/>
              </a:ext>
            </a:extLst>
          </p:cNvPr>
          <p:cNvSpPr>
            <a:spLocks noGrp="1" noChangeAspect="1"/>
          </p:cNvSpPr>
          <p:nvPr>
            <p:ph type="pic" sz="quarter" idx="59" hasCustomPrompt="1"/>
          </p:nvPr>
        </p:nvSpPr>
        <p:spPr>
          <a:xfrm>
            <a:off x="1527048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0EFC9957-6324-44FA-A937-12E8D28D27D5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21990686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3" name="Image Text Placeholder 4">
            <a:extLst>
              <a:ext uri="{FF2B5EF4-FFF2-40B4-BE49-F238E27FC236}">
                <a16:creationId xmlns:a16="http://schemas.microsoft.com/office/drawing/2014/main" id="{54145343-115A-7C6C-5025-8D78035AC08A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21990686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4" name="Picture Placeholder 4">
            <a:extLst>
              <a:ext uri="{FF2B5EF4-FFF2-40B4-BE49-F238E27FC236}">
                <a16:creationId xmlns:a16="http://schemas.microsoft.com/office/drawing/2014/main" id="{12E9E9CA-B252-105A-7EE9-3C32BD1E338C}"/>
              </a:ext>
            </a:extLst>
          </p:cNvPr>
          <p:cNvSpPr>
            <a:spLocks noGrp="1" noChangeAspect="1"/>
          </p:cNvSpPr>
          <p:nvPr>
            <p:ph type="pic" sz="quarter" idx="62" hasCustomPrompt="1"/>
          </p:nvPr>
        </p:nvSpPr>
        <p:spPr>
          <a:xfrm>
            <a:off x="21990686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5" name="Text Placeholder 5">
            <a:extLst>
              <a:ext uri="{FF2B5EF4-FFF2-40B4-BE49-F238E27FC236}">
                <a16:creationId xmlns:a16="http://schemas.microsoft.com/office/drawing/2014/main" id="{75A65FBD-41FC-DAE1-70F8-6970F6A06507}"/>
              </a:ext>
            </a:extLst>
          </p:cNvPr>
          <p:cNvSpPr>
            <a:spLocks noGrp="1"/>
          </p:cNvSpPr>
          <p:nvPr>
            <p:ph type="body" sz="quarter" idx="63" hasCustomPrompt="1"/>
          </p:nvPr>
        </p:nvSpPr>
        <p:spPr>
          <a:xfrm>
            <a:off x="28712160" y="11006828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6" name="Image Text Placeholder 5">
            <a:extLst>
              <a:ext uri="{FF2B5EF4-FFF2-40B4-BE49-F238E27FC236}">
                <a16:creationId xmlns:a16="http://schemas.microsoft.com/office/drawing/2014/main" id="{7E4F8B92-A608-0712-63DC-7D0B8D25C999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28712160" y="10381469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47" name="Picture Placeholder 5">
            <a:extLst>
              <a:ext uri="{FF2B5EF4-FFF2-40B4-BE49-F238E27FC236}">
                <a16:creationId xmlns:a16="http://schemas.microsoft.com/office/drawing/2014/main" id="{3040C462-A8E3-CAE7-C8B2-CC88CC2BCB82}"/>
              </a:ext>
            </a:extLst>
          </p:cNvPr>
          <p:cNvSpPr>
            <a:spLocks noGrp="1" noChangeAspect="1"/>
          </p:cNvSpPr>
          <p:nvPr>
            <p:ph type="pic" sz="quarter" idx="65" hasCustomPrompt="1"/>
          </p:nvPr>
        </p:nvSpPr>
        <p:spPr>
          <a:xfrm>
            <a:off x="28712160" y="6753024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F3DBD58A-06EA-C55D-B36A-08E3CA5C6AF3}"/>
              </a:ext>
            </a:extLst>
          </p:cNvPr>
          <p:cNvSpPr>
            <a:spLocks noGrp="1"/>
          </p:cNvSpPr>
          <p:nvPr>
            <p:ph type="body" sz="quarter" idx="66" hasCustomPrompt="1"/>
          </p:nvPr>
        </p:nvSpPr>
        <p:spPr>
          <a:xfrm>
            <a:off x="182880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9" name="Image Text Placeholder 6">
            <a:extLst>
              <a:ext uri="{FF2B5EF4-FFF2-40B4-BE49-F238E27FC236}">
                <a16:creationId xmlns:a16="http://schemas.microsoft.com/office/drawing/2014/main" id="{DFF6D880-1D4D-A370-FD0B-8E2026432961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82880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0" name="Picture Placeholder 6">
            <a:extLst>
              <a:ext uri="{FF2B5EF4-FFF2-40B4-BE49-F238E27FC236}">
                <a16:creationId xmlns:a16="http://schemas.microsoft.com/office/drawing/2014/main" id="{FE36365B-485F-9C95-7F33-A795DDA0A970}"/>
              </a:ext>
            </a:extLst>
          </p:cNvPr>
          <p:cNvSpPr>
            <a:spLocks noGrp="1" noChangeAspect="1"/>
          </p:cNvSpPr>
          <p:nvPr>
            <p:ph type="pic" sz="quarter" idx="68" hasCustomPrompt="1"/>
          </p:nvPr>
        </p:nvSpPr>
        <p:spPr>
          <a:xfrm>
            <a:off x="182880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1" name="Text Placeholder 7">
            <a:extLst>
              <a:ext uri="{FF2B5EF4-FFF2-40B4-BE49-F238E27FC236}">
                <a16:creationId xmlns:a16="http://schemas.microsoft.com/office/drawing/2014/main" id="{327C785F-6851-A93B-5694-C244F8852ED5}"/>
              </a:ext>
            </a:extLst>
          </p:cNvPr>
          <p:cNvSpPr>
            <a:spLocks noGrp="1"/>
          </p:cNvSpPr>
          <p:nvPr>
            <p:ph type="body" sz="quarter" idx="69" hasCustomPrompt="1"/>
          </p:nvPr>
        </p:nvSpPr>
        <p:spPr>
          <a:xfrm>
            <a:off x="8549005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2" name="Image Text Placeholder 7">
            <a:extLst>
              <a:ext uri="{FF2B5EF4-FFF2-40B4-BE49-F238E27FC236}">
                <a16:creationId xmlns:a16="http://schemas.microsoft.com/office/drawing/2014/main" id="{BE2B5C28-9A8B-0D8E-F12E-37E98398B727}"/>
              </a:ext>
            </a:extLst>
          </p:cNvPr>
          <p:cNvSpPr>
            <a:spLocks noGrp="1"/>
          </p:cNvSpPr>
          <p:nvPr>
            <p:ph type="body" sz="quarter" idx="70" hasCustomPrompt="1"/>
          </p:nvPr>
        </p:nvSpPr>
        <p:spPr>
          <a:xfrm>
            <a:off x="8549005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3" name="Picture Placeholder 7">
            <a:extLst>
              <a:ext uri="{FF2B5EF4-FFF2-40B4-BE49-F238E27FC236}">
                <a16:creationId xmlns:a16="http://schemas.microsoft.com/office/drawing/2014/main" id="{DEDF76AC-53F8-1E95-4B55-FA0C90102307}"/>
              </a:ext>
            </a:extLst>
          </p:cNvPr>
          <p:cNvSpPr>
            <a:spLocks noGrp="1" noChangeAspect="1"/>
          </p:cNvSpPr>
          <p:nvPr>
            <p:ph type="pic" sz="quarter" idx="71" hasCustomPrompt="1"/>
          </p:nvPr>
        </p:nvSpPr>
        <p:spPr>
          <a:xfrm>
            <a:off x="8549005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4" name="Text Placeholder 8">
            <a:extLst>
              <a:ext uri="{FF2B5EF4-FFF2-40B4-BE49-F238E27FC236}">
                <a16:creationId xmlns:a16="http://schemas.microsoft.com/office/drawing/2014/main" id="{541B0966-B263-1076-F94D-E177A8FCCA7C}"/>
              </a:ext>
            </a:extLst>
          </p:cNvPr>
          <p:cNvSpPr>
            <a:spLocks noGrp="1"/>
          </p:cNvSpPr>
          <p:nvPr>
            <p:ph type="body" sz="quarter" idx="72" hasCustomPrompt="1"/>
          </p:nvPr>
        </p:nvSpPr>
        <p:spPr>
          <a:xfrm>
            <a:off x="15270480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5" name="Image Text Placeholder 8">
            <a:extLst>
              <a:ext uri="{FF2B5EF4-FFF2-40B4-BE49-F238E27FC236}">
                <a16:creationId xmlns:a16="http://schemas.microsoft.com/office/drawing/2014/main" id="{64B1456B-F08A-3269-C378-571FD4FE263B}"/>
              </a:ext>
            </a:extLst>
          </p:cNvPr>
          <p:cNvSpPr>
            <a:spLocks noGrp="1"/>
          </p:cNvSpPr>
          <p:nvPr>
            <p:ph type="body" sz="quarter" idx="73" hasCustomPrompt="1"/>
          </p:nvPr>
        </p:nvSpPr>
        <p:spPr>
          <a:xfrm>
            <a:off x="15270480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6" name="Picture Placeholder 8">
            <a:extLst>
              <a:ext uri="{FF2B5EF4-FFF2-40B4-BE49-F238E27FC236}">
                <a16:creationId xmlns:a16="http://schemas.microsoft.com/office/drawing/2014/main" id="{B29738B8-4871-A0AD-A2D9-79A88A3D4161}"/>
              </a:ext>
            </a:extLst>
          </p:cNvPr>
          <p:cNvSpPr>
            <a:spLocks noGrp="1" noChangeAspect="1"/>
          </p:cNvSpPr>
          <p:nvPr>
            <p:ph type="pic" sz="quarter" idx="74" hasCustomPrompt="1"/>
          </p:nvPr>
        </p:nvSpPr>
        <p:spPr>
          <a:xfrm>
            <a:off x="15270480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7" name="Text Placeholder 9">
            <a:extLst>
              <a:ext uri="{FF2B5EF4-FFF2-40B4-BE49-F238E27FC236}">
                <a16:creationId xmlns:a16="http://schemas.microsoft.com/office/drawing/2014/main" id="{1A3A7327-F757-246B-FF7D-069AFC0F9CFD}"/>
              </a:ext>
            </a:extLst>
          </p:cNvPr>
          <p:cNvSpPr>
            <a:spLocks noGrp="1"/>
          </p:cNvSpPr>
          <p:nvPr>
            <p:ph type="body" sz="quarter" idx="75" hasCustomPrompt="1"/>
          </p:nvPr>
        </p:nvSpPr>
        <p:spPr>
          <a:xfrm>
            <a:off x="21990686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58" name="Image Text Placeholder 9">
            <a:extLst>
              <a:ext uri="{FF2B5EF4-FFF2-40B4-BE49-F238E27FC236}">
                <a16:creationId xmlns:a16="http://schemas.microsoft.com/office/drawing/2014/main" id="{935A0663-9E19-FC04-89A2-4495D29EB098}"/>
              </a:ext>
            </a:extLst>
          </p:cNvPr>
          <p:cNvSpPr>
            <a:spLocks noGrp="1"/>
          </p:cNvSpPr>
          <p:nvPr>
            <p:ph type="body" sz="quarter" idx="76" hasCustomPrompt="1"/>
          </p:nvPr>
        </p:nvSpPr>
        <p:spPr>
          <a:xfrm>
            <a:off x="21990686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A06CCEF2-4324-2A20-E13B-C9A34D87D13F}"/>
              </a:ext>
            </a:extLst>
          </p:cNvPr>
          <p:cNvSpPr>
            <a:spLocks noGrp="1" noChangeAspect="1"/>
          </p:cNvSpPr>
          <p:nvPr>
            <p:ph type="pic" sz="quarter" idx="77" hasCustomPrompt="1"/>
          </p:nvPr>
        </p:nvSpPr>
        <p:spPr>
          <a:xfrm>
            <a:off x="21990686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3" name="Text Placeholder 10">
            <a:extLst>
              <a:ext uri="{FF2B5EF4-FFF2-40B4-BE49-F238E27FC236}">
                <a16:creationId xmlns:a16="http://schemas.microsoft.com/office/drawing/2014/main" id="{2424D5C6-2CED-3EF1-7441-B207A8A8C9B8}"/>
              </a:ext>
            </a:extLst>
          </p:cNvPr>
          <p:cNvSpPr>
            <a:spLocks noGrp="1"/>
          </p:cNvSpPr>
          <p:nvPr>
            <p:ph type="body" sz="quarter" idx="78" hasCustomPrompt="1"/>
          </p:nvPr>
        </p:nvSpPr>
        <p:spPr>
          <a:xfrm>
            <a:off x="28710892" y="16402883"/>
            <a:ext cx="6035675" cy="867930"/>
          </a:xfrm>
        </p:spPr>
        <p:txBody>
          <a:bodyPr/>
          <a:lstStyle>
            <a:lvl1pPr algn="ctr">
              <a:spcBef>
                <a:spcPts val="0"/>
              </a:spcBef>
              <a:spcAft>
                <a:spcPts val="800"/>
              </a:spcAft>
              <a:defRPr sz="2800"/>
            </a:lvl1pPr>
            <a:lvl2pPr algn="ctr">
              <a:defRPr sz="2800"/>
            </a:lvl2pPr>
            <a:lvl3pPr algn="ctr">
              <a:defRPr sz="2800"/>
            </a:lvl3pPr>
            <a:lvl4pPr algn="ctr">
              <a:defRPr sz="2800"/>
            </a:lvl4pPr>
            <a:lvl5pPr algn="ctr">
              <a:defRPr sz="2800"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64" name="Image Text Placeholder 10">
            <a:extLst>
              <a:ext uri="{FF2B5EF4-FFF2-40B4-BE49-F238E27FC236}">
                <a16:creationId xmlns:a16="http://schemas.microsoft.com/office/drawing/2014/main" id="{FA33B5F6-D7B6-0FFB-553F-29C7E13AAB58}"/>
              </a:ext>
            </a:extLst>
          </p:cNvPr>
          <p:cNvSpPr>
            <a:spLocks noGrp="1"/>
          </p:cNvSpPr>
          <p:nvPr>
            <p:ph type="body" sz="quarter" idx="79" hasCustomPrompt="1"/>
          </p:nvPr>
        </p:nvSpPr>
        <p:spPr>
          <a:xfrm>
            <a:off x="28710892" y="15779883"/>
            <a:ext cx="6035675" cy="585216"/>
          </a:xfrm>
        </p:spPr>
        <p:txBody>
          <a:bodyPr/>
          <a:lstStyle>
            <a:lvl1pPr algn="ctr">
              <a:spcBef>
                <a:spcPts val="0"/>
              </a:spcBef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Image Title</a:t>
            </a:r>
          </a:p>
        </p:txBody>
      </p:sp>
      <p:sp>
        <p:nvSpPr>
          <p:cNvPr id="65" name="Picture Placeholder 10">
            <a:extLst>
              <a:ext uri="{FF2B5EF4-FFF2-40B4-BE49-F238E27FC236}">
                <a16:creationId xmlns:a16="http://schemas.microsoft.com/office/drawing/2014/main" id="{B995E01A-8631-5C16-CF95-C2D61216BF22}"/>
              </a:ext>
            </a:extLst>
          </p:cNvPr>
          <p:cNvSpPr>
            <a:spLocks noGrp="1" noChangeAspect="1"/>
          </p:cNvSpPr>
          <p:nvPr>
            <p:ph type="pic" sz="quarter" idx="80" hasCustomPrompt="1"/>
          </p:nvPr>
        </p:nvSpPr>
        <p:spPr>
          <a:xfrm>
            <a:off x="28710892" y="12149079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54E04377-1EF8-BEB3-073F-B3A8DF9467D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04389443-080A-7AA4-3085-E70BDC8F8F6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32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570F4D80-EF7D-3626-2F98-566AC0DAC0A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776548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44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  <p:sp>
        <p:nvSpPr>
          <p:cNvPr id="6" name="Footer Placeholder">
            <a:extLst>
              <a:ext uri="{FF2B5EF4-FFF2-40B4-BE49-F238E27FC236}">
                <a16:creationId xmlns:a16="http://schemas.microsoft.com/office/drawing/2014/main" id="{D60EBBCC-FBDE-8093-F4FD-0B4F364BCAB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>
          <a:xfrm>
            <a:off x="7543800" y="19431000"/>
            <a:ext cx="2148840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EB50A31F-A2CF-8090-6E63-67B213D66BBA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>
          <a:xfrm>
            <a:off x="914400" y="19431000"/>
            <a:ext cx="640080" cy="369332"/>
          </a:xfrm>
        </p:spPr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2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23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59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6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32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3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p="http://schemas.openxmlformats.org/presentationml/2006/main">
  <p:cSld name="CCCL Cooperati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&#10;Cooperative"/>
          <p:cNvSpPr/>
          <p:nvPr/>
        </p:nvSpPr>
        <p:spPr>
          <a:xfrm>
            <a:off x="1828800" y="8618220"/>
            <a:ext cx="16002000" cy="548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12060" b="1">
                <a:solidFill>
                  <a:schemeClr val="dk1"/>
                </a:solidFill>
                <a:latin typeface="NVIDIA Sans Medium"/>
              </a:rPr>
              <a:t xml:space="preserve">Cooperative</a:t>
            </a:r>
          </a:p>
        </p:txBody>
      </p:sp>
      <p:sp>
        <p:nvSpPr>
          <p:cNvPr id="3" name="Cooperative Groups &amp; Algorithms"/>
          <p:cNvSpPr/>
          <p:nvPr/>
        </p:nvSpPr>
        <p:spPr>
          <a:xfrm>
            <a:off x="1874520" y="15979140"/>
            <a:ext cx="148590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4500" b="0">
                <a:solidFill>
                  <a:schemeClr val="dk1"/>
                </a:solidFill>
                <a:latin typeface="NVIDIA Sans"/>
              </a:rPr>
              <a:t xml:space="preserve">Cooperative Groups &amp; Algorithms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>
  <p:cSld name="What is CCCL Cooperative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is CCCL Cooperative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is CCCL Cooperative?</a:t>
            </a:r>
          </a:p>
        </p:txBody>
      </p:sp>
      <p:sp>
        <p:nvSpPr>
          <p:cNvPr id="3" name="A CUDA C++ API for organizing threads into cooperative groups and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 CUDA C++ API for organizing threads into cooperative groups and running collective algorithms.</a:t>
            </a:r>
          </a:p>
        </p:txBody>
      </p:sp>
      <p:sp>
        <p:nvSpPr>
          <p:cNvPr id="4" name="0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01"/>
          <p:cNvSpPr/>
          <p:nvPr/>
        </p:nvSpPr>
        <p:spPr>
          <a:xfrm>
            <a:off x="25603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8" name="CCCL Cooperative&#10;Groups"/>
          <p:cNvSpPr/>
          <p:nvPr/>
        </p:nvSpPr>
        <p:spPr>
          <a:xfrm>
            <a:off x="25603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  <p:sp>
        <p:nvSpPr>
          <p:cNvPr id="9" name="A clear abstraction to organize threads&#10;into groups that can coop"/>
          <p:cNvSpPr/>
          <p:nvPr/>
        </p:nvSpPr>
        <p:spPr>
          <a:xfrm>
            <a:off x="25603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 clear abstraction to organize threads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into groups that can cooperate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on solving problems.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5600700"/>
            <a:ext cx="15887700" cy="113614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5600700"/>
            <a:ext cx="15887700" cy="11430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9591020" y="6355080"/>
            <a:ext cx="18288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/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CCCL Cooperative&#10;Algorithms"/>
          <p:cNvSpPr/>
          <p:nvPr/>
        </p:nvSpPr>
        <p:spPr>
          <a:xfrm>
            <a:off x="19591020" y="7955280"/>
            <a:ext cx="14401800" cy="2857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6660" b="1">
                <a:solidFill>
                  <a:schemeClr val="dk1"/>
                </a:solidFill>
                <a:latin typeface="NVIDIA Sans Medium"/>
              </a:rPr>
              <a:t xml:space="preserve">Algorithms</a:t>
            </a:r>
          </a:p>
        </p:txBody>
      </p:sp>
      <p:sp>
        <p:nvSpPr>
          <p:cNvPr id="14" name="APIs that implement algorithms&#10;for the common problems&#10;those grou"/>
          <p:cNvSpPr/>
          <p:nvPr/>
        </p:nvSpPr>
        <p:spPr>
          <a:xfrm>
            <a:off x="19591020" y="12070080"/>
            <a:ext cx="14401800" cy="3429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APIs that implement algorithms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for the common problems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those groups need to solve.</a:t>
            </a:r>
          </a:p>
        </p:txBody>
      </p:sp>
      <p:sp>
        <p:nvSpPr>
          <p:cNvPr id="15" name="Thread"/>
          <p:cNvSpPr/>
          <p:nvPr/>
        </p:nvSpPr>
        <p:spPr>
          <a:xfrm>
            <a:off x="26060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Thread"/>
          <p:cNvSpPr/>
          <p:nvPr/>
        </p:nvSpPr>
        <p:spPr>
          <a:xfrm>
            <a:off x="331470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7" name="Thread"/>
          <p:cNvSpPr/>
          <p:nvPr/>
        </p:nvSpPr>
        <p:spPr>
          <a:xfrm>
            <a:off x="402336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8" name="Thread"/>
          <p:cNvSpPr/>
          <p:nvPr/>
        </p:nvSpPr>
        <p:spPr>
          <a:xfrm>
            <a:off x="473202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Thread"/>
          <p:cNvSpPr/>
          <p:nvPr/>
        </p:nvSpPr>
        <p:spPr>
          <a:xfrm>
            <a:off x="544068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0" name="Thread"/>
          <p:cNvSpPr/>
          <p:nvPr/>
        </p:nvSpPr>
        <p:spPr>
          <a:xfrm>
            <a:off x="6149340" y="1577340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1" name="Algorithm block"/>
          <p:cNvSpPr/>
          <p:nvPr/>
        </p:nvSpPr>
        <p:spPr>
          <a:xfrm>
            <a:off x="1963674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Algorithm block"/>
          <p:cNvSpPr/>
          <p:nvPr/>
        </p:nvSpPr>
        <p:spPr>
          <a:xfrm>
            <a:off x="2061972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Algorithm block"/>
          <p:cNvSpPr/>
          <p:nvPr/>
        </p:nvSpPr>
        <p:spPr>
          <a:xfrm>
            <a:off x="21602700" y="15704820"/>
            <a:ext cx="640080" cy="3886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>
  <p:cSld name="When?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en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When?</a:t>
            </a:r>
          </a:p>
        </p:txBody>
      </p:sp>
      <p:sp>
        <p:nvSpPr>
          <p:cNvPr id="3" name="Ambitious goal: GTC · March 2027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Ambitious goal: GTC · March 2027</a:t>
            </a:r>
          </a:p>
        </p:txBody>
      </p:sp>
      <p:sp>
        <p:nvSpPr>
          <p:cNvPr id="4" name="0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03</a:t>
            </a:r>
          </a:p>
        </p:txBody>
      </p:sp>
      <p:sp>
        <p:nvSpPr>
          <p:cNvPr id="5" name="Shape"/>
          <p:cNvSpPr/>
          <p:nvPr/>
        </p:nvSpPr>
        <p:spPr>
          <a:xfrm>
            <a:off x="26654760" y="3451860"/>
            <a:ext cx="274320" cy="27432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Milestone"/>
          <p:cNvSpPr/>
          <p:nvPr/>
        </p:nvSpPr>
        <p:spPr>
          <a:xfrm>
            <a:off x="27180540" y="3314700"/>
            <a:ext cx="27432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Milestone</a:t>
            </a:r>
          </a:p>
        </p:txBody>
      </p:sp>
      <p:sp>
        <p:nvSpPr>
          <p:cNvPr id="7" name="Shape"/>
          <p:cNvSpPr/>
          <p:nvPr/>
        </p:nvSpPr>
        <p:spPr>
          <a:xfrm>
            <a:off x="30632400" y="3451860"/>
            <a:ext cx="274320" cy="27432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8" name="Planned"/>
          <p:cNvSpPr/>
          <p:nvPr/>
        </p:nvSpPr>
        <p:spPr>
          <a:xfrm>
            <a:off x="31181040" y="3314700"/>
            <a:ext cx="3429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Planned</a:t>
            </a:r>
          </a:p>
        </p:txBody>
      </p:sp>
      <p:sp>
        <p:nvSpPr>
          <p:cNvPr id="9" name="Shape"/>
          <p:cNvSpPr/>
          <p:nvPr/>
        </p:nvSpPr>
        <p:spPr>
          <a:xfrm>
            <a:off x="18288000" y="5349240"/>
            <a:ext cx="22860" cy="120243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0" name="Cooperative Groups"/>
          <p:cNvSpPr/>
          <p:nvPr/>
        </p:nvSpPr>
        <p:spPr>
          <a:xfrm>
            <a:off x="18288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43434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3" name="01/26"/>
          <p:cNvSpPr/>
          <p:nvPr/>
        </p:nvSpPr>
        <p:spPr>
          <a:xfrm>
            <a:off x="18288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01/26</a:t>
            </a:r>
          </a:p>
        </p:txBody>
      </p:sp>
      <p:sp>
        <p:nvSpPr>
          <p:cNvPr id="14" name="Shape"/>
          <p:cNvSpPr/>
          <p:nvPr/>
        </p:nvSpPr>
        <p:spPr>
          <a:xfrm>
            <a:off x="42062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5" name="First ideas on groups"/>
          <p:cNvSpPr/>
          <p:nvPr/>
        </p:nvSpPr>
        <p:spPr>
          <a:xfrm>
            <a:off x="53949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groups</a:t>
            </a:r>
          </a:p>
        </p:txBody>
      </p:sp>
      <p:sp>
        <p:nvSpPr>
          <p:cNvPr id="16" name="03/26"/>
          <p:cNvSpPr/>
          <p:nvPr/>
        </p:nvSpPr>
        <p:spPr>
          <a:xfrm>
            <a:off x="18288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03/26</a:t>
            </a:r>
          </a:p>
        </p:txBody>
      </p:sp>
      <p:sp>
        <p:nvSpPr>
          <p:cNvPr id="17" name="Shape"/>
          <p:cNvSpPr/>
          <p:nvPr/>
        </p:nvSpPr>
        <p:spPr>
          <a:xfrm>
            <a:off x="42062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18" name="Initial implementation"/>
          <p:cNvSpPr/>
          <p:nvPr/>
        </p:nvSpPr>
        <p:spPr>
          <a:xfrm>
            <a:off x="53949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implementation</a:t>
            </a:r>
          </a:p>
        </p:txBody>
      </p:sp>
      <p:sp>
        <p:nvSpPr>
          <p:cNvPr id="19" name="05/26"/>
          <p:cNvSpPr/>
          <p:nvPr/>
        </p:nvSpPr>
        <p:spPr>
          <a:xfrm>
            <a:off x="18288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05/26</a:t>
            </a:r>
          </a:p>
        </p:txBody>
      </p:sp>
      <p:sp>
        <p:nvSpPr>
          <p:cNvPr id="20" name="Shape"/>
          <p:cNvSpPr/>
          <p:nvPr/>
        </p:nvSpPr>
        <p:spPr>
          <a:xfrm>
            <a:off x="42062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1" name="Improved implementation"/>
          <p:cNvSpPr/>
          <p:nvPr/>
        </p:nvSpPr>
        <p:spPr>
          <a:xfrm>
            <a:off x="53949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Improved implementation</a:t>
            </a:r>
          </a:p>
        </p:txBody>
      </p:sp>
      <p:sp>
        <p:nvSpPr>
          <p:cNvPr id="22" name="08/26"/>
          <p:cNvSpPr/>
          <p:nvPr/>
        </p:nvSpPr>
        <p:spPr>
          <a:xfrm>
            <a:off x="18288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08/26</a:t>
            </a:r>
          </a:p>
        </p:txBody>
      </p:sp>
      <p:sp>
        <p:nvSpPr>
          <p:cNvPr id="23" name="Shape"/>
          <p:cNvSpPr/>
          <p:nvPr/>
        </p:nvSpPr>
        <p:spPr>
          <a:xfrm>
            <a:off x="42062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4" name="Documentation"/>
          <p:cNvSpPr/>
          <p:nvPr/>
        </p:nvSpPr>
        <p:spPr>
          <a:xfrm>
            <a:off x="53949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Documentation</a:t>
            </a:r>
          </a:p>
        </p:txBody>
      </p:sp>
      <p:sp>
        <p:nvSpPr>
          <p:cNvPr id="25" name="11/26"/>
          <p:cNvSpPr/>
          <p:nvPr/>
        </p:nvSpPr>
        <p:spPr>
          <a:xfrm>
            <a:off x="18288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26" name="Shape"/>
          <p:cNvSpPr/>
          <p:nvPr/>
        </p:nvSpPr>
        <p:spPr>
          <a:xfrm>
            <a:off x="4206240" y="1321308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27" name="Alpha release to gather feedback"/>
          <p:cNvSpPr/>
          <p:nvPr/>
        </p:nvSpPr>
        <p:spPr>
          <a:xfrm>
            <a:off x="53949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28" name="Planned milestone"/>
          <p:cNvSpPr/>
          <p:nvPr/>
        </p:nvSpPr>
        <p:spPr>
          <a:xfrm>
            <a:off x="50977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29" name="01/27"/>
          <p:cNvSpPr/>
          <p:nvPr/>
        </p:nvSpPr>
        <p:spPr>
          <a:xfrm>
            <a:off x="18288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01/27</a:t>
            </a:r>
          </a:p>
        </p:txBody>
      </p:sp>
      <p:sp>
        <p:nvSpPr>
          <p:cNvPr id="30" name="Shape"/>
          <p:cNvSpPr/>
          <p:nvPr/>
        </p:nvSpPr>
        <p:spPr>
          <a:xfrm>
            <a:off x="42062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1" name="Beta release"/>
          <p:cNvSpPr/>
          <p:nvPr/>
        </p:nvSpPr>
        <p:spPr>
          <a:xfrm>
            <a:off x="53949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32" name="Planned milestone"/>
          <p:cNvSpPr/>
          <p:nvPr/>
        </p:nvSpPr>
        <p:spPr>
          <a:xfrm>
            <a:off x="50977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33" name="03/27"/>
          <p:cNvSpPr/>
          <p:nvPr/>
        </p:nvSpPr>
        <p:spPr>
          <a:xfrm>
            <a:off x="18288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34" name="Shape"/>
          <p:cNvSpPr/>
          <p:nvPr/>
        </p:nvSpPr>
        <p:spPr>
          <a:xfrm>
            <a:off x="42062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35" name="Release"/>
          <p:cNvSpPr/>
          <p:nvPr/>
        </p:nvSpPr>
        <p:spPr>
          <a:xfrm>
            <a:off x="53949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Release</a:t>
            </a:r>
          </a:p>
        </p:txBody>
      </p:sp>
      <p:sp>
        <p:nvSpPr>
          <p:cNvPr id="36" name="Cooperative Algorithms"/>
          <p:cNvSpPr/>
          <p:nvPr/>
        </p:nvSpPr>
        <p:spPr>
          <a:xfrm>
            <a:off x="19202400" y="5006340"/>
            <a:ext cx="15316200" cy="11887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Algorithms</a:t>
            </a:r>
          </a:p>
        </p:txBody>
      </p:sp>
      <p:sp>
        <p:nvSpPr>
          <p:cNvPr id="37" name="Shape"/>
          <p:cNvSpPr/>
          <p:nvPr/>
        </p:nvSpPr>
        <p:spPr>
          <a:xfrm>
            <a:off x="19202400" y="6446520"/>
            <a:ext cx="155448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8" name="Shape"/>
          <p:cNvSpPr/>
          <p:nvPr/>
        </p:nvSpPr>
        <p:spPr>
          <a:xfrm>
            <a:off x="21717000" y="7246620"/>
            <a:ext cx="45720" cy="937260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9" name="04/26"/>
          <p:cNvSpPr/>
          <p:nvPr/>
        </p:nvSpPr>
        <p:spPr>
          <a:xfrm>
            <a:off x="19202400" y="69723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04/26</a:t>
            </a:r>
          </a:p>
        </p:txBody>
      </p:sp>
      <p:sp>
        <p:nvSpPr>
          <p:cNvPr id="40" name="Shape"/>
          <p:cNvSpPr/>
          <p:nvPr/>
        </p:nvSpPr>
        <p:spPr>
          <a:xfrm>
            <a:off x="21579840" y="717804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1" name="First ideas on algorithms"/>
          <p:cNvSpPr/>
          <p:nvPr/>
        </p:nvSpPr>
        <p:spPr>
          <a:xfrm>
            <a:off x="22768560" y="69723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First ideas on algorithms</a:t>
            </a:r>
          </a:p>
        </p:txBody>
      </p:sp>
      <p:sp>
        <p:nvSpPr>
          <p:cNvPr id="42" name="06/26"/>
          <p:cNvSpPr/>
          <p:nvPr/>
        </p:nvSpPr>
        <p:spPr>
          <a:xfrm>
            <a:off x="19202400" y="84810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06/26</a:t>
            </a:r>
          </a:p>
        </p:txBody>
      </p:sp>
      <p:sp>
        <p:nvSpPr>
          <p:cNvPr id="43" name="Shape"/>
          <p:cNvSpPr/>
          <p:nvPr/>
        </p:nvSpPr>
        <p:spPr>
          <a:xfrm>
            <a:off x="21579840" y="868680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4" name="Initial `reduce` implementation"/>
          <p:cNvSpPr/>
          <p:nvPr/>
        </p:nvSpPr>
        <p:spPr>
          <a:xfrm>
            <a:off x="22768560" y="84810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reduce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5" name="07/26"/>
          <p:cNvSpPr/>
          <p:nvPr/>
        </p:nvSpPr>
        <p:spPr>
          <a:xfrm>
            <a:off x="19202400" y="998982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07/26</a:t>
            </a:r>
          </a:p>
        </p:txBody>
      </p:sp>
      <p:sp>
        <p:nvSpPr>
          <p:cNvPr id="46" name="Shape"/>
          <p:cNvSpPr/>
          <p:nvPr/>
        </p:nvSpPr>
        <p:spPr>
          <a:xfrm>
            <a:off x="21579840" y="1019556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47" name="Initial `any_of`, `all_of`, `shuffle` implementation"/>
          <p:cNvSpPr/>
          <p:nvPr/>
        </p:nvSpPr>
        <p:spPr>
          <a:xfrm>
            <a:off x="22768560" y="998982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Initial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any_of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all_of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,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shuffle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implementation</a:t>
            </a:r>
          </a:p>
        </p:txBody>
      </p:sp>
      <p:sp>
        <p:nvSpPr>
          <p:cNvPr id="48" name="11/26"/>
          <p:cNvSpPr/>
          <p:nvPr/>
        </p:nvSpPr>
        <p:spPr>
          <a:xfrm>
            <a:off x="19202400" y="1149858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dk1"/>
                </a:solidFill>
                <a:latin typeface="NVIDIA Sans Medium"/>
              </a:rPr>
              <a:t xml:space="preserve">11/26</a:t>
            </a:r>
          </a:p>
        </p:txBody>
      </p:sp>
      <p:sp>
        <p:nvSpPr>
          <p:cNvPr id="49" name="Shape"/>
          <p:cNvSpPr/>
          <p:nvPr/>
        </p:nvSpPr>
        <p:spPr>
          <a:xfrm>
            <a:off x="21579840" y="11704320"/>
            <a:ext cx="320040" cy="320040"/>
          </a:xfrm>
          <a:prstGeom prst="ellipse">
            <a:avLst/>
          </a:prstGeom>
          <a:solidFill>
            <a:schemeClr val="accent1"/>
          </a:solidFill>
          <a:ln w="29718">
            <a:solidFill>
              <a:schemeClr val="accent1"/>
            </a:solidFill>
          </a:ln>
        </p:spPr>
      </p:sp>
      <p:sp>
        <p:nvSpPr>
          <p:cNvPr id="50" name="Finalize design; rework algorithms"/>
          <p:cNvSpPr/>
          <p:nvPr/>
        </p:nvSpPr>
        <p:spPr>
          <a:xfrm>
            <a:off x="22768560" y="1149858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Finalize design; rework algorithms</a:t>
            </a:r>
          </a:p>
        </p:txBody>
      </p:sp>
      <p:sp>
        <p:nvSpPr>
          <p:cNvPr id="51" name="Planned milestone"/>
          <p:cNvSpPr/>
          <p:nvPr/>
        </p:nvSpPr>
        <p:spPr>
          <a:xfrm>
            <a:off x="22471380" y="1291590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2" name="TBD"/>
          <p:cNvSpPr/>
          <p:nvPr/>
        </p:nvSpPr>
        <p:spPr>
          <a:xfrm>
            <a:off x="19202400" y="1300734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3" name="Shape"/>
          <p:cNvSpPr/>
          <p:nvPr/>
        </p:nvSpPr>
        <p:spPr>
          <a:xfrm>
            <a:off x="21579840" y="1321308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4" name="Alpha release to gather feedback"/>
          <p:cNvSpPr/>
          <p:nvPr/>
        </p:nvSpPr>
        <p:spPr>
          <a:xfrm>
            <a:off x="22768560" y="1300734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Alpha release to gather feedback</a:t>
            </a:r>
          </a:p>
        </p:txBody>
      </p:sp>
      <p:sp>
        <p:nvSpPr>
          <p:cNvPr id="55" name="Planned milestone"/>
          <p:cNvSpPr/>
          <p:nvPr/>
        </p:nvSpPr>
        <p:spPr>
          <a:xfrm>
            <a:off x="22471380" y="1442466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56" name="TBD"/>
          <p:cNvSpPr/>
          <p:nvPr/>
        </p:nvSpPr>
        <p:spPr>
          <a:xfrm>
            <a:off x="19202400" y="1451610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TBD</a:t>
            </a:r>
          </a:p>
        </p:txBody>
      </p:sp>
      <p:sp>
        <p:nvSpPr>
          <p:cNvPr id="57" name="Shape"/>
          <p:cNvSpPr/>
          <p:nvPr/>
        </p:nvSpPr>
        <p:spPr>
          <a:xfrm>
            <a:off x="21579840" y="1472184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58" name="Beta release"/>
          <p:cNvSpPr/>
          <p:nvPr/>
        </p:nvSpPr>
        <p:spPr>
          <a:xfrm>
            <a:off x="22768560" y="1451610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Beta release</a:t>
            </a:r>
          </a:p>
        </p:txBody>
      </p:sp>
      <p:sp>
        <p:nvSpPr>
          <p:cNvPr id="59" name="Planned milestone"/>
          <p:cNvSpPr/>
          <p:nvPr/>
        </p:nvSpPr>
        <p:spPr>
          <a:xfrm>
            <a:off x="22471380" y="15933420"/>
            <a:ext cx="12252960" cy="1234440"/>
          </a:xfrm>
          <a:prstGeom prst="rect">
            <a:avLst/>
          </a:prstGeom>
          <a:solidFill>
            <a:schemeClr val="lt2"/>
          </a:solidFill>
          <a:ln w="29718">
            <a:solidFill>
              <a:schemeClr val="dk1">
                <a:tint val="15000"/>
              </a:schemeClr>
            </a:solidFill>
            <a:prstDash val="dash"/>
          </a:ln>
        </p:spPr>
      </p:sp>
      <p:sp>
        <p:nvSpPr>
          <p:cNvPr id="60" name="03/27"/>
          <p:cNvSpPr/>
          <p:nvPr/>
        </p:nvSpPr>
        <p:spPr>
          <a:xfrm>
            <a:off x="19202400" y="16024860"/>
            <a:ext cx="21717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6"/>
                </a:solidFill>
                <a:latin typeface="NVIDIA Sans Medium"/>
              </a:rPr>
              <a:t xml:space="preserve">03/27</a:t>
            </a:r>
          </a:p>
        </p:txBody>
      </p:sp>
      <p:sp>
        <p:nvSpPr>
          <p:cNvPr id="61" name="Shape"/>
          <p:cNvSpPr/>
          <p:nvPr/>
        </p:nvSpPr>
        <p:spPr>
          <a:xfrm>
            <a:off x="21579840" y="16230600"/>
            <a:ext cx="320040" cy="320040"/>
          </a:xfrm>
          <a:prstGeom prst="ellipse">
            <a:avLst/>
          </a:prstGeom>
          <a:solidFill>
            <a:schemeClr val="lt1"/>
          </a:solidFill>
          <a:ln w="29718">
            <a:solidFill>
              <a:schemeClr val="accent6"/>
            </a:solidFill>
            <a:prstDash val="dash"/>
          </a:ln>
        </p:spPr>
      </p:sp>
      <p:sp>
        <p:nvSpPr>
          <p:cNvPr id="62" name="(Partial) release"/>
          <p:cNvSpPr/>
          <p:nvPr/>
        </p:nvSpPr>
        <p:spPr>
          <a:xfrm>
            <a:off x="22768560" y="16024860"/>
            <a:ext cx="118872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(Partial) release</a:t>
            </a:r>
          </a:p>
        </p:txBody>
      </p:sp>
      <p:sp>
        <p:nvSpPr>
          <p:cNvPr id="63" name="TBD = date not yet specified. Dashed milestones are planned."/>
          <p:cNvSpPr/>
          <p:nvPr/>
        </p:nvSpPr>
        <p:spPr>
          <a:xfrm>
            <a:off x="1874520" y="17922240"/>
            <a:ext cx="320040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TBD = date not yet specified. Dashed milestones are planned.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>
  <p:cSld name="CCCL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CCL Cooperative&#10;Groups"/>
          <p:cNvSpPr/>
          <p:nvPr/>
        </p:nvSpPr>
        <p:spPr>
          <a:xfrm>
            <a:off x="18059400" y="2537460"/>
            <a:ext cx="16687800" cy="4686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CCCL Cooperative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Groups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>
  <p:cSld name="What makes them different? — Defini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Definition</a:t>
            </a:r>
          </a:p>
        </p:txBody>
      </p:sp>
      <p:sp>
        <p:nvSpPr>
          <p:cNvPr id="4" name="0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8" name="Groups arbitrary threads."/>
          <p:cNvSpPr/>
          <p:nvPr/>
        </p:nvSpPr>
        <p:spPr>
          <a:xfrm>
            <a:off x="24688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arbitrary threads.</a:t>
            </a:r>
          </a:p>
        </p:txBody>
      </p:sp>
      <p:sp>
        <p:nvSpPr>
          <p:cNvPr id="9" name="Shape"/>
          <p:cNvSpPr/>
          <p:nvPr/>
        </p:nvSpPr>
        <p:spPr>
          <a:xfrm>
            <a:off x="24688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Arbitrary threads"/>
          <p:cNvSpPr/>
          <p:nvPr/>
        </p:nvSpPr>
        <p:spPr>
          <a:xfrm>
            <a:off x="24688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Arbitrary threads</a:t>
            </a:r>
          </a:p>
        </p:txBody>
      </p:sp>
      <p:sp>
        <p:nvSpPr>
          <p:cNvPr id="11" name="Shape"/>
          <p:cNvSpPr/>
          <p:nvPr/>
        </p:nvSpPr>
        <p:spPr>
          <a:xfrm>
            <a:off x="130302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2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3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14" name="Groups threads within an&#10;upper boundary."/>
          <p:cNvSpPr/>
          <p:nvPr/>
        </p:nvSpPr>
        <p:spPr>
          <a:xfrm>
            <a:off x="136702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threads within an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15" name="Shape"/>
          <p:cNvSpPr/>
          <p:nvPr/>
        </p:nvSpPr>
        <p:spPr>
          <a:xfrm>
            <a:off x="136702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Bounded threads"/>
          <p:cNvSpPr/>
          <p:nvPr/>
        </p:nvSpPr>
        <p:spPr>
          <a:xfrm>
            <a:off x="136702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threads</a:t>
            </a:r>
          </a:p>
        </p:txBody>
      </p:sp>
      <p:sp>
        <p:nvSpPr>
          <p:cNvPr id="17" name="Shape"/>
          <p:cNvSpPr/>
          <p:nvPr/>
        </p:nvSpPr>
        <p:spPr>
          <a:xfrm>
            <a:off x="24231600" y="5440680"/>
            <a:ext cx="10515600" cy="11430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8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9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0" name="Groups units within an&#10;upper boundary."/>
          <p:cNvSpPr/>
          <p:nvPr/>
        </p:nvSpPr>
        <p:spPr>
          <a:xfrm>
            <a:off x="24871680" y="9624060"/>
            <a:ext cx="9212580" cy="2926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Groups units within an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760" b="0">
                <a:solidFill>
                  <a:schemeClr val="dk1"/>
                </a:solidFill>
                <a:latin typeface="NVIDIA Sans"/>
              </a:rPr>
              <a:t xml:space="preserve">upper boundary.</a:t>
            </a:r>
          </a:p>
        </p:txBody>
      </p:sp>
      <p:sp>
        <p:nvSpPr>
          <p:cNvPr id="21" name="Shape"/>
          <p:cNvSpPr/>
          <p:nvPr/>
        </p:nvSpPr>
        <p:spPr>
          <a:xfrm>
            <a:off x="24871680" y="14744700"/>
            <a:ext cx="82296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2" name="Bounded units"/>
          <p:cNvSpPr/>
          <p:nvPr/>
        </p:nvSpPr>
        <p:spPr>
          <a:xfrm>
            <a:off x="24871680" y="15476220"/>
            <a:ext cx="921258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Bounded units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>
  <p:cSld name="What makes them different? — Thread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Arbitrary thread selec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Definition · Arbitrary thread selection</a:t>
            </a:r>
          </a:p>
        </p:txBody>
      </p:sp>
      <p:sp>
        <p:nvSpPr>
          <p:cNvPr id="4" name="0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" name="Thread 3 (block 0, warp 0)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" name="Thread 4 (block 0, warp 0)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" name="Thread 5 (block 0, warp 0)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" name="Thread 8 (block 0, warp 0)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" name="Thread 9 (block 0, warp 0)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" name="Thread 10 (block 0, warp 0)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" name="Thread 13 (block 0, warp 0)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" name="Thread 14 (block 0, warp 0)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" name="Thread 15 (block 0, warp 0)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" name="Thread 16 (block 0, warp 0)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" name="Thread 17 (block 0, warp 0)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" name="Thread 18 (block 0, warp 0)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" name="Thread 19 (block 0, warp 0)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" name="Thread 22 (block 0, warp 0)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" name="Thread 23 (block 0, warp 0)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" name="Thread 24 (block 0, warp 0)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" name="Thread 25 (block 0, warp 0)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" name="Thread 26 (block 0, warp 0)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" name="Thread 27 (block 0, warp 0)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" name="Thread 30 (block 0, warp 0)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" name="Thread 31 (block 0, warp 0)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 selected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 selected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 selected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 selected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5 (block 0, warp 2)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" name="Thread 68 (block 0, warp 2)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" name="Thread 69 (block 0, warp 2)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" name="Thread 70 (block 0, warp 2)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" name="Thread 71 (block 0, warp 2)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1" name="Thread 72 (block 0, warp 2)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2" name="Thread 73 (block 0, warp 2)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3" name="Thread 74 (block 0, warp 2)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77 (block 0, warp 2)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78 (block 0, warp 2)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79 (block 0, warp 2)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80 (block 0, warp 2)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83 (block 0, warp 2)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84 (block 0, warp 2)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85 (block 0, warp 2)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86 (block 0, warp 2)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87 (block 0, warp 2)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88 (block 0, warp 2)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89 (block 0, warp 2)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90 (block 0, warp 2)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91 (block 0, warp 2)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92 (block 0, warp 2)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95 (block 0, warp 2)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 selected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 selected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 selected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 selected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 (block 1, warp 0)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 (block 1, warp 0)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5 (block 1, warp 0)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6 (block 1, warp 0)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7 (block 1, warp 0)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10 (block 1, warp 0)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11 (block 1, warp 0)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12 (block 1, warp 0)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13 (block 1, warp 0)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14 (block 1, warp 0)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15 (block 1, warp 0)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16 (block 1, warp 0)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17 (block 1, warp 0)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18 (block 1, warp 0)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21 (block 1, warp 0)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24 (block 1, warp 0)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25 (block 1, warp 0)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26 (block 1, warp 0)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27 (block 1, warp 0)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28 (block 1, warp 0)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29 (block 1, warp 0)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30 (block 1, warp 0)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31 (block 1, warp 0)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 selected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 selected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 selected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 selected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67 (block 1, warp 2)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68 (block 1, warp 2)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69 (block 1, warp 2)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70 (block 1, warp 2)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71 (block 1, warp 2)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72 (block 1, warp 2)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75 (block 1, warp 2)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76 (block 1, warp 2)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77 (block 1, warp 2)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78 (block 1, warp 2)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79 (block 1, warp 2)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80 (block 1, warp 2)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81 (block 1, warp 2)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82 (block 1, warp 2)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83 (block 1, warp 2)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84 (block 1, warp 2)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85 (block 1, warp 2)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86 (block 1, warp 2)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89 (block 1, warp 2)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90 (block 1, warp 2)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91 (block 1, warp 2)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92 (block 1, warp 2)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93 (block 1, warp 2)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 selected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 selected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 selected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Membership span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Membership spans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3 (block 0, warp 0)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4 (block 0, warp 0)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5 (block 0, warp 0)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8 (block 0, warp 0)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9 (block 0, warp 0)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0 (block 0, warp 0)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3 (block 0, warp 0)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Thread 14 (block 0, warp 0)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9" name="Thread 15 (block 0, warp 0)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0" name="Thread 16 (block 0, warp 0)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1" name="Thread 17 (block 0, warp 0)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2" name="Thread 18 (block 0, warp 0)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3" name="Thread 19 (block 0, warp 0)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6" name="Thread 22 (block 0, warp 0)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7" name="Thread 23 (block 0, warp 0)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8" name="Thread 24 (block 0, warp 0)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99" name="Thread 25 (block 0, warp 0)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0" name="Thread 26 (block 0, warp 0)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1" name="Thread 27 (block 0, warp 0)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4" name="Thread 30 (block 0, warp 0)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5" name="Thread 31 (block 0, warp 0)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 selected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 selected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 selected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 selected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9" name="Thread 65 (block 0, warp 2)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2" name="Thread 68 (block 0, warp 2)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3" name="Thread 69 (block 0, warp 2)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4" name="Thread 70 (block 0, warp 2)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5" name="Thread 71 (block 0, warp 2)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6" name="Thread 72 (block 0, warp 2)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7" name="Thread 73 (block 0, warp 2)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8" name="Thread 74 (block 0, warp 2)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1" name="Thread 77 (block 0, warp 2)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2" name="Thread 78 (block 0, warp 2)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3" name="Thread 79 (block 0, warp 2)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4" name="Thread 80 (block 0, warp 2)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7" name="Thread 83 (block 0, warp 2)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8" name="Thread 84 (block 0, warp 2)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59" name="Thread 85 (block 0, warp 2)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0" name="Thread 86 (block 0, warp 2)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1" name="Thread 87 (block 0, warp 2)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2" name="Thread 88 (block 0, warp 2)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3" name="Thread 89 (block 0, warp 2)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4" name="Thread 90 (block 0, warp 2)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5" name="Thread 91 (block 0, warp 2)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6" name="Thread 92 (block 0, warp 2)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69" name="Thread 95 (block 0, warp 2)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 selected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 selected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 selected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 selected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within one block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within one block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Thread 0 (block 0, warp 0)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0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2 (block 0, warp 0)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2" name="Thread 3 (block 0, warp 0)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3" name="Thread 4 (block 0, warp 0)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4" name="Thread 5 (block 0, warp 0)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5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7 (block 0, warp 0)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7" name="Thread 8 (block 0, warp 0)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8" name="Thread 9 (block 0, warp 0)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9" name="Thread 10 (block 0, warp 0)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0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2 (block 0, warp 0)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2" name="Thread 13 (block 0, warp 0)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3" name="Thread 14 (block 0, warp 0)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4" name="Thread 15 (block 0, warp 0)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5" name="Thread 16 (block 0, warp 0)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6" name="Thread 17 (block 0, warp 0)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7" name="Thread 18 (block 0, warp 0)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8" name="Thread 19 (block 0, warp 0)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9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21 (block 0, warp 0)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1" name="Thread 22 (block 0, warp 0)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2" name="Thread 23 (block 0, warp 0)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3" name="Thread 24 (block 0, warp 0)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4" name="Thread 25 (block 0, warp 0)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5" name="Thread 26 (block 0, warp 0)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6" name="Thread 27 (block 0, warp 0)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7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9 (block 0, warp 0)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9" name="Thread 30 (block 0, warp 0)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0" name="Thread 31 (block 0, warp 0)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1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2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3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9 (block 0, warp 1) selected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9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2 (block 0, warp 1) selected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2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3 (block 0, warp 1) selected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3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60 (block 0, warp 1) selected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0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4 (block 0, warp 2)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5 (block 0, warp 2)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7 (block 0, warp 2)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7" name="Thread 68 (block 0, warp 2)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8" name="Thread 69 (block 0, warp 2)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9" name="Thread 70 (block 0, warp 2)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0" name="Thread 71 (block 0, warp 2)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1" name="Thread 72 (block 0, warp 2)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2" name="Thread 73 (block 0, warp 2)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3" name="Thread 74 (block 0, warp 2)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4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6 (block 0, warp 2)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6" name="Thread 77 (block 0, warp 2)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7" name="Thread 78 (block 0, warp 2)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8" name="Thread 79 (block 0, warp 2)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9" name="Thread 80 (block 0, warp 2)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0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2 (block 0, warp 2)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2" name="Thread 83 (block 0, warp 2)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3" name="Thread 84 (block 0, warp 2)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4" name="Thread 85 (block 0, warp 2)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5" name="Thread 86 (block 0, warp 2)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6" name="Thread 87 (block 0, warp 2)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7" name="Thread 88 (block 0, warp 2)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8" name="Thread 89 (block 0, warp 2)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9" name="Thread 90 (block 0, warp 2)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0" name="Thread 91 (block 0, warp 2)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1" name="Thread 92 (block 0, warp 2)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2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4 (block 0, warp 2)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4" name="Thread 95 (block 0, warp 2)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5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6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7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100 (block 0, warp 3) selected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0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8 (block 0, warp 3) selected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8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9 (block 0, warp 3) selected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9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6 (block 0, warp 3) selected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6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68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69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0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1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798" name="Units: threads within the block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Units: threads within the block</a:t>
            </a:r>
          </a:p>
        </p:txBody>
      </p:sp>
      <p:sp>
        <p:nvSpPr>
          <p:cNvPr id="799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0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1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2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3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4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5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6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7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>
  <p:cSld name="What makes them different? — Warp sel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Definition · Selecting the first and third warp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Definition · Selecting the first and third warps</a:t>
            </a:r>
          </a:p>
        </p:txBody>
      </p:sp>
      <p:sp>
        <p:nvSpPr>
          <p:cNvPr id="4" name="0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07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eneric Group"/>
          <p:cNvSpPr/>
          <p:nvPr/>
        </p:nvSpPr>
        <p:spPr>
          <a:xfrm>
            <a:off x="23317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Generic Group</a:t>
            </a:r>
          </a:p>
        </p:txBody>
      </p:sp>
      <p:sp>
        <p:nvSpPr>
          <p:cNvPr id="7" name="Block 0"/>
          <p:cNvSpPr/>
          <p:nvPr/>
        </p:nvSpPr>
        <p:spPr>
          <a:xfrm>
            <a:off x="23317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8" name="Block 0: 128 threads"/>
          <p:cNvSpPr/>
          <p:nvPr/>
        </p:nvSpPr>
        <p:spPr>
          <a:xfrm>
            <a:off x="23317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Thread 0 (block 0, warp 0) selected"/>
          <p:cNvSpPr/>
          <p:nvPr/>
        </p:nvSpPr>
        <p:spPr>
          <a:xfrm>
            <a:off x="265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" name="Thread 1 (block 0, warp 0) selected"/>
          <p:cNvSpPr/>
          <p:nvPr/>
        </p:nvSpPr>
        <p:spPr>
          <a:xfrm>
            <a:off x="310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Thread 2 (block 0, warp 0) selected"/>
          <p:cNvSpPr/>
          <p:nvPr/>
        </p:nvSpPr>
        <p:spPr>
          <a:xfrm>
            <a:off x="356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3 (block 0, warp 0) selected"/>
          <p:cNvSpPr/>
          <p:nvPr/>
        </p:nvSpPr>
        <p:spPr>
          <a:xfrm>
            <a:off x="402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4 (block 0, warp 0) selected"/>
          <p:cNvSpPr/>
          <p:nvPr/>
        </p:nvSpPr>
        <p:spPr>
          <a:xfrm>
            <a:off x="448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5 (block 0, warp 0) selected"/>
          <p:cNvSpPr/>
          <p:nvPr/>
        </p:nvSpPr>
        <p:spPr>
          <a:xfrm>
            <a:off x="493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6 (block 0, warp 0) selected"/>
          <p:cNvSpPr/>
          <p:nvPr/>
        </p:nvSpPr>
        <p:spPr>
          <a:xfrm>
            <a:off x="539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7 (block 0, warp 0) selected"/>
          <p:cNvSpPr/>
          <p:nvPr/>
        </p:nvSpPr>
        <p:spPr>
          <a:xfrm>
            <a:off x="5852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8 (block 0, warp 0) selected"/>
          <p:cNvSpPr/>
          <p:nvPr/>
        </p:nvSpPr>
        <p:spPr>
          <a:xfrm>
            <a:off x="265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9 (block 0, warp 0) selected"/>
          <p:cNvSpPr/>
          <p:nvPr/>
        </p:nvSpPr>
        <p:spPr>
          <a:xfrm>
            <a:off x="310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0 (block 0, warp 0) selected"/>
          <p:cNvSpPr/>
          <p:nvPr/>
        </p:nvSpPr>
        <p:spPr>
          <a:xfrm>
            <a:off x="356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11 (block 0, warp 0) selected"/>
          <p:cNvSpPr/>
          <p:nvPr/>
        </p:nvSpPr>
        <p:spPr>
          <a:xfrm>
            <a:off x="402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2 (block 0, warp 0) selected"/>
          <p:cNvSpPr/>
          <p:nvPr/>
        </p:nvSpPr>
        <p:spPr>
          <a:xfrm>
            <a:off x="448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3 (block 0, warp 0) selected"/>
          <p:cNvSpPr/>
          <p:nvPr/>
        </p:nvSpPr>
        <p:spPr>
          <a:xfrm>
            <a:off x="493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4 (block 0, warp 0) selected"/>
          <p:cNvSpPr/>
          <p:nvPr/>
        </p:nvSpPr>
        <p:spPr>
          <a:xfrm>
            <a:off x="539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5 (block 0, warp 0) selected"/>
          <p:cNvSpPr/>
          <p:nvPr/>
        </p:nvSpPr>
        <p:spPr>
          <a:xfrm>
            <a:off x="5852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6 (block 0, warp 0) selected"/>
          <p:cNvSpPr/>
          <p:nvPr/>
        </p:nvSpPr>
        <p:spPr>
          <a:xfrm>
            <a:off x="265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7 (block 0, warp 0) selected"/>
          <p:cNvSpPr/>
          <p:nvPr/>
        </p:nvSpPr>
        <p:spPr>
          <a:xfrm>
            <a:off x="310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8 (block 0, warp 0) selected"/>
          <p:cNvSpPr/>
          <p:nvPr/>
        </p:nvSpPr>
        <p:spPr>
          <a:xfrm>
            <a:off x="356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9 (block 0, warp 0) selected"/>
          <p:cNvSpPr/>
          <p:nvPr/>
        </p:nvSpPr>
        <p:spPr>
          <a:xfrm>
            <a:off x="402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20 (block 0, warp 0) selected"/>
          <p:cNvSpPr/>
          <p:nvPr/>
        </p:nvSpPr>
        <p:spPr>
          <a:xfrm>
            <a:off x="448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21 (block 0, warp 0) selected"/>
          <p:cNvSpPr/>
          <p:nvPr/>
        </p:nvSpPr>
        <p:spPr>
          <a:xfrm>
            <a:off x="493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2 (block 0, warp 0) selected"/>
          <p:cNvSpPr/>
          <p:nvPr/>
        </p:nvSpPr>
        <p:spPr>
          <a:xfrm>
            <a:off x="539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3 (block 0, warp 0) selected"/>
          <p:cNvSpPr/>
          <p:nvPr/>
        </p:nvSpPr>
        <p:spPr>
          <a:xfrm>
            <a:off x="5852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4 (block 0, warp 0) selected"/>
          <p:cNvSpPr/>
          <p:nvPr/>
        </p:nvSpPr>
        <p:spPr>
          <a:xfrm>
            <a:off x="265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5 (block 0, warp 0) selected"/>
          <p:cNvSpPr/>
          <p:nvPr/>
        </p:nvSpPr>
        <p:spPr>
          <a:xfrm>
            <a:off x="310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6 (block 0, warp 0) selected"/>
          <p:cNvSpPr/>
          <p:nvPr/>
        </p:nvSpPr>
        <p:spPr>
          <a:xfrm>
            <a:off x="356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7 (block 0, warp 0) selected"/>
          <p:cNvSpPr/>
          <p:nvPr/>
        </p:nvSpPr>
        <p:spPr>
          <a:xfrm>
            <a:off x="402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8 (block 0, warp 0) selected"/>
          <p:cNvSpPr/>
          <p:nvPr/>
        </p:nvSpPr>
        <p:spPr>
          <a:xfrm>
            <a:off x="448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9 (block 0, warp 0) selected"/>
          <p:cNvSpPr/>
          <p:nvPr/>
        </p:nvSpPr>
        <p:spPr>
          <a:xfrm>
            <a:off x="493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30 (block 0, warp 0) selected"/>
          <p:cNvSpPr/>
          <p:nvPr/>
        </p:nvSpPr>
        <p:spPr>
          <a:xfrm>
            <a:off x="539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31 (block 0, warp 0) selected"/>
          <p:cNvSpPr/>
          <p:nvPr/>
        </p:nvSpPr>
        <p:spPr>
          <a:xfrm>
            <a:off x="5852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2 (block 0, warp 1)"/>
          <p:cNvSpPr/>
          <p:nvPr/>
        </p:nvSpPr>
        <p:spPr>
          <a:xfrm>
            <a:off x="265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" name="Thread 33 (block 0, warp 1)"/>
          <p:cNvSpPr/>
          <p:nvPr/>
        </p:nvSpPr>
        <p:spPr>
          <a:xfrm>
            <a:off x="310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" name="Thread 34 (block 0, warp 1)"/>
          <p:cNvSpPr/>
          <p:nvPr/>
        </p:nvSpPr>
        <p:spPr>
          <a:xfrm>
            <a:off x="356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" name="Thread 35 (block 0, warp 1)"/>
          <p:cNvSpPr/>
          <p:nvPr/>
        </p:nvSpPr>
        <p:spPr>
          <a:xfrm>
            <a:off x="402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6 (block 0, warp 1)"/>
          <p:cNvSpPr/>
          <p:nvPr/>
        </p:nvSpPr>
        <p:spPr>
          <a:xfrm>
            <a:off x="448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7 (block 0, warp 1)"/>
          <p:cNvSpPr/>
          <p:nvPr/>
        </p:nvSpPr>
        <p:spPr>
          <a:xfrm>
            <a:off x="493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8 (block 0, warp 1)"/>
          <p:cNvSpPr/>
          <p:nvPr/>
        </p:nvSpPr>
        <p:spPr>
          <a:xfrm>
            <a:off x="5394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9 (block 0, warp 1)"/>
          <p:cNvSpPr/>
          <p:nvPr/>
        </p:nvSpPr>
        <p:spPr>
          <a:xfrm>
            <a:off x="5852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40 (block 0, warp 1)"/>
          <p:cNvSpPr/>
          <p:nvPr/>
        </p:nvSpPr>
        <p:spPr>
          <a:xfrm>
            <a:off x="265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41 (block 0, warp 1)"/>
          <p:cNvSpPr/>
          <p:nvPr/>
        </p:nvSpPr>
        <p:spPr>
          <a:xfrm>
            <a:off x="3108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42 (block 0, warp 1)"/>
          <p:cNvSpPr/>
          <p:nvPr/>
        </p:nvSpPr>
        <p:spPr>
          <a:xfrm>
            <a:off x="3566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3 (block 0, warp 1)"/>
          <p:cNvSpPr/>
          <p:nvPr/>
        </p:nvSpPr>
        <p:spPr>
          <a:xfrm>
            <a:off x="402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4 (block 0, warp 1)"/>
          <p:cNvSpPr/>
          <p:nvPr/>
        </p:nvSpPr>
        <p:spPr>
          <a:xfrm>
            <a:off x="448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5 (block 0, warp 1)"/>
          <p:cNvSpPr/>
          <p:nvPr/>
        </p:nvSpPr>
        <p:spPr>
          <a:xfrm>
            <a:off x="493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6 (block 0, warp 1)"/>
          <p:cNvSpPr/>
          <p:nvPr/>
        </p:nvSpPr>
        <p:spPr>
          <a:xfrm>
            <a:off x="539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7 (block 0, warp 1)"/>
          <p:cNvSpPr/>
          <p:nvPr/>
        </p:nvSpPr>
        <p:spPr>
          <a:xfrm>
            <a:off x="5852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8 (block 0, warp 1)"/>
          <p:cNvSpPr/>
          <p:nvPr/>
        </p:nvSpPr>
        <p:spPr>
          <a:xfrm>
            <a:off x="265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9 (block 0, warp 1)"/>
          <p:cNvSpPr/>
          <p:nvPr/>
        </p:nvSpPr>
        <p:spPr>
          <a:xfrm>
            <a:off x="310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50 (block 0, warp 1)"/>
          <p:cNvSpPr/>
          <p:nvPr/>
        </p:nvSpPr>
        <p:spPr>
          <a:xfrm>
            <a:off x="356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51 (block 0, warp 1)"/>
          <p:cNvSpPr/>
          <p:nvPr/>
        </p:nvSpPr>
        <p:spPr>
          <a:xfrm>
            <a:off x="402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52 (block 0, warp 1)"/>
          <p:cNvSpPr/>
          <p:nvPr/>
        </p:nvSpPr>
        <p:spPr>
          <a:xfrm>
            <a:off x="4480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3 (block 0, warp 1)"/>
          <p:cNvSpPr/>
          <p:nvPr/>
        </p:nvSpPr>
        <p:spPr>
          <a:xfrm>
            <a:off x="4937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4 (block 0, warp 1)"/>
          <p:cNvSpPr/>
          <p:nvPr/>
        </p:nvSpPr>
        <p:spPr>
          <a:xfrm>
            <a:off x="539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5 (block 0, warp 1)"/>
          <p:cNvSpPr/>
          <p:nvPr/>
        </p:nvSpPr>
        <p:spPr>
          <a:xfrm>
            <a:off x="5852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6 (block 0, warp 1)"/>
          <p:cNvSpPr/>
          <p:nvPr/>
        </p:nvSpPr>
        <p:spPr>
          <a:xfrm>
            <a:off x="265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7 (block 0, warp 1)"/>
          <p:cNvSpPr/>
          <p:nvPr/>
        </p:nvSpPr>
        <p:spPr>
          <a:xfrm>
            <a:off x="310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8 (block 0, warp 1)"/>
          <p:cNvSpPr/>
          <p:nvPr/>
        </p:nvSpPr>
        <p:spPr>
          <a:xfrm>
            <a:off x="356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9 (block 0, warp 1)"/>
          <p:cNvSpPr/>
          <p:nvPr/>
        </p:nvSpPr>
        <p:spPr>
          <a:xfrm>
            <a:off x="4023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60 (block 0, warp 1)"/>
          <p:cNvSpPr/>
          <p:nvPr/>
        </p:nvSpPr>
        <p:spPr>
          <a:xfrm>
            <a:off x="4480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61 (block 0, warp 1)"/>
          <p:cNvSpPr/>
          <p:nvPr/>
        </p:nvSpPr>
        <p:spPr>
          <a:xfrm>
            <a:off x="493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62 (block 0, warp 1)"/>
          <p:cNvSpPr/>
          <p:nvPr/>
        </p:nvSpPr>
        <p:spPr>
          <a:xfrm>
            <a:off x="539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3 (block 0, warp 1)"/>
          <p:cNvSpPr/>
          <p:nvPr/>
        </p:nvSpPr>
        <p:spPr>
          <a:xfrm>
            <a:off x="5852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4 (block 0, warp 2) selected"/>
          <p:cNvSpPr/>
          <p:nvPr/>
        </p:nvSpPr>
        <p:spPr>
          <a:xfrm>
            <a:off x="265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5 (block 0, warp 2) selected"/>
          <p:cNvSpPr/>
          <p:nvPr/>
        </p:nvSpPr>
        <p:spPr>
          <a:xfrm>
            <a:off x="310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6 (block 0, warp 2) selected"/>
          <p:cNvSpPr/>
          <p:nvPr/>
        </p:nvSpPr>
        <p:spPr>
          <a:xfrm>
            <a:off x="356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67 (block 0, warp 2) selected"/>
          <p:cNvSpPr/>
          <p:nvPr/>
        </p:nvSpPr>
        <p:spPr>
          <a:xfrm>
            <a:off x="402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68 (block 0, warp 2) selected"/>
          <p:cNvSpPr/>
          <p:nvPr/>
        </p:nvSpPr>
        <p:spPr>
          <a:xfrm>
            <a:off x="448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9 (block 0, warp 2) selected"/>
          <p:cNvSpPr/>
          <p:nvPr/>
        </p:nvSpPr>
        <p:spPr>
          <a:xfrm>
            <a:off x="493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70 (block 0, warp 2) selected"/>
          <p:cNvSpPr/>
          <p:nvPr/>
        </p:nvSpPr>
        <p:spPr>
          <a:xfrm>
            <a:off x="539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71 (block 0, warp 2) selected"/>
          <p:cNvSpPr/>
          <p:nvPr/>
        </p:nvSpPr>
        <p:spPr>
          <a:xfrm>
            <a:off x="5852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72 (block 0, warp 2) selected"/>
          <p:cNvSpPr/>
          <p:nvPr/>
        </p:nvSpPr>
        <p:spPr>
          <a:xfrm>
            <a:off x="265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73 (block 0, warp 2) selected"/>
          <p:cNvSpPr/>
          <p:nvPr/>
        </p:nvSpPr>
        <p:spPr>
          <a:xfrm>
            <a:off x="310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4 (block 0, warp 2) selected"/>
          <p:cNvSpPr/>
          <p:nvPr/>
        </p:nvSpPr>
        <p:spPr>
          <a:xfrm>
            <a:off x="356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5 (block 0, warp 2) selected"/>
          <p:cNvSpPr/>
          <p:nvPr/>
        </p:nvSpPr>
        <p:spPr>
          <a:xfrm>
            <a:off x="402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6 (block 0, warp 2) selected"/>
          <p:cNvSpPr/>
          <p:nvPr/>
        </p:nvSpPr>
        <p:spPr>
          <a:xfrm>
            <a:off x="448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7 (block 0, warp 2) selected"/>
          <p:cNvSpPr/>
          <p:nvPr/>
        </p:nvSpPr>
        <p:spPr>
          <a:xfrm>
            <a:off x="493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8 (block 0, warp 2) selected"/>
          <p:cNvSpPr/>
          <p:nvPr/>
        </p:nvSpPr>
        <p:spPr>
          <a:xfrm>
            <a:off x="539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9 (block 0, warp 2) selected"/>
          <p:cNvSpPr/>
          <p:nvPr/>
        </p:nvSpPr>
        <p:spPr>
          <a:xfrm>
            <a:off x="5852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80 (block 0, warp 2) selected"/>
          <p:cNvSpPr/>
          <p:nvPr/>
        </p:nvSpPr>
        <p:spPr>
          <a:xfrm>
            <a:off x="265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81 (block 0, warp 2) selected"/>
          <p:cNvSpPr/>
          <p:nvPr/>
        </p:nvSpPr>
        <p:spPr>
          <a:xfrm>
            <a:off x="310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82 (block 0, warp 2) selected"/>
          <p:cNvSpPr/>
          <p:nvPr/>
        </p:nvSpPr>
        <p:spPr>
          <a:xfrm>
            <a:off x="356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83 (block 0, warp 2) selected"/>
          <p:cNvSpPr/>
          <p:nvPr/>
        </p:nvSpPr>
        <p:spPr>
          <a:xfrm>
            <a:off x="402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84 (block 0, warp 2) selected"/>
          <p:cNvSpPr/>
          <p:nvPr/>
        </p:nvSpPr>
        <p:spPr>
          <a:xfrm>
            <a:off x="448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85 (block 0, warp 2) selected"/>
          <p:cNvSpPr/>
          <p:nvPr/>
        </p:nvSpPr>
        <p:spPr>
          <a:xfrm>
            <a:off x="493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6 (block 0, warp 2) selected"/>
          <p:cNvSpPr/>
          <p:nvPr/>
        </p:nvSpPr>
        <p:spPr>
          <a:xfrm>
            <a:off x="539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7 (block 0, warp 2) selected"/>
          <p:cNvSpPr/>
          <p:nvPr/>
        </p:nvSpPr>
        <p:spPr>
          <a:xfrm>
            <a:off x="5852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8 (block 0, warp 2) selected"/>
          <p:cNvSpPr/>
          <p:nvPr/>
        </p:nvSpPr>
        <p:spPr>
          <a:xfrm>
            <a:off x="265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9 (block 0, warp 2) selected"/>
          <p:cNvSpPr/>
          <p:nvPr/>
        </p:nvSpPr>
        <p:spPr>
          <a:xfrm>
            <a:off x="310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90 (block 0, warp 2) selected"/>
          <p:cNvSpPr/>
          <p:nvPr/>
        </p:nvSpPr>
        <p:spPr>
          <a:xfrm>
            <a:off x="356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91 (block 0, warp 2) selected"/>
          <p:cNvSpPr/>
          <p:nvPr/>
        </p:nvSpPr>
        <p:spPr>
          <a:xfrm>
            <a:off x="402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92 (block 0, warp 2) selected"/>
          <p:cNvSpPr/>
          <p:nvPr/>
        </p:nvSpPr>
        <p:spPr>
          <a:xfrm>
            <a:off x="448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93 (block 0, warp 2) selected"/>
          <p:cNvSpPr/>
          <p:nvPr/>
        </p:nvSpPr>
        <p:spPr>
          <a:xfrm>
            <a:off x="493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94 (block 0, warp 2) selected"/>
          <p:cNvSpPr/>
          <p:nvPr/>
        </p:nvSpPr>
        <p:spPr>
          <a:xfrm>
            <a:off x="539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95 (block 0, warp 2) selected"/>
          <p:cNvSpPr/>
          <p:nvPr/>
        </p:nvSpPr>
        <p:spPr>
          <a:xfrm>
            <a:off x="5852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6 (block 0, warp 3)"/>
          <p:cNvSpPr/>
          <p:nvPr/>
        </p:nvSpPr>
        <p:spPr>
          <a:xfrm>
            <a:off x="265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97 (block 0, warp 3)"/>
          <p:cNvSpPr/>
          <p:nvPr/>
        </p:nvSpPr>
        <p:spPr>
          <a:xfrm>
            <a:off x="310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98 (block 0, warp 3)"/>
          <p:cNvSpPr/>
          <p:nvPr/>
        </p:nvSpPr>
        <p:spPr>
          <a:xfrm>
            <a:off x="356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99 (block 0, warp 3)"/>
          <p:cNvSpPr/>
          <p:nvPr/>
        </p:nvSpPr>
        <p:spPr>
          <a:xfrm>
            <a:off x="4023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100 (block 0, warp 3)"/>
          <p:cNvSpPr/>
          <p:nvPr/>
        </p:nvSpPr>
        <p:spPr>
          <a:xfrm>
            <a:off x="4480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101 (block 0, warp 3)"/>
          <p:cNvSpPr/>
          <p:nvPr/>
        </p:nvSpPr>
        <p:spPr>
          <a:xfrm>
            <a:off x="493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102 (block 0, warp 3)"/>
          <p:cNvSpPr/>
          <p:nvPr/>
        </p:nvSpPr>
        <p:spPr>
          <a:xfrm>
            <a:off x="539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103 (block 0, warp 3)"/>
          <p:cNvSpPr/>
          <p:nvPr/>
        </p:nvSpPr>
        <p:spPr>
          <a:xfrm>
            <a:off x="5852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104 (block 0, warp 3)"/>
          <p:cNvSpPr/>
          <p:nvPr/>
        </p:nvSpPr>
        <p:spPr>
          <a:xfrm>
            <a:off x="265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105 (block 0, warp 3)"/>
          <p:cNvSpPr/>
          <p:nvPr/>
        </p:nvSpPr>
        <p:spPr>
          <a:xfrm>
            <a:off x="310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106 (block 0, warp 3)"/>
          <p:cNvSpPr/>
          <p:nvPr/>
        </p:nvSpPr>
        <p:spPr>
          <a:xfrm>
            <a:off x="356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7 (block 0, warp 3)"/>
          <p:cNvSpPr/>
          <p:nvPr/>
        </p:nvSpPr>
        <p:spPr>
          <a:xfrm>
            <a:off x="4023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8 (block 0, warp 3)"/>
          <p:cNvSpPr/>
          <p:nvPr/>
        </p:nvSpPr>
        <p:spPr>
          <a:xfrm>
            <a:off x="4480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9 (block 0, warp 3)"/>
          <p:cNvSpPr/>
          <p:nvPr/>
        </p:nvSpPr>
        <p:spPr>
          <a:xfrm>
            <a:off x="493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10 (block 0, warp 3)"/>
          <p:cNvSpPr/>
          <p:nvPr/>
        </p:nvSpPr>
        <p:spPr>
          <a:xfrm>
            <a:off x="539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11 (block 0, warp 3)"/>
          <p:cNvSpPr/>
          <p:nvPr/>
        </p:nvSpPr>
        <p:spPr>
          <a:xfrm>
            <a:off x="5852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12 (block 0, warp 3)"/>
          <p:cNvSpPr/>
          <p:nvPr/>
        </p:nvSpPr>
        <p:spPr>
          <a:xfrm>
            <a:off x="265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13 (block 0, warp 3)"/>
          <p:cNvSpPr/>
          <p:nvPr/>
        </p:nvSpPr>
        <p:spPr>
          <a:xfrm>
            <a:off x="310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14 (block 0, warp 3)"/>
          <p:cNvSpPr/>
          <p:nvPr/>
        </p:nvSpPr>
        <p:spPr>
          <a:xfrm>
            <a:off x="356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15 (block 0, warp 3)"/>
          <p:cNvSpPr/>
          <p:nvPr/>
        </p:nvSpPr>
        <p:spPr>
          <a:xfrm>
            <a:off x="402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16 (block 0, warp 3)"/>
          <p:cNvSpPr/>
          <p:nvPr/>
        </p:nvSpPr>
        <p:spPr>
          <a:xfrm>
            <a:off x="448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7 (block 0, warp 3)"/>
          <p:cNvSpPr/>
          <p:nvPr/>
        </p:nvSpPr>
        <p:spPr>
          <a:xfrm>
            <a:off x="493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8 (block 0, warp 3)"/>
          <p:cNvSpPr/>
          <p:nvPr/>
        </p:nvSpPr>
        <p:spPr>
          <a:xfrm>
            <a:off x="5394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9 (block 0, warp 3)"/>
          <p:cNvSpPr/>
          <p:nvPr/>
        </p:nvSpPr>
        <p:spPr>
          <a:xfrm>
            <a:off x="5852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0 (block 0, warp 3)"/>
          <p:cNvSpPr/>
          <p:nvPr/>
        </p:nvSpPr>
        <p:spPr>
          <a:xfrm>
            <a:off x="265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21 (block 0, warp 3)"/>
          <p:cNvSpPr/>
          <p:nvPr/>
        </p:nvSpPr>
        <p:spPr>
          <a:xfrm>
            <a:off x="310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22 (block 0, warp 3)"/>
          <p:cNvSpPr/>
          <p:nvPr/>
        </p:nvSpPr>
        <p:spPr>
          <a:xfrm>
            <a:off x="356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23 (block 0, warp 3)"/>
          <p:cNvSpPr/>
          <p:nvPr/>
        </p:nvSpPr>
        <p:spPr>
          <a:xfrm>
            <a:off x="402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24 (block 0, warp 3)"/>
          <p:cNvSpPr/>
          <p:nvPr/>
        </p:nvSpPr>
        <p:spPr>
          <a:xfrm>
            <a:off x="448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25 (block 0, warp 3)"/>
          <p:cNvSpPr/>
          <p:nvPr/>
        </p:nvSpPr>
        <p:spPr>
          <a:xfrm>
            <a:off x="4937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26 (block 0, warp 3)"/>
          <p:cNvSpPr/>
          <p:nvPr/>
        </p:nvSpPr>
        <p:spPr>
          <a:xfrm>
            <a:off x="5394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7 (block 0, warp 3)"/>
          <p:cNvSpPr/>
          <p:nvPr/>
        </p:nvSpPr>
        <p:spPr>
          <a:xfrm>
            <a:off x="5852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Block 1"/>
          <p:cNvSpPr/>
          <p:nvPr/>
        </p:nvSpPr>
        <p:spPr>
          <a:xfrm>
            <a:off x="74980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38" name="Block 1: 128 threads"/>
          <p:cNvSpPr/>
          <p:nvPr/>
        </p:nvSpPr>
        <p:spPr>
          <a:xfrm>
            <a:off x="74980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39" name="Thread 0 (block 1, warp 0) selected"/>
          <p:cNvSpPr/>
          <p:nvPr/>
        </p:nvSpPr>
        <p:spPr>
          <a:xfrm>
            <a:off x="7818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 (block 1, warp 0) selected"/>
          <p:cNvSpPr/>
          <p:nvPr/>
        </p:nvSpPr>
        <p:spPr>
          <a:xfrm>
            <a:off x="8275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2 (block 1, warp 0) selected"/>
          <p:cNvSpPr/>
          <p:nvPr/>
        </p:nvSpPr>
        <p:spPr>
          <a:xfrm>
            <a:off x="8732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3 (block 1, warp 0) selected"/>
          <p:cNvSpPr/>
          <p:nvPr/>
        </p:nvSpPr>
        <p:spPr>
          <a:xfrm>
            <a:off x="91897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4 (block 1, warp 0) selected"/>
          <p:cNvSpPr/>
          <p:nvPr/>
        </p:nvSpPr>
        <p:spPr>
          <a:xfrm>
            <a:off x="96469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 (block 1, warp 0) selected"/>
          <p:cNvSpPr/>
          <p:nvPr/>
        </p:nvSpPr>
        <p:spPr>
          <a:xfrm>
            <a:off x="101041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6 (block 1, warp 0) selected"/>
          <p:cNvSpPr/>
          <p:nvPr/>
        </p:nvSpPr>
        <p:spPr>
          <a:xfrm>
            <a:off x="105613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7 (block 1, warp 0) selected"/>
          <p:cNvSpPr/>
          <p:nvPr/>
        </p:nvSpPr>
        <p:spPr>
          <a:xfrm>
            <a:off x="1101852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8 (block 1, warp 0) selected"/>
          <p:cNvSpPr/>
          <p:nvPr/>
        </p:nvSpPr>
        <p:spPr>
          <a:xfrm>
            <a:off x="7818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9 (block 1, warp 0) selected"/>
          <p:cNvSpPr/>
          <p:nvPr/>
        </p:nvSpPr>
        <p:spPr>
          <a:xfrm>
            <a:off x="8275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10 (block 1, warp 0) selected"/>
          <p:cNvSpPr/>
          <p:nvPr/>
        </p:nvSpPr>
        <p:spPr>
          <a:xfrm>
            <a:off x="8732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11 (block 1, warp 0) selected"/>
          <p:cNvSpPr/>
          <p:nvPr/>
        </p:nvSpPr>
        <p:spPr>
          <a:xfrm>
            <a:off x="91897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2 (block 1, warp 0) selected"/>
          <p:cNvSpPr/>
          <p:nvPr/>
        </p:nvSpPr>
        <p:spPr>
          <a:xfrm>
            <a:off x="96469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13 (block 1, warp 0) selected"/>
          <p:cNvSpPr/>
          <p:nvPr/>
        </p:nvSpPr>
        <p:spPr>
          <a:xfrm>
            <a:off x="101041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14 (block 1, warp 0) selected"/>
          <p:cNvSpPr/>
          <p:nvPr/>
        </p:nvSpPr>
        <p:spPr>
          <a:xfrm>
            <a:off x="105613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5 (block 1, warp 0) selected"/>
          <p:cNvSpPr/>
          <p:nvPr/>
        </p:nvSpPr>
        <p:spPr>
          <a:xfrm>
            <a:off x="1101852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6 (block 1, warp 0) selected"/>
          <p:cNvSpPr/>
          <p:nvPr/>
        </p:nvSpPr>
        <p:spPr>
          <a:xfrm>
            <a:off x="7818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7 (block 1, warp 0) selected"/>
          <p:cNvSpPr/>
          <p:nvPr/>
        </p:nvSpPr>
        <p:spPr>
          <a:xfrm>
            <a:off x="8275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18 (block 1, warp 0) selected"/>
          <p:cNvSpPr/>
          <p:nvPr/>
        </p:nvSpPr>
        <p:spPr>
          <a:xfrm>
            <a:off x="8732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19 (block 1, warp 0) selected"/>
          <p:cNvSpPr/>
          <p:nvPr/>
        </p:nvSpPr>
        <p:spPr>
          <a:xfrm>
            <a:off x="91897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20 (block 1, warp 0) selected"/>
          <p:cNvSpPr/>
          <p:nvPr/>
        </p:nvSpPr>
        <p:spPr>
          <a:xfrm>
            <a:off x="96469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21 (block 1, warp 0) selected"/>
          <p:cNvSpPr/>
          <p:nvPr/>
        </p:nvSpPr>
        <p:spPr>
          <a:xfrm>
            <a:off x="101041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22 (block 1, warp 0) selected"/>
          <p:cNvSpPr/>
          <p:nvPr/>
        </p:nvSpPr>
        <p:spPr>
          <a:xfrm>
            <a:off x="105613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23 (block 1, warp 0) selected"/>
          <p:cNvSpPr/>
          <p:nvPr/>
        </p:nvSpPr>
        <p:spPr>
          <a:xfrm>
            <a:off x="1101852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24 (block 1, warp 0) selected"/>
          <p:cNvSpPr/>
          <p:nvPr/>
        </p:nvSpPr>
        <p:spPr>
          <a:xfrm>
            <a:off x="7818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25 (block 1, warp 0) selected"/>
          <p:cNvSpPr/>
          <p:nvPr/>
        </p:nvSpPr>
        <p:spPr>
          <a:xfrm>
            <a:off x="8275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26 (block 1, warp 0) selected"/>
          <p:cNvSpPr/>
          <p:nvPr/>
        </p:nvSpPr>
        <p:spPr>
          <a:xfrm>
            <a:off x="8732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27 (block 1, warp 0) selected"/>
          <p:cNvSpPr/>
          <p:nvPr/>
        </p:nvSpPr>
        <p:spPr>
          <a:xfrm>
            <a:off x="91897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28 (block 1, warp 0) selected"/>
          <p:cNvSpPr/>
          <p:nvPr/>
        </p:nvSpPr>
        <p:spPr>
          <a:xfrm>
            <a:off x="96469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29 (block 1, warp 0) selected"/>
          <p:cNvSpPr/>
          <p:nvPr/>
        </p:nvSpPr>
        <p:spPr>
          <a:xfrm>
            <a:off x="101041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30 (block 1, warp 0) selected"/>
          <p:cNvSpPr/>
          <p:nvPr/>
        </p:nvSpPr>
        <p:spPr>
          <a:xfrm>
            <a:off x="105613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31 (block 1, warp 0) selected"/>
          <p:cNvSpPr/>
          <p:nvPr/>
        </p:nvSpPr>
        <p:spPr>
          <a:xfrm>
            <a:off x="1101852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32 (block 1, warp 1)"/>
          <p:cNvSpPr/>
          <p:nvPr/>
        </p:nvSpPr>
        <p:spPr>
          <a:xfrm>
            <a:off x="781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33 (block 1, warp 1)"/>
          <p:cNvSpPr/>
          <p:nvPr/>
        </p:nvSpPr>
        <p:spPr>
          <a:xfrm>
            <a:off x="8275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34 (block 1, warp 1)"/>
          <p:cNvSpPr/>
          <p:nvPr/>
        </p:nvSpPr>
        <p:spPr>
          <a:xfrm>
            <a:off x="873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35 (block 1, warp 1)"/>
          <p:cNvSpPr/>
          <p:nvPr/>
        </p:nvSpPr>
        <p:spPr>
          <a:xfrm>
            <a:off x="918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36 (block 1, warp 1)"/>
          <p:cNvSpPr/>
          <p:nvPr/>
        </p:nvSpPr>
        <p:spPr>
          <a:xfrm>
            <a:off x="964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37 (block 1, warp 1)"/>
          <p:cNvSpPr/>
          <p:nvPr/>
        </p:nvSpPr>
        <p:spPr>
          <a:xfrm>
            <a:off x="1010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38 (block 1, warp 1)"/>
          <p:cNvSpPr/>
          <p:nvPr/>
        </p:nvSpPr>
        <p:spPr>
          <a:xfrm>
            <a:off x="10561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39 (block 1, warp 1)"/>
          <p:cNvSpPr/>
          <p:nvPr/>
        </p:nvSpPr>
        <p:spPr>
          <a:xfrm>
            <a:off x="11018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40 (block 1, warp 1)"/>
          <p:cNvSpPr/>
          <p:nvPr/>
        </p:nvSpPr>
        <p:spPr>
          <a:xfrm>
            <a:off x="781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41 (block 1, warp 1)"/>
          <p:cNvSpPr/>
          <p:nvPr/>
        </p:nvSpPr>
        <p:spPr>
          <a:xfrm>
            <a:off x="827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42 (block 1, warp 1)"/>
          <p:cNvSpPr/>
          <p:nvPr/>
        </p:nvSpPr>
        <p:spPr>
          <a:xfrm>
            <a:off x="873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2" name="Thread 43 (block 1, warp 1)"/>
          <p:cNvSpPr/>
          <p:nvPr/>
        </p:nvSpPr>
        <p:spPr>
          <a:xfrm>
            <a:off x="918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3" name="Thread 44 (block 1, warp 1)"/>
          <p:cNvSpPr/>
          <p:nvPr/>
        </p:nvSpPr>
        <p:spPr>
          <a:xfrm>
            <a:off x="964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45 (block 1, warp 1)"/>
          <p:cNvSpPr/>
          <p:nvPr/>
        </p:nvSpPr>
        <p:spPr>
          <a:xfrm>
            <a:off x="1010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46 (block 1, warp 1)"/>
          <p:cNvSpPr/>
          <p:nvPr/>
        </p:nvSpPr>
        <p:spPr>
          <a:xfrm>
            <a:off x="10561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47 (block 1, warp 1)"/>
          <p:cNvSpPr/>
          <p:nvPr/>
        </p:nvSpPr>
        <p:spPr>
          <a:xfrm>
            <a:off x="11018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8 (block 1, warp 1)"/>
          <p:cNvSpPr/>
          <p:nvPr/>
        </p:nvSpPr>
        <p:spPr>
          <a:xfrm>
            <a:off x="781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49 (block 1, warp 1)"/>
          <p:cNvSpPr/>
          <p:nvPr/>
        </p:nvSpPr>
        <p:spPr>
          <a:xfrm>
            <a:off x="827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50 (block 1, warp 1)"/>
          <p:cNvSpPr/>
          <p:nvPr/>
        </p:nvSpPr>
        <p:spPr>
          <a:xfrm>
            <a:off x="873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51 (block 1, warp 1)"/>
          <p:cNvSpPr/>
          <p:nvPr/>
        </p:nvSpPr>
        <p:spPr>
          <a:xfrm>
            <a:off x="918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52 (block 1, warp 1)"/>
          <p:cNvSpPr/>
          <p:nvPr/>
        </p:nvSpPr>
        <p:spPr>
          <a:xfrm>
            <a:off x="964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53 (block 1, warp 1)"/>
          <p:cNvSpPr/>
          <p:nvPr/>
        </p:nvSpPr>
        <p:spPr>
          <a:xfrm>
            <a:off x="1010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54 (block 1, warp 1)"/>
          <p:cNvSpPr/>
          <p:nvPr/>
        </p:nvSpPr>
        <p:spPr>
          <a:xfrm>
            <a:off x="1056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55 (block 1, warp 1)"/>
          <p:cNvSpPr/>
          <p:nvPr/>
        </p:nvSpPr>
        <p:spPr>
          <a:xfrm>
            <a:off x="11018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56 (block 1, warp 1)"/>
          <p:cNvSpPr/>
          <p:nvPr/>
        </p:nvSpPr>
        <p:spPr>
          <a:xfrm>
            <a:off x="781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57 (block 1, warp 1)"/>
          <p:cNvSpPr/>
          <p:nvPr/>
        </p:nvSpPr>
        <p:spPr>
          <a:xfrm>
            <a:off x="8275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58 (block 1, warp 1)"/>
          <p:cNvSpPr/>
          <p:nvPr/>
        </p:nvSpPr>
        <p:spPr>
          <a:xfrm>
            <a:off x="873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59 (block 1, warp 1)"/>
          <p:cNvSpPr/>
          <p:nvPr/>
        </p:nvSpPr>
        <p:spPr>
          <a:xfrm>
            <a:off x="918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60 (block 1, warp 1)"/>
          <p:cNvSpPr/>
          <p:nvPr/>
        </p:nvSpPr>
        <p:spPr>
          <a:xfrm>
            <a:off x="964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61 (block 1, warp 1)"/>
          <p:cNvSpPr/>
          <p:nvPr/>
        </p:nvSpPr>
        <p:spPr>
          <a:xfrm>
            <a:off x="1010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62 (block 1, warp 1)"/>
          <p:cNvSpPr/>
          <p:nvPr/>
        </p:nvSpPr>
        <p:spPr>
          <a:xfrm>
            <a:off x="1056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63 (block 1, warp 1)"/>
          <p:cNvSpPr/>
          <p:nvPr/>
        </p:nvSpPr>
        <p:spPr>
          <a:xfrm>
            <a:off x="11018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64 (block 1, warp 2) selected"/>
          <p:cNvSpPr/>
          <p:nvPr/>
        </p:nvSpPr>
        <p:spPr>
          <a:xfrm>
            <a:off x="7818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65 (block 1, warp 2) selected"/>
          <p:cNvSpPr/>
          <p:nvPr/>
        </p:nvSpPr>
        <p:spPr>
          <a:xfrm>
            <a:off x="8275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66 (block 1, warp 2) selected"/>
          <p:cNvSpPr/>
          <p:nvPr/>
        </p:nvSpPr>
        <p:spPr>
          <a:xfrm>
            <a:off x="8732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67 (block 1, warp 2) selected"/>
          <p:cNvSpPr/>
          <p:nvPr/>
        </p:nvSpPr>
        <p:spPr>
          <a:xfrm>
            <a:off x="91897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68 (block 1, warp 2) selected"/>
          <p:cNvSpPr/>
          <p:nvPr/>
        </p:nvSpPr>
        <p:spPr>
          <a:xfrm>
            <a:off x="96469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69 (block 1, warp 2) selected"/>
          <p:cNvSpPr/>
          <p:nvPr/>
        </p:nvSpPr>
        <p:spPr>
          <a:xfrm>
            <a:off x="101041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70 (block 1, warp 2) selected"/>
          <p:cNvSpPr/>
          <p:nvPr/>
        </p:nvSpPr>
        <p:spPr>
          <a:xfrm>
            <a:off x="105613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71 (block 1, warp 2) selected"/>
          <p:cNvSpPr/>
          <p:nvPr/>
        </p:nvSpPr>
        <p:spPr>
          <a:xfrm>
            <a:off x="1101852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72 (block 1, warp 2) selected"/>
          <p:cNvSpPr/>
          <p:nvPr/>
        </p:nvSpPr>
        <p:spPr>
          <a:xfrm>
            <a:off x="7818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73 (block 1, warp 2) selected"/>
          <p:cNvSpPr/>
          <p:nvPr/>
        </p:nvSpPr>
        <p:spPr>
          <a:xfrm>
            <a:off x="8275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74 (block 1, warp 2) selected"/>
          <p:cNvSpPr/>
          <p:nvPr/>
        </p:nvSpPr>
        <p:spPr>
          <a:xfrm>
            <a:off x="8732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75 (block 1, warp 2) selected"/>
          <p:cNvSpPr/>
          <p:nvPr/>
        </p:nvSpPr>
        <p:spPr>
          <a:xfrm>
            <a:off x="91897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76 (block 1, warp 2) selected"/>
          <p:cNvSpPr/>
          <p:nvPr/>
        </p:nvSpPr>
        <p:spPr>
          <a:xfrm>
            <a:off x="96469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77 (block 1, warp 2) selected"/>
          <p:cNvSpPr/>
          <p:nvPr/>
        </p:nvSpPr>
        <p:spPr>
          <a:xfrm>
            <a:off x="101041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78 (block 1, warp 2) selected"/>
          <p:cNvSpPr/>
          <p:nvPr/>
        </p:nvSpPr>
        <p:spPr>
          <a:xfrm>
            <a:off x="105613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79 (block 1, warp 2) selected"/>
          <p:cNvSpPr/>
          <p:nvPr/>
        </p:nvSpPr>
        <p:spPr>
          <a:xfrm>
            <a:off x="1101852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80 (block 1, warp 2) selected"/>
          <p:cNvSpPr/>
          <p:nvPr/>
        </p:nvSpPr>
        <p:spPr>
          <a:xfrm>
            <a:off x="7818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81 (block 1, warp 2) selected"/>
          <p:cNvSpPr/>
          <p:nvPr/>
        </p:nvSpPr>
        <p:spPr>
          <a:xfrm>
            <a:off x="8275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82 (block 1, warp 2) selected"/>
          <p:cNvSpPr/>
          <p:nvPr/>
        </p:nvSpPr>
        <p:spPr>
          <a:xfrm>
            <a:off x="8732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83 (block 1, warp 2) selected"/>
          <p:cNvSpPr/>
          <p:nvPr/>
        </p:nvSpPr>
        <p:spPr>
          <a:xfrm>
            <a:off x="91897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84 (block 1, warp 2) selected"/>
          <p:cNvSpPr/>
          <p:nvPr/>
        </p:nvSpPr>
        <p:spPr>
          <a:xfrm>
            <a:off x="96469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85 (block 1, warp 2) selected"/>
          <p:cNvSpPr/>
          <p:nvPr/>
        </p:nvSpPr>
        <p:spPr>
          <a:xfrm>
            <a:off x="101041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86 (block 1, warp 2) selected"/>
          <p:cNvSpPr/>
          <p:nvPr/>
        </p:nvSpPr>
        <p:spPr>
          <a:xfrm>
            <a:off x="105613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87 (block 1, warp 2) selected"/>
          <p:cNvSpPr/>
          <p:nvPr/>
        </p:nvSpPr>
        <p:spPr>
          <a:xfrm>
            <a:off x="1101852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88 (block 1, warp 2) selected"/>
          <p:cNvSpPr/>
          <p:nvPr/>
        </p:nvSpPr>
        <p:spPr>
          <a:xfrm>
            <a:off x="7818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89 (block 1, warp 2) selected"/>
          <p:cNvSpPr/>
          <p:nvPr/>
        </p:nvSpPr>
        <p:spPr>
          <a:xfrm>
            <a:off x="8275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90 (block 1, warp 2) selected"/>
          <p:cNvSpPr/>
          <p:nvPr/>
        </p:nvSpPr>
        <p:spPr>
          <a:xfrm>
            <a:off x="8732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91 (block 1, warp 2) selected"/>
          <p:cNvSpPr/>
          <p:nvPr/>
        </p:nvSpPr>
        <p:spPr>
          <a:xfrm>
            <a:off x="91897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92 (block 1, warp 2) selected"/>
          <p:cNvSpPr/>
          <p:nvPr/>
        </p:nvSpPr>
        <p:spPr>
          <a:xfrm>
            <a:off x="96469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93 (block 1, warp 2) selected"/>
          <p:cNvSpPr/>
          <p:nvPr/>
        </p:nvSpPr>
        <p:spPr>
          <a:xfrm>
            <a:off x="101041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94 (block 1, warp 2) selected"/>
          <p:cNvSpPr/>
          <p:nvPr/>
        </p:nvSpPr>
        <p:spPr>
          <a:xfrm>
            <a:off x="105613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95 (block 1, warp 2) selected"/>
          <p:cNvSpPr/>
          <p:nvPr/>
        </p:nvSpPr>
        <p:spPr>
          <a:xfrm>
            <a:off x="1101852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96 (block 1, warp 3)"/>
          <p:cNvSpPr/>
          <p:nvPr/>
        </p:nvSpPr>
        <p:spPr>
          <a:xfrm>
            <a:off x="781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97 (block 1, warp 3)"/>
          <p:cNvSpPr/>
          <p:nvPr/>
        </p:nvSpPr>
        <p:spPr>
          <a:xfrm>
            <a:off x="827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98 (block 1, warp 3)"/>
          <p:cNvSpPr/>
          <p:nvPr/>
        </p:nvSpPr>
        <p:spPr>
          <a:xfrm>
            <a:off x="873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99 (block 1, warp 3)"/>
          <p:cNvSpPr/>
          <p:nvPr/>
        </p:nvSpPr>
        <p:spPr>
          <a:xfrm>
            <a:off x="918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100 (block 1, warp 3)"/>
          <p:cNvSpPr/>
          <p:nvPr/>
        </p:nvSpPr>
        <p:spPr>
          <a:xfrm>
            <a:off x="964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101 (block 1, warp 3)"/>
          <p:cNvSpPr/>
          <p:nvPr/>
        </p:nvSpPr>
        <p:spPr>
          <a:xfrm>
            <a:off x="1010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102 (block 1, warp 3)"/>
          <p:cNvSpPr/>
          <p:nvPr/>
        </p:nvSpPr>
        <p:spPr>
          <a:xfrm>
            <a:off x="1056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103 (block 1, warp 3)"/>
          <p:cNvSpPr/>
          <p:nvPr/>
        </p:nvSpPr>
        <p:spPr>
          <a:xfrm>
            <a:off x="11018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104 (block 1, warp 3)"/>
          <p:cNvSpPr/>
          <p:nvPr/>
        </p:nvSpPr>
        <p:spPr>
          <a:xfrm>
            <a:off x="781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105 (block 1, warp 3)"/>
          <p:cNvSpPr/>
          <p:nvPr/>
        </p:nvSpPr>
        <p:spPr>
          <a:xfrm>
            <a:off x="827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106 (block 1, warp 3)"/>
          <p:cNvSpPr/>
          <p:nvPr/>
        </p:nvSpPr>
        <p:spPr>
          <a:xfrm>
            <a:off x="873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107 (block 1, warp 3)"/>
          <p:cNvSpPr/>
          <p:nvPr/>
        </p:nvSpPr>
        <p:spPr>
          <a:xfrm>
            <a:off x="918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7" name="Thread 108 (block 1, warp 3)"/>
          <p:cNvSpPr/>
          <p:nvPr/>
        </p:nvSpPr>
        <p:spPr>
          <a:xfrm>
            <a:off x="964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8" name="Thread 109 (block 1, warp 3)"/>
          <p:cNvSpPr/>
          <p:nvPr/>
        </p:nvSpPr>
        <p:spPr>
          <a:xfrm>
            <a:off x="1010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49" name="Thread 110 (block 1, warp 3)"/>
          <p:cNvSpPr/>
          <p:nvPr/>
        </p:nvSpPr>
        <p:spPr>
          <a:xfrm>
            <a:off x="10561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0" name="Thread 111 (block 1, warp 3)"/>
          <p:cNvSpPr/>
          <p:nvPr/>
        </p:nvSpPr>
        <p:spPr>
          <a:xfrm>
            <a:off x="11018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1" name="Thread 112 (block 1, warp 3)"/>
          <p:cNvSpPr/>
          <p:nvPr/>
        </p:nvSpPr>
        <p:spPr>
          <a:xfrm>
            <a:off x="781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2" name="Thread 113 (block 1, warp 3)"/>
          <p:cNvSpPr/>
          <p:nvPr/>
        </p:nvSpPr>
        <p:spPr>
          <a:xfrm>
            <a:off x="827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3" name="Thread 114 (block 1, warp 3)"/>
          <p:cNvSpPr/>
          <p:nvPr/>
        </p:nvSpPr>
        <p:spPr>
          <a:xfrm>
            <a:off x="873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4" name="Thread 115 (block 1, warp 3)"/>
          <p:cNvSpPr/>
          <p:nvPr/>
        </p:nvSpPr>
        <p:spPr>
          <a:xfrm>
            <a:off x="918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5" name="Thread 116 (block 1, warp 3)"/>
          <p:cNvSpPr/>
          <p:nvPr/>
        </p:nvSpPr>
        <p:spPr>
          <a:xfrm>
            <a:off x="964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6" name="Thread 117 (block 1, warp 3)"/>
          <p:cNvSpPr/>
          <p:nvPr/>
        </p:nvSpPr>
        <p:spPr>
          <a:xfrm>
            <a:off x="1010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118 (block 1, warp 3)"/>
          <p:cNvSpPr/>
          <p:nvPr/>
        </p:nvSpPr>
        <p:spPr>
          <a:xfrm>
            <a:off x="1056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119 (block 1, warp 3)"/>
          <p:cNvSpPr/>
          <p:nvPr/>
        </p:nvSpPr>
        <p:spPr>
          <a:xfrm>
            <a:off x="11018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120 (block 1, warp 3)"/>
          <p:cNvSpPr/>
          <p:nvPr/>
        </p:nvSpPr>
        <p:spPr>
          <a:xfrm>
            <a:off x="781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21 (block 1, warp 3)"/>
          <p:cNvSpPr/>
          <p:nvPr/>
        </p:nvSpPr>
        <p:spPr>
          <a:xfrm>
            <a:off x="8275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22 (block 1, warp 3)"/>
          <p:cNvSpPr/>
          <p:nvPr/>
        </p:nvSpPr>
        <p:spPr>
          <a:xfrm>
            <a:off x="873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23 (block 1, warp 3)"/>
          <p:cNvSpPr/>
          <p:nvPr/>
        </p:nvSpPr>
        <p:spPr>
          <a:xfrm>
            <a:off x="918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24 (block 1, warp 3)"/>
          <p:cNvSpPr/>
          <p:nvPr/>
        </p:nvSpPr>
        <p:spPr>
          <a:xfrm>
            <a:off x="964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25 (block 1, warp 3)"/>
          <p:cNvSpPr/>
          <p:nvPr/>
        </p:nvSpPr>
        <p:spPr>
          <a:xfrm>
            <a:off x="1010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26 (block 1, warp 3)"/>
          <p:cNvSpPr/>
          <p:nvPr/>
        </p:nvSpPr>
        <p:spPr>
          <a:xfrm>
            <a:off x="1056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27 (block 1, warp 3)"/>
          <p:cNvSpPr/>
          <p:nvPr/>
        </p:nvSpPr>
        <p:spPr>
          <a:xfrm>
            <a:off x="11018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No upper boundary specified"/>
          <p:cNvSpPr/>
          <p:nvPr/>
        </p:nvSpPr>
        <p:spPr>
          <a:xfrm>
            <a:off x="20574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No upper boundary specified</a:t>
            </a:r>
          </a:p>
        </p:txBody>
      </p:sp>
      <p:sp>
        <p:nvSpPr>
          <p:cNvPr id="268" name="Threads across both blocks"/>
          <p:cNvSpPr/>
          <p:nvPr/>
        </p:nvSpPr>
        <p:spPr>
          <a:xfrm>
            <a:off x="20574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across both blocks</a:t>
            </a:r>
          </a:p>
        </p:txBody>
      </p:sp>
      <p:sp>
        <p:nvSpPr>
          <p:cNvPr id="269" name="Shape"/>
          <p:cNvSpPr/>
          <p:nvPr/>
        </p:nvSpPr>
        <p:spPr>
          <a:xfrm>
            <a:off x="130302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70" name="CTK’s&#10;Cooperative Groups"/>
          <p:cNvSpPr/>
          <p:nvPr/>
        </p:nvSpPr>
        <p:spPr>
          <a:xfrm>
            <a:off x="135331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271" name="Block 0"/>
          <p:cNvSpPr/>
          <p:nvPr/>
        </p:nvSpPr>
        <p:spPr>
          <a:xfrm>
            <a:off x="135331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72" name="Block 0: 128 threads"/>
          <p:cNvSpPr/>
          <p:nvPr/>
        </p:nvSpPr>
        <p:spPr>
          <a:xfrm>
            <a:off x="135331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73" name="Upper boundary: block 0"/>
          <p:cNvSpPr/>
          <p:nvPr/>
        </p:nvSpPr>
        <p:spPr>
          <a:xfrm>
            <a:off x="133731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274" name="Thread 0 (block 0, warp 0) selected"/>
          <p:cNvSpPr/>
          <p:nvPr/>
        </p:nvSpPr>
        <p:spPr>
          <a:xfrm>
            <a:off x="13853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 (block 0, warp 0) selected"/>
          <p:cNvSpPr/>
          <p:nvPr/>
        </p:nvSpPr>
        <p:spPr>
          <a:xfrm>
            <a:off x="14310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2 (block 0, warp 0) selected"/>
          <p:cNvSpPr/>
          <p:nvPr/>
        </p:nvSpPr>
        <p:spPr>
          <a:xfrm>
            <a:off x="14767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3 (block 0, warp 0) selected"/>
          <p:cNvSpPr/>
          <p:nvPr/>
        </p:nvSpPr>
        <p:spPr>
          <a:xfrm>
            <a:off x="15224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4 (block 0, warp 0) selected"/>
          <p:cNvSpPr/>
          <p:nvPr/>
        </p:nvSpPr>
        <p:spPr>
          <a:xfrm>
            <a:off x="15681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5 (block 0, warp 0) selected"/>
          <p:cNvSpPr/>
          <p:nvPr/>
        </p:nvSpPr>
        <p:spPr>
          <a:xfrm>
            <a:off x="16139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6 (block 0, warp 0) selected"/>
          <p:cNvSpPr/>
          <p:nvPr/>
        </p:nvSpPr>
        <p:spPr>
          <a:xfrm>
            <a:off x="16596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7 (block 0, warp 0) selected"/>
          <p:cNvSpPr/>
          <p:nvPr/>
        </p:nvSpPr>
        <p:spPr>
          <a:xfrm>
            <a:off x="17053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8 (block 0, warp 0) selected"/>
          <p:cNvSpPr/>
          <p:nvPr/>
        </p:nvSpPr>
        <p:spPr>
          <a:xfrm>
            <a:off x="13853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9 (block 0, warp 0) selected"/>
          <p:cNvSpPr/>
          <p:nvPr/>
        </p:nvSpPr>
        <p:spPr>
          <a:xfrm>
            <a:off x="14310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0 (block 0, warp 0) selected"/>
          <p:cNvSpPr/>
          <p:nvPr/>
        </p:nvSpPr>
        <p:spPr>
          <a:xfrm>
            <a:off x="14767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1 (block 0, warp 0) selected"/>
          <p:cNvSpPr/>
          <p:nvPr/>
        </p:nvSpPr>
        <p:spPr>
          <a:xfrm>
            <a:off x="15224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12 (block 0, warp 0) selected"/>
          <p:cNvSpPr/>
          <p:nvPr/>
        </p:nvSpPr>
        <p:spPr>
          <a:xfrm>
            <a:off x="15681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13 (block 0, warp 0) selected"/>
          <p:cNvSpPr/>
          <p:nvPr/>
        </p:nvSpPr>
        <p:spPr>
          <a:xfrm>
            <a:off x="16139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14 (block 0, warp 0) selected"/>
          <p:cNvSpPr/>
          <p:nvPr/>
        </p:nvSpPr>
        <p:spPr>
          <a:xfrm>
            <a:off x="16596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15 (block 0, warp 0) selected"/>
          <p:cNvSpPr/>
          <p:nvPr/>
        </p:nvSpPr>
        <p:spPr>
          <a:xfrm>
            <a:off x="17053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16 (block 0, warp 0) selected"/>
          <p:cNvSpPr/>
          <p:nvPr/>
        </p:nvSpPr>
        <p:spPr>
          <a:xfrm>
            <a:off x="13853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17 (block 0, warp 0) selected"/>
          <p:cNvSpPr/>
          <p:nvPr/>
        </p:nvSpPr>
        <p:spPr>
          <a:xfrm>
            <a:off x="14310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8 (block 0, warp 0) selected"/>
          <p:cNvSpPr/>
          <p:nvPr/>
        </p:nvSpPr>
        <p:spPr>
          <a:xfrm>
            <a:off x="14767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9 (block 0, warp 0) selected"/>
          <p:cNvSpPr/>
          <p:nvPr/>
        </p:nvSpPr>
        <p:spPr>
          <a:xfrm>
            <a:off x="15224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20 (block 0, warp 0) selected"/>
          <p:cNvSpPr/>
          <p:nvPr/>
        </p:nvSpPr>
        <p:spPr>
          <a:xfrm>
            <a:off x="15681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21 (block 0, warp 0) selected"/>
          <p:cNvSpPr/>
          <p:nvPr/>
        </p:nvSpPr>
        <p:spPr>
          <a:xfrm>
            <a:off x="16139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22 (block 0, warp 0) selected"/>
          <p:cNvSpPr/>
          <p:nvPr/>
        </p:nvSpPr>
        <p:spPr>
          <a:xfrm>
            <a:off x="16596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23 (block 0, warp 0) selected"/>
          <p:cNvSpPr/>
          <p:nvPr/>
        </p:nvSpPr>
        <p:spPr>
          <a:xfrm>
            <a:off x="17053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24 (block 0, warp 0) selected"/>
          <p:cNvSpPr/>
          <p:nvPr/>
        </p:nvSpPr>
        <p:spPr>
          <a:xfrm>
            <a:off x="13853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25 (block 0, warp 0) selected"/>
          <p:cNvSpPr/>
          <p:nvPr/>
        </p:nvSpPr>
        <p:spPr>
          <a:xfrm>
            <a:off x="14310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26 (block 0, warp 0) selected"/>
          <p:cNvSpPr/>
          <p:nvPr/>
        </p:nvSpPr>
        <p:spPr>
          <a:xfrm>
            <a:off x="14767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27 (block 0, warp 0) selected"/>
          <p:cNvSpPr/>
          <p:nvPr/>
        </p:nvSpPr>
        <p:spPr>
          <a:xfrm>
            <a:off x="15224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8 (block 0, warp 0) selected"/>
          <p:cNvSpPr/>
          <p:nvPr/>
        </p:nvSpPr>
        <p:spPr>
          <a:xfrm>
            <a:off x="15681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9 (block 0, warp 0) selected"/>
          <p:cNvSpPr/>
          <p:nvPr/>
        </p:nvSpPr>
        <p:spPr>
          <a:xfrm>
            <a:off x="16139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30 (block 0, warp 0) selected"/>
          <p:cNvSpPr/>
          <p:nvPr/>
        </p:nvSpPr>
        <p:spPr>
          <a:xfrm>
            <a:off x="16596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31 (block 0, warp 0) selected"/>
          <p:cNvSpPr/>
          <p:nvPr/>
        </p:nvSpPr>
        <p:spPr>
          <a:xfrm>
            <a:off x="17053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32 (block 0, warp 1)"/>
          <p:cNvSpPr/>
          <p:nvPr/>
        </p:nvSpPr>
        <p:spPr>
          <a:xfrm>
            <a:off x="13853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7" name="Thread 33 (block 0, warp 1)"/>
          <p:cNvSpPr/>
          <p:nvPr/>
        </p:nvSpPr>
        <p:spPr>
          <a:xfrm>
            <a:off x="14310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8" name="Thread 34 (block 0, warp 1)"/>
          <p:cNvSpPr/>
          <p:nvPr/>
        </p:nvSpPr>
        <p:spPr>
          <a:xfrm>
            <a:off x="14767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09" name="Thread 35 (block 0, warp 1)"/>
          <p:cNvSpPr/>
          <p:nvPr/>
        </p:nvSpPr>
        <p:spPr>
          <a:xfrm>
            <a:off x="15224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0" name="Thread 36 (block 0, warp 1)"/>
          <p:cNvSpPr/>
          <p:nvPr/>
        </p:nvSpPr>
        <p:spPr>
          <a:xfrm>
            <a:off x="15681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1" name="Thread 37 (block 0, warp 1)"/>
          <p:cNvSpPr/>
          <p:nvPr/>
        </p:nvSpPr>
        <p:spPr>
          <a:xfrm>
            <a:off x="16139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2" name="Thread 38 (block 0, warp 1)"/>
          <p:cNvSpPr/>
          <p:nvPr/>
        </p:nvSpPr>
        <p:spPr>
          <a:xfrm>
            <a:off x="16596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3" name="Thread 39 (block 0, warp 1)"/>
          <p:cNvSpPr/>
          <p:nvPr/>
        </p:nvSpPr>
        <p:spPr>
          <a:xfrm>
            <a:off x="17053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4" name="Thread 40 (block 0, warp 1)"/>
          <p:cNvSpPr/>
          <p:nvPr/>
        </p:nvSpPr>
        <p:spPr>
          <a:xfrm>
            <a:off x="13853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5" name="Thread 41 (block 0, warp 1)"/>
          <p:cNvSpPr/>
          <p:nvPr/>
        </p:nvSpPr>
        <p:spPr>
          <a:xfrm>
            <a:off x="14310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6" name="Thread 42 (block 0, warp 1)"/>
          <p:cNvSpPr/>
          <p:nvPr/>
        </p:nvSpPr>
        <p:spPr>
          <a:xfrm>
            <a:off x="14767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7" name="Thread 43 (block 0, warp 1)"/>
          <p:cNvSpPr/>
          <p:nvPr/>
        </p:nvSpPr>
        <p:spPr>
          <a:xfrm>
            <a:off x="15224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8" name="Thread 44 (block 0, warp 1)"/>
          <p:cNvSpPr/>
          <p:nvPr/>
        </p:nvSpPr>
        <p:spPr>
          <a:xfrm>
            <a:off x="15681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19" name="Thread 45 (block 0, warp 1)"/>
          <p:cNvSpPr/>
          <p:nvPr/>
        </p:nvSpPr>
        <p:spPr>
          <a:xfrm>
            <a:off x="16139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0" name="Thread 46 (block 0, warp 1)"/>
          <p:cNvSpPr/>
          <p:nvPr/>
        </p:nvSpPr>
        <p:spPr>
          <a:xfrm>
            <a:off x="16596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1" name="Thread 47 (block 0, warp 1)"/>
          <p:cNvSpPr/>
          <p:nvPr/>
        </p:nvSpPr>
        <p:spPr>
          <a:xfrm>
            <a:off x="17053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2" name="Thread 48 (block 0, warp 1)"/>
          <p:cNvSpPr/>
          <p:nvPr/>
        </p:nvSpPr>
        <p:spPr>
          <a:xfrm>
            <a:off x="13853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3" name="Thread 49 (block 0, warp 1)"/>
          <p:cNvSpPr/>
          <p:nvPr/>
        </p:nvSpPr>
        <p:spPr>
          <a:xfrm>
            <a:off x="14310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4" name="Thread 50 (block 0, warp 1)"/>
          <p:cNvSpPr/>
          <p:nvPr/>
        </p:nvSpPr>
        <p:spPr>
          <a:xfrm>
            <a:off x="14767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5" name="Thread 51 (block 0, warp 1)"/>
          <p:cNvSpPr/>
          <p:nvPr/>
        </p:nvSpPr>
        <p:spPr>
          <a:xfrm>
            <a:off x="15224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6" name="Thread 52 (block 0, warp 1)"/>
          <p:cNvSpPr/>
          <p:nvPr/>
        </p:nvSpPr>
        <p:spPr>
          <a:xfrm>
            <a:off x="15681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7" name="Thread 53 (block 0, warp 1)"/>
          <p:cNvSpPr/>
          <p:nvPr/>
        </p:nvSpPr>
        <p:spPr>
          <a:xfrm>
            <a:off x="16139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8" name="Thread 54 (block 0, warp 1)"/>
          <p:cNvSpPr/>
          <p:nvPr/>
        </p:nvSpPr>
        <p:spPr>
          <a:xfrm>
            <a:off x="16596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29" name="Thread 55 (block 0, warp 1)"/>
          <p:cNvSpPr/>
          <p:nvPr/>
        </p:nvSpPr>
        <p:spPr>
          <a:xfrm>
            <a:off x="17053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0" name="Thread 56 (block 0, warp 1)"/>
          <p:cNvSpPr/>
          <p:nvPr/>
        </p:nvSpPr>
        <p:spPr>
          <a:xfrm>
            <a:off x="13853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1" name="Thread 57 (block 0, warp 1)"/>
          <p:cNvSpPr/>
          <p:nvPr/>
        </p:nvSpPr>
        <p:spPr>
          <a:xfrm>
            <a:off x="14310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2" name="Thread 58 (block 0, warp 1)"/>
          <p:cNvSpPr/>
          <p:nvPr/>
        </p:nvSpPr>
        <p:spPr>
          <a:xfrm>
            <a:off x="14767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3" name="Thread 59 (block 0, warp 1)"/>
          <p:cNvSpPr/>
          <p:nvPr/>
        </p:nvSpPr>
        <p:spPr>
          <a:xfrm>
            <a:off x="15224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4" name="Thread 60 (block 0, warp 1)"/>
          <p:cNvSpPr/>
          <p:nvPr/>
        </p:nvSpPr>
        <p:spPr>
          <a:xfrm>
            <a:off x="15681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5" name="Thread 61 (block 0, warp 1)"/>
          <p:cNvSpPr/>
          <p:nvPr/>
        </p:nvSpPr>
        <p:spPr>
          <a:xfrm>
            <a:off x="16139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6" name="Thread 62 (block 0, warp 1)"/>
          <p:cNvSpPr/>
          <p:nvPr/>
        </p:nvSpPr>
        <p:spPr>
          <a:xfrm>
            <a:off x="16596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7" name="Thread 63 (block 0, warp 1)"/>
          <p:cNvSpPr/>
          <p:nvPr/>
        </p:nvSpPr>
        <p:spPr>
          <a:xfrm>
            <a:off x="17053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38" name="Thread 64 (block 0, warp 2) selected"/>
          <p:cNvSpPr/>
          <p:nvPr/>
        </p:nvSpPr>
        <p:spPr>
          <a:xfrm>
            <a:off x="13853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65 (block 0, warp 2) selected"/>
          <p:cNvSpPr/>
          <p:nvPr/>
        </p:nvSpPr>
        <p:spPr>
          <a:xfrm>
            <a:off x="14310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66 (block 0, warp 2) selected"/>
          <p:cNvSpPr/>
          <p:nvPr/>
        </p:nvSpPr>
        <p:spPr>
          <a:xfrm>
            <a:off x="14767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67 (block 0, warp 2) selected"/>
          <p:cNvSpPr/>
          <p:nvPr/>
        </p:nvSpPr>
        <p:spPr>
          <a:xfrm>
            <a:off x="15224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8 (block 0, warp 2) selected"/>
          <p:cNvSpPr/>
          <p:nvPr/>
        </p:nvSpPr>
        <p:spPr>
          <a:xfrm>
            <a:off x="15681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9 (block 0, warp 2) selected"/>
          <p:cNvSpPr/>
          <p:nvPr/>
        </p:nvSpPr>
        <p:spPr>
          <a:xfrm>
            <a:off x="16139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70 (block 0, warp 2) selected"/>
          <p:cNvSpPr/>
          <p:nvPr/>
        </p:nvSpPr>
        <p:spPr>
          <a:xfrm>
            <a:off x="16596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71 (block 0, warp 2) selected"/>
          <p:cNvSpPr/>
          <p:nvPr/>
        </p:nvSpPr>
        <p:spPr>
          <a:xfrm>
            <a:off x="17053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Thread 72 (block 0, warp 2) selected"/>
          <p:cNvSpPr/>
          <p:nvPr/>
        </p:nvSpPr>
        <p:spPr>
          <a:xfrm>
            <a:off x="13853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7" name="Thread 73 (block 0, warp 2) selected"/>
          <p:cNvSpPr/>
          <p:nvPr/>
        </p:nvSpPr>
        <p:spPr>
          <a:xfrm>
            <a:off x="14310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74 (block 0, warp 2) selected"/>
          <p:cNvSpPr/>
          <p:nvPr/>
        </p:nvSpPr>
        <p:spPr>
          <a:xfrm>
            <a:off x="14767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75 (block 0, warp 2) selected"/>
          <p:cNvSpPr/>
          <p:nvPr/>
        </p:nvSpPr>
        <p:spPr>
          <a:xfrm>
            <a:off x="15224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76 (block 0, warp 2) selected"/>
          <p:cNvSpPr/>
          <p:nvPr/>
        </p:nvSpPr>
        <p:spPr>
          <a:xfrm>
            <a:off x="15681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77 (block 0, warp 2) selected"/>
          <p:cNvSpPr/>
          <p:nvPr/>
        </p:nvSpPr>
        <p:spPr>
          <a:xfrm>
            <a:off x="16139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78 (block 0, warp 2) selected"/>
          <p:cNvSpPr/>
          <p:nvPr/>
        </p:nvSpPr>
        <p:spPr>
          <a:xfrm>
            <a:off x="16596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9 (block 0, warp 2) selected"/>
          <p:cNvSpPr/>
          <p:nvPr/>
        </p:nvSpPr>
        <p:spPr>
          <a:xfrm>
            <a:off x="17053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80 (block 0, warp 2) selected"/>
          <p:cNvSpPr/>
          <p:nvPr/>
        </p:nvSpPr>
        <p:spPr>
          <a:xfrm>
            <a:off x="13853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81 (block 0, warp 2) selected"/>
          <p:cNvSpPr/>
          <p:nvPr/>
        </p:nvSpPr>
        <p:spPr>
          <a:xfrm>
            <a:off x="14310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82 (block 0, warp 2) selected"/>
          <p:cNvSpPr/>
          <p:nvPr/>
        </p:nvSpPr>
        <p:spPr>
          <a:xfrm>
            <a:off x="14767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83 (block 0, warp 2) selected"/>
          <p:cNvSpPr/>
          <p:nvPr/>
        </p:nvSpPr>
        <p:spPr>
          <a:xfrm>
            <a:off x="15224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84 (block 0, warp 2) selected"/>
          <p:cNvSpPr/>
          <p:nvPr/>
        </p:nvSpPr>
        <p:spPr>
          <a:xfrm>
            <a:off x="15681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85 (block 0, warp 2) selected"/>
          <p:cNvSpPr/>
          <p:nvPr/>
        </p:nvSpPr>
        <p:spPr>
          <a:xfrm>
            <a:off x="16139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86 (block 0, warp 2) selected"/>
          <p:cNvSpPr/>
          <p:nvPr/>
        </p:nvSpPr>
        <p:spPr>
          <a:xfrm>
            <a:off x="16596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87 (block 0, warp 2) selected"/>
          <p:cNvSpPr/>
          <p:nvPr/>
        </p:nvSpPr>
        <p:spPr>
          <a:xfrm>
            <a:off x="17053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88 (block 0, warp 2) selected"/>
          <p:cNvSpPr/>
          <p:nvPr/>
        </p:nvSpPr>
        <p:spPr>
          <a:xfrm>
            <a:off x="13853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9 (block 0, warp 2) selected"/>
          <p:cNvSpPr/>
          <p:nvPr/>
        </p:nvSpPr>
        <p:spPr>
          <a:xfrm>
            <a:off x="14310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90 (block 0, warp 2) selected"/>
          <p:cNvSpPr/>
          <p:nvPr/>
        </p:nvSpPr>
        <p:spPr>
          <a:xfrm>
            <a:off x="14767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91 (block 0, warp 2) selected"/>
          <p:cNvSpPr/>
          <p:nvPr/>
        </p:nvSpPr>
        <p:spPr>
          <a:xfrm>
            <a:off x="15224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92 (block 0, warp 2) selected"/>
          <p:cNvSpPr/>
          <p:nvPr/>
        </p:nvSpPr>
        <p:spPr>
          <a:xfrm>
            <a:off x="15681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93 (block 0, warp 2) selected"/>
          <p:cNvSpPr/>
          <p:nvPr/>
        </p:nvSpPr>
        <p:spPr>
          <a:xfrm>
            <a:off x="16139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94 (block 0, warp 2) selected"/>
          <p:cNvSpPr/>
          <p:nvPr/>
        </p:nvSpPr>
        <p:spPr>
          <a:xfrm>
            <a:off x="16596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95 (block 0, warp 2) selected"/>
          <p:cNvSpPr/>
          <p:nvPr/>
        </p:nvSpPr>
        <p:spPr>
          <a:xfrm>
            <a:off x="17053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96 (block 0, warp 3)"/>
          <p:cNvSpPr/>
          <p:nvPr/>
        </p:nvSpPr>
        <p:spPr>
          <a:xfrm>
            <a:off x="13853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1" name="Thread 97 (block 0, warp 3)"/>
          <p:cNvSpPr/>
          <p:nvPr/>
        </p:nvSpPr>
        <p:spPr>
          <a:xfrm>
            <a:off x="14310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2" name="Thread 98 (block 0, warp 3)"/>
          <p:cNvSpPr/>
          <p:nvPr/>
        </p:nvSpPr>
        <p:spPr>
          <a:xfrm>
            <a:off x="14767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3" name="Thread 99 (block 0, warp 3)"/>
          <p:cNvSpPr/>
          <p:nvPr/>
        </p:nvSpPr>
        <p:spPr>
          <a:xfrm>
            <a:off x="15224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4" name="Thread 100 (block 0, warp 3)"/>
          <p:cNvSpPr/>
          <p:nvPr/>
        </p:nvSpPr>
        <p:spPr>
          <a:xfrm>
            <a:off x="15681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5" name="Thread 101 (block 0, warp 3)"/>
          <p:cNvSpPr/>
          <p:nvPr/>
        </p:nvSpPr>
        <p:spPr>
          <a:xfrm>
            <a:off x="16139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6" name="Thread 102 (block 0, warp 3)"/>
          <p:cNvSpPr/>
          <p:nvPr/>
        </p:nvSpPr>
        <p:spPr>
          <a:xfrm>
            <a:off x="16596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7" name="Thread 103 (block 0, warp 3)"/>
          <p:cNvSpPr/>
          <p:nvPr/>
        </p:nvSpPr>
        <p:spPr>
          <a:xfrm>
            <a:off x="17053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8" name="Thread 104 (block 0, warp 3)"/>
          <p:cNvSpPr/>
          <p:nvPr/>
        </p:nvSpPr>
        <p:spPr>
          <a:xfrm>
            <a:off x="13853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79" name="Thread 105 (block 0, warp 3)"/>
          <p:cNvSpPr/>
          <p:nvPr/>
        </p:nvSpPr>
        <p:spPr>
          <a:xfrm>
            <a:off x="14310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0" name="Thread 106 (block 0, warp 3)"/>
          <p:cNvSpPr/>
          <p:nvPr/>
        </p:nvSpPr>
        <p:spPr>
          <a:xfrm>
            <a:off x="14767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1" name="Thread 107 (block 0, warp 3)"/>
          <p:cNvSpPr/>
          <p:nvPr/>
        </p:nvSpPr>
        <p:spPr>
          <a:xfrm>
            <a:off x="15224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2" name="Thread 108 (block 0, warp 3)"/>
          <p:cNvSpPr/>
          <p:nvPr/>
        </p:nvSpPr>
        <p:spPr>
          <a:xfrm>
            <a:off x="15681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3" name="Thread 109 (block 0, warp 3)"/>
          <p:cNvSpPr/>
          <p:nvPr/>
        </p:nvSpPr>
        <p:spPr>
          <a:xfrm>
            <a:off x="16139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4" name="Thread 110 (block 0, warp 3)"/>
          <p:cNvSpPr/>
          <p:nvPr/>
        </p:nvSpPr>
        <p:spPr>
          <a:xfrm>
            <a:off x="16596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5" name="Thread 111 (block 0, warp 3)"/>
          <p:cNvSpPr/>
          <p:nvPr/>
        </p:nvSpPr>
        <p:spPr>
          <a:xfrm>
            <a:off x="17053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6" name="Thread 112 (block 0, warp 3)"/>
          <p:cNvSpPr/>
          <p:nvPr/>
        </p:nvSpPr>
        <p:spPr>
          <a:xfrm>
            <a:off x="13853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7" name="Thread 113 (block 0, warp 3)"/>
          <p:cNvSpPr/>
          <p:nvPr/>
        </p:nvSpPr>
        <p:spPr>
          <a:xfrm>
            <a:off x="14310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8" name="Thread 114 (block 0, warp 3)"/>
          <p:cNvSpPr/>
          <p:nvPr/>
        </p:nvSpPr>
        <p:spPr>
          <a:xfrm>
            <a:off x="14767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89" name="Thread 115 (block 0, warp 3)"/>
          <p:cNvSpPr/>
          <p:nvPr/>
        </p:nvSpPr>
        <p:spPr>
          <a:xfrm>
            <a:off x="15224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0" name="Thread 116 (block 0, warp 3)"/>
          <p:cNvSpPr/>
          <p:nvPr/>
        </p:nvSpPr>
        <p:spPr>
          <a:xfrm>
            <a:off x="15681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1" name="Thread 117 (block 0, warp 3)"/>
          <p:cNvSpPr/>
          <p:nvPr/>
        </p:nvSpPr>
        <p:spPr>
          <a:xfrm>
            <a:off x="16139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2" name="Thread 118 (block 0, warp 3)"/>
          <p:cNvSpPr/>
          <p:nvPr/>
        </p:nvSpPr>
        <p:spPr>
          <a:xfrm>
            <a:off x="16596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3" name="Thread 119 (block 0, warp 3)"/>
          <p:cNvSpPr/>
          <p:nvPr/>
        </p:nvSpPr>
        <p:spPr>
          <a:xfrm>
            <a:off x="17053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4" name="Thread 120 (block 0, warp 3)"/>
          <p:cNvSpPr/>
          <p:nvPr/>
        </p:nvSpPr>
        <p:spPr>
          <a:xfrm>
            <a:off x="13853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5" name="Thread 121 (block 0, warp 3)"/>
          <p:cNvSpPr/>
          <p:nvPr/>
        </p:nvSpPr>
        <p:spPr>
          <a:xfrm>
            <a:off x="14310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6" name="Thread 122 (block 0, warp 3)"/>
          <p:cNvSpPr/>
          <p:nvPr/>
        </p:nvSpPr>
        <p:spPr>
          <a:xfrm>
            <a:off x="14767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7" name="Thread 123 (block 0, warp 3)"/>
          <p:cNvSpPr/>
          <p:nvPr/>
        </p:nvSpPr>
        <p:spPr>
          <a:xfrm>
            <a:off x="15224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8" name="Thread 124 (block 0, warp 3)"/>
          <p:cNvSpPr/>
          <p:nvPr/>
        </p:nvSpPr>
        <p:spPr>
          <a:xfrm>
            <a:off x="15681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399" name="Thread 125 (block 0, warp 3)"/>
          <p:cNvSpPr/>
          <p:nvPr/>
        </p:nvSpPr>
        <p:spPr>
          <a:xfrm>
            <a:off x="16139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0" name="Thread 126 (block 0, warp 3)"/>
          <p:cNvSpPr/>
          <p:nvPr/>
        </p:nvSpPr>
        <p:spPr>
          <a:xfrm>
            <a:off x="16596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1" name="Thread 127 (block 0, warp 3)"/>
          <p:cNvSpPr/>
          <p:nvPr/>
        </p:nvSpPr>
        <p:spPr>
          <a:xfrm>
            <a:off x="17053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2" name="Block 1"/>
          <p:cNvSpPr/>
          <p:nvPr/>
        </p:nvSpPr>
        <p:spPr>
          <a:xfrm>
            <a:off x="186994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403" name="Block 1: 128 threads"/>
          <p:cNvSpPr/>
          <p:nvPr/>
        </p:nvSpPr>
        <p:spPr>
          <a:xfrm>
            <a:off x="186994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04" name="Thread 0 (block 1, warp 0)"/>
          <p:cNvSpPr/>
          <p:nvPr/>
        </p:nvSpPr>
        <p:spPr>
          <a:xfrm>
            <a:off x="19019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5" name="Thread 1 (block 1, warp 0)"/>
          <p:cNvSpPr/>
          <p:nvPr/>
        </p:nvSpPr>
        <p:spPr>
          <a:xfrm>
            <a:off x="19476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6" name="Thread 2 (block 1, warp 0)"/>
          <p:cNvSpPr/>
          <p:nvPr/>
        </p:nvSpPr>
        <p:spPr>
          <a:xfrm>
            <a:off x="19933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7" name="Thread 3 (block 1, warp 0)"/>
          <p:cNvSpPr/>
          <p:nvPr/>
        </p:nvSpPr>
        <p:spPr>
          <a:xfrm>
            <a:off x="20391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8" name="Thread 4 (block 1, warp 0)"/>
          <p:cNvSpPr/>
          <p:nvPr/>
        </p:nvSpPr>
        <p:spPr>
          <a:xfrm>
            <a:off x="20848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09" name="Thread 5 (block 1, warp 0)"/>
          <p:cNvSpPr/>
          <p:nvPr/>
        </p:nvSpPr>
        <p:spPr>
          <a:xfrm>
            <a:off x="21305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0" name="Thread 6 (block 1, warp 0)"/>
          <p:cNvSpPr/>
          <p:nvPr/>
        </p:nvSpPr>
        <p:spPr>
          <a:xfrm>
            <a:off x="21762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1" name="Thread 7 (block 1, warp 0)"/>
          <p:cNvSpPr/>
          <p:nvPr/>
        </p:nvSpPr>
        <p:spPr>
          <a:xfrm>
            <a:off x="22219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2" name="Thread 8 (block 1, warp 0)"/>
          <p:cNvSpPr/>
          <p:nvPr/>
        </p:nvSpPr>
        <p:spPr>
          <a:xfrm>
            <a:off x="19019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3" name="Thread 9 (block 1, warp 0)"/>
          <p:cNvSpPr/>
          <p:nvPr/>
        </p:nvSpPr>
        <p:spPr>
          <a:xfrm>
            <a:off x="19476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4" name="Thread 10 (block 1, warp 0)"/>
          <p:cNvSpPr/>
          <p:nvPr/>
        </p:nvSpPr>
        <p:spPr>
          <a:xfrm>
            <a:off x="19933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5" name="Thread 11 (block 1, warp 0)"/>
          <p:cNvSpPr/>
          <p:nvPr/>
        </p:nvSpPr>
        <p:spPr>
          <a:xfrm>
            <a:off x="20391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6" name="Thread 12 (block 1, warp 0)"/>
          <p:cNvSpPr/>
          <p:nvPr/>
        </p:nvSpPr>
        <p:spPr>
          <a:xfrm>
            <a:off x="20848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7" name="Thread 13 (block 1, warp 0)"/>
          <p:cNvSpPr/>
          <p:nvPr/>
        </p:nvSpPr>
        <p:spPr>
          <a:xfrm>
            <a:off x="21305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8" name="Thread 14 (block 1, warp 0)"/>
          <p:cNvSpPr/>
          <p:nvPr/>
        </p:nvSpPr>
        <p:spPr>
          <a:xfrm>
            <a:off x="21762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19" name="Thread 15 (block 1, warp 0)"/>
          <p:cNvSpPr/>
          <p:nvPr/>
        </p:nvSpPr>
        <p:spPr>
          <a:xfrm>
            <a:off x="22219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0" name="Thread 16 (block 1, warp 0)"/>
          <p:cNvSpPr/>
          <p:nvPr/>
        </p:nvSpPr>
        <p:spPr>
          <a:xfrm>
            <a:off x="19019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1" name="Thread 17 (block 1, warp 0)"/>
          <p:cNvSpPr/>
          <p:nvPr/>
        </p:nvSpPr>
        <p:spPr>
          <a:xfrm>
            <a:off x="19476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2" name="Thread 18 (block 1, warp 0)"/>
          <p:cNvSpPr/>
          <p:nvPr/>
        </p:nvSpPr>
        <p:spPr>
          <a:xfrm>
            <a:off x="19933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3" name="Thread 19 (block 1, warp 0)"/>
          <p:cNvSpPr/>
          <p:nvPr/>
        </p:nvSpPr>
        <p:spPr>
          <a:xfrm>
            <a:off x="20391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4" name="Thread 20 (block 1, warp 0)"/>
          <p:cNvSpPr/>
          <p:nvPr/>
        </p:nvSpPr>
        <p:spPr>
          <a:xfrm>
            <a:off x="20848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5" name="Thread 21 (block 1, warp 0)"/>
          <p:cNvSpPr/>
          <p:nvPr/>
        </p:nvSpPr>
        <p:spPr>
          <a:xfrm>
            <a:off x="21305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6" name="Thread 22 (block 1, warp 0)"/>
          <p:cNvSpPr/>
          <p:nvPr/>
        </p:nvSpPr>
        <p:spPr>
          <a:xfrm>
            <a:off x="21762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7" name="Thread 23 (block 1, warp 0)"/>
          <p:cNvSpPr/>
          <p:nvPr/>
        </p:nvSpPr>
        <p:spPr>
          <a:xfrm>
            <a:off x="22219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8" name="Thread 24 (block 1, warp 0)"/>
          <p:cNvSpPr/>
          <p:nvPr/>
        </p:nvSpPr>
        <p:spPr>
          <a:xfrm>
            <a:off x="19019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29" name="Thread 25 (block 1, warp 0)"/>
          <p:cNvSpPr/>
          <p:nvPr/>
        </p:nvSpPr>
        <p:spPr>
          <a:xfrm>
            <a:off x="19476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0" name="Thread 26 (block 1, warp 0)"/>
          <p:cNvSpPr/>
          <p:nvPr/>
        </p:nvSpPr>
        <p:spPr>
          <a:xfrm>
            <a:off x="19933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1" name="Thread 27 (block 1, warp 0)"/>
          <p:cNvSpPr/>
          <p:nvPr/>
        </p:nvSpPr>
        <p:spPr>
          <a:xfrm>
            <a:off x="20391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2" name="Thread 28 (block 1, warp 0)"/>
          <p:cNvSpPr/>
          <p:nvPr/>
        </p:nvSpPr>
        <p:spPr>
          <a:xfrm>
            <a:off x="20848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3" name="Thread 29 (block 1, warp 0)"/>
          <p:cNvSpPr/>
          <p:nvPr/>
        </p:nvSpPr>
        <p:spPr>
          <a:xfrm>
            <a:off x="21305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4" name="Thread 30 (block 1, warp 0)"/>
          <p:cNvSpPr/>
          <p:nvPr/>
        </p:nvSpPr>
        <p:spPr>
          <a:xfrm>
            <a:off x="21762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5" name="Thread 31 (block 1, warp 0)"/>
          <p:cNvSpPr/>
          <p:nvPr/>
        </p:nvSpPr>
        <p:spPr>
          <a:xfrm>
            <a:off x="22219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6" name="Thread 32 (block 1, warp 1)"/>
          <p:cNvSpPr/>
          <p:nvPr/>
        </p:nvSpPr>
        <p:spPr>
          <a:xfrm>
            <a:off x="19019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7" name="Thread 33 (block 1, warp 1)"/>
          <p:cNvSpPr/>
          <p:nvPr/>
        </p:nvSpPr>
        <p:spPr>
          <a:xfrm>
            <a:off x="19476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8" name="Thread 34 (block 1, warp 1)"/>
          <p:cNvSpPr/>
          <p:nvPr/>
        </p:nvSpPr>
        <p:spPr>
          <a:xfrm>
            <a:off x="19933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39" name="Thread 35 (block 1, warp 1)"/>
          <p:cNvSpPr/>
          <p:nvPr/>
        </p:nvSpPr>
        <p:spPr>
          <a:xfrm>
            <a:off x="20391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0" name="Thread 36 (block 1, warp 1)"/>
          <p:cNvSpPr/>
          <p:nvPr/>
        </p:nvSpPr>
        <p:spPr>
          <a:xfrm>
            <a:off x="20848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1" name="Thread 37 (block 1, warp 1)"/>
          <p:cNvSpPr/>
          <p:nvPr/>
        </p:nvSpPr>
        <p:spPr>
          <a:xfrm>
            <a:off x="21305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2" name="Thread 38 (block 1, warp 1)"/>
          <p:cNvSpPr/>
          <p:nvPr/>
        </p:nvSpPr>
        <p:spPr>
          <a:xfrm>
            <a:off x="21762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3" name="Thread 39 (block 1, warp 1)"/>
          <p:cNvSpPr/>
          <p:nvPr/>
        </p:nvSpPr>
        <p:spPr>
          <a:xfrm>
            <a:off x="22219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4" name="Thread 40 (block 1, warp 1)"/>
          <p:cNvSpPr/>
          <p:nvPr/>
        </p:nvSpPr>
        <p:spPr>
          <a:xfrm>
            <a:off x="19019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5" name="Thread 41 (block 1, warp 1)"/>
          <p:cNvSpPr/>
          <p:nvPr/>
        </p:nvSpPr>
        <p:spPr>
          <a:xfrm>
            <a:off x="19476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6" name="Thread 42 (block 1, warp 1)"/>
          <p:cNvSpPr/>
          <p:nvPr/>
        </p:nvSpPr>
        <p:spPr>
          <a:xfrm>
            <a:off x="19933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7" name="Thread 43 (block 1, warp 1)"/>
          <p:cNvSpPr/>
          <p:nvPr/>
        </p:nvSpPr>
        <p:spPr>
          <a:xfrm>
            <a:off x="20391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8" name="Thread 44 (block 1, warp 1)"/>
          <p:cNvSpPr/>
          <p:nvPr/>
        </p:nvSpPr>
        <p:spPr>
          <a:xfrm>
            <a:off x="20848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49" name="Thread 45 (block 1, warp 1)"/>
          <p:cNvSpPr/>
          <p:nvPr/>
        </p:nvSpPr>
        <p:spPr>
          <a:xfrm>
            <a:off x="21305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0" name="Thread 46 (block 1, warp 1)"/>
          <p:cNvSpPr/>
          <p:nvPr/>
        </p:nvSpPr>
        <p:spPr>
          <a:xfrm>
            <a:off x="21762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1" name="Thread 47 (block 1, warp 1)"/>
          <p:cNvSpPr/>
          <p:nvPr/>
        </p:nvSpPr>
        <p:spPr>
          <a:xfrm>
            <a:off x="22219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2" name="Thread 48 (block 1, warp 1)"/>
          <p:cNvSpPr/>
          <p:nvPr/>
        </p:nvSpPr>
        <p:spPr>
          <a:xfrm>
            <a:off x="19019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3" name="Thread 49 (block 1, warp 1)"/>
          <p:cNvSpPr/>
          <p:nvPr/>
        </p:nvSpPr>
        <p:spPr>
          <a:xfrm>
            <a:off x="19476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4" name="Thread 50 (block 1, warp 1)"/>
          <p:cNvSpPr/>
          <p:nvPr/>
        </p:nvSpPr>
        <p:spPr>
          <a:xfrm>
            <a:off x="19933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5" name="Thread 51 (block 1, warp 1)"/>
          <p:cNvSpPr/>
          <p:nvPr/>
        </p:nvSpPr>
        <p:spPr>
          <a:xfrm>
            <a:off x="20391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6" name="Thread 52 (block 1, warp 1)"/>
          <p:cNvSpPr/>
          <p:nvPr/>
        </p:nvSpPr>
        <p:spPr>
          <a:xfrm>
            <a:off x="20848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7" name="Thread 53 (block 1, warp 1)"/>
          <p:cNvSpPr/>
          <p:nvPr/>
        </p:nvSpPr>
        <p:spPr>
          <a:xfrm>
            <a:off x="21305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8" name="Thread 54 (block 1, warp 1)"/>
          <p:cNvSpPr/>
          <p:nvPr/>
        </p:nvSpPr>
        <p:spPr>
          <a:xfrm>
            <a:off x="21762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9" name="Thread 55 (block 1, warp 1)"/>
          <p:cNvSpPr/>
          <p:nvPr/>
        </p:nvSpPr>
        <p:spPr>
          <a:xfrm>
            <a:off x="22219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0" name="Thread 56 (block 1, warp 1)"/>
          <p:cNvSpPr/>
          <p:nvPr/>
        </p:nvSpPr>
        <p:spPr>
          <a:xfrm>
            <a:off x="19019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1" name="Thread 57 (block 1, warp 1)"/>
          <p:cNvSpPr/>
          <p:nvPr/>
        </p:nvSpPr>
        <p:spPr>
          <a:xfrm>
            <a:off x="19476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2" name="Thread 58 (block 1, warp 1)"/>
          <p:cNvSpPr/>
          <p:nvPr/>
        </p:nvSpPr>
        <p:spPr>
          <a:xfrm>
            <a:off x="19933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3" name="Thread 59 (block 1, warp 1)"/>
          <p:cNvSpPr/>
          <p:nvPr/>
        </p:nvSpPr>
        <p:spPr>
          <a:xfrm>
            <a:off x="20391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4" name="Thread 60 (block 1, warp 1)"/>
          <p:cNvSpPr/>
          <p:nvPr/>
        </p:nvSpPr>
        <p:spPr>
          <a:xfrm>
            <a:off x="20848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5" name="Thread 61 (block 1, warp 1)"/>
          <p:cNvSpPr/>
          <p:nvPr/>
        </p:nvSpPr>
        <p:spPr>
          <a:xfrm>
            <a:off x="21305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6" name="Thread 62 (block 1, warp 1)"/>
          <p:cNvSpPr/>
          <p:nvPr/>
        </p:nvSpPr>
        <p:spPr>
          <a:xfrm>
            <a:off x="21762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7" name="Thread 63 (block 1, warp 1)"/>
          <p:cNvSpPr/>
          <p:nvPr/>
        </p:nvSpPr>
        <p:spPr>
          <a:xfrm>
            <a:off x="22219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8" name="Thread 64 (block 1, warp 2)"/>
          <p:cNvSpPr/>
          <p:nvPr/>
        </p:nvSpPr>
        <p:spPr>
          <a:xfrm>
            <a:off x="19019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9" name="Thread 65 (block 1, warp 2)"/>
          <p:cNvSpPr/>
          <p:nvPr/>
        </p:nvSpPr>
        <p:spPr>
          <a:xfrm>
            <a:off x="19476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0" name="Thread 66 (block 1, warp 2)"/>
          <p:cNvSpPr/>
          <p:nvPr/>
        </p:nvSpPr>
        <p:spPr>
          <a:xfrm>
            <a:off x="19933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1" name="Thread 67 (block 1, warp 2)"/>
          <p:cNvSpPr/>
          <p:nvPr/>
        </p:nvSpPr>
        <p:spPr>
          <a:xfrm>
            <a:off x="20391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2" name="Thread 68 (block 1, warp 2)"/>
          <p:cNvSpPr/>
          <p:nvPr/>
        </p:nvSpPr>
        <p:spPr>
          <a:xfrm>
            <a:off x="20848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3" name="Thread 69 (block 1, warp 2)"/>
          <p:cNvSpPr/>
          <p:nvPr/>
        </p:nvSpPr>
        <p:spPr>
          <a:xfrm>
            <a:off x="21305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4" name="Thread 70 (block 1, warp 2)"/>
          <p:cNvSpPr/>
          <p:nvPr/>
        </p:nvSpPr>
        <p:spPr>
          <a:xfrm>
            <a:off x="21762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5" name="Thread 71 (block 1, warp 2)"/>
          <p:cNvSpPr/>
          <p:nvPr/>
        </p:nvSpPr>
        <p:spPr>
          <a:xfrm>
            <a:off x="22219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6" name="Thread 72 (block 1, warp 2)"/>
          <p:cNvSpPr/>
          <p:nvPr/>
        </p:nvSpPr>
        <p:spPr>
          <a:xfrm>
            <a:off x="19019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7" name="Thread 73 (block 1, warp 2)"/>
          <p:cNvSpPr/>
          <p:nvPr/>
        </p:nvSpPr>
        <p:spPr>
          <a:xfrm>
            <a:off x="19476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8" name="Thread 74 (block 1, warp 2)"/>
          <p:cNvSpPr/>
          <p:nvPr/>
        </p:nvSpPr>
        <p:spPr>
          <a:xfrm>
            <a:off x="19933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9" name="Thread 75 (block 1, warp 2)"/>
          <p:cNvSpPr/>
          <p:nvPr/>
        </p:nvSpPr>
        <p:spPr>
          <a:xfrm>
            <a:off x="20391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0" name="Thread 76 (block 1, warp 2)"/>
          <p:cNvSpPr/>
          <p:nvPr/>
        </p:nvSpPr>
        <p:spPr>
          <a:xfrm>
            <a:off x="20848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1" name="Thread 77 (block 1, warp 2)"/>
          <p:cNvSpPr/>
          <p:nvPr/>
        </p:nvSpPr>
        <p:spPr>
          <a:xfrm>
            <a:off x="21305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2" name="Thread 78 (block 1, warp 2)"/>
          <p:cNvSpPr/>
          <p:nvPr/>
        </p:nvSpPr>
        <p:spPr>
          <a:xfrm>
            <a:off x="21762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3" name="Thread 79 (block 1, warp 2)"/>
          <p:cNvSpPr/>
          <p:nvPr/>
        </p:nvSpPr>
        <p:spPr>
          <a:xfrm>
            <a:off x="22219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4" name="Thread 80 (block 1, warp 2)"/>
          <p:cNvSpPr/>
          <p:nvPr/>
        </p:nvSpPr>
        <p:spPr>
          <a:xfrm>
            <a:off x="19019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5" name="Thread 81 (block 1, warp 2)"/>
          <p:cNvSpPr/>
          <p:nvPr/>
        </p:nvSpPr>
        <p:spPr>
          <a:xfrm>
            <a:off x="19476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6" name="Thread 82 (block 1, warp 2)"/>
          <p:cNvSpPr/>
          <p:nvPr/>
        </p:nvSpPr>
        <p:spPr>
          <a:xfrm>
            <a:off x="19933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7" name="Thread 83 (block 1, warp 2)"/>
          <p:cNvSpPr/>
          <p:nvPr/>
        </p:nvSpPr>
        <p:spPr>
          <a:xfrm>
            <a:off x="20391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8" name="Thread 84 (block 1, warp 2)"/>
          <p:cNvSpPr/>
          <p:nvPr/>
        </p:nvSpPr>
        <p:spPr>
          <a:xfrm>
            <a:off x="20848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9" name="Thread 85 (block 1, warp 2)"/>
          <p:cNvSpPr/>
          <p:nvPr/>
        </p:nvSpPr>
        <p:spPr>
          <a:xfrm>
            <a:off x="21305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0" name="Thread 86 (block 1, warp 2)"/>
          <p:cNvSpPr/>
          <p:nvPr/>
        </p:nvSpPr>
        <p:spPr>
          <a:xfrm>
            <a:off x="21762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1" name="Thread 87 (block 1, warp 2)"/>
          <p:cNvSpPr/>
          <p:nvPr/>
        </p:nvSpPr>
        <p:spPr>
          <a:xfrm>
            <a:off x="22219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2" name="Thread 88 (block 1, warp 2)"/>
          <p:cNvSpPr/>
          <p:nvPr/>
        </p:nvSpPr>
        <p:spPr>
          <a:xfrm>
            <a:off x="19019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3" name="Thread 89 (block 1, warp 2)"/>
          <p:cNvSpPr/>
          <p:nvPr/>
        </p:nvSpPr>
        <p:spPr>
          <a:xfrm>
            <a:off x="19476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4" name="Thread 90 (block 1, warp 2)"/>
          <p:cNvSpPr/>
          <p:nvPr/>
        </p:nvSpPr>
        <p:spPr>
          <a:xfrm>
            <a:off x="19933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5" name="Thread 91 (block 1, warp 2)"/>
          <p:cNvSpPr/>
          <p:nvPr/>
        </p:nvSpPr>
        <p:spPr>
          <a:xfrm>
            <a:off x="20391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6" name="Thread 92 (block 1, warp 2)"/>
          <p:cNvSpPr/>
          <p:nvPr/>
        </p:nvSpPr>
        <p:spPr>
          <a:xfrm>
            <a:off x="20848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7" name="Thread 93 (block 1, warp 2)"/>
          <p:cNvSpPr/>
          <p:nvPr/>
        </p:nvSpPr>
        <p:spPr>
          <a:xfrm>
            <a:off x="21305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8" name="Thread 94 (block 1, warp 2)"/>
          <p:cNvSpPr/>
          <p:nvPr/>
        </p:nvSpPr>
        <p:spPr>
          <a:xfrm>
            <a:off x="21762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9" name="Thread 95 (block 1, warp 2)"/>
          <p:cNvSpPr/>
          <p:nvPr/>
        </p:nvSpPr>
        <p:spPr>
          <a:xfrm>
            <a:off x="22219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0" name="Thread 96 (block 1, warp 3)"/>
          <p:cNvSpPr/>
          <p:nvPr/>
        </p:nvSpPr>
        <p:spPr>
          <a:xfrm>
            <a:off x="19019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1" name="Thread 97 (block 1, warp 3)"/>
          <p:cNvSpPr/>
          <p:nvPr/>
        </p:nvSpPr>
        <p:spPr>
          <a:xfrm>
            <a:off x="19476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2" name="Thread 98 (block 1, warp 3)"/>
          <p:cNvSpPr/>
          <p:nvPr/>
        </p:nvSpPr>
        <p:spPr>
          <a:xfrm>
            <a:off x="19933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3" name="Thread 99 (block 1, warp 3)"/>
          <p:cNvSpPr/>
          <p:nvPr/>
        </p:nvSpPr>
        <p:spPr>
          <a:xfrm>
            <a:off x="20391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4" name="Thread 100 (block 1, warp 3)"/>
          <p:cNvSpPr/>
          <p:nvPr/>
        </p:nvSpPr>
        <p:spPr>
          <a:xfrm>
            <a:off x="20848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5" name="Thread 101 (block 1, warp 3)"/>
          <p:cNvSpPr/>
          <p:nvPr/>
        </p:nvSpPr>
        <p:spPr>
          <a:xfrm>
            <a:off x="21305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6" name="Thread 102 (block 1, warp 3)"/>
          <p:cNvSpPr/>
          <p:nvPr/>
        </p:nvSpPr>
        <p:spPr>
          <a:xfrm>
            <a:off x="21762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7" name="Thread 103 (block 1, warp 3)"/>
          <p:cNvSpPr/>
          <p:nvPr/>
        </p:nvSpPr>
        <p:spPr>
          <a:xfrm>
            <a:off x="22219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8" name="Thread 104 (block 1, warp 3)"/>
          <p:cNvSpPr/>
          <p:nvPr/>
        </p:nvSpPr>
        <p:spPr>
          <a:xfrm>
            <a:off x="19019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9" name="Thread 105 (block 1, warp 3)"/>
          <p:cNvSpPr/>
          <p:nvPr/>
        </p:nvSpPr>
        <p:spPr>
          <a:xfrm>
            <a:off x="19476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0" name="Thread 106 (block 1, warp 3)"/>
          <p:cNvSpPr/>
          <p:nvPr/>
        </p:nvSpPr>
        <p:spPr>
          <a:xfrm>
            <a:off x="19933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1" name="Thread 107 (block 1, warp 3)"/>
          <p:cNvSpPr/>
          <p:nvPr/>
        </p:nvSpPr>
        <p:spPr>
          <a:xfrm>
            <a:off x="20391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2" name="Thread 108 (block 1, warp 3)"/>
          <p:cNvSpPr/>
          <p:nvPr/>
        </p:nvSpPr>
        <p:spPr>
          <a:xfrm>
            <a:off x="20848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3" name="Thread 109 (block 1, warp 3)"/>
          <p:cNvSpPr/>
          <p:nvPr/>
        </p:nvSpPr>
        <p:spPr>
          <a:xfrm>
            <a:off x="21305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4" name="Thread 110 (block 1, warp 3)"/>
          <p:cNvSpPr/>
          <p:nvPr/>
        </p:nvSpPr>
        <p:spPr>
          <a:xfrm>
            <a:off x="21762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5" name="Thread 111 (block 1, warp 3)"/>
          <p:cNvSpPr/>
          <p:nvPr/>
        </p:nvSpPr>
        <p:spPr>
          <a:xfrm>
            <a:off x="22219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6" name="Thread 112 (block 1, warp 3)"/>
          <p:cNvSpPr/>
          <p:nvPr/>
        </p:nvSpPr>
        <p:spPr>
          <a:xfrm>
            <a:off x="19019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7" name="Thread 113 (block 1, warp 3)"/>
          <p:cNvSpPr/>
          <p:nvPr/>
        </p:nvSpPr>
        <p:spPr>
          <a:xfrm>
            <a:off x="19476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8" name="Thread 114 (block 1, warp 3)"/>
          <p:cNvSpPr/>
          <p:nvPr/>
        </p:nvSpPr>
        <p:spPr>
          <a:xfrm>
            <a:off x="19933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9" name="Thread 115 (block 1, warp 3)"/>
          <p:cNvSpPr/>
          <p:nvPr/>
        </p:nvSpPr>
        <p:spPr>
          <a:xfrm>
            <a:off x="20391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0" name="Thread 116 (block 1, warp 3)"/>
          <p:cNvSpPr/>
          <p:nvPr/>
        </p:nvSpPr>
        <p:spPr>
          <a:xfrm>
            <a:off x="20848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1" name="Thread 117 (block 1, warp 3)"/>
          <p:cNvSpPr/>
          <p:nvPr/>
        </p:nvSpPr>
        <p:spPr>
          <a:xfrm>
            <a:off x="21305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2" name="Thread 118 (block 1, warp 3)"/>
          <p:cNvSpPr/>
          <p:nvPr/>
        </p:nvSpPr>
        <p:spPr>
          <a:xfrm>
            <a:off x="21762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3" name="Thread 119 (block 1, warp 3)"/>
          <p:cNvSpPr/>
          <p:nvPr/>
        </p:nvSpPr>
        <p:spPr>
          <a:xfrm>
            <a:off x="22219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4" name="Thread 120 (block 1, warp 3)"/>
          <p:cNvSpPr/>
          <p:nvPr/>
        </p:nvSpPr>
        <p:spPr>
          <a:xfrm>
            <a:off x="19019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5" name="Thread 121 (block 1, warp 3)"/>
          <p:cNvSpPr/>
          <p:nvPr/>
        </p:nvSpPr>
        <p:spPr>
          <a:xfrm>
            <a:off x="19476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6" name="Thread 122 (block 1, warp 3)"/>
          <p:cNvSpPr/>
          <p:nvPr/>
        </p:nvSpPr>
        <p:spPr>
          <a:xfrm>
            <a:off x="19933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7" name="Thread 123 (block 1, warp 3)"/>
          <p:cNvSpPr/>
          <p:nvPr/>
        </p:nvSpPr>
        <p:spPr>
          <a:xfrm>
            <a:off x="20391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8" name="Thread 124 (block 1, warp 3)"/>
          <p:cNvSpPr/>
          <p:nvPr/>
        </p:nvSpPr>
        <p:spPr>
          <a:xfrm>
            <a:off x="20848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9" name="Thread 125 (block 1, warp 3)"/>
          <p:cNvSpPr/>
          <p:nvPr/>
        </p:nvSpPr>
        <p:spPr>
          <a:xfrm>
            <a:off x="21305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0" name="Thread 126 (block 1, warp 3)"/>
          <p:cNvSpPr/>
          <p:nvPr/>
        </p:nvSpPr>
        <p:spPr>
          <a:xfrm>
            <a:off x="21762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1" name="Thread 127 (block 1, warp 3)"/>
          <p:cNvSpPr/>
          <p:nvPr/>
        </p:nvSpPr>
        <p:spPr>
          <a:xfrm>
            <a:off x="22219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2" name="Upper boundary: block"/>
          <p:cNvSpPr/>
          <p:nvPr/>
        </p:nvSpPr>
        <p:spPr>
          <a:xfrm>
            <a:off x="132588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533" name="Threads in the first + third warps"/>
          <p:cNvSpPr/>
          <p:nvPr/>
        </p:nvSpPr>
        <p:spPr>
          <a:xfrm>
            <a:off x="132588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Threads in the first + third warps</a:t>
            </a:r>
          </a:p>
        </p:txBody>
      </p:sp>
      <p:sp>
        <p:nvSpPr>
          <p:cNvPr id="534" name="Shape"/>
          <p:cNvSpPr/>
          <p:nvPr/>
        </p:nvSpPr>
        <p:spPr>
          <a:xfrm>
            <a:off x="24231600" y="544068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535" name="CCCL&#10;Cooperative Groups"/>
          <p:cNvSpPr/>
          <p:nvPr/>
        </p:nvSpPr>
        <p:spPr>
          <a:xfrm>
            <a:off x="24734520" y="6080760"/>
            <a:ext cx="97155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Cooperative Groups</a:t>
            </a:r>
          </a:p>
        </p:txBody>
      </p:sp>
      <p:sp>
        <p:nvSpPr>
          <p:cNvPr id="536" name="Block 0"/>
          <p:cNvSpPr/>
          <p:nvPr/>
        </p:nvSpPr>
        <p:spPr>
          <a:xfrm>
            <a:off x="2473452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537" name="Block 0: 128 threads"/>
          <p:cNvSpPr/>
          <p:nvPr/>
        </p:nvSpPr>
        <p:spPr>
          <a:xfrm>
            <a:off x="2473452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538" name="Upper boundary: block 0"/>
          <p:cNvSpPr/>
          <p:nvPr/>
        </p:nvSpPr>
        <p:spPr>
          <a:xfrm>
            <a:off x="24574500" y="8595360"/>
            <a:ext cx="4434840" cy="80924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539" name="Selected warp 0: 32-thread unit"/>
          <p:cNvSpPr/>
          <p:nvPr/>
        </p:nvSpPr>
        <p:spPr>
          <a:xfrm>
            <a:off x="24894540" y="898398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0" name="Selected warp 2: 32-thread unit"/>
          <p:cNvSpPr/>
          <p:nvPr/>
        </p:nvSpPr>
        <p:spPr>
          <a:xfrm>
            <a:off x="24894540" y="12687300"/>
            <a:ext cx="3794760" cy="171450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45720">
            <a:solidFill>
              <a:schemeClr val="accent1">
                <a:shade val="65000"/>
              </a:schemeClr>
            </a:solidFill>
          </a:ln>
        </p:spPr>
      </p:sp>
      <p:sp>
        <p:nvSpPr>
          <p:cNvPr id="541" name="Thread 0 (block 0, warp 0) selected"/>
          <p:cNvSpPr/>
          <p:nvPr/>
        </p:nvSpPr>
        <p:spPr>
          <a:xfrm>
            <a:off x="25054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2" name="Thread 1 (block 0, warp 0) selected"/>
          <p:cNvSpPr/>
          <p:nvPr/>
        </p:nvSpPr>
        <p:spPr>
          <a:xfrm>
            <a:off x="25511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3" name="Thread 2 (block 0, warp 0) selected"/>
          <p:cNvSpPr/>
          <p:nvPr/>
        </p:nvSpPr>
        <p:spPr>
          <a:xfrm>
            <a:off x="25968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4" name="Thread 3 (block 0, warp 0) selected"/>
          <p:cNvSpPr/>
          <p:nvPr/>
        </p:nvSpPr>
        <p:spPr>
          <a:xfrm>
            <a:off x="264261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5" name="Thread 4 (block 0, warp 0) selected"/>
          <p:cNvSpPr/>
          <p:nvPr/>
        </p:nvSpPr>
        <p:spPr>
          <a:xfrm>
            <a:off x="268833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6" name="Thread 5 (block 0, warp 0) selected"/>
          <p:cNvSpPr/>
          <p:nvPr/>
        </p:nvSpPr>
        <p:spPr>
          <a:xfrm>
            <a:off x="273405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7" name="Thread 6 (block 0, warp 0) selected"/>
          <p:cNvSpPr/>
          <p:nvPr/>
        </p:nvSpPr>
        <p:spPr>
          <a:xfrm>
            <a:off x="277977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8" name="Thread 7 (block 0, warp 0) selected"/>
          <p:cNvSpPr/>
          <p:nvPr/>
        </p:nvSpPr>
        <p:spPr>
          <a:xfrm>
            <a:off x="28254960" y="91668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9" name="Thread 8 (block 0, warp 0) selected"/>
          <p:cNvSpPr/>
          <p:nvPr/>
        </p:nvSpPr>
        <p:spPr>
          <a:xfrm>
            <a:off x="25054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0" name="Thread 9 (block 0, warp 0) selected"/>
          <p:cNvSpPr/>
          <p:nvPr/>
        </p:nvSpPr>
        <p:spPr>
          <a:xfrm>
            <a:off x="25511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1" name="Thread 10 (block 0, warp 0) selected"/>
          <p:cNvSpPr/>
          <p:nvPr/>
        </p:nvSpPr>
        <p:spPr>
          <a:xfrm>
            <a:off x="25968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2" name="Thread 11 (block 0, warp 0) selected"/>
          <p:cNvSpPr/>
          <p:nvPr/>
        </p:nvSpPr>
        <p:spPr>
          <a:xfrm>
            <a:off x="264261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3" name="Thread 12 (block 0, warp 0) selected"/>
          <p:cNvSpPr/>
          <p:nvPr/>
        </p:nvSpPr>
        <p:spPr>
          <a:xfrm>
            <a:off x="268833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4" name="Thread 13 (block 0, warp 0) selected"/>
          <p:cNvSpPr/>
          <p:nvPr/>
        </p:nvSpPr>
        <p:spPr>
          <a:xfrm>
            <a:off x="273405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5" name="Thread 14 (block 0, warp 0) selected"/>
          <p:cNvSpPr/>
          <p:nvPr/>
        </p:nvSpPr>
        <p:spPr>
          <a:xfrm>
            <a:off x="277977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6" name="Thread 15 (block 0, warp 0) selected"/>
          <p:cNvSpPr/>
          <p:nvPr/>
        </p:nvSpPr>
        <p:spPr>
          <a:xfrm>
            <a:off x="28254960" y="95783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7" name="Thread 16 (block 0, warp 0) selected"/>
          <p:cNvSpPr/>
          <p:nvPr/>
        </p:nvSpPr>
        <p:spPr>
          <a:xfrm>
            <a:off x="25054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8" name="Thread 17 (block 0, warp 0) selected"/>
          <p:cNvSpPr/>
          <p:nvPr/>
        </p:nvSpPr>
        <p:spPr>
          <a:xfrm>
            <a:off x="25511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9" name="Thread 18 (block 0, warp 0) selected"/>
          <p:cNvSpPr/>
          <p:nvPr/>
        </p:nvSpPr>
        <p:spPr>
          <a:xfrm>
            <a:off x="25968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0" name="Thread 19 (block 0, warp 0) selected"/>
          <p:cNvSpPr/>
          <p:nvPr/>
        </p:nvSpPr>
        <p:spPr>
          <a:xfrm>
            <a:off x="264261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1" name="Thread 20 (block 0, warp 0) selected"/>
          <p:cNvSpPr/>
          <p:nvPr/>
        </p:nvSpPr>
        <p:spPr>
          <a:xfrm>
            <a:off x="268833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2" name="Thread 21 (block 0, warp 0) selected"/>
          <p:cNvSpPr/>
          <p:nvPr/>
        </p:nvSpPr>
        <p:spPr>
          <a:xfrm>
            <a:off x="273405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3" name="Thread 22 (block 0, warp 0) selected"/>
          <p:cNvSpPr/>
          <p:nvPr/>
        </p:nvSpPr>
        <p:spPr>
          <a:xfrm>
            <a:off x="277977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4" name="Thread 23 (block 0, warp 0) selected"/>
          <p:cNvSpPr/>
          <p:nvPr/>
        </p:nvSpPr>
        <p:spPr>
          <a:xfrm>
            <a:off x="28254960" y="99898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5" name="Thread 24 (block 0, warp 0) selected"/>
          <p:cNvSpPr/>
          <p:nvPr/>
        </p:nvSpPr>
        <p:spPr>
          <a:xfrm>
            <a:off x="25054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6" name="Thread 25 (block 0, warp 0) selected"/>
          <p:cNvSpPr/>
          <p:nvPr/>
        </p:nvSpPr>
        <p:spPr>
          <a:xfrm>
            <a:off x="25511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7" name="Thread 26 (block 0, warp 0) selected"/>
          <p:cNvSpPr/>
          <p:nvPr/>
        </p:nvSpPr>
        <p:spPr>
          <a:xfrm>
            <a:off x="25968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8" name="Thread 27 (block 0, warp 0) selected"/>
          <p:cNvSpPr/>
          <p:nvPr/>
        </p:nvSpPr>
        <p:spPr>
          <a:xfrm>
            <a:off x="264261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9" name="Thread 28 (block 0, warp 0) selected"/>
          <p:cNvSpPr/>
          <p:nvPr/>
        </p:nvSpPr>
        <p:spPr>
          <a:xfrm>
            <a:off x="268833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0" name="Thread 29 (block 0, warp 0) selected"/>
          <p:cNvSpPr/>
          <p:nvPr/>
        </p:nvSpPr>
        <p:spPr>
          <a:xfrm>
            <a:off x="273405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1" name="Thread 30 (block 0, warp 0) selected"/>
          <p:cNvSpPr/>
          <p:nvPr/>
        </p:nvSpPr>
        <p:spPr>
          <a:xfrm>
            <a:off x="277977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2" name="Thread 31 (block 0, warp 0) selected"/>
          <p:cNvSpPr/>
          <p:nvPr/>
        </p:nvSpPr>
        <p:spPr>
          <a:xfrm>
            <a:off x="28254960" y="1040130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3" name="Thread 32 (block 0, warp 1)"/>
          <p:cNvSpPr/>
          <p:nvPr/>
        </p:nvSpPr>
        <p:spPr>
          <a:xfrm>
            <a:off x="25054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4" name="Thread 33 (block 0, warp 1)"/>
          <p:cNvSpPr/>
          <p:nvPr/>
        </p:nvSpPr>
        <p:spPr>
          <a:xfrm>
            <a:off x="25511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5" name="Thread 34 (block 0, warp 1)"/>
          <p:cNvSpPr/>
          <p:nvPr/>
        </p:nvSpPr>
        <p:spPr>
          <a:xfrm>
            <a:off x="25968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6" name="Thread 35 (block 0, warp 1)"/>
          <p:cNvSpPr/>
          <p:nvPr/>
        </p:nvSpPr>
        <p:spPr>
          <a:xfrm>
            <a:off x="264261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7" name="Thread 36 (block 0, warp 1)"/>
          <p:cNvSpPr/>
          <p:nvPr/>
        </p:nvSpPr>
        <p:spPr>
          <a:xfrm>
            <a:off x="268833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8" name="Thread 37 (block 0, warp 1)"/>
          <p:cNvSpPr/>
          <p:nvPr/>
        </p:nvSpPr>
        <p:spPr>
          <a:xfrm>
            <a:off x="273405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9" name="Thread 38 (block 0, warp 1)"/>
          <p:cNvSpPr/>
          <p:nvPr/>
        </p:nvSpPr>
        <p:spPr>
          <a:xfrm>
            <a:off x="277977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0" name="Thread 39 (block 0, warp 1)"/>
          <p:cNvSpPr/>
          <p:nvPr/>
        </p:nvSpPr>
        <p:spPr>
          <a:xfrm>
            <a:off x="2825496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1" name="Thread 40 (block 0, warp 1)"/>
          <p:cNvSpPr/>
          <p:nvPr/>
        </p:nvSpPr>
        <p:spPr>
          <a:xfrm>
            <a:off x="25054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2" name="Thread 41 (block 0, warp 1)"/>
          <p:cNvSpPr/>
          <p:nvPr/>
        </p:nvSpPr>
        <p:spPr>
          <a:xfrm>
            <a:off x="25511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3" name="Thread 42 (block 0, warp 1)"/>
          <p:cNvSpPr/>
          <p:nvPr/>
        </p:nvSpPr>
        <p:spPr>
          <a:xfrm>
            <a:off x="25968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4" name="Thread 43 (block 0, warp 1)"/>
          <p:cNvSpPr/>
          <p:nvPr/>
        </p:nvSpPr>
        <p:spPr>
          <a:xfrm>
            <a:off x="264261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5" name="Thread 44 (block 0, warp 1)"/>
          <p:cNvSpPr/>
          <p:nvPr/>
        </p:nvSpPr>
        <p:spPr>
          <a:xfrm>
            <a:off x="268833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6" name="Thread 45 (block 0, warp 1)"/>
          <p:cNvSpPr/>
          <p:nvPr/>
        </p:nvSpPr>
        <p:spPr>
          <a:xfrm>
            <a:off x="273405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7" name="Thread 46 (block 0, warp 1)"/>
          <p:cNvSpPr/>
          <p:nvPr/>
        </p:nvSpPr>
        <p:spPr>
          <a:xfrm>
            <a:off x="277977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8" name="Thread 47 (block 0, warp 1)"/>
          <p:cNvSpPr/>
          <p:nvPr/>
        </p:nvSpPr>
        <p:spPr>
          <a:xfrm>
            <a:off x="2825496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9" name="Thread 48 (block 0, warp 1)"/>
          <p:cNvSpPr/>
          <p:nvPr/>
        </p:nvSpPr>
        <p:spPr>
          <a:xfrm>
            <a:off x="25054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0" name="Thread 49 (block 0, warp 1)"/>
          <p:cNvSpPr/>
          <p:nvPr/>
        </p:nvSpPr>
        <p:spPr>
          <a:xfrm>
            <a:off x="25511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1" name="Thread 50 (block 0, warp 1)"/>
          <p:cNvSpPr/>
          <p:nvPr/>
        </p:nvSpPr>
        <p:spPr>
          <a:xfrm>
            <a:off x="25968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2" name="Thread 51 (block 0, warp 1)"/>
          <p:cNvSpPr/>
          <p:nvPr/>
        </p:nvSpPr>
        <p:spPr>
          <a:xfrm>
            <a:off x="264261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3" name="Thread 52 (block 0, warp 1)"/>
          <p:cNvSpPr/>
          <p:nvPr/>
        </p:nvSpPr>
        <p:spPr>
          <a:xfrm>
            <a:off x="268833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4" name="Thread 53 (block 0, warp 1)"/>
          <p:cNvSpPr/>
          <p:nvPr/>
        </p:nvSpPr>
        <p:spPr>
          <a:xfrm>
            <a:off x="273405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5" name="Thread 54 (block 0, warp 1)"/>
          <p:cNvSpPr/>
          <p:nvPr/>
        </p:nvSpPr>
        <p:spPr>
          <a:xfrm>
            <a:off x="277977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6" name="Thread 55 (block 0, warp 1)"/>
          <p:cNvSpPr/>
          <p:nvPr/>
        </p:nvSpPr>
        <p:spPr>
          <a:xfrm>
            <a:off x="2825496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7" name="Thread 56 (block 0, warp 1)"/>
          <p:cNvSpPr/>
          <p:nvPr/>
        </p:nvSpPr>
        <p:spPr>
          <a:xfrm>
            <a:off x="25054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8" name="Thread 57 (block 0, warp 1)"/>
          <p:cNvSpPr/>
          <p:nvPr/>
        </p:nvSpPr>
        <p:spPr>
          <a:xfrm>
            <a:off x="25511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9" name="Thread 58 (block 0, warp 1)"/>
          <p:cNvSpPr/>
          <p:nvPr/>
        </p:nvSpPr>
        <p:spPr>
          <a:xfrm>
            <a:off x="25968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0" name="Thread 59 (block 0, warp 1)"/>
          <p:cNvSpPr/>
          <p:nvPr/>
        </p:nvSpPr>
        <p:spPr>
          <a:xfrm>
            <a:off x="264261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1" name="Thread 60 (block 0, warp 1)"/>
          <p:cNvSpPr/>
          <p:nvPr/>
        </p:nvSpPr>
        <p:spPr>
          <a:xfrm>
            <a:off x="268833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2" name="Thread 61 (block 0, warp 1)"/>
          <p:cNvSpPr/>
          <p:nvPr/>
        </p:nvSpPr>
        <p:spPr>
          <a:xfrm>
            <a:off x="273405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3" name="Thread 62 (block 0, warp 1)"/>
          <p:cNvSpPr/>
          <p:nvPr/>
        </p:nvSpPr>
        <p:spPr>
          <a:xfrm>
            <a:off x="277977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4" name="Thread 63 (block 0, warp 1)"/>
          <p:cNvSpPr/>
          <p:nvPr/>
        </p:nvSpPr>
        <p:spPr>
          <a:xfrm>
            <a:off x="2825496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5" name="Thread 64 (block 0, warp 2) selected"/>
          <p:cNvSpPr/>
          <p:nvPr/>
        </p:nvSpPr>
        <p:spPr>
          <a:xfrm>
            <a:off x="25054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6" name="Thread 65 (block 0, warp 2) selected"/>
          <p:cNvSpPr/>
          <p:nvPr/>
        </p:nvSpPr>
        <p:spPr>
          <a:xfrm>
            <a:off x="25511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7" name="Thread 66 (block 0, warp 2) selected"/>
          <p:cNvSpPr/>
          <p:nvPr/>
        </p:nvSpPr>
        <p:spPr>
          <a:xfrm>
            <a:off x="25968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8" name="Thread 67 (block 0, warp 2) selected"/>
          <p:cNvSpPr/>
          <p:nvPr/>
        </p:nvSpPr>
        <p:spPr>
          <a:xfrm>
            <a:off x="264261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9" name="Thread 68 (block 0, warp 2) selected"/>
          <p:cNvSpPr/>
          <p:nvPr/>
        </p:nvSpPr>
        <p:spPr>
          <a:xfrm>
            <a:off x="268833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0" name="Thread 69 (block 0, warp 2) selected"/>
          <p:cNvSpPr/>
          <p:nvPr/>
        </p:nvSpPr>
        <p:spPr>
          <a:xfrm>
            <a:off x="273405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1" name="Thread 70 (block 0, warp 2) selected"/>
          <p:cNvSpPr/>
          <p:nvPr/>
        </p:nvSpPr>
        <p:spPr>
          <a:xfrm>
            <a:off x="277977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2" name="Thread 71 (block 0, warp 2) selected"/>
          <p:cNvSpPr/>
          <p:nvPr/>
        </p:nvSpPr>
        <p:spPr>
          <a:xfrm>
            <a:off x="28254960" y="1287018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3" name="Thread 72 (block 0, warp 2) selected"/>
          <p:cNvSpPr/>
          <p:nvPr/>
        </p:nvSpPr>
        <p:spPr>
          <a:xfrm>
            <a:off x="25054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4" name="Thread 73 (block 0, warp 2) selected"/>
          <p:cNvSpPr/>
          <p:nvPr/>
        </p:nvSpPr>
        <p:spPr>
          <a:xfrm>
            <a:off x="25511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5" name="Thread 74 (block 0, warp 2) selected"/>
          <p:cNvSpPr/>
          <p:nvPr/>
        </p:nvSpPr>
        <p:spPr>
          <a:xfrm>
            <a:off x="25968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6" name="Thread 75 (block 0, warp 2) selected"/>
          <p:cNvSpPr/>
          <p:nvPr/>
        </p:nvSpPr>
        <p:spPr>
          <a:xfrm>
            <a:off x="264261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7" name="Thread 76 (block 0, warp 2) selected"/>
          <p:cNvSpPr/>
          <p:nvPr/>
        </p:nvSpPr>
        <p:spPr>
          <a:xfrm>
            <a:off x="268833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8" name="Thread 77 (block 0, warp 2) selected"/>
          <p:cNvSpPr/>
          <p:nvPr/>
        </p:nvSpPr>
        <p:spPr>
          <a:xfrm>
            <a:off x="273405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9" name="Thread 78 (block 0, warp 2) selected"/>
          <p:cNvSpPr/>
          <p:nvPr/>
        </p:nvSpPr>
        <p:spPr>
          <a:xfrm>
            <a:off x="277977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0" name="Thread 79 (block 0, warp 2) selected"/>
          <p:cNvSpPr/>
          <p:nvPr/>
        </p:nvSpPr>
        <p:spPr>
          <a:xfrm>
            <a:off x="28254960" y="132816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1" name="Thread 80 (block 0, warp 2) selected"/>
          <p:cNvSpPr/>
          <p:nvPr/>
        </p:nvSpPr>
        <p:spPr>
          <a:xfrm>
            <a:off x="25054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2" name="Thread 81 (block 0, warp 2) selected"/>
          <p:cNvSpPr/>
          <p:nvPr/>
        </p:nvSpPr>
        <p:spPr>
          <a:xfrm>
            <a:off x="25511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3" name="Thread 82 (block 0, warp 2) selected"/>
          <p:cNvSpPr/>
          <p:nvPr/>
        </p:nvSpPr>
        <p:spPr>
          <a:xfrm>
            <a:off x="25968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4" name="Thread 83 (block 0, warp 2) selected"/>
          <p:cNvSpPr/>
          <p:nvPr/>
        </p:nvSpPr>
        <p:spPr>
          <a:xfrm>
            <a:off x="264261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5" name="Thread 84 (block 0, warp 2) selected"/>
          <p:cNvSpPr/>
          <p:nvPr/>
        </p:nvSpPr>
        <p:spPr>
          <a:xfrm>
            <a:off x="268833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6" name="Thread 85 (block 0, warp 2) selected"/>
          <p:cNvSpPr/>
          <p:nvPr/>
        </p:nvSpPr>
        <p:spPr>
          <a:xfrm>
            <a:off x="273405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7" name="Thread 86 (block 0, warp 2) selected"/>
          <p:cNvSpPr/>
          <p:nvPr/>
        </p:nvSpPr>
        <p:spPr>
          <a:xfrm>
            <a:off x="277977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8" name="Thread 87 (block 0, warp 2) selected"/>
          <p:cNvSpPr/>
          <p:nvPr/>
        </p:nvSpPr>
        <p:spPr>
          <a:xfrm>
            <a:off x="28254960" y="1369314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9" name="Thread 88 (block 0, warp 2) selected"/>
          <p:cNvSpPr/>
          <p:nvPr/>
        </p:nvSpPr>
        <p:spPr>
          <a:xfrm>
            <a:off x="25054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0" name="Thread 89 (block 0, warp 2) selected"/>
          <p:cNvSpPr/>
          <p:nvPr/>
        </p:nvSpPr>
        <p:spPr>
          <a:xfrm>
            <a:off x="25511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1" name="Thread 90 (block 0, warp 2) selected"/>
          <p:cNvSpPr/>
          <p:nvPr/>
        </p:nvSpPr>
        <p:spPr>
          <a:xfrm>
            <a:off x="25968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2" name="Thread 91 (block 0, warp 2) selected"/>
          <p:cNvSpPr/>
          <p:nvPr/>
        </p:nvSpPr>
        <p:spPr>
          <a:xfrm>
            <a:off x="264261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3" name="Thread 92 (block 0, warp 2) selected"/>
          <p:cNvSpPr/>
          <p:nvPr/>
        </p:nvSpPr>
        <p:spPr>
          <a:xfrm>
            <a:off x="268833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4" name="Thread 93 (block 0, warp 2) selected"/>
          <p:cNvSpPr/>
          <p:nvPr/>
        </p:nvSpPr>
        <p:spPr>
          <a:xfrm>
            <a:off x="273405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5" name="Thread 94 (block 0, warp 2) selected"/>
          <p:cNvSpPr/>
          <p:nvPr/>
        </p:nvSpPr>
        <p:spPr>
          <a:xfrm>
            <a:off x="277977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6" name="Thread 95 (block 0, warp 2) selected"/>
          <p:cNvSpPr/>
          <p:nvPr/>
        </p:nvSpPr>
        <p:spPr>
          <a:xfrm>
            <a:off x="28254960" y="1410462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7" name="Thread 96 (block 0, warp 3)"/>
          <p:cNvSpPr/>
          <p:nvPr/>
        </p:nvSpPr>
        <p:spPr>
          <a:xfrm>
            <a:off x="25054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8" name="Thread 97 (block 0, warp 3)"/>
          <p:cNvSpPr/>
          <p:nvPr/>
        </p:nvSpPr>
        <p:spPr>
          <a:xfrm>
            <a:off x="25511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9" name="Thread 98 (block 0, warp 3)"/>
          <p:cNvSpPr/>
          <p:nvPr/>
        </p:nvSpPr>
        <p:spPr>
          <a:xfrm>
            <a:off x="25968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0" name="Thread 99 (block 0, warp 3)"/>
          <p:cNvSpPr/>
          <p:nvPr/>
        </p:nvSpPr>
        <p:spPr>
          <a:xfrm>
            <a:off x="264261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1" name="Thread 100 (block 0, warp 3)"/>
          <p:cNvSpPr/>
          <p:nvPr/>
        </p:nvSpPr>
        <p:spPr>
          <a:xfrm>
            <a:off x="268833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2" name="Thread 101 (block 0, warp 3)"/>
          <p:cNvSpPr/>
          <p:nvPr/>
        </p:nvSpPr>
        <p:spPr>
          <a:xfrm>
            <a:off x="273405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3" name="Thread 102 (block 0, warp 3)"/>
          <p:cNvSpPr/>
          <p:nvPr/>
        </p:nvSpPr>
        <p:spPr>
          <a:xfrm>
            <a:off x="277977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4" name="Thread 103 (block 0, warp 3)"/>
          <p:cNvSpPr/>
          <p:nvPr/>
        </p:nvSpPr>
        <p:spPr>
          <a:xfrm>
            <a:off x="2825496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5" name="Thread 104 (block 0, warp 3)"/>
          <p:cNvSpPr/>
          <p:nvPr/>
        </p:nvSpPr>
        <p:spPr>
          <a:xfrm>
            <a:off x="25054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6" name="Thread 105 (block 0, warp 3)"/>
          <p:cNvSpPr/>
          <p:nvPr/>
        </p:nvSpPr>
        <p:spPr>
          <a:xfrm>
            <a:off x="25511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7" name="Thread 106 (block 0, warp 3)"/>
          <p:cNvSpPr/>
          <p:nvPr/>
        </p:nvSpPr>
        <p:spPr>
          <a:xfrm>
            <a:off x="25968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8" name="Thread 107 (block 0, warp 3)"/>
          <p:cNvSpPr/>
          <p:nvPr/>
        </p:nvSpPr>
        <p:spPr>
          <a:xfrm>
            <a:off x="264261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9" name="Thread 108 (block 0, warp 3)"/>
          <p:cNvSpPr/>
          <p:nvPr/>
        </p:nvSpPr>
        <p:spPr>
          <a:xfrm>
            <a:off x="268833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0" name="Thread 109 (block 0, warp 3)"/>
          <p:cNvSpPr/>
          <p:nvPr/>
        </p:nvSpPr>
        <p:spPr>
          <a:xfrm>
            <a:off x="273405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1" name="Thread 110 (block 0, warp 3)"/>
          <p:cNvSpPr/>
          <p:nvPr/>
        </p:nvSpPr>
        <p:spPr>
          <a:xfrm>
            <a:off x="277977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2" name="Thread 111 (block 0, warp 3)"/>
          <p:cNvSpPr/>
          <p:nvPr/>
        </p:nvSpPr>
        <p:spPr>
          <a:xfrm>
            <a:off x="2825496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3" name="Thread 112 (block 0, warp 3)"/>
          <p:cNvSpPr/>
          <p:nvPr/>
        </p:nvSpPr>
        <p:spPr>
          <a:xfrm>
            <a:off x="25054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4" name="Thread 113 (block 0, warp 3)"/>
          <p:cNvSpPr/>
          <p:nvPr/>
        </p:nvSpPr>
        <p:spPr>
          <a:xfrm>
            <a:off x="25511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5" name="Thread 114 (block 0, warp 3)"/>
          <p:cNvSpPr/>
          <p:nvPr/>
        </p:nvSpPr>
        <p:spPr>
          <a:xfrm>
            <a:off x="25968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6" name="Thread 115 (block 0, warp 3)"/>
          <p:cNvSpPr/>
          <p:nvPr/>
        </p:nvSpPr>
        <p:spPr>
          <a:xfrm>
            <a:off x="264261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7" name="Thread 116 (block 0, warp 3)"/>
          <p:cNvSpPr/>
          <p:nvPr/>
        </p:nvSpPr>
        <p:spPr>
          <a:xfrm>
            <a:off x="268833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8" name="Thread 117 (block 0, warp 3)"/>
          <p:cNvSpPr/>
          <p:nvPr/>
        </p:nvSpPr>
        <p:spPr>
          <a:xfrm>
            <a:off x="273405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9" name="Thread 118 (block 0, warp 3)"/>
          <p:cNvSpPr/>
          <p:nvPr/>
        </p:nvSpPr>
        <p:spPr>
          <a:xfrm>
            <a:off x="277977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0" name="Thread 119 (block 0, warp 3)"/>
          <p:cNvSpPr/>
          <p:nvPr/>
        </p:nvSpPr>
        <p:spPr>
          <a:xfrm>
            <a:off x="2825496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1" name="Thread 120 (block 0, warp 3)"/>
          <p:cNvSpPr/>
          <p:nvPr/>
        </p:nvSpPr>
        <p:spPr>
          <a:xfrm>
            <a:off x="25054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2" name="Thread 121 (block 0, warp 3)"/>
          <p:cNvSpPr/>
          <p:nvPr/>
        </p:nvSpPr>
        <p:spPr>
          <a:xfrm>
            <a:off x="25511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3" name="Thread 122 (block 0, warp 3)"/>
          <p:cNvSpPr/>
          <p:nvPr/>
        </p:nvSpPr>
        <p:spPr>
          <a:xfrm>
            <a:off x="25968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4" name="Thread 123 (block 0, warp 3)"/>
          <p:cNvSpPr/>
          <p:nvPr/>
        </p:nvSpPr>
        <p:spPr>
          <a:xfrm>
            <a:off x="264261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5" name="Thread 124 (block 0, warp 3)"/>
          <p:cNvSpPr/>
          <p:nvPr/>
        </p:nvSpPr>
        <p:spPr>
          <a:xfrm>
            <a:off x="268833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6" name="Thread 125 (block 0, warp 3)"/>
          <p:cNvSpPr/>
          <p:nvPr/>
        </p:nvSpPr>
        <p:spPr>
          <a:xfrm>
            <a:off x="273405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7" name="Thread 126 (block 0, warp 3)"/>
          <p:cNvSpPr/>
          <p:nvPr/>
        </p:nvSpPr>
        <p:spPr>
          <a:xfrm>
            <a:off x="277977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8" name="Thread 127 (block 0, warp 3)"/>
          <p:cNvSpPr/>
          <p:nvPr/>
        </p:nvSpPr>
        <p:spPr>
          <a:xfrm>
            <a:off x="2825496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9" name="Block 1"/>
          <p:cNvSpPr/>
          <p:nvPr/>
        </p:nvSpPr>
        <p:spPr>
          <a:xfrm>
            <a:off x="29900880" y="7932420"/>
            <a:ext cx="4114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dk2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670" name="Block 1: 128 threads"/>
          <p:cNvSpPr/>
          <p:nvPr/>
        </p:nvSpPr>
        <p:spPr>
          <a:xfrm>
            <a:off x="29900880" y="8755380"/>
            <a:ext cx="4114800" cy="77724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671" name="Thread 0 (block 1, warp 0)"/>
          <p:cNvSpPr/>
          <p:nvPr/>
        </p:nvSpPr>
        <p:spPr>
          <a:xfrm>
            <a:off x="30220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2" name="Thread 1 (block 1, warp 0)"/>
          <p:cNvSpPr/>
          <p:nvPr/>
        </p:nvSpPr>
        <p:spPr>
          <a:xfrm>
            <a:off x="30678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3" name="Thread 2 (block 1, warp 0)"/>
          <p:cNvSpPr/>
          <p:nvPr/>
        </p:nvSpPr>
        <p:spPr>
          <a:xfrm>
            <a:off x="31135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4" name="Thread 3 (block 1, warp 0)"/>
          <p:cNvSpPr/>
          <p:nvPr/>
        </p:nvSpPr>
        <p:spPr>
          <a:xfrm>
            <a:off x="315925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5" name="Thread 4 (block 1, warp 0)"/>
          <p:cNvSpPr/>
          <p:nvPr/>
        </p:nvSpPr>
        <p:spPr>
          <a:xfrm>
            <a:off x="320497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6" name="Thread 5 (block 1, warp 0)"/>
          <p:cNvSpPr/>
          <p:nvPr/>
        </p:nvSpPr>
        <p:spPr>
          <a:xfrm>
            <a:off x="325069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7" name="Thread 6 (block 1, warp 0)"/>
          <p:cNvSpPr/>
          <p:nvPr/>
        </p:nvSpPr>
        <p:spPr>
          <a:xfrm>
            <a:off x="329641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8" name="Thread 7 (block 1, warp 0)"/>
          <p:cNvSpPr/>
          <p:nvPr/>
        </p:nvSpPr>
        <p:spPr>
          <a:xfrm>
            <a:off x="33421320" y="91668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9" name="Thread 8 (block 1, warp 0)"/>
          <p:cNvSpPr/>
          <p:nvPr/>
        </p:nvSpPr>
        <p:spPr>
          <a:xfrm>
            <a:off x="30220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0" name="Thread 9 (block 1, warp 0)"/>
          <p:cNvSpPr/>
          <p:nvPr/>
        </p:nvSpPr>
        <p:spPr>
          <a:xfrm>
            <a:off x="30678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1" name="Thread 10 (block 1, warp 0)"/>
          <p:cNvSpPr/>
          <p:nvPr/>
        </p:nvSpPr>
        <p:spPr>
          <a:xfrm>
            <a:off x="31135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2" name="Thread 11 (block 1, warp 0)"/>
          <p:cNvSpPr/>
          <p:nvPr/>
        </p:nvSpPr>
        <p:spPr>
          <a:xfrm>
            <a:off x="315925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3" name="Thread 12 (block 1, warp 0)"/>
          <p:cNvSpPr/>
          <p:nvPr/>
        </p:nvSpPr>
        <p:spPr>
          <a:xfrm>
            <a:off x="320497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4" name="Thread 13 (block 1, warp 0)"/>
          <p:cNvSpPr/>
          <p:nvPr/>
        </p:nvSpPr>
        <p:spPr>
          <a:xfrm>
            <a:off x="325069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5" name="Thread 14 (block 1, warp 0)"/>
          <p:cNvSpPr/>
          <p:nvPr/>
        </p:nvSpPr>
        <p:spPr>
          <a:xfrm>
            <a:off x="329641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6" name="Thread 15 (block 1, warp 0)"/>
          <p:cNvSpPr/>
          <p:nvPr/>
        </p:nvSpPr>
        <p:spPr>
          <a:xfrm>
            <a:off x="33421320" y="95783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7" name="Thread 16 (block 1, warp 0)"/>
          <p:cNvSpPr/>
          <p:nvPr/>
        </p:nvSpPr>
        <p:spPr>
          <a:xfrm>
            <a:off x="30220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8" name="Thread 17 (block 1, warp 0)"/>
          <p:cNvSpPr/>
          <p:nvPr/>
        </p:nvSpPr>
        <p:spPr>
          <a:xfrm>
            <a:off x="30678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9" name="Thread 18 (block 1, warp 0)"/>
          <p:cNvSpPr/>
          <p:nvPr/>
        </p:nvSpPr>
        <p:spPr>
          <a:xfrm>
            <a:off x="31135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0" name="Thread 19 (block 1, warp 0)"/>
          <p:cNvSpPr/>
          <p:nvPr/>
        </p:nvSpPr>
        <p:spPr>
          <a:xfrm>
            <a:off x="315925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1" name="Thread 20 (block 1, warp 0)"/>
          <p:cNvSpPr/>
          <p:nvPr/>
        </p:nvSpPr>
        <p:spPr>
          <a:xfrm>
            <a:off x="320497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2" name="Thread 21 (block 1, warp 0)"/>
          <p:cNvSpPr/>
          <p:nvPr/>
        </p:nvSpPr>
        <p:spPr>
          <a:xfrm>
            <a:off x="325069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3" name="Thread 22 (block 1, warp 0)"/>
          <p:cNvSpPr/>
          <p:nvPr/>
        </p:nvSpPr>
        <p:spPr>
          <a:xfrm>
            <a:off x="329641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4" name="Thread 23 (block 1, warp 0)"/>
          <p:cNvSpPr/>
          <p:nvPr/>
        </p:nvSpPr>
        <p:spPr>
          <a:xfrm>
            <a:off x="33421320" y="99898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5" name="Thread 24 (block 1, warp 0)"/>
          <p:cNvSpPr/>
          <p:nvPr/>
        </p:nvSpPr>
        <p:spPr>
          <a:xfrm>
            <a:off x="30220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6" name="Thread 25 (block 1, warp 0)"/>
          <p:cNvSpPr/>
          <p:nvPr/>
        </p:nvSpPr>
        <p:spPr>
          <a:xfrm>
            <a:off x="30678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7" name="Thread 26 (block 1, warp 0)"/>
          <p:cNvSpPr/>
          <p:nvPr/>
        </p:nvSpPr>
        <p:spPr>
          <a:xfrm>
            <a:off x="31135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8" name="Thread 27 (block 1, warp 0)"/>
          <p:cNvSpPr/>
          <p:nvPr/>
        </p:nvSpPr>
        <p:spPr>
          <a:xfrm>
            <a:off x="315925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9" name="Thread 28 (block 1, warp 0)"/>
          <p:cNvSpPr/>
          <p:nvPr/>
        </p:nvSpPr>
        <p:spPr>
          <a:xfrm>
            <a:off x="320497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0" name="Thread 29 (block 1, warp 0)"/>
          <p:cNvSpPr/>
          <p:nvPr/>
        </p:nvSpPr>
        <p:spPr>
          <a:xfrm>
            <a:off x="325069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1" name="Thread 30 (block 1, warp 0)"/>
          <p:cNvSpPr/>
          <p:nvPr/>
        </p:nvSpPr>
        <p:spPr>
          <a:xfrm>
            <a:off x="329641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2" name="Thread 31 (block 1, warp 0)"/>
          <p:cNvSpPr/>
          <p:nvPr/>
        </p:nvSpPr>
        <p:spPr>
          <a:xfrm>
            <a:off x="33421320" y="104013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3" name="Thread 32 (block 1, warp 1)"/>
          <p:cNvSpPr/>
          <p:nvPr/>
        </p:nvSpPr>
        <p:spPr>
          <a:xfrm>
            <a:off x="30220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4" name="Thread 33 (block 1, warp 1)"/>
          <p:cNvSpPr/>
          <p:nvPr/>
        </p:nvSpPr>
        <p:spPr>
          <a:xfrm>
            <a:off x="30678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5" name="Thread 34 (block 1, warp 1)"/>
          <p:cNvSpPr/>
          <p:nvPr/>
        </p:nvSpPr>
        <p:spPr>
          <a:xfrm>
            <a:off x="31135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6" name="Thread 35 (block 1, warp 1)"/>
          <p:cNvSpPr/>
          <p:nvPr/>
        </p:nvSpPr>
        <p:spPr>
          <a:xfrm>
            <a:off x="315925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7" name="Thread 36 (block 1, warp 1)"/>
          <p:cNvSpPr/>
          <p:nvPr/>
        </p:nvSpPr>
        <p:spPr>
          <a:xfrm>
            <a:off x="320497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8" name="Thread 37 (block 1, warp 1)"/>
          <p:cNvSpPr/>
          <p:nvPr/>
        </p:nvSpPr>
        <p:spPr>
          <a:xfrm>
            <a:off x="325069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9" name="Thread 38 (block 1, warp 1)"/>
          <p:cNvSpPr/>
          <p:nvPr/>
        </p:nvSpPr>
        <p:spPr>
          <a:xfrm>
            <a:off x="329641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0" name="Thread 39 (block 1, warp 1)"/>
          <p:cNvSpPr/>
          <p:nvPr/>
        </p:nvSpPr>
        <p:spPr>
          <a:xfrm>
            <a:off x="33421320" y="110185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1" name="Thread 40 (block 1, warp 1)"/>
          <p:cNvSpPr/>
          <p:nvPr/>
        </p:nvSpPr>
        <p:spPr>
          <a:xfrm>
            <a:off x="30220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2" name="Thread 41 (block 1, warp 1)"/>
          <p:cNvSpPr/>
          <p:nvPr/>
        </p:nvSpPr>
        <p:spPr>
          <a:xfrm>
            <a:off x="30678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3" name="Thread 42 (block 1, warp 1)"/>
          <p:cNvSpPr/>
          <p:nvPr/>
        </p:nvSpPr>
        <p:spPr>
          <a:xfrm>
            <a:off x="31135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4" name="Thread 43 (block 1, warp 1)"/>
          <p:cNvSpPr/>
          <p:nvPr/>
        </p:nvSpPr>
        <p:spPr>
          <a:xfrm>
            <a:off x="315925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5" name="Thread 44 (block 1, warp 1)"/>
          <p:cNvSpPr/>
          <p:nvPr/>
        </p:nvSpPr>
        <p:spPr>
          <a:xfrm>
            <a:off x="320497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6" name="Thread 45 (block 1, warp 1)"/>
          <p:cNvSpPr/>
          <p:nvPr/>
        </p:nvSpPr>
        <p:spPr>
          <a:xfrm>
            <a:off x="325069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7" name="Thread 46 (block 1, warp 1)"/>
          <p:cNvSpPr/>
          <p:nvPr/>
        </p:nvSpPr>
        <p:spPr>
          <a:xfrm>
            <a:off x="329641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8" name="Thread 47 (block 1, warp 1)"/>
          <p:cNvSpPr/>
          <p:nvPr/>
        </p:nvSpPr>
        <p:spPr>
          <a:xfrm>
            <a:off x="33421320" y="114300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9" name="Thread 48 (block 1, warp 1)"/>
          <p:cNvSpPr/>
          <p:nvPr/>
        </p:nvSpPr>
        <p:spPr>
          <a:xfrm>
            <a:off x="30220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0" name="Thread 49 (block 1, warp 1)"/>
          <p:cNvSpPr/>
          <p:nvPr/>
        </p:nvSpPr>
        <p:spPr>
          <a:xfrm>
            <a:off x="30678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1" name="Thread 50 (block 1, warp 1)"/>
          <p:cNvSpPr/>
          <p:nvPr/>
        </p:nvSpPr>
        <p:spPr>
          <a:xfrm>
            <a:off x="31135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2" name="Thread 51 (block 1, warp 1)"/>
          <p:cNvSpPr/>
          <p:nvPr/>
        </p:nvSpPr>
        <p:spPr>
          <a:xfrm>
            <a:off x="315925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3" name="Thread 52 (block 1, warp 1)"/>
          <p:cNvSpPr/>
          <p:nvPr/>
        </p:nvSpPr>
        <p:spPr>
          <a:xfrm>
            <a:off x="320497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4" name="Thread 53 (block 1, warp 1)"/>
          <p:cNvSpPr/>
          <p:nvPr/>
        </p:nvSpPr>
        <p:spPr>
          <a:xfrm>
            <a:off x="325069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5" name="Thread 54 (block 1, warp 1)"/>
          <p:cNvSpPr/>
          <p:nvPr/>
        </p:nvSpPr>
        <p:spPr>
          <a:xfrm>
            <a:off x="329641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6" name="Thread 55 (block 1, warp 1)"/>
          <p:cNvSpPr/>
          <p:nvPr/>
        </p:nvSpPr>
        <p:spPr>
          <a:xfrm>
            <a:off x="33421320" y="118414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7" name="Thread 56 (block 1, warp 1)"/>
          <p:cNvSpPr/>
          <p:nvPr/>
        </p:nvSpPr>
        <p:spPr>
          <a:xfrm>
            <a:off x="30220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8" name="Thread 57 (block 1, warp 1)"/>
          <p:cNvSpPr/>
          <p:nvPr/>
        </p:nvSpPr>
        <p:spPr>
          <a:xfrm>
            <a:off x="30678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9" name="Thread 58 (block 1, warp 1)"/>
          <p:cNvSpPr/>
          <p:nvPr/>
        </p:nvSpPr>
        <p:spPr>
          <a:xfrm>
            <a:off x="31135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0" name="Thread 59 (block 1, warp 1)"/>
          <p:cNvSpPr/>
          <p:nvPr/>
        </p:nvSpPr>
        <p:spPr>
          <a:xfrm>
            <a:off x="315925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1" name="Thread 60 (block 1, warp 1)"/>
          <p:cNvSpPr/>
          <p:nvPr/>
        </p:nvSpPr>
        <p:spPr>
          <a:xfrm>
            <a:off x="320497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2" name="Thread 61 (block 1, warp 1)"/>
          <p:cNvSpPr/>
          <p:nvPr/>
        </p:nvSpPr>
        <p:spPr>
          <a:xfrm>
            <a:off x="325069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3" name="Thread 62 (block 1, warp 1)"/>
          <p:cNvSpPr/>
          <p:nvPr/>
        </p:nvSpPr>
        <p:spPr>
          <a:xfrm>
            <a:off x="329641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4" name="Thread 63 (block 1, warp 1)"/>
          <p:cNvSpPr/>
          <p:nvPr/>
        </p:nvSpPr>
        <p:spPr>
          <a:xfrm>
            <a:off x="33421320" y="122529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5" name="Thread 64 (block 1, warp 2)"/>
          <p:cNvSpPr/>
          <p:nvPr/>
        </p:nvSpPr>
        <p:spPr>
          <a:xfrm>
            <a:off x="30220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6" name="Thread 65 (block 1, warp 2)"/>
          <p:cNvSpPr/>
          <p:nvPr/>
        </p:nvSpPr>
        <p:spPr>
          <a:xfrm>
            <a:off x="30678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7" name="Thread 66 (block 1, warp 2)"/>
          <p:cNvSpPr/>
          <p:nvPr/>
        </p:nvSpPr>
        <p:spPr>
          <a:xfrm>
            <a:off x="31135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8" name="Thread 67 (block 1, warp 2)"/>
          <p:cNvSpPr/>
          <p:nvPr/>
        </p:nvSpPr>
        <p:spPr>
          <a:xfrm>
            <a:off x="315925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9" name="Thread 68 (block 1, warp 2)"/>
          <p:cNvSpPr/>
          <p:nvPr/>
        </p:nvSpPr>
        <p:spPr>
          <a:xfrm>
            <a:off x="320497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0" name="Thread 69 (block 1, warp 2)"/>
          <p:cNvSpPr/>
          <p:nvPr/>
        </p:nvSpPr>
        <p:spPr>
          <a:xfrm>
            <a:off x="325069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1" name="Thread 70 (block 1, warp 2)"/>
          <p:cNvSpPr/>
          <p:nvPr/>
        </p:nvSpPr>
        <p:spPr>
          <a:xfrm>
            <a:off x="329641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2" name="Thread 71 (block 1, warp 2)"/>
          <p:cNvSpPr/>
          <p:nvPr/>
        </p:nvSpPr>
        <p:spPr>
          <a:xfrm>
            <a:off x="33421320" y="128701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3" name="Thread 72 (block 1, warp 2)"/>
          <p:cNvSpPr/>
          <p:nvPr/>
        </p:nvSpPr>
        <p:spPr>
          <a:xfrm>
            <a:off x="30220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4" name="Thread 73 (block 1, warp 2)"/>
          <p:cNvSpPr/>
          <p:nvPr/>
        </p:nvSpPr>
        <p:spPr>
          <a:xfrm>
            <a:off x="30678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5" name="Thread 74 (block 1, warp 2)"/>
          <p:cNvSpPr/>
          <p:nvPr/>
        </p:nvSpPr>
        <p:spPr>
          <a:xfrm>
            <a:off x="31135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6" name="Thread 75 (block 1, warp 2)"/>
          <p:cNvSpPr/>
          <p:nvPr/>
        </p:nvSpPr>
        <p:spPr>
          <a:xfrm>
            <a:off x="315925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7" name="Thread 76 (block 1, warp 2)"/>
          <p:cNvSpPr/>
          <p:nvPr/>
        </p:nvSpPr>
        <p:spPr>
          <a:xfrm>
            <a:off x="320497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8" name="Thread 77 (block 1, warp 2)"/>
          <p:cNvSpPr/>
          <p:nvPr/>
        </p:nvSpPr>
        <p:spPr>
          <a:xfrm>
            <a:off x="325069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9" name="Thread 78 (block 1, warp 2)"/>
          <p:cNvSpPr/>
          <p:nvPr/>
        </p:nvSpPr>
        <p:spPr>
          <a:xfrm>
            <a:off x="329641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0" name="Thread 79 (block 1, warp 2)"/>
          <p:cNvSpPr/>
          <p:nvPr/>
        </p:nvSpPr>
        <p:spPr>
          <a:xfrm>
            <a:off x="33421320" y="132816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1" name="Thread 80 (block 1, warp 2)"/>
          <p:cNvSpPr/>
          <p:nvPr/>
        </p:nvSpPr>
        <p:spPr>
          <a:xfrm>
            <a:off x="30220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2" name="Thread 81 (block 1, warp 2)"/>
          <p:cNvSpPr/>
          <p:nvPr/>
        </p:nvSpPr>
        <p:spPr>
          <a:xfrm>
            <a:off x="30678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3" name="Thread 82 (block 1, warp 2)"/>
          <p:cNvSpPr/>
          <p:nvPr/>
        </p:nvSpPr>
        <p:spPr>
          <a:xfrm>
            <a:off x="31135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4" name="Thread 83 (block 1, warp 2)"/>
          <p:cNvSpPr/>
          <p:nvPr/>
        </p:nvSpPr>
        <p:spPr>
          <a:xfrm>
            <a:off x="315925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5" name="Thread 84 (block 1, warp 2)"/>
          <p:cNvSpPr/>
          <p:nvPr/>
        </p:nvSpPr>
        <p:spPr>
          <a:xfrm>
            <a:off x="320497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6" name="Thread 85 (block 1, warp 2)"/>
          <p:cNvSpPr/>
          <p:nvPr/>
        </p:nvSpPr>
        <p:spPr>
          <a:xfrm>
            <a:off x="325069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7" name="Thread 86 (block 1, warp 2)"/>
          <p:cNvSpPr/>
          <p:nvPr/>
        </p:nvSpPr>
        <p:spPr>
          <a:xfrm>
            <a:off x="329641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8" name="Thread 87 (block 1, warp 2)"/>
          <p:cNvSpPr/>
          <p:nvPr/>
        </p:nvSpPr>
        <p:spPr>
          <a:xfrm>
            <a:off x="33421320" y="136931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9" name="Thread 88 (block 1, warp 2)"/>
          <p:cNvSpPr/>
          <p:nvPr/>
        </p:nvSpPr>
        <p:spPr>
          <a:xfrm>
            <a:off x="30220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0" name="Thread 89 (block 1, warp 2)"/>
          <p:cNvSpPr/>
          <p:nvPr/>
        </p:nvSpPr>
        <p:spPr>
          <a:xfrm>
            <a:off x="30678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1" name="Thread 90 (block 1, warp 2)"/>
          <p:cNvSpPr/>
          <p:nvPr/>
        </p:nvSpPr>
        <p:spPr>
          <a:xfrm>
            <a:off x="31135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2" name="Thread 91 (block 1, warp 2)"/>
          <p:cNvSpPr/>
          <p:nvPr/>
        </p:nvSpPr>
        <p:spPr>
          <a:xfrm>
            <a:off x="315925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3" name="Thread 92 (block 1, warp 2)"/>
          <p:cNvSpPr/>
          <p:nvPr/>
        </p:nvSpPr>
        <p:spPr>
          <a:xfrm>
            <a:off x="320497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4" name="Thread 93 (block 1, warp 2)"/>
          <p:cNvSpPr/>
          <p:nvPr/>
        </p:nvSpPr>
        <p:spPr>
          <a:xfrm>
            <a:off x="325069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5" name="Thread 94 (block 1, warp 2)"/>
          <p:cNvSpPr/>
          <p:nvPr/>
        </p:nvSpPr>
        <p:spPr>
          <a:xfrm>
            <a:off x="329641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6" name="Thread 95 (block 1, warp 2)"/>
          <p:cNvSpPr/>
          <p:nvPr/>
        </p:nvSpPr>
        <p:spPr>
          <a:xfrm>
            <a:off x="33421320" y="141046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7" name="Thread 96 (block 1, warp 3)"/>
          <p:cNvSpPr/>
          <p:nvPr/>
        </p:nvSpPr>
        <p:spPr>
          <a:xfrm>
            <a:off x="30220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8" name="Thread 97 (block 1, warp 3)"/>
          <p:cNvSpPr/>
          <p:nvPr/>
        </p:nvSpPr>
        <p:spPr>
          <a:xfrm>
            <a:off x="30678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9" name="Thread 98 (block 1, warp 3)"/>
          <p:cNvSpPr/>
          <p:nvPr/>
        </p:nvSpPr>
        <p:spPr>
          <a:xfrm>
            <a:off x="31135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0" name="Thread 99 (block 1, warp 3)"/>
          <p:cNvSpPr/>
          <p:nvPr/>
        </p:nvSpPr>
        <p:spPr>
          <a:xfrm>
            <a:off x="315925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1" name="Thread 100 (block 1, warp 3)"/>
          <p:cNvSpPr/>
          <p:nvPr/>
        </p:nvSpPr>
        <p:spPr>
          <a:xfrm>
            <a:off x="320497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2" name="Thread 101 (block 1, warp 3)"/>
          <p:cNvSpPr/>
          <p:nvPr/>
        </p:nvSpPr>
        <p:spPr>
          <a:xfrm>
            <a:off x="325069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3" name="Thread 102 (block 1, warp 3)"/>
          <p:cNvSpPr/>
          <p:nvPr/>
        </p:nvSpPr>
        <p:spPr>
          <a:xfrm>
            <a:off x="329641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4" name="Thread 103 (block 1, warp 3)"/>
          <p:cNvSpPr/>
          <p:nvPr/>
        </p:nvSpPr>
        <p:spPr>
          <a:xfrm>
            <a:off x="33421320" y="1472184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5" name="Thread 104 (block 1, warp 3)"/>
          <p:cNvSpPr/>
          <p:nvPr/>
        </p:nvSpPr>
        <p:spPr>
          <a:xfrm>
            <a:off x="30220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6" name="Thread 105 (block 1, warp 3)"/>
          <p:cNvSpPr/>
          <p:nvPr/>
        </p:nvSpPr>
        <p:spPr>
          <a:xfrm>
            <a:off x="30678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7" name="Thread 106 (block 1, warp 3)"/>
          <p:cNvSpPr/>
          <p:nvPr/>
        </p:nvSpPr>
        <p:spPr>
          <a:xfrm>
            <a:off x="31135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8" name="Thread 107 (block 1, warp 3)"/>
          <p:cNvSpPr/>
          <p:nvPr/>
        </p:nvSpPr>
        <p:spPr>
          <a:xfrm>
            <a:off x="315925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79" name="Thread 108 (block 1, warp 3)"/>
          <p:cNvSpPr/>
          <p:nvPr/>
        </p:nvSpPr>
        <p:spPr>
          <a:xfrm>
            <a:off x="320497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0" name="Thread 109 (block 1, warp 3)"/>
          <p:cNvSpPr/>
          <p:nvPr/>
        </p:nvSpPr>
        <p:spPr>
          <a:xfrm>
            <a:off x="325069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1" name="Thread 110 (block 1, warp 3)"/>
          <p:cNvSpPr/>
          <p:nvPr/>
        </p:nvSpPr>
        <p:spPr>
          <a:xfrm>
            <a:off x="329641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2" name="Thread 111 (block 1, warp 3)"/>
          <p:cNvSpPr/>
          <p:nvPr/>
        </p:nvSpPr>
        <p:spPr>
          <a:xfrm>
            <a:off x="33421320" y="1513332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3" name="Thread 112 (block 1, warp 3)"/>
          <p:cNvSpPr/>
          <p:nvPr/>
        </p:nvSpPr>
        <p:spPr>
          <a:xfrm>
            <a:off x="30220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4" name="Thread 113 (block 1, warp 3)"/>
          <p:cNvSpPr/>
          <p:nvPr/>
        </p:nvSpPr>
        <p:spPr>
          <a:xfrm>
            <a:off x="30678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5" name="Thread 114 (block 1, warp 3)"/>
          <p:cNvSpPr/>
          <p:nvPr/>
        </p:nvSpPr>
        <p:spPr>
          <a:xfrm>
            <a:off x="31135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6" name="Thread 115 (block 1, warp 3)"/>
          <p:cNvSpPr/>
          <p:nvPr/>
        </p:nvSpPr>
        <p:spPr>
          <a:xfrm>
            <a:off x="315925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7" name="Thread 116 (block 1, warp 3)"/>
          <p:cNvSpPr/>
          <p:nvPr/>
        </p:nvSpPr>
        <p:spPr>
          <a:xfrm>
            <a:off x="320497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8" name="Thread 117 (block 1, warp 3)"/>
          <p:cNvSpPr/>
          <p:nvPr/>
        </p:nvSpPr>
        <p:spPr>
          <a:xfrm>
            <a:off x="325069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89" name="Thread 118 (block 1, warp 3)"/>
          <p:cNvSpPr/>
          <p:nvPr/>
        </p:nvSpPr>
        <p:spPr>
          <a:xfrm>
            <a:off x="329641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0" name="Thread 119 (block 1, warp 3)"/>
          <p:cNvSpPr/>
          <p:nvPr/>
        </p:nvSpPr>
        <p:spPr>
          <a:xfrm>
            <a:off x="33421320" y="1554480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1" name="Thread 120 (block 1, warp 3)"/>
          <p:cNvSpPr/>
          <p:nvPr/>
        </p:nvSpPr>
        <p:spPr>
          <a:xfrm>
            <a:off x="30220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2" name="Thread 121 (block 1, warp 3)"/>
          <p:cNvSpPr/>
          <p:nvPr/>
        </p:nvSpPr>
        <p:spPr>
          <a:xfrm>
            <a:off x="30678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3" name="Thread 122 (block 1, warp 3)"/>
          <p:cNvSpPr/>
          <p:nvPr/>
        </p:nvSpPr>
        <p:spPr>
          <a:xfrm>
            <a:off x="31135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4" name="Thread 123 (block 1, warp 3)"/>
          <p:cNvSpPr/>
          <p:nvPr/>
        </p:nvSpPr>
        <p:spPr>
          <a:xfrm>
            <a:off x="315925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5" name="Thread 124 (block 1, warp 3)"/>
          <p:cNvSpPr/>
          <p:nvPr/>
        </p:nvSpPr>
        <p:spPr>
          <a:xfrm>
            <a:off x="320497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6" name="Thread 125 (block 1, warp 3)"/>
          <p:cNvSpPr/>
          <p:nvPr/>
        </p:nvSpPr>
        <p:spPr>
          <a:xfrm>
            <a:off x="325069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7" name="Thread 126 (block 1, warp 3)"/>
          <p:cNvSpPr/>
          <p:nvPr/>
        </p:nvSpPr>
        <p:spPr>
          <a:xfrm>
            <a:off x="329641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8" name="Thread 127 (block 1, warp 3)"/>
          <p:cNvSpPr/>
          <p:nvPr/>
        </p:nvSpPr>
        <p:spPr>
          <a:xfrm>
            <a:off x="33421320" y="1595628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99" name="Upper boundary: block"/>
          <p:cNvSpPr/>
          <p:nvPr/>
        </p:nvSpPr>
        <p:spPr>
          <a:xfrm>
            <a:off x="24460200" y="17167860"/>
            <a:ext cx="10012680" cy="7086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dk2"/>
                </a:solidFill>
                <a:latin typeface="NVIDIA Sans"/>
              </a:rPr>
              <a:t xml:space="preserve">Upper boundary: block</a:t>
            </a:r>
          </a:p>
        </p:txBody>
      </p:sp>
      <p:sp>
        <p:nvSpPr>
          <p:cNvPr id="800" name="Unit: warp · first + third warp"/>
          <p:cNvSpPr/>
          <p:nvPr/>
        </p:nvSpPr>
        <p:spPr>
          <a:xfrm>
            <a:off x="24460200" y="18013680"/>
            <a:ext cx="1001268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Unit: warp · first + third warp</a:t>
            </a:r>
          </a:p>
        </p:txBody>
      </p:sp>
      <p:sp>
        <p:nvSpPr>
          <p:cNvPr id="801" name="Shape"/>
          <p:cNvSpPr/>
          <p:nvPr/>
        </p:nvSpPr>
        <p:spPr>
          <a:xfrm>
            <a:off x="126873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2" name="Shape"/>
          <p:cNvSpPr/>
          <p:nvPr/>
        </p:nvSpPr>
        <p:spPr>
          <a:xfrm>
            <a:off x="23888700" y="5806440"/>
            <a:ext cx="22860" cy="1284732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803" name="Shape"/>
          <p:cNvSpPr/>
          <p:nvPr/>
        </p:nvSpPr>
        <p:spPr>
          <a:xfrm>
            <a:off x="1874520" y="19225260"/>
            <a:ext cx="274320" cy="27432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4" name="Thread in the group"/>
          <p:cNvSpPr/>
          <p:nvPr/>
        </p:nvSpPr>
        <p:spPr>
          <a:xfrm>
            <a:off x="237744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805" name="Shape"/>
          <p:cNvSpPr/>
          <p:nvPr/>
        </p:nvSpPr>
        <p:spPr>
          <a:xfrm>
            <a:off x="7040880" y="19225260"/>
            <a:ext cx="274320" cy="274320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806" name="Other thread"/>
          <p:cNvSpPr/>
          <p:nvPr/>
        </p:nvSpPr>
        <p:spPr>
          <a:xfrm>
            <a:off x="7543800" y="19088100"/>
            <a:ext cx="3429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Other thread</a:t>
            </a:r>
          </a:p>
        </p:txBody>
      </p:sp>
      <p:sp>
        <p:nvSpPr>
          <p:cNvPr id="807" name="Shape"/>
          <p:cNvSpPr/>
          <p:nvPr/>
        </p:nvSpPr>
        <p:spPr>
          <a:xfrm>
            <a:off x="11407140" y="19110960"/>
            <a:ext cx="640080" cy="4572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808" name="Upper boundary"/>
          <p:cNvSpPr/>
          <p:nvPr/>
        </p:nvSpPr>
        <p:spPr>
          <a:xfrm>
            <a:off x="12367260" y="19088100"/>
            <a:ext cx="45720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809" name="Shape"/>
          <p:cNvSpPr/>
          <p:nvPr/>
        </p:nvSpPr>
        <p:spPr>
          <a:xfrm>
            <a:off x="17350740" y="19133820"/>
            <a:ext cx="640080" cy="4114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810" name="Warp as a unit"/>
          <p:cNvSpPr/>
          <p:nvPr/>
        </p:nvSpPr>
        <p:spPr>
          <a:xfrm>
            <a:off x="18310860" y="19088100"/>
            <a:ext cx="43434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Warp as a unit</a:t>
            </a:r>
          </a:p>
        </p:txBody>
      </p:sp>
      <p:sp>
        <p:nvSpPr>
          <p:cNvPr id="811" name="128 threads / block · schematic layout"/>
          <p:cNvSpPr/>
          <p:nvPr/>
        </p:nvSpPr>
        <p:spPr>
          <a:xfrm>
            <a:off x="23088600" y="19088100"/>
            <a:ext cx="9029700" cy="594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128 threads / block · schematic layout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Block dimensions are not statically know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Hierarchy-awareness · Block dimensions are not statically known</a:t>
            </a:r>
          </a:p>
        </p:txBody>
      </p:sp>
      <p:sp>
        <p:nvSpPr>
          <p:cNvPr id="4" name="0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08</a:t>
            </a:r>
          </a:p>
        </p:txBody>
      </p:sp>
      <p:sp>
        <p:nvSpPr>
          <p:cNvPr id="5" name="Compute the 1D thread rank within a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Compute the 1D thread rank within a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47522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875538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z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Shape"/>
          <p:cNvSpPr/>
          <p:nvPr/>
        </p:nvSpPr>
        <p:spPr>
          <a:xfrm>
            <a:off x="1828800" y="1181862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28800" y="1181862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CCL Cooperative Groups"/>
          <p:cNvSpPr/>
          <p:nvPr/>
        </p:nvSpPr>
        <p:spPr>
          <a:xfrm>
            <a:off x="2468880" y="1223010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3" name="Verbatim C++ snippet" descr="Verbatim fenced C++ snippet from slides.md"/>
          <p:cNvSpPr/>
          <p:nvPr/>
        </p:nvSpPr>
        <p:spPr>
          <a:xfrm>
            <a:off x="2468880" y="1351026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z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4" name="Both compute the same expression when the block dimensions are un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Both compute the same expression when the block dimensions are unknown.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>
  <p:cSld name="What makes them different? — Hierarchy-awaren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Hierarchy-awareness · The block is known to be 1D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Hierarchy-awareness · The block is known to be 1D</a:t>
            </a:r>
          </a:p>
        </p:txBody>
      </p:sp>
      <p:sp>
        <p:nvSpPr>
          <p:cNvPr id="4" name="0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09</a:t>
            </a:r>
          </a:p>
        </p:txBody>
      </p:sp>
      <p:sp>
        <p:nvSpPr>
          <p:cNvPr id="5" name="Compute the 1D thread rank within a 1D block"/>
          <p:cNvSpPr/>
          <p:nvPr/>
        </p:nvSpPr>
        <p:spPr>
          <a:xfrm>
            <a:off x="1874520" y="5143500"/>
            <a:ext cx="320040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Compute the 1D thread rank within a 1D block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06374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06374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TK’s Cooperative Groups"/>
          <p:cNvSpPr/>
          <p:nvPr/>
        </p:nvSpPr>
        <p:spPr>
          <a:xfrm>
            <a:off x="2468880" y="747522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9" name="Verbatim C++ snippet" descr="Verbatim fenced C++ snippet from slides.md"/>
          <p:cNvSpPr/>
          <p:nvPr/>
        </p:nvSpPr>
        <p:spPr>
          <a:xfrm>
            <a:off x="2468880" y="875538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cooperative_groups::this_thread_block().thread_rank()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z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blockDim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+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Shape"/>
          <p:cNvSpPr/>
          <p:nvPr/>
        </p:nvSpPr>
        <p:spPr>
          <a:xfrm>
            <a:off x="1828800" y="11818620"/>
            <a:ext cx="32918400" cy="42062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28800" y="11818620"/>
            <a:ext cx="329184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CCL Cooperative Groups"/>
          <p:cNvSpPr/>
          <p:nvPr/>
        </p:nvSpPr>
        <p:spPr>
          <a:xfrm>
            <a:off x="2468880" y="12230100"/>
            <a:ext cx="3163824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3" name="Verbatim C++ snippet" descr="Verbatim fenced C++ snippet from slides.md"/>
          <p:cNvSpPr/>
          <p:nvPr/>
        </p:nvSpPr>
        <p:spPr>
          <a:xfrm>
            <a:off x="2468880" y="13510260"/>
            <a:ext cx="31638240" cy="22860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What CCCL Cooperative Groups equivalent would compute.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threadIdx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4" name="With a known 1D block, CCCL uses threadIdx.x directly."/>
          <p:cNvSpPr/>
          <p:nvPr/>
        </p:nvSpPr>
        <p:spPr>
          <a:xfrm>
            <a:off x="1874520" y="17327880"/>
            <a:ext cx="320040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With a known 1D block, CCCL uses threadIdx.x directly.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Threads within block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queries · Threads within block</a:t>
            </a:r>
          </a:p>
        </p:txBody>
      </p:sp>
      <p:sp>
        <p:nvSpPr>
          <p:cNvPr id="4" name="1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75"/>
          <p:cNvSpPr/>
          <p:nvPr/>
        </p:nvSpPr>
        <p:spPr>
          <a:xfrm>
            <a:off x="117043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147" name="Group: all threads&#10;in the block"/>
          <p:cNvSpPr/>
          <p:nvPr/>
        </p:nvSpPr>
        <p:spPr>
          <a:xfrm>
            <a:off x="11704320" y="13970203"/>
            <a:ext cx="5372100" cy="1604772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Warp 0"/>
          <p:cNvSpPr/>
          <p:nvPr/>
        </p:nvSpPr>
        <p:spPr>
          <a:xfrm>
            <a:off x="199339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3" name="Thread 0"/>
          <p:cNvSpPr/>
          <p:nvPr/>
        </p:nvSpPr>
        <p:spPr>
          <a:xfrm>
            <a:off x="223799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1"/>
          <p:cNvSpPr/>
          <p:nvPr/>
        </p:nvSpPr>
        <p:spPr>
          <a:xfrm>
            <a:off x="230200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2"/>
          <p:cNvSpPr/>
          <p:nvPr/>
        </p:nvSpPr>
        <p:spPr>
          <a:xfrm>
            <a:off x="236601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3"/>
          <p:cNvSpPr/>
          <p:nvPr/>
        </p:nvSpPr>
        <p:spPr>
          <a:xfrm>
            <a:off x="243001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4"/>
          <p:cNvSpPr/>
          <p:nvPr/>
        </p:nvSpPr>
        <p:spPr>
          <a:xfrm>
            <a:off x="249402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5"/>
          <p:cNvSpPr/>
          <p:nvPr/>
        </p:nvSpPr>
        <p:spPr>
          <a:xfrm>
            <a:off x="255803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6"/>
          <p:cNvSpPr/>
          <p:nvPr/>
        </p:nvSpPr>
        <p:spPr>
          <a:xfrm>
            <a:off x="262204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7"/>
          <p:cNvSpPr/>
          <p:nvPr/>
        </p:nvSpPr>
        <p:spPr>
          <a:xfrm>
            <a:off x="268605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8"/>
          <p:cNvSpPr/>
          <p:nvPr/>
        </p:nvSpPr>
        <p:spPr>
          <a:xfrm>
            <a:off x="223799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9"/>
          <p:cNvSpPr/>
          <p:nvPr/>
        </p:nvSpPr>
        <p:spPr>
          <a:xfrm>
            <a:off x="230200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0"/>
          <p:cNvSpPr/>
          <p:nvPr/>
        </p:nvSpPr>
        <p:spPr>
          <a:xfrm>
            <a:off x="236601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1"/>
          <p:cNvSpPr/>
          <p:nvPr/>
        </p:nvSpPr>
        <p:spPr>
          <a:xfrm>
            <a:off x="243001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2"/>
          <p:cNvSpPr/>
          <p:nvPr/>
        </p:nvSpPr>
        <p:spPr>
          <a:xfrm>
            <a:off x="249402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3"/>
          <p:cNvSpPr/>
          <p:nvPr/>
        </p:nvSpPr>
        <p:spPr>
          <a:xfrm>
            <a:off x="255803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4"/>
          <p:cNvSpPr/>
          <p:nvPr/>
        </p:nvSpPr>
        <p:spPr>
          <a:xfrm>
            <a:off x="262204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5"/>
          <p:cNvSpPr/>
          <p:nvPr/>
        </p:nvSpPr>
        <p:spPr>
          <a:xfrm>
            <a:off x="268605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6"/>
          <p:cNvSpPr/>
          <p:nvPr/>
        </p:nvSpPr>
        <p:spPr>
          <a:xfrm>
            <a:off x="223799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7"/>
          <p:cNvSpPr/>
          <p:nvPr/>
        </p:nvSpPr>
        <p:spPr>
          <a:xfrm>
            <a:off x="230200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8"/>
          <p:cNvSpPr/>
          <p:nvPr/>
        </p:nvSpPr>
        <p:spPr>
          <a:xfrm>
            <a:off x="236601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9"/>
          <p:cNvSpPr/>
          <p:nvPr/>
        </p:nvSpPr>
        <p:spPr>
          <a:xfrm>
            <a:off x="243001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0"/>
          <p:cNvSpPr/>
          <p:nvPr/>
        </p:nvSpPr>
        <p:spPr>
          <a:xfrm>
            <a:off x="249402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1"/>
          <p:cNvSpPr/>
          <p:nvPr/>
        </p:nvSpPr>
        <p:spPr>
          <a:xfrm>
            <a:off x="255803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2"/>
          <p:cNvSpPr/>
          <p:nvPr/>
        </p:nvSpPr>
        <p:spPr>
          <a:xfrm>
            <a:off x="262204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3"/>
          <p:cNvSpPr/>
          <p:nvPr/>
        </p:nvSpPr>
        <p:spPr>
          <a:xfrm>
            <a:off x="268605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4"/>
          <p:cNvSpPr/>
          <p:nvPr/>
        </p:nvSpPr>
        <p:spPr>
          <a:xfrm>
            <a:off x="223799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5"/>
          <p:cNvSpPr/>
          <p:nvPr/>
        </p:nvSpPr>
        <p:spPr>
          <a:xfrm>
            <a:off x="230200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6"/>
          <p:cNvSpPr/>
          <p:nvPr/>
        </p:nvSpPr>
        <p:spPr>
          <a:xfrm>
            <a:off x="236601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7"/>
          <p:cNvSpPr/>
          <p:nvPr/>
        </p:nvSpPr>
        <p:spPr>
          <a:xfrm>
            <a:off x="243001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8"/>
          <p:cNvSpPr/>
          <p:nvPr/>
        </p:nvSpPr>
        <p:spPr>
          <a:xfrm>
            <a:off x="249402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9"/>
          <p:cNvSpPr/>
          <p:nvPr/>
        </p:nvSpPr>
        <p:spPr>
          <a:xfrm>
            <a:off x="255803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0"/>
          <p:cNvSpPr/>
          <p:nvPr/>
        </p:nvSpPr>
        <p:spPr>
          <a:xfrm>
            <a:off x="262204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1"/>
          <p:cNvSpPr/>
          <p:nvPr/>
        </p:nvSpPr>
        <p:spPr>
          <a:xfrm>
            <a:off x="268605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Warp 1"/>
          <p:cNvSpPr/>
          <p:nvPr/>
        </p:nvSpPr>
        <p:spPr>
          <a:xfrm>
            <a:off x="199339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6" name="Thread 32"/>
          <p:cNvSpPr/>
          <p:nvPr/>
        </p:nvSpPr>
        <p:spPr>
          <a:xfrm>
            <a:off x="223799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3"/>
          <p:cNvSpPr/>
          <p:nvPr/>
        </p:nvSpPr>
        <p:spPr>
          <a:xfrm>
            <a:off x="230200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4"/>
          <p:cNvSpPr/>
          <p:nvPr/>
        </p:nvSpPr>
        <p:spPr>
          <a:xfrm>
            <a:off x="236601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5"/>
          <p:cNvSpPr/>
          <p:nvPr/>
        </p:nvSpPr>
        <p:spPr>
          <a:xfrm>
            <a:off x="2430018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6"/>
          <p:cNvSpPr/>
          <p:nvPr/>
        </p:nvSpPr>
        <p:spPr>
          <a:xfrm>
            <a:off x="2494026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7"/>
          <p:cNvSpPr/>
          <p:nvPr/>
        </p:nvSpPr>
        <p:spPr>
          <a:xfrm>
            <a:off x="2558034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8"/>
          <p:cNvSpPr/>
          <p:nvPr/>
        </p:nvSpPr>
        <p:spPr>
          <a:xfrm>
            <a:off x="2622042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9"/>
          <p:cNvSpPr/>
          <p:nvPr/>
        </p:nvSpPr>
        <p:spPr>
          <a:xfrm>
            <a:off x="26860500" y="1053846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0"/>
          <p:cNvSpPr/>
          <p:nvPr/>
        </p:nvSpPr>
        <p:spPr>
          <a:xfrm>
            <a:off x="223799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1"/>
          <p:cNvSpPr/>
          <p:nvPr/>
        </p:nvSpPr>
        <p:spPr>
          <a:xfrm>
            <a:off x="230200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2"/>
          <p:cNvSpPr/>
          <p:nvPr/>
        </p:nvSpPr>
        <p:spPr>
          <a:xfrm>
            <a:off x="236601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3"/>
          <p:cNvSpPr/>
          <p:nvPr/>
        </p:nvSpPr>
        <p:spPr>
          <a:xfrm>
            <a:off x="2430018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4"/>
          <p:cNvSpPr/>
          <p:nvPr/>
        </p:nvSpPr>
        <p:spPr>
          <a:xfrm>
            <a:off x="2494026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5"/>
          <p:cNvSpPr/>
          <p:nvPr/>
        </p:nvSpPr>
        <p:spPr>
          <a:xfrm>
            <a:off x="2558034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6"/>
          <p:cNvSpPr/>
          <p:nvPr/>
        </p:nvSpPr>
        <p:spPr>
          <a:xfrm>
            <a:off x="2622042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7"/>
          <p:cNvSpPr/>
          <p:nvPr/>
        </p:nvSpPr>
        <p:spPr>
          <a:xfrm>
            <a:off x="26860500" y="1100754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8"/>
          <p:cNvSpPr/>
          <p:nvPr/>
        </p:nvSpPr>
        <p:spPr>
          <a:xfrm>
            <a:off x="223799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9"/>
          <p:cNvSpPr/>
          <p:nvPr/>
        </p:nvSpPr>
        <p:spPr>
          <a:xfrm>
            <a:off x="230200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0"/>
          <p:cNvSpPr/>
          <p:nvPr/>
        </p:nvSpPr>
        <p:spPr>
          <a:xfrm>
            <a:off x="236601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1"/>
          <p:cNvSpPr/>
          <p:nvPr/>
        </p:nvSpPr>
        <p:spPr>
          <a:xfrm>
            <a:off x="2430018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2"/>
          <p:cNvSpPr/>
          <p:nvPr/>
        </p:nvSpPr>
        <p:spPr>
          <a:xfrm>
            <a:off x="2494026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3"/>
          <p:cNvSpPr/>
          <p:nvPr/>
        </p:nvSpPr>
        <p:spPr>
          <a:xfrm>
            <a:off x="2558034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4"/>
          <p:cNvSpPr/>
          <p:nvPr/>
        </p:nvSpPr>
        <p:spPr>
          <a:xfrm>
            <a:off x="2622042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5"/>
          <p:cNvSpPr/>
          <p:nvPr/>
        </p:nvSpPr>
        <p:spPr>
          <a:xfrm>
            <a:off x="26860500" y="1147663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6"/>
          <p:cNvSpPr/>
          <p:nvPr/>
        </p:nvSpPr>
        <p:spPr>
          <a:xfrm>
            <a:off x="223799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7"/>
          <p:cNvSpPr/>
          <p:nvPr/>
        </p:nvSpPr>
        <p:spPr>
          <a:xfrm>
            <a:off x="230200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8"/>
          <p:cNvSpPr/>
          <p:nvPr/>
        </p:nvSpPr>
        <p:spPr>
          <a:xfrm>
            <a:off x="236601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9"/>
          <p:cNvSpPr/>
          <p:nvPr/>
        </p:nvSpPr>
        <p:spPr>
          <a:xfrm>
            <a:off x="2430018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60"/>
          <p:cNvSpPr/>
          <p:nvPr/>
        </p:nvSpPr>
        <p:spPr>
          <a:xfrm>
            <a:off x="2494026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1"/>
          <p:cNvSpPr/>
          <p:nvPr/>
        </p:nvSpPr>
        <p:spPr>
          <a:xfrm>
            <a:off x="2558034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2"/>
          <p:cNvSpPr/>
          <p:nvPr/>
        </p:nvSpPr>
        <p:spPr>
          <a:xfrm>
            <a:off x="2622042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3"/>
          <p:cNvSpPr/>
          <p:nvPr/>
        </p:nvSpPr>
        <p:spPr>
          <a:xfrm>
            <a:off x="26860500" y="1194572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Warp 2"/>
          <p:cNvSpPr/>
          <p:nvPr/>
        </p:nvSpPr>
        <p:spPr>
          <a:xfrm>
            <a:off x="199339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19" name="Thread 64"/>
          <p:cNvSpPr/>
          <p:nvPr/>
        </p:nvSpPr>
        <p:spPr>
          <a:xfrm>
            <a:off x="223799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5"/>
          <p:cNvSpPr/>
          <p:nvPr/>
        </p:nvSpPr>
        <p:spPr>
          <a:xfrm>
            <a:off x="230200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66"/>
          <p:cNvSpPr/>
          <p:nvPr/>
        </p:nvSpPr>
        <p:spPr>
          <a:xfrm>
            <a:off x="236601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7"/>
          <p:cNvSpPr/>
          <p:nvPr/>
        </p:nvSpPr>
        <p:spPr>
          <a:xfrm>
            <a:off x="243001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8"/>
          <p:cNvSpPr/>
          <p:nvPr/>
        </p:nvSpPr>
        <p:spPr>
          <a:xfrm>
            <a:off x="249402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9"/>
          <p:cNvSpPr/>
          <p:nvPr/>
        </p:nvSpPr>
        <p:spPr>
          <a:xfrm>
            <a:off x="255803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0"/>
          <p:cNvSpPr/>
          <p:nvPr/>
        </p:nvSpPr>
        <p:spPr>
          <a:xfrm>
            <a:off x="262204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1"/>
          <p:cNvSpPr/>
          <p:nvPr/>
        </p:nvSpPr>
        <p:spPr>
          <a:xfrm>
            <a:off x="268605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2"/>
          <p:cNvSpPr/>
          <p:nvPr/>
        </p:nvSpPr>
        <p:spPr>
          <a:xfrm>
            <a:off x="223799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3"/>
          <p:cNvSpPr/>
          <p:nvPr/>
        </p:nvSpPr>
        <p:spPr>
          <a:xfrm>
            <a:off x="230200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4"/>
          <p:cNvSpPr/>
          <p:nvPr/>
        </p:nvSpPr>
        <p:spPr>
          <a:xfrm>
            <a:off x="236601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5 highlighted"/>
          <p:cNvSpPr/>
          <p:nvPr/>
        </p:nvSpPr>
        <p:spPr>
          <a:xfrm>
            <a:off x="243001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1" name="Highlighted thread 75 ring"/>
          <p:cNvSpPr/>
          <p:nvPr/>
        </p:nvSpPr>
        <p:spPr>
          <a:xfrm>
            <a:off x="242087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2" name="Highlighted thread marker"/>
          <p:cNvSpPr/>
          <p:nvPr/>
        </p:nvSpPr>
        <p:spPr>
          <a:xfrm>
            <a:off x="244030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3" name="Thread 76"/>
          <p:cNvSpPr/>
          <p:nvPr/>
        </p:nvSpPr>
        <p:spPr>
          <a:xfrm>
            <a:off x="249402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77"/>
          <p:cNvSpPr/>
          <p:nvPr/>
        </p:nvSpPr>
        <p:spPr>
          <a:xfrm>
            <a:off x="255803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78"/>
          <p:cNvSpPr/>
          <p:nvPr/>
        </p:nvSpPr>
        <p:spPr>
          <a:xfrm>
            <a:off x="262204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9"/>
          <p:cNvSpPr/>
          <p:nvPr/>
        </p:nvSpPr>
        <p:spPr>
          <a:xfrm>
            <a:off x="268605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0"/>
          <p:cNvSpPr/>
          <p:nvPr/>
        </p:nvSpPr>
        <p:spPr>
          <a:xfrm>
            <a:off x="223799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1"/>
          <p:cNvSpPr/>
          <p:nvPr/>
        </p:nvSpPr>
        <p:spPr>
          <a:xfrm>
            <a:off x="230200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2"/>
          <p:cNvSpPr/>
          <p:nvPr/>
        </p:nvSpPr>
        <p:spPr>
          <a:xfrm>
            <a:off x="236601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3"/>
          <p:cNvSpPr/>
          <p:nvPr/>
        </p:nvSpPr>
        <p:spPr>
          <a:xfrm>
            <a:off x="243001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4"/>
          <p:cNvSpPr/>
          <p:nvPr/>
        </p:nvSpPr>
        <p:spPr>
          <a:xfrm>
            <a:off x="249402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5"/>
          <p:cNvSpPr/>
          <p:nvPr/>
        </p:nvSpPr>
        <p:spPr>
          <a:xfrm>
            <a:off x="255803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6"/>
          <p:cNvSpPr/>
          <p:nvPr/>
        </p:nvSpPr>
        <p:spPr>
          <a:xfrm>
            <a:off x="262204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7"/>
          <p:cNvSpPr/>
          <p:nvPr/>
        </p:nvSpPr>
        <p:spPr>
          <a:xfrm>
            <a:off x="268605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8"/>
          <p:cNvSpPr/>
          <p:nvPr/>
        </p:nvSpPr>
        <p:spPr>
          <a:xfrm>
            <a:off x="223799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9"/>
          <p:cNvSpPr/>
          <p:nvPr/>
        </p:nvSpPr>
        <p:spPr>
          <a:xfrm>
            <a:off x="230200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0"/>
          <p:cNvSpPr/>
          <p:nvPr/>
        </p:nvSpPr>
        <p:spPr>
          <a:xfrm>
            <a:off x="236601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1"/>
          <p:cNvSpPr/>
          <p:nvPr/>
        </p:nvSpPr>
        <p:spPr>
          <a:xfrm>
            <a:off x="243001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2"/>
          <p:cNvSpPr/>
          <p:nvPr/>
        </p:nvSpPr>
        <p:spPr>
          <a:xfrm>
            <a:off x="249402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3"/>
          <p:cNvSpPr/>
          <p:nvPr/>
        </p:nvSpPr>
        <p:spPr>
          <a:xfrm>
            <a:off x="255803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4"/>
          <p:cNvSpPr/>
          <p:nvPr/>
        </p:nvSpPr>
        <p:spPr>
          <a:xfrm>
            <a:off x="262204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5"/>
          <p:cNvSpPr/>
          <p:nvPr/>
        </p:nvSpPr>
        <p:spPr>
          <a:xfrm>
            <a:off x="268605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Warp 3"/>
          <p:cNvSpPr/>
          <p:nvPr/>
        </p:nvSpPr>
        <p:spPr>
          <a:xfrm>
            <a:off x="199339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4" name="Thread 96"/>
          <p:cNvSpPr/>
          <p:nvPr/>
        </p:nvSpPr>
        <p:spPr>
          <a:xfrm>
            <a:off x="223799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97"/>
          <p:cNvSpPr/>
          <p:nvPr/>
        </p:nvSpPr>
        <p:spPr>
          <a:xfrm>
            <a:off x="230200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98"/>
          <p:cNvSpPr/>
          <p:nvPr/>
        </p:nvSpPr>
        <p:spPr>
          <a:xfrm>
            <a:off x="236601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99"/>
          <p:cNvSpPr/>
          <p:nvPr/>
        </p:nvSpPr>
        <p:spPr>
          <a:xfrm>
            <a:off x="2430018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0"/>
          <p:cNvSpPr/>
          <p:nvPr/>
        </p:nvSpPr>
        <p:spPr>
          <a:xfrm>
            <a:off x="2494026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1"/>
          <p:cNvSpPr/>
          <p:nvPr/>
        </p:nvSpPr>
        <p:spPr>
          <a:xfrm>
            <a:off x="2558034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2"/>
          <p:cNvSpPr/>
          <p:nvPr/>
        </p:nvSpPr>
        <p:spPr>
          <a:xfrm>
            <a:off x="2622042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03"/>
          <p:cNvSpPr/>
          <p:nvPr/>
        </p:nvSpPr>
        <p:spPr>
          <a:xfrm>
            <a:off x="26860500" y="1463680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04"/>
          <p:cNvSpPr/>
          <p:nvPr/>
        </p:nvSpPr>
        <p:spPr>
          <a:xfrm>
            <a:off x="223799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05"/>
          <p:cNvSpPr/>
          <p:nvPr/>
        </p:nvSpPr>
        <p:spPr>
          <a:xfrm>
            <a:off x="230200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06"/>
          <p:cNvSpPr/>
          <p:nvPr/>
        </p:nvSpPr>
        <p:spPr>
          <a:xfrm>
            <a:off x="236601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07"/>
          <p:cNvSpPr/>
          <p:nvPr/>
        </p:nvSpPr>
        <p:spPr>
          <a:xfrm>
            <a:off x="2430018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08"/>
          <p:cNvSpPr/>
          <p:nvPr/>
        </p:nvSpPr>
        <p:spPr>
          <a:xfrm>
            <a:off x="2494026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09"/>
          <p:cNvSpPr/>
          <p:nvPr/>
        </p:nvSpPr>
        <p:spPr>
          <a:xfrm>
            <a:off x="2558034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0"/>
          <p:cNvSpPr/>
          <p:nvPr/>
        </p:nvSpPr>
        <p:spPr>
          <a:xfrm>
            <a:off x="2622042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1"/>
          <p:cNvSpPr/>
          <p:nvPr/>
        </p:nvSpPr>
        <p:spPr>
          <a:xfrm>
            <a:off x="26860500" y="1510588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2"/>
          <p:cNvSpPr/>
          <p:nvPr/>
        </p:nvSpPr>
        <p:spPr>
          <a:xfrm>
            <a:off x="223799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13"/>
          <p:cNvSpPr/>
          <p:nvPr/>
        </p:nvSpPr>
        <p:spPr>
          <a:xfrm>
            <a:off x="230200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14"/>
          <p:cNvSpPr/>
          <p:nvPr/>
        </p:nvSpPr>
        <p:spPr>
          <a:xfrm>
            <a:off x="236601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15"/>
          <p:cNvSpPr/>
          <p:nvPr/>
        </p:nvSpPr>
        <p:spPr>
          <a:xfrm>
            <a:off x="2430018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16"/>
          <p:cNvSpPr/>
          <p:nvPr/>
        </p:nvSpPr>
        <p:spPr>
          <a:xfrm>
            <a:off x="2494026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17"/>
          <p:cNvSpPr/>
          <p:nvPr/>
        </p:nvSpPr>
        <p:spPr>
          <a:xfrm>
            <a:off x="2558034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18"/>
          <p:cNvSpPr/>
          <p:nvPr/>
        </p:nvSpPr>
        <p:spPr>
          <a:xfrm>
            <a:off x="2622042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19"/>
          <p:cNvSpPr/>
          <p:nvPr/>
        </p:nvSpPr>
        <p:spPr>
          <a:xfrm>
            <a:off x="26860500" y="1557497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0"/>
          <p:cNvSpPr/>
          <p:nvPr/>
        </p:nvSpPr>
        <p:spPr>
          <a:xfrm>
            <a:off x="223799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Thread 121"/>
          <p:cNvSpPr/>
          <p:nvPr/>
        </p:nvSpPr>
        <p:spPr>
          <a:xfrm>
            <a:off x="230200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0" name="Thread 122"/>
          <p:cNvSpPr/>
          <p:nvPr/>
        </p:nvSpPr>
        <p:spPr>
          <a:xfrm>
            <a:off x="236601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Thread 123"/>
          <p:cNvSpPr/>
          <p:nvPr/>
        </p:nvSpPr>
        <p:spPr>
          <a:xfrm>
            <a:off x="2430018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2" name="Thread 124"/>
          <p:cNvSpPr/>
          <p:nvPr/>
        </p:nvSpPr>
        <p:spPr>
          <a:xfrm>
            <a:off x="2494026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25"/>
          <p:cNvSpPr/>
          <p:nvPr/>
        </p:nvSpPr>
        <p:spPr>
          <a:xfrm>
            <a:off x="2558034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126"/>
          <p:cNvSpPr/>
          <p:nvPr/>
        </p:nvSpPr>
        <p:spPr>
          <a:xfrm>
            <a:off x="2622042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127"/>
          <p:cNvSpPr/>
          <p:nvPr/>
        </p:nvSpPr>
        <p:spPr>
          <a:xfrm>
            <a:off x="26860500" y="1604406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RANK WITHIN GROUP"/>
          <p:cNvSpPr/>
          <p:nvPr/>
        </p:nvSpPr>
        <p:spPr>
          <a:xfrm>
            <a:off x="287350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7" name="Thread rank"/>
          <p:cNvSpPr/>
          <p:nvPr/>
        </p:nvSpPr>
        <p:spPr>
          <a:xfrm>
            <a:off x="287350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88" name="75"/>
          <p:cNvSpPr/>
          <p:nvPr/>
        </p:nvSpPr>
        <p:spPr>
          <a:xfrm>
            <a:off x="287350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75</a:t>
            </a:r>
          </a:p>
        </p:txBody>
      </p:sp>
      <p:sp>
        <p:nvSpPr>
          <p:cNvPr id="289" name="Group: all threads&#10;in the block"/>
          <p:cNvSpPr/>
          <p:nvPr/>
        </p:nvSpPr>
        <p:spPr>
          <a:xfrm>
            <a:off x="28735020" y="13970203"/>
            <a:ext cx="5372100" cy="1604772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Group: all threads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in the block</a:t>
            </a:r>
          </a:p>
        </p:txBody>
      </p:sp>
      <p:sp>
        <p:nvSpPr>
          <p:cNvPr id="290" name="Both APIs provide the same queries"/>
          <p:cNvSpPr/>
          <p:nvPr/>
        </p:nvSpPr>
        <p:spPr>
          <a:xfrm>
            <a:off x="1874520" y="18013680"/>
            <a:ext cx="320040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Both APIs provide the same queries</a:t>
            </a:r>
          </a:p>
        </p:txBody>
      </p:sp>
      <p:sp>
        <p:nvSpPr>
          <p:cNvPr id="291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3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4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5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6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>
  <p:cSld name="What makes them different? — 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Group queries · Warps within block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Group queries · Warps within block</a:t>
            </a:r>
          </a:p>
        </p:txBody>
      </p:sp>
      <p:sp>
        <p:nvSpPr>
          <p:cNvPr id="4" name="1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CTK’s Cooperative Groups"/>
          <p:cNvSpPr/>
          <p:nvPr/>
        </p:nvSpPr>
        <p:spPr>
          <a:xfrm>
            <a:off x="22860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CTK’s Cooperative Groups</a:t>
            </a:r>
          </a:p>
        </p:txBody>
      </p:sp>
      <p:sp>
        <p:nvSpPr>
          <p:cNvPr id="8" name="Block: 128 threads"/>
          <p:cNvSpPr/>
          <p:nvPr/>
        </p:nvSpPr>
        <p:spPr>
          <a:xfrm>
            <a:off x="24688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Upper boundary: block"/>
          <p:cNvSpPr/>
          <p:nvPr/>
        </p:nvSpPr>
        <p:spPr>
          <a:xfrm>
            <a:off x="23088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Warp 0"/>
          <p:cNvSpPr/>
          <p:nvPr/>
        </p:nvSpPr>
        <p:spPr>
          <a:xfrm>
            <a:off x="29032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1" name="Thread 0"/>
          <p:cNvSpPr/>
          <p:nvPr/>
        </p:nvSpPr>
        <p:spPr>
          <a:xfrm>
            <a:off x="53492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Thread 1"/>
          <p:cNvSpPr/>
          <p:nvPr/>
        </p:nvSpPr>
        <p:spPr>
          <a:xfrm>
            <a:off x="59893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Thread 2"/>
          <p:cNvSpPr/>
          <p:nvPr/>
        </p:nvSpPr>
        <p:spPr>
          <a:xfrm>
            <a:off x="66294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Thread 3"/>
          <p:cNvSpPr/>
          <p:nvPr/>
        </p:nvSpPr>
        <p:spPr>
          <a:xfrm>
            <a:off x="72694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Thread 4"/>
          <p:cNvSpPr/>
          <p:nvPr/>
        </p:nvSpPr>
        <p:spPr>
          <a:xfrm>
            <a:off x="79095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Thread 5"/>
          <p:cNvSpPr/>
          <p:nvPr/>
        </p:nvSpPr>
        <p:spPr>
          <a:xfrm>
            <a:off x="85496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Thread 6"/>
          <p:cNvSpPr/>
          <p:nvPr/>
        </p:nvSpPr>
        <p:spPr>
          <a:xfrm>
            <a:off x="91897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Thread 7"/>
          <p:cNvSpPr/>
          <p:nvPr/>
        </p:nvSpPr>
        <p:spPr>
          <a:xfrm>
            <a:off x="98298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8"/>
          <p:cNvSpPr/>
          <p:nvPr/>
        </p:nvSpPr>
        <p:spPr>
          <a:xfrm>
            <a:off x="53492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9"/>
          <p:cNvSpPr/>
          <p:nvPr/>
        </p:nvSpPr>
        <p:spPr>
          <a:xfrm>
            <a:off x="59893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10"/>
          <p:cNvSpPr/>
          <p:nvPr/>
        </p:nvSpPr>
        <p:spPr>
          <a:xfrm>
            <a:off x="66294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11"/>
          <p:cNvSpPr/>
          <p:nvPr/>
        </p:nvSpPr>
        <p:spPr>
          <a:xfrm>
            <a:off x="72694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2"/>
          <p:cNvSpPr/>
          <p:nvPr/>
        </p:nvSpPr>
        <p:spPr>
          <a:xfrm>
            <a:off x="79095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13"/>
          <p:cNvSpPr/>
          <p:nvPr/>
        </p:nvSpPr>
        <p:spPr>
          <a:xfrm>
            <a:off x="85496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14"/>
          <p:cNvSpPr/>
          <p:nvPr/>
        </p:nvSpPr>
        <p:spPr>
          <a:xfrm>
            <a:off x="91897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15"/>
          <p:cNvSpPr/>
          <p:nvPr/>
        </p:nvSpPr>
        <p:spPr>
          <a:xfrm>
            <a:off x="98298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16"/>
          <p:cNvSpPr/>
          <p:nvPr/>
        </p:nvSpPr>
        <p:spPr>
          <a:xfrm>
            <a:off x="53492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7"/>
          <p:cNvSpPr/>
          <p:nvPr/>
        </p:nvSpPr>
        <p:spPr>
          <a:xfrm>
            <a:off x="59893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8"/>
          <p:cNvSpPr/>
          <p:nvPr/>
        </p:nvSpPr>
        <p:spPr>
          <a:xfrm>
            <a:off x="66294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9"/>
          <p:cNvSpPr/>
          <p:nvPr/>
        </p:nvSpPr>
        <p:spPr>
          <a:xfrm>
            <a:off x="72694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20"/>
          <p:cNvSpPr/>
          <p:nvPr/>
        </p:nvSpPr>
        <p:spPr>
          <a:xfrm>
            <a:off x="79095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21"/>
          <p:cNvSpPr/>
          <p:nvPr/>
        </p:nvSpPr>
        <p:spPr>
          <a:xfrm>
            <a:off x="85496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22"/>
          <p:cNvSpPr/>
          <p:nvPr/>
        </p:nvSpPr>
        <p:spPr>
          <a:xfrm>
            <a:off x="91897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23"/>
          <p:cNvSpPr/>
          <p:nvPr/>
        </p:nvSpPr>
        <p:spPr>
          <a:xfrm>
            <a:off x="98298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24"/>
          <p:cNvSpPr/>
          <p:nvPr/>
        </p:nvSpPr>
        <p:spPr>
          <a:xfrm>
            <a:off x="53492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25"/>
          <p:cNvSpPr/>
          <p:nvPr/>
        </p:nvSpPr>
        <p:spPr>
          <a:xfrm>
            <a:off x="59893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26"/>
          <p:cNvSpPr/>
          <p:nvPr/>
        </p:nvSpPr>
        <p:spPr>
          <a:xfrm>
            <a:off x="66294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7"/>
          <p:cNvSpPr/>
          <p:nvPr/>
        </p:nvSpPr>
        <p:spPr>
          <a:xfrm>
            <a:off x="72694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8"/>
          <p:cNvSpPr/>
          <p:nvPr/>
        </p:nvSpPr>
        <p:spPr>
          <a:xfrm>
            <a:off x="79095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9"/>
          <p:cNvSpPr/>
          <p:nvPr/>
        </p:nvSpPr>
        <p:spPr>
          <a:xfrm>
            <a:off x="85496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30"/>
          <p:cNvSpPr/>
          <p:nvPr/>
        </p:nvSpPr>
        <p:spPr>
          <a:xfrm>
            <a:off x="91897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31"/>
          <p:cNvSpPr/>
          <p:nvPr/>
        </p:nvSpPr>
        <p:spPr>
          <a:xfrm>
            <a:off x="98298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Warp 1"/>
          <p:cNvSpPr/>
          <p:nvPr/>
        </p:nvSpPr>
        <p:spPr>
          <a:xfrm>
            <a:off x="29032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44" name="Thread 32"/>
          <p:cNvSpPr/>
          <p:nvPr/>
        </p:nvSpPr>
        <p:spPr>
          <a:xfrm>
            <a:off x="53492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5" name="Thread 33"/>
          <p:cNvSpPr/>
          <p:nvPr/>
        </p:nvSpPr>
        <p:spPr>
          <a:xfrm>
            <a:off x="59893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6" name="Thread 34"/>
          <p:cNvSpPr/>
          <p:nvPr/>
        </p:nvSpPr>
        <p:spPr>
          <a:xfrm>
            <a:off x="66294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7" name="Thread 35"/>
          <p:cNvSpPr/>
          <p:nvPr/>
        </p:nvSpPr>
        <p:spPr>
          <a:xfrm>
            <a:off x="726948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8" name="Thread 36"/>
          <p:cNvSpPr/>
          <p:nvPr/>
        </p:nvSpPr>
        <p:spPr>
          <a:xfrm>
            <a:off x="790956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49" name="Thread 37"/>
          <p:cNvSpPr/>
          <p:nvPr/>
        </p:nvSpPr>
        <p:spPr>
          <a:xfrm>
            <a:off x="85496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0" name="Thread 38"/>
          <p:cNvSpPr/>
          <p:nvPr/>
        </p:nvSpPr>
        <p:spPr>
          <a:xfrm>
            <a:off x="91897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1" name="Thread 39"/>
          <p:cNvSpPr/>
          <p:nvPr/>
        </p:nvSpPr>
        <p:spPr>
          <a:xfrm>
            <a:off x="98298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2" name="Thread 40"/>
          <p:cNvSpPr/>
          <p:nvPr/>
        </p:nvSpPr>
        <p:spPr>
          <a:xfrm>
            <a:off x="53492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3" name="Thread 41"/>
          <p:cNvSpPr/>
          <p:nvPr/>
        </p:nvSpPr>
        <p:spPr>
          <a:xfrm>
            <a:off x="59893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4" name="Thread 42"/>
          <p:cNvSpPr/>
          <p:nvPr/>
        </p:nvSpPr>
        <p:spPr>
          <a:xfrm>
            <a:off x="66294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5" name="Thread 43"/>
          <p:cNvSpPr/>
          <p:nvPr/>
        </p:nvSpPr>
        <p:spPr>
          <a:xfrm>
            <a:off x="726948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6" name="Thread 44"/>
          <p:cNvSpPr/>
          <p:nvPr/>
        </p:nvSpPr>
        <p:spPr>
          <a:xfrm>
            <a:off x="790956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7" name="Thread 45"/>
          <p:cNvSpPr/>
          <p:nvPr/>
        </p:nvSpPr>
        <p:spPr>
          <a:xfrm>
            <a:off x="85496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8" name="Thread 46"/>
          <p:cNvSpPr/>
          <p:nvPr/>
        </p:nvSpPr>
        <p:spPr>
          <a:xfrm>
            <a:off x="91897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59" name="Thread 47"/>
          <p:cNvSpPr/>
          <p:nvPr/>
        </p:nvSpPr>
        <p:spPr>
          <a:xfrm>
            <a:off x="98298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0" name="Thread 48"/>
          <p:cNvSpPr/>
          <p:nvPr/>
        </p:nvSpPr>
        <p:spPr>
          <a:xfrm>
            <a:off x="53492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1" name="Thread 49"/>
          <p:cNvSpPr/>
          <p:nvPr/>
        </p:nvSpPr>
        <p:spPr>
          <a:xfrm>
            <a:off x="59893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2" name="Thread 50"/>
          <p:cNvSpPr/>
          <p:nvPr/>
        </p:nvSpPr>
        <p:spPr>
          <a:xfrm>
            <a:off x="66294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3" name="Thread 51"/>
          <p:cNvSpPr/>
          <p:nvPr/>
        </p:nvSpPr>
        <p:spPr>
          <a:xfrm>
            <a:off x="726948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4" name="Thread 52"/>
          <p:cNvSpPr/>
          <p:nvPr/>
        </p:nvSpPr>
        <p:spPr>
          <a:xfrm>
            <a:off x="790956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5" name="Thread 53"/>
          <p:cNvSpPr/>
          <p:nvPr/>
        </p:nvSpPr>
        <p:spPr>
          <a:xfrm>
            <a:off x="85496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6" name="Thread 54"/>
          <p:cNvSpPr/>
          <p:nvPr/>
        </p:nvSpPr>
        <p:spPr>
          <a:xfrm>
            <a:off x="91897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7" name="Thread 55"/>
          <p:cNvSpPr/>
          <p:nvPr/>
        </p:nvSpPr>
        <p:spPr>
          <a:xfrm>
            <a:off x="98298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8" name="Thread 56"/>
          <p:cNvSpPr/>
          <p:nvPr/>
        </p:nvSpPr>
        <p:spPr>
          <a:xfrm>
            <a:off x="53492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69" name="Thread 57"/>
          <p:cNvSpPr/>
          <p:nvPr/>
        </p:nvSpPr>
        <p:spPr>
          <a:xfrm>
            <a:off x="59893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0" name="Thread 58"/>
          <p:cNvSpPr/>
          <p:nvPr/>
        </p:nvSpPr>
        <p:spPr>
          <a:xfrm>
            <a:off x="66294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1" name="Thread 59"/>
          <p:cNvSpPr/>
          <p:nvPr/>
        </p:nvSpPr>
        <p:spPr>
          <a:xfrm>
            <a:off x="726948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2" name="Thread 60"/>
          <p:cNvSpPr/>
          <p:nvPr/>
        </p:nvSpPr>
        <p:spPr>
          <a:xfrm>
            <a:off x="790956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3" name="Thread 61"/>
          <p:cNvSpPr/>
          <p:nvPr/>
        </p:nvSpPr>
        <p:spPr>
          <a:xfrm>
            <a:off x="85496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4" name="Thread 62"/>
          <p:cNvSpPr/>
          <p:nvPr/>
        </p:nvSpPr>
        <p:spPr>
          <a:xfrm>
            <a:off x="91897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5" name="Thread 63"/>
          <p:cNvSpPr/>
          <p:nvPr/>
        </p:nvSpPr>
        <p:spPr>
          <a:xfrm>
            <a:off x="98298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76" name="Warp 2"/>
          <p:cNvSpPr/>
          <p:nvPr/>
        </p:nvSpPr>
        <p:spPr>
          <a:xfrm>
            <a:off x="29032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77" name="Thread 64"/>
          <p:cNvSpPr/>
          <p:nvPr/>
        </p:nvSpPr>
        <p:spPr>
          <a:xfrm>
            <a:off x="53492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5"/>
          <p:cNvSpPr/>
          <p:nvPr/>
        </p:nvSpPr>
        <p:spPr>
          <a:xfrm>
            <a:off x="59893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6"/>
          <p:cNvSpPr/>
          <p:nvPr/>
        </p:nvSpPr>
        <p:spPr>
          <a:xfrm>
            <a:off x="66294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7"/>
          <p:cNvSpPr/>
          <p:nvPr/>
        </p:nvSpPr>
        <p:spPr>
          <a:xfrm>
            <a:off x="72694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8"/>
          <p:cNvSpPr/>
          <p:nvPr/>
        </p:nvSpPr>
        <p:spPr>
          <a:xfrm>
            <a:off x="79095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69"/>
          <p:cNvSpPr/>
          <p:nvPr/>
        </p:nvSpPr>
        <p:spPr>
          <a:xfrm>
            <a:off x="85496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70"/>
          <p:cNvSpPr/>
          <p:nvPr/>
        </p:nvSpPr>
        <p:spPr>
          <a:xfrm>
            <a:off x="91897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71"/>
          <p:cNvSpPr/>
          <p:nvPr/>
        </p:nvSpPr>
        <p:spPr>
          <a:xfrm>
            <a:off x="98298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72"/>
          <p:cNvSpPr/>
          <p:nvPr/>
        </p:nvSpPr>
        <p:spPr>
          <a:xfrm>
            <a:off x="53492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73"/>
          <p:cNvSpPr/>
          <p:nvPr/>
        </p:nvSpPr>
        <p:spPr>
          <a:xfrm>
            <a:off x="59893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74"/>
          <p:cNvSpPr/>
          <p:nvPr/>
        </p:nvSpPr>
        <p:spPr>
          <a:xfrm>
            <a:off x="66294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75 highlighted"/>
          <p:cNvSpPr/>
          <p:nvPr/>
        </p:nvSpPr>
        <p:spPr>
          <a:xfrm>
            <a:off x="72694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89" name="Highlighted thread 75 ring"/>
          <p:cNvSpPr/>
          <p:nvPr/>
        </p:nvSpPr>
        <p:spPr>
          <a:xfrm>
            <a:off x="71780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90" name="Highlighted thread marker"/>
          <p:cNvSpPr/>
          <p:nvPr/>
        </p:nvSpPr>
        <p:spPr>
          <a:xfrm>
            <a:off x="73723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91" name="Thread 76"/>
          <p:cNvSpPr/>
          <p:nvPr/>
        </p:nvSpPr>
        <p:spPr>
          <a:xfrm>
            <a:off x="79095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7"/>
          <p:cNvSpPr/>
          <p:nvPr/>
        </p:nvSpPr>
        <p:spPr>
          <a:xfrm>
            <a:off x="85496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8"/>
          <p:cNvSpPr/>
          <p:nvPr/>
        </p:nvSpPr>
        <p:spPr>
          <a:xfrm>
            <a:off x="91897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9"/>
          <p:cNvSpPr/>
          <p:nvPr/>
        </p:nvSpPr>
        <p:spPr>
          <a:xfrm>
            <a:off x="98298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80"/>
          <p:cNvSpPr/>
          <p:nvPr/>
        </p:nvSpPr>
        <p:spPr>
          <a:xfrm>
            <a:off x="53492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81"/>
          <p:cNvSpPr/>
          <p:nvPr/>
        </p:nvSpPr>
        <p:spPr>
          <a:xfrm>
            <a:off x="59893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2"/>
          <p:cNvSpPr/>
          <p:nvPr/>
        </p:nvSpPr>
        <p:spPr>
          <a:xfrm>
            <a:off x="66294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83"/>
          <p:cNvSpPr/>
          <p:nvPr/>
        </p:nvSpPr>
        <p:spPr>
          <a:xfrm>
            <a:off x="72694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4"/>
          <p:cNvSpPr/>
          <p:nvPr/>
        </p:nvSpPr>
        <p:spPr>
          <a:xfrm>
            <a:off x="79095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5"/>
          <p:cNvSpPr/>
          <p:nvPr/>
        </p:nvSpPr>
        <p:spPr>
          <a:xfrm>
            <a:off x="85496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6"/>
          <p:cNvSpPr/>
          <p:nvPr/>
        </p:nvSpPr>
        <p:spPr>
          <a:xfrm>
            <a:off x="91897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7"/>
          <p:cNvSpPr/>
          <p:nvPr/>
        </p:nvSpPr>
        <p:spPr>
          <a:xfrm>
            <a:off x="98298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8"/>
          <p:cNvSpPr/>
          <p:nvPr/>
        </p:nvSpPr>
        <p:spPr>
          <a:xfrm>
            <a:off x="53492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9"/>
          <p:cNvSpPr/>
          <p:nvPr/>
        </p:nvSpPr>
        <p:spPr>
          <a:xfrm>
            <a:off x="59893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90"/>
          <p:cNvSpPr/>
          <p:nvPr/>
        </p:nvSpPr>
        <p:spPr>
          <a:xfrm>
            <a:off x="66294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91"/>
          <p:cNvSpPr/>
          <p:nvPr/>
        </p:nvSpPr>
        <p:spPr>
          <a:xfrm>
            <a:off x="72694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92"/>
          <p:cNvSpPr/>
          <p:nvPr/>
        </p:nvSpPr>
        <p:spPr>
          <a:xfrm>
            <a:off x="79095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93"/>
          <p:cNvSpPr/>
          <p:nvPr/>
        </p:nvSpPr>
        <p:spPr>
          <a:xfrm>
            <a:off x="85496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4"/>
          <p:cNvSpPr/>
          <p:nvPr/>
        </p:nvSpPr>
        <p:spPr>
          <a:xfrm>
            <a:off x="91897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5"/>
          <p:cNvSpPr/>
          <p:nvPr/>
        </p:nvSpPr>
        <p:spPr>
          <a:xfrm>
            <a:off x="98298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Warp 3"/>
          <p:cNvSpPr/>
          <p:nvPr/>
        </p:nvSpPr>
        <p:spPr>
          <a:xfrm>
            <a:off x="29032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112" name="Thread 96"/>
          <p:cNvSpPr/>
          <p:nvPr/>
        </p:nvSpPr>
        <p:spPr>
          <a:xfrm>
            <a:off x="53492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97"/>
          <p:cNvSpPr/>
          <p:nvPr/>
        </p:nvSpPr>
        <p:spPr>
          <a:xfrm>
            <a:off x="59893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98"/>
          <p:cNvSpPr/>
          <p:nvPr/>
        </p:nvSpPr>
        <p:spPr>
          <a:xfrm>
            <a:off x="66294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99"/>
          <p:cNvSpPr/>
          <p:nvPr/>
        </p:nvSpPr>
        <p:spPr>
          <a:xfrm>
            <a:off x="726948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6" name="Thread 100"/>
          <p:cNvSpPr/>
          <p:nvPr/>
        </p:nvSpPr>
        <p:spPr>
          <a:xfrm>
            <a:off x="790956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7" name="Thread 101"/>
          <p:cNvSpPr/>
          <p:nvPr/>
        </p:nvSpPr>
        <p:spPr>
          <a:xfrm>
            <a:off x="85496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02"/>
          <p:cNvSpPr/>
          <p:nvPr/>
        </p:nvSpPr>
        <p:spPr>
          <a:xfrm>
            <a:off x="91897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103"/>
          <p:cNvSpPr/>
          <p:nvPr/>
        </p:nvSpPr>
        <p:spPr>
          <a:xfrm>
            <a:off x="98298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104"/>
          <p:cNvSpPr/>
          <p:nvPr/>
        </p:nvSpPr>
        <p:spPr>
          <a:xfrm>
            <a:off x="53492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105"/>
          <p:cNvSpPr/>
          <p:nvPr/>
        </p:nvSpPr>
        <p:spPr>
          <a:xfrm>
            <a:off x="59893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106"/>
          <p:cNvSpPr/>
          <p:nvPr/>
        </p:nvSpPr>
        <p:spPr>
          <a:xfrm>
            <a:off x="66294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107"/>
          <p:cNvSpPr/>
          <p:nvPr/>
        </p:nvSpPr>
        <p:spPr>
          <a:xfrm>
            <a:off x="726948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108"/>
          <p:cNvSpPr/>
          <p:nvPr/>
        </p:nvSpPr>
        <p:spPr>
          <a:xfrm>
            <a:off x="790956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109"/>
          <p:cNvSpPr/>
          <p:nvPr/>
        </p:nvSpPr>
        <p:spPr>
          <a:xfrm>
            <a:off x="85496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110"/>
          <p:cNvSpPr/>
          <p:nvPr/>
        </p:nvSpPr>
        <p:spPr>
          <a:xfrm>
            <a:off x="91897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11"/>
          <p:cNvSpPr/>
          <p:nvPr/>
        </p:nvSpPr>
        <p:spPr>
          <a:xfrm>
            <a:off x="98298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2"/>
          <p:cNvSpPr/>
          <p:nvPr/>
        </p:nvSpPr>
        <p:spPr>
          <a:xfrm>
            <a:off x="53492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13"/>
          <p:cNvSpPr/>
          <p:nvPr/>
        </p:nvSpPr>
        <p:spPr>
          <a:xfrm>
            <a:off x="59893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14"/>
          <p:cNvSpPr/>
          <p:nvPr/>
        </p:nvSpPr>
        <p:spPr>
          <a:xfrm>
            <a:off x="66294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15"/>
          <p:cNvSpPr/>
          <p:nvPr/>
        </p:nvSpPr>
        <p:spPr>
          <a:xfrm>
            <a:off x="726948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16"/>
          <p:cNvSpPr/>
          <p:nvPr/>
        </p:nvSpPr>
        <p:spPr>
          <a:xfrm>
            <a:off x="790956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17"/>
          <p:cNvSpPr/>
          <p:nvPr/>
        </p:nvSpPr>
        <p:spPr>
          <a:xfrm>
            <a:off x="85496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18"/>
          <p:cNvSpPr/>
          <p:nvPr/>
        </p:nvSpPr>
        <p:spPr>
          <a:xfrm>
            <a:off x="91897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19"/>
          <p:cNvSpPr/>
          <p:nvPr/>
        </p:nvSpPr>
        <p:spPr>
          <a:xfrm>
            <a:off x="98298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20"/>
          <p:cNvSpPr/>
          <p:nvPr/>
        </p:nvSpPr>
        <p:spPr>
          <a:xfrm>
            <a:off x="53492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121"/>
          <p:cNvSpPr/>
          <p:nvPr/>
        </p:nvSpPr>
        <p:spPr>
          <a:xfrm>
            <a:off x="59893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122"/>
          <p:cNvSpPr/>
          <p:nvPr/>
        </p:nvSpPr>
        <p:spPr>
          <a:xfrm>
            <a:off x="66294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123"/>
          <p:cNvSpPr/>
          <p:nvPr/>
        </p:nvSpPr>
        <p:spPr>
          <a:xfrm>
            <a:off x="726948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124"/>
          <p:cNvSpPr/>
          <p:nvPr/>
        </p:nvSpPr>
        <p:spPr>
          <a:xfrm>
            <a:off x="790956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125"/>
          <p:cNvSpPr/>
          <p:nvPr/>
        </p:nvSpPr>
        <p:spPr>
          <a:xfrm>
            <a:off x="85496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126"/>
          <p:cNvSpPr/>
          <p:nvPr/>
        </p:nvSpPr>
        <p:spPr>
          <a:xfrm>
            <a:off x="91897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127"/>
          <p:cNvSpPr/>
          <p:nvPr/>
        </p:nvSpPr>
        <p:spPr>
          <a:xfrm>
            <a:off x="98298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44" name="RANK WITHIN GROUP"/>
          <p:cNvSpPr/>
          <p:nvPr/>
        </p:nvSpPr>
        <p:spPr>
          <a:xfrm>
            <a:off x="117043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145" name="Thread rank"/>
          <p:cNvSpPr/>
          <p:nvPr/>
        </p:nvSpPr>
        <p:spPr>
          <a:xfrm>
            <a:off x="117043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146" name="43"/>
          <p:cNvSpPr/>
          <p:nvPr/>
        </p:nvSpPr>
        <p:spPr>
          <a:xfrm>
            <a:off x="117043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147" name="Thread rank only"/>
          <p:cNvSpPr/>
          <p:nvPr/>
        </p:nvSpPr>
        <p:spPr>
          <a:xfrm>
            <a:off x="11704320" y="14044270"/>
            <a:ext cx="5143500" cy="148132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Thread rank only</a:t>
            </a:r>
          </a:p>
        </p:txBody>
      </p:sp>
      <p:sp>
        <p:nvSpPr>
          <p:cNvPr id="148" name="Shape"/>
          <p:cNvSpPr/>
          <p:nvPr/>
        </p:nvSpPr>
        <p:spPr>
          <a:xfrm>
            <a:off x="18859500" y="5600700"/>
            <a:ext cx="15887700" cy="98755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9" name="CCCL Cooperative Groups"/>
          <p:cNvSpPr/>
          <p:nvPr/>
        </p:nvSpPr>
        <p:spPr>
          <a:xfrm>
            <a:off x="19316700" y="6119165"/>
            <a:ext cx="15087600" cy="12344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150" name="Block: 128 threads"/>
          <p:cNvSpPr/>
          <p:nvPr/>
        </p:nvSpPr>
        <p:spPr>
          <a:xfrm>
            <a:off x="19499580" y="8069580"/>
            <a:ext cx="8458200" cy="86410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51" name="Upper boundary: block"/>
          <p:cNvSpPr/>
          <p:nvPr/>
        </p:nvSpPr>
        <p:spPr>
          <a:xfrm>
            <a:off x="19339560" y="7896758"/>
            <a:ext cx="8778240" cy="8986723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52" name="Selected warp unit 0"/>
          <p:cNvSpPr/>
          <p:nvPr/>
        </p:nvSpPr>
        <p:spPr>
          <a:xfrm>
            <a:off x="19705320" y="8316468"/>
            <a:ext cx="8023860" cy="1901038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Warp 0"/>
          <p:cNvSpPr/>
          <p:nvPr/>
        </p:nvSpPr>
        <p:spPr>
          <a:xfrm>
            <a:off x="19933920" y="893368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0</a:t>
            </a:r>
          </a:p>
        </p:txBody>
      </p:sp>
      <p:sp>
        <p:nvSpPr>
          <p:cNvPr id="154" name="Thread 0"/>
          <p:cNvSpPr/>
          <p:nvPr/>
        </p:nvSpPr>
        <p:spPr>
          <a:xfrm>
            <a:off x="223799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1"/>
          <p:cNvSpPr/>
          <p:nvPr/>
        </p:nvSpPr>
        <p:spPr>
          <a:xfrm>
            <a:off x="230200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2"/>
          <p:cNvSpPr/>
          <p:nvPr/>
        </p:nvSpPr>
        <p:spPr>
          <a:xfrm>
            <a:off x="236601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3"/>
          <p:cNvSpPr/>
          <p:nvPr/>
        </p:nvSpPr>
        <p:spPr>
          <a:xfrm>
            <a:off x="2430018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4"/>
          <p:cNvSpPr/>
          <p:nvPr/>
        </p:nvSpPr>
        <p:spPr>
          <a:xfrm>
            <a:off x="2494026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5"/>
          <p:cNvSpPr/>
          <p:nvPr/>
        </p:nvSpPr>
        <p:spPr>
          <a:xfrm>
            <a:off x="2558034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6"/>
          <p:cNvSpPr/>
          <p:nvPr/>
        </p:nvSpPr>
        <p:spPr>
          <a:xfrm>
            <a:off x="2622042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7"/>
          <p:cNvSpPr/>
          <p:nvPr/>
        </p:nvSpPr>
        <p:spPr>
          <a:xfrm>
            <a:off x="26860500" y="848929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8"/>
          <p:cNvSpPr/>
          <p:nvPr/>
        </p:nvSpPr>
        <p:spPr>
          <a:xfrm>
            <a:off x="223799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9"/>
          <p:cNvSpPr/>
          <p:nvPr/>
        </p:nvSpPr>
        <p:spPr>
          <a:xfrm>
            <a:off x="230200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0"/>
          <p:cNvSpPr/>
          <p:nvPr/>
        </p:nvSpPr>
        <p:spPr>
          <a:xfrm>
            <a:off x="236601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1"/>
          <p:cNvSpPr/>
          <p:nvPr/>
        </p:nvSpPr>
        <p:spPr>
          <a:xfrm>
            <a:off x="2430018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2"/>
          <p:cNvSpPr/>
          <p:nvPr/>
        </p:nvSpPr>
        <p:spPr>
          <a:xfrm>
            <a:off x="2494026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3"/>
          <p:cNvSpPr/>
          <p:nvPr/>
        </p:nvSpPr>
        <p:spPr>
          <a:xfrm>
            <a:off x="2558034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4"/>
          <p:cNvSpPr/>
          <p:nvPr/>
        </p:nvSpPr>
        <p:spPr>
          <a:xfrm>
            <a:off x="2622042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5"/>
          <p:cNvSpPr/>
          <p:nvPr/>
        </p:nvSpPr>
        <p:spPr>
          <a:xfrm>
            <a:off x="26860500" y="8958377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6"/>
          <p:cNvSpPr/>
          <p:nvPr/>
        </p:nvSpPr>
        <p:spPr>
          <a:xfrm>
            <a:off x="223799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7"/>
          <p:cNvSpPr/>
          <p:nvPr/>
        </p:nvSpPr>
        <p:spPr>
          <a:xfrm>
            <a:off x="230200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8"/>
          <p:cNvSpPr/>
          <p:nvPr/>
        </p:nvSpPr>
        <p:spPr>
          <a:xfrm>
            <a:off x="236601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9"/>
          <p:cNvSpPr/>
          <p:nvPr/>
        </p:nvSpPr>
        <p:spPr>
          <a:xfrm>
            <a:off x="2430018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0"/>
          <p:cNvSpPr/>
          <p:nvPr/>
        </p:nvSpPr>
        <p:spPr>
          <a:xfrm>
            <a:off x="2494026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1"/>
          <p:cNvSpPr/>
          <p:nvPr/>
        </p:nvSpPr>
        <p:spPr>
          <a:xfrm>
            <a:off x="2558034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2"/>
          <p:cNvSpPr/>
          <p:nvPr/>
        </p:nvSpPr>
        <p:spPr>
          <a:xfrm>
            <a:off x="2622042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3"/>
          <p:cNvSpPr/>
          <p:nvPr/>
        </p:nvSpPr>
        <p:spPr>
          <a:xfrm>
            <a:off x="26860500" y="9427464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4"/>
          <p:cNvSpPr/>
          <p:nvPr/>
        </p:nvSpPr>
        <p:spPr>
          <a:xfrm>
            <a:off x="223799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5"/>
          <p:cNvSpPr/>
          <p:nvPr/>
        </p:nvSpPr>
        <p:spPr>
          <a:xfrm>
            <a:off x="230200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6"/>
          <p:cNvSpPr/>
          <p:nvPr/>
        </p:nvSpPr>
        <p:spPr>
          <a:xfrm>
            <a:off x="236601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7"/>
          <p:cNvSpPr/>
          <p:nvPr/>
        </p:nvSpPr>
        <p:spPr>
          <a:xfrm>
            <a:off x="2430018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8"/>
          <p:cNvSpPr/>
          <p:nvPr/>
        </p:nvSpPr>
        <p:spPr>
          <a:xfrm>
            <a:off x="2494026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9"/>
          <p:cNvSpPr/>
          <p:nvPr/>
        </p:nvSpPr>
        <p:spPr>
          <a:xfrm>
            <a:off x="2558034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0"/>
          <p:cNvSpPr/>
          <p:nvPr/>
        </p:nvSpPr>
        <p:spPr>
          <a:xfrm>
            <a:off x="2622042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1"/>
          <p:cNvSpPr/>
          <p:nvPr/>
        </p:nvSpPr>
        <p:spPr>
          <a:xfrm>
            <a:off x="26860500" y="9896551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Warp 1"/>
          <p:cNvSpPr/>
          <p:nvPr/>
        </p:nvSpPr>
        <p:spPr>
          <a:xfrm>
            <a:off x="19933920" y="10982858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1</a:t>
            </a:r>
          </a:p>
        </p:txBody>
      </p:sp>
      <p:sp>
        <p:nvSpPr>
          <p:cNvPr id="187" name="Thread 32"/>
          <p:cNvSpPr/>
          <p:nvPr/>
        </p:nvSpPr>
        <p:spPr>
          <a:xfrm>
            <a:off x="223799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33"/>
          <p:cNvSpPr/>
          <p:nvPr/>
        </p:nvSpPr>
        <p:spPr>
          <a:xfrm>
            <a:off x="230200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34"/>
          <p:cNvSpPr/>
          <p:nvPr/>
        </p:nvSpPr>
        <p:spPr>
          <a:xfrm>
            <a:off x="236601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35"/>
          <p:cNvSpPr/>
          <p:nvPr/>
        </p:nvSpPr>
        <p:spPr>
          <a:xfrm>
            <a:off x="2430018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36"/>
          <p:cNvSpPr/>
          <p:nvPr/>
        </p:nvSpPr>
        <p:spPr>
          <a:xfrm>
            <a:off x="2494026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37"/>
          <p:cNvSpPr/>
          <p:nvPr/>
        </p:nvSpPr>
        <p:spPr>
          <a:xfrm>
            <a:off x="2558034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38"/>
          <p:cNvSpPr/>
          <p:nvPr/>
        </p:nvSpPr>
        <p:spPr>
          <a:xfrm>
            <a:off x="2622042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39"/>
          <p:cNvSpPr/>
          <p:nvPr/>
        </p:nvSpPr>
        <p:spPr>
          <a:xfrm>
            <a:off x="26860500" y="10538460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40"/>
          <p:cNvSpPr/>
          <p:nvPr/>
        </p:nvSpPr>
        <p:spPr>
          <a:xfrm>
            <a:off x="223799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41"/>
          <p:cNvSpPr/>
          <p:nvPr/>
        </p:nvSpPr>
        <p:spPr>
          <a:xfrm>
            <a:off x="230200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42"/>
          <p:cNvSpPr/>
          <p:nvPr/>
        </p:nvSpPr>
        <p:spPr>
          <a:xfrm>
            <a:off x="236601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43"/>
          <p:cNvSpPr/>
          <p:nvPr/>
        </p:nvSpPr>
        <p:spPr>
          <a:xfrm>
            <a:off x="2430018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44"/>
          <p:cNvSpPr/>
          <p:nvPr/>
        </p:nvSpPr>
        <p:spPr>
          <a:xfrm>
            <a:off x="2494026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45"/>
          <p:cNvSpPr/>
          <p:nvPr/>
        </p:nvSpPr>
        <p:spPr>
          <a:xfrm>
            <a:off x="2558034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46"/>
          <p:cNvSpPr/>
          <p:nvPr/>
        </p:nvSpPr>
        <p:spPr>
          <a:xfrm>
            <a:off x="2622042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47"/>
          <p:cNvSpPr/>
          <p:nvPr/>
        </p:nvSpPr>
        <p:spPr>
          <a:xfrm>
            <a:off x="26860500" y="11007547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48"/>
          <p:cNvSpPr/>
          <p:nvPr/>
        </p:nvSpPr>
        <p:spPr>
          <a:xfrm>
            <a:off x="223799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49"/>
          <p:cNvSpPr/>
          <p:nvPr/>
        </p:nvSpPr>
        <p:spPr>
          <a:xfrm>
            <a:off x="230200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50"/>
          <p:cNvSpPr/>
          <p:nvPr/>
        </p:nvSpPr>
        <p:spPr>
          <a:xfrm>
            <a:off x="236601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51"/>
          <p:cNvSpPr/>
          <p:nvPr/>
        </p:nvSpPr>
        <p:spPr>
          <a:xfrm>
            <a:off x="2430018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52"/>
          <p:cNvSpPr/>
          <p:nvPr/>
        </p:nvSpPr>
        <p:spPr>
          <a:xfrm>
            <a:off x="2494026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53"/>
          <p:cNvSpPr/>
          <p:nvPr/>
        </p:nvSpPr>
        <p:spPr>
          <a:xfrm>
            <a:off x="2558034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54"/>
          <p:cNvSpPr/>
          <p:nvPr/>
        </p:nvSpPr>
        <p:spPr>
          <a:xfrm>
            <a:off x="2622042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55"/>
          <p:cNvSpPr/>
          <p:nvPr/>
        </p:nvSpPr>
        <p:spPr>
          <a:xfrm>
            <a:off x="26860500" y="11476634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56"/>
          <p:cNvSpPr/>
          <p:nvPr/>
        </p:nvSpPr>
        <p:spPr>
          <a:xfrm>
            <a:off x="223799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57"/>
          <p:cNvSpPr/>
          <p:nvPr/>
        </p:nvSpPr>
        <p:spPr>
          <a:xfrm>
            <a:off x="230200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58"/>
          <p:cNvSpPr/>
          <p:nvPr/>
        </p:nvSpPr>
        <p:spPr>
          <a:xfrm>
            <a:off x="236601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59"/>
          <p:cNvSpPr/>
          <p:nvPr/>
        </p:nvSpPr>
        <p:spPr>
          <a:xfrm>
            <a:off x="2430018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60"/>
          <p:cNvSpPr/>
          <p:nvPr/>
        </p:nvSpPr>
        <p:spPr>
          <a:xfrm>
            <a:off x="2494026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61"/>
          <p:cNvSpPr/>
          <p:nvPr/>
        </p:nvSpPr>
        <p:spPr>
          <a:xfrm>
            <a:off x="2558034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62"/>
          <p:cNvSpPr/>
          <p:nvPr/>
        </p:nvSpPr>
        <p:spPr>
          <a:xfrm>
            <a:off x="2622042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63"/>
          <p:cNvSpPr/>
          <p:nvPr/>
        </p:nvSpPr>
        <p:spPr>
          <a:xfrm>
            <a:off x="26860500" y="1194572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19" name="Selected warp unit 2"/>
          <p:cNvSpPr/>
          <p:nvPr/>
        </p:nvSpPr>
        <p:spPr>
          <a:xfrm>
            <a:off x="19705320" y="12414809"/>
            <a:ext cx="8023860" cy="1901038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3429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Warp 2"/>
          <p:cNvSpPr/>
          <p:nvPr/>
        </p:nvSpPr>
        <p:spPr>
          <a:xfrm>
            <a:off x="19933920" y="1303202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2</a:t>
            </a:r>
          </a:p>
        </p:txBody>
      </p:sp>
      <p:sp>
        <p:nvSpPr>
          <p:cNvPr id="221" name="Thread 64"/>
          <p:cNvSpPr/>
          <p:nvPr/>
        </p:nvSpPr>
        <p:spPr>
          <a:xfrm>
            <a:off x="223799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65"/>
          <p:cNvSpPr/>
          <p:nvPr/>
        </p:nvSpPr>
        <p:spPr>
          <a:xfrm>
            <a:off x="230200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66"/>
          <p:cNvSpPr/>
          <p:nvPr/>
        </p:nvSpPr>
        <p:spPr>
          <a:xfrm>
            <a:off x="236601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67"/>
          <p:cNvSpPr/>
          <p:nvPr/>
        </p:nvSpPr>
        <p:spPr>
          <a:xfrm>
            <a:off x="2430018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68"/>
          <p:cNvSpPr/>
          <p:nvPr/>
        </p:nvSpPr>
        <p:spPr>
          <a:xfrm>
            <a:off x="2494026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69"/>
          <p:cNvSpPr/>
          <p:nvPr/>
        </p:nvSpPr>
        <p:spPr>
          <a:xfrm>
            <a:off x="2558034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0"/>
          <p:cNvSpPr/>
          <p:nvPr/>
        </p:nvSpPr>
        <p:spPr>
          <a:xfrm>
            <a:off x="2622042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1"/>
          <p:cNvSpPr/>
          <p:nvPr/>
        </p:nvSpPr>
        <p:spPr>
          <a:xfrm>
            <a:off x="26860500" y="12587630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2"/>
          <p:cNvSpPr/>
          <p:nvPr/>
        </p:nvSpPr>
        <p:spPr>
          <a:xfrm>
            <a:off x="223799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3"/>
          <p:cNvSpPr/>
          <p:nvPr/>
        </p:nvSpPr>
        <p:spPr>
          <a:xfrm>
            <a:off x="230200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74"/>
          <p:cNvSpPr/>
          <p:nvPr/>
        </p:nvSpPr>
        <p:spPr>
          <a:xfrm>
            <a:off x="236601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75 highlighted"/>
          <p:cNvSpPr/>
          <p:nvPr/>
        </p:nvSpPr>
        <p:spPr>
          <a:xfrm>
            <a:off x="24300180" y="13056718"/>
            <a:ext cx="297180" cy="320954"/>
          </a:xfrm>
          <a:prstGeom prst="ellipse">
            <a:avLst/>
          </a:prstGeom>
          <a:solidFill>
            <a:schemeClr val="accent4"/>
          </a:solidFill>
          <a:ln w="27432">
            <a:solidFill>
              <a:schemeClr val="accent4"/>
            </a:solidFill>
          </a:ln>
        </p:spPr>
      </p:sp>
      <p:sp>
        <p:nvSpPr>
          <p:cNvPr id="233" name="Highlighted thread 75 ring"/>
          <p:cNvSpPr/>
          <p:nvPr/>
        </p:nvSpPr>
        <p:spPr>
          <a:xfrm>
            <a:off x="24208740" y="12957962"/>
            <a:ext cx="480060" cy="518465"/>
          </a:xfrm>
          <a:prstGeom prst="ellipse">
            <a:avLst/>
          </a:prstGeom>
          <a:noFill/>
          <a:ln w="41148">
            <a:solidFill>
              <a:schemeClr val="accent4"/>
            </a:solidFill>
          </a:ln>
        </p:spPr>
      </p:sp>
      <p:sp>
        <p:nvSpPr>
          <p:cNvPr id="234" name="Highlighted thread marker"/>
          <p:cNvSpPr/>
          <p:nvPr/>
        </p:nvSpPr>
        <p:spPr>
          <a:xfrm>
            <a:off x="24403050" y="13167817"/>
            <a:ext cx="91440" cy="98755"/>
          </a:xfrm>
          <a:prstGeom prst="ellipse">
            <a:avLst/>
          </a:prstGeom>
          <a:solidFill>
            <a:schemeClr val="lt1"/>
          </a:solidFill>
          <a:ln w="29718">
            <a:noFill/>
          </a:ln>
        </p:spPr>
      </p:sp>
      <p:sp>
        <p:nvSpPr>
          <p:cNvPr id="235" name="Thread 76"/>
          <p:cNvSpPr/>
          <p:nvPr/>
        </p:nvSpPr>
        <p:spPr>
          <a:xfrm>
            <a:off x="2494026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77"/>
          <p:cNvSpPr/>
          <p:nvPr/>
        </p:nvSpPr>
        <p:spPr>
          <a:xfrm>
            <a:off x="2558034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78"/>
          <p:cNvSpPr/>
          <p:nvPr/>
        </p:nvSpPr>
        <p:spPr>
          <a:xfrm>
            <a:off x="2622042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79"/>
          <p:cNvSpPr/>
          <p:nvPr/>
        </p:nvSpPr>
        <p:spPr>
          <a:xfrm>
            <a:off x="26860500" y="13056718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0"/>
          <p:cNvSpPr/>
          <p:nvPr/>
        </p:nvSpPr>
        <p:spPr>
          <a:xfrm>
            <a:off x="223799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1"/>
          <p:cNvSpPr/>
          <p:nvPr/>
        </p:nvSpPr>
        <p:spPr>
          <a:xfrm>
            <a:off x="230200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82"/>
          <p:cNvSpPr/>
          <p:nvPr/>
        </p:nvSpPr>
        <p:spPr>
          <a:xfrm>
            <a:off x="236601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83"/>
          <p:cNvSpPr/>
          <p:nvPr/>
        </p:nvSpPr>
        <p:spPr>
          <a:xfrm>
            <a:off x="2430018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84"/>
          <p:cNvSpPr/>
          <p:nvPr/>
        </p:nvSpPr>
        <p:spPr>
          <a:xfrm>
            <a:off x="2494026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85"/>
          <p:cNvSpPr/>
          <p:nvPr/>
        </p:nvSpPr>
        <p:spPr>
          <a:xfrm>
            <a:off x="2558034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86"/>
          <p:cNvSpPr/>
          <p:nvPr/>
        </p:nvSpPr>
        <p:spPr>
          <a:xfrm>
            <a:off x="2622042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87"/>
          <p:cNvSpPr/>
          <p:nvPr/>
        </p:nvSpPr>
        <p:spPr>
          <a:xfrm>
            <a:off x="26860500" y="13525805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88"/>
          <p:cNvSpPr/>
          <p:nvPr/>
        </p:nvSpPr>
        <p:spPr>
          <a:xfrm>
            <a:off x="223799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89"/>
          <p:cNvSpPr/>
          <p:nvPr/>
        </p:nvSpPr>
        <p:spPr>
          <a:xfrm>
            <a:off x="230200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0"/>
          <p:cNvSpPr/>
          <p:nvPr/>
        </p:nvSpPr>
        <p:spPr>
          <a:xfrm>
            <a:off x="236601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1"/>
          <p:cNvSpPr/>
          <p:nvPr/>
        </p:nvSpPr>
        <p:spPr>
          <a:xfrm>
            <a:off x="2430018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92"/>
          <p:cNvSpPr/>
          <p:nvPr/>
        </p:nvSpPr>
        <p:spPr>
          <a:xfrm>
            <a:off x="2494026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93"/>
          <p:cNvSpPr/>
          <p:nvPr/>
        </p:nvSpPr>
        <p:spPr>
          <a:xfrm>
            <a:off x="2558034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94"/>
          <p:cNvSpPr/>
          <p:nvPr/>
        </p:nvSpPr>
        <p:spPr>
          <a:xfrm>
            <a:off x="2622042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95"/>
          <p:cNvSpPr/>
          <p:nvPr/>
        </p:nvSpPr>
        <p:spPr>
          <a:xfrm>
            <a:off x="26860500" y="13994892"/>
            <a:ext cx="297180" cy="320954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Warp 3"/>
          <p:cNvSpPr/>
          <p:nvPr/>
        </p:nvSpPr>
        <p:spPr>
          <a:xfrm>
            <a:off x="19933920" y="15081199"/>
            <a:ext cx="21031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0">
                <a:solidFill>
                  <a:schemeClr val="accent6"/>
                </a:solidFill>
                <a:latin typeface="NVIDIA Sans"/>
              </a:rPr>
              <a:t xml:space="preserve">Warp 3</a:t>
            </a:r>
          </a:p>
        </p:txBody>
      </p:sp>
      <p:sp>
        <p:nvSpPr>
          <p:cNvPr id="256" name="Thread 96"/>
          <p:cNvSpPr/>
          <p:nvPr/>
        </p:nvSpPr>
        <p:spPr>
          <a:xfrm>
            <a:off x="223799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7" name="Thread 97"/>
          <p:cNvSpPr/>
          <p:nvPr/>
        </p:nvSpPr>
        <p:spPr>
          <a:xfrm>
            <a:off x="230200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8" name="Thread 98"/>
          <p:cNvSpPr/>
          <p:nvPr/>
        </p:nvSpPr>
        <p:spPr>
          <a:xfrm>
            <a:off x="236601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59" name="Thread 99"/>
          <p:cNvSpPr/>
          <p:nvPr/>
        </p:nvSpPr>
        <p:spPr>
          <a:xfrm>
            <a:off x="2430018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0" name="Thread 100"/>
          <p:cNvSpPr/>
          <p:nvPr/>
        </p:nvSpPr>
        <p:spPr>
          <a:xfrm>
            <a:off x="2494026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1" name="Thread 101"/>
          <p:cNvSpPr/>
          <p:nvPr/>
        </p:nvSpPr>
        <p:spPr>
          <a:xfrm>
            <a:off x="2558034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2" name="Thread 102"/>
          <p:cNvSpPr/>
          <p:nvPr/>
        </p:nvSpPr>
        <p:spPr>
          <a:xfrm>
            <a:off x="2622042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3" name="Thread 103"/>
          <p:cNvSpPr/>
          <p:nvPr/>
        </p:nvSpPr>
        <p:spPr>
          <a:xfrm>
            <a:off x="26860500" y="14636801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4" name="Thread 104"/>
          <p:cNvSpPr/>
          <p:nvPr/>
        </p:nvSpPr>
        <p:spPr>
          <a:xfrm>
            <a:off x="223799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5" name="Thread 105"/>
          <p:cNvSpPr/>
          <p:nvPr/>
        </p:nvSpPr>
        <p:spPr>
          <a:xfrm>
            <a:off x="230200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6" name="Thread 106"/>
          <p:cNvSpPr/>
          <p:nvPr/>
        </p:nvSpPr>
        <p:spPr>
          <a:xfrm>
            <a:off x="236601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7" name="Thread 107"/>
          <p:cNvSpPr/>
          <p:nvPr/>
        </p:nvSpPr>
        <p:spPr>
          <a:xfrm>
            <a:off x="2430018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8" name="Thread 108"/>
          <p:cNvSpPr/>
          <p:nvPr/>
        </p:nvSpPr>
        <p:spPr>
          <a:xfrm>
            <a:off x="2494026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69" name="Thread 109"/>
          <p:cNvSpPr/>
          <p:nvPr/>
        </p:nvSpPr>
        <p:spPr>
          <a:xfrm>
            <a:off x="2558034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0" name="Thread 110"/>
          <p:cNvSpPr/>
          <p:nvPr/>
        </p:nvSpPr>
        <p:spPr>
          <a:xfrm>
            <a:off x="2622042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1" name="Thread 111"/>
          <p:cNvSpPr/>
          <p:nvPr/>
        </p:nvSpPr>
        <p:spPr>
          <a:xfrm>
            <a:off x="26860500" y="15105888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2" name="Thread 112"/>
          <p:cNvSpPr/>
          <p:nvPr/>
        </p:nvSpPr>
        <p:spPr>
          <a:xfrm>
            <a:off x="223799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3" name="Thread 113"/>
          <p:cNvSpPr/>
          <p:nvPr/>
        </p:nvSpPr>
        <p:spPr>
          <a:xfrm>
            <a:off x="230200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4" name="Thread 114"/>
          <p:cNvSpPr/>
          <p:nvPr/>
        </p:nvSpPr>
        <p:spPr>
          <a:xfrm>
            <a:off x="236601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5" name="Thread 115"/>
          <p:cNvSpPr/>
          <p:nvPr/>
        </p:nvSpPr>
        <p:spPr>
          <a:xfrm>
            <a:off x="2430018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6" name="Thread 116"/>
          <p:cNvSpPr/>
          <p:nvPr/>
        </p:nvSpPr>
        <p:spPr>
          <a:xfrm>
            <a:off x="2494026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7" name="Thread 117"/>
          <p:cNvSpPr/>
          <p:nvPr/>
        </p:nvSpPr>
        <p:spPr>
          <a:xfrm>
            <a:off x="2558034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8" name="Thread 118"/>
          <p:cNvSpPr/>
          <p:nvPr/>
        </p:nvSpPr>
        <p:spPr>
          <a:xfrm>
            <a:off x="2622042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79" name="Thread 119"/>
          <p:cNvSpPr/>
          <p:nvPr/>
        </p:nvSpPr>
        <p:spPr>
          <a:xfrm>
            <a:off x="26860500" y="15574975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0" name="Thread 120"/>
          <p:cNvSpPr/>
          <p:nvPr/>
        </p:nvSpPr>
        <p:spPr>
          <a:xfrm>
            <a:off x="223799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1" name="Thread 121"/>
          <p:cNvSpPr/>
          <p:nvPr/>
        </p:nvSpPr>
        <p:spPr>
          <a:xfrm>
            <a:off x="230200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2" name="Thread 122"/>
          <p:cNvSpPr/>
          <p:nvPr/>
        </p:nvSpPr>
        <p:spPr>
          <a:xfrm>
            <a:off x="236601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3" name="Thread 123"/>
          <p:cNvSpPr/>
          <p:nvPr/>
        </p:nvSpPr>
        <p:spPr>
          <a:xfrm>
            <a:off x="2430018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4" name="Thread 124"/>
          <p:cNvSpPr/>
          <p:nvPr/>
        </p:nvSpPr>
        <p:spPr>
          <a:xfrm>
            <a:off x="2494026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5" name="Thread 125"/>
          <p:cNvSpPr/>
          <p:nvPr/>
        </p:nvSpPr>
        <p:spPr>
          <a:xfrm>
            <a:off x="2558034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6" name="Thread 126"/>
          <p:cNvSpPr/>
          <p:nvPr/>
        </p:nvSpPr>
        <p:spPr>
          <a:xfrm>
            <a:off x="2622042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7" name="Thread 127"/>
          <p:cNvSpPr/>
          <p:nvPr/>
        </p:nvSpPr>
        <p:spPr>
          <a:xfrm>
            <a:off x="26860500" y="16044062"/>
            <a:ext cx="297180" cy="320954"/>
          </a:xfrm>
          <a:prstGeom prst="ellipse">
            <a:avLst/>
          </a:prstGeom>
          <a:solidFill>
            <a:schemeClr val="dk1">
              <a:tint val="18000"/>
            </a:schemeClr>
          </a:solidFill>
          <a:ln w="20574">
            <a:solidFill>
              <a:schemeClr val="dk1">
                <a:tint val="35000"/>
              </a:schemeClr>
            </a:solidFill>
          </a:ln>
        </p:spPr>
      </p:sp>
      <p:sp>
        <p:nvSpPr>
          <p:cNvPr id="288" name="RANK WITHIN GROUP"/>
          <p:cNvSpPr/>
          <p:nvPr/>
        </p:nvSpPr>
        <p:spPr>
          <a:xfrm>
            <a:off x="28735020" y="8834933"/>
            <a:ext cx="5394960" cy="66659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RANK WITHIN GROUP</a:t>
            </a:r>
          </a:p>
        </p:txBody>
      </p:sp>
      <p:sp>
        <p:nvSpPr>
          <p:cNvPr id="289" name="Thread rank"/>
          <p:cNvSpPr/>
          <p:nvPr/>
        </p:nvSpPr>
        <p:spPr>
          <a:xfrm>
            <a:off x="28735020" y="10019995"/>
            <a:ext cx="5394960" cy="1012241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Thread rank</a:t>
            </a:r>
          </a:p>
        </p:txBody>
      </p:sp>
      <p:sp>
        <p:nvSpPr>
          <p:cNvPr id="290" name="43"/>
          <p:cNvSpPr/>
          <p:nvPr/>
        </p:nvSpPr>
        <p:spPr>
          <a:xfrm>
            <a:off x="28735020" y="11130991"/>
            <a:ext cx="5029200" cy="192572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10260" b="1">
                <a:solidFill>
                  <a:schemeClr val="accent4"/>
                </a:solidFill>
                <a:latin typeface="NVIDIA Sans Medium"/>
              </a:rPr>
              <a:t xml:space="preserve">43</a:t>
            </a:r>
          </a:p>
        </p:txBody>
      </p:sp>
      <p:sp>
        <p:nvSpPr>
          <p:cNvPr id="291" name="Warp rank"/>
          <p:cNvSpPr/>
          <p:nvPr/>
        </p:nvSpPr>
        <p:spPr>
          <a:xfrm>
            <a:off x="28735020" y="13649249"/>
            <a:ext cx="5394960" cy="864108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500" b="1">
                <a:solidFill>
                  <a:schemeClr val="dk1"/>
                </a:solidFill>
                <a:latin typeface="NVIDIA Sans Medium"/>
              </a:rPr>
              <a:t xml:space="preserve">Warp rank</a:t>
            </a:r>
          </a:p>
        </p:txBody>
      </p:sp>
      <p:sp>
        <p:nvSpPr>
          <p:cNvPr id="292" name="1"/>
          <p:cNvSpPr/>
          <p:nvPr/>
        </p:nvSpPr>
        <p:spPr>
          <a:xfrm>
            <a:off x="28735020" y="14636801"/>
            <a:ext cx="5029200" cy="1728216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820" b="1">
                <a:solidFill>
                  <a:schemeClr val="accent4"/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93" name="CCCL Cooperative Groups are more capable"/>
          <p:cNvSpPr/>
          <p:nvPr/>
        </p:nvSpPr>
        <p:spPr>
          <a:xfrm>
            <a:off x="1874520" y="18013680"/>
            <a:ext cx="328041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CCCL Cooperative Groups are more capable</a:t>
            </a:r>
          </a:p>
        </p:txBody>
      </p:sp>
      <p:sp>
        <p:nvSpPr>
          <p:cNvPr id="294" name="Shape"/>
          <p:cNvSpPr/>
          <p:nvPr/>
        </p:nvSpPr>
        <p:spPr>
          <a:xfrm>
            <a:off x="1920240" y="19270980"/>
            <a:ext cx="274320" cy="274320"/>
          </a:xfrm>
          <a:prstGeom prst="ellipse">
            <a:avLst/>
          </a:prstGeom>
          <a:solidFill>
            <a:schemeClr val="accent1"/>
          </a:solidFill>
          <a:ln w="2286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in the group"/>
          <p:cNvSpPr/>
          <p:nvPr/>
        </p:nvSpPr>
        <p:spPr>
          <a:xfrm>
            <a:off x="244602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Thread in the group</a:t>
            </a:r>
          </a:p>
        </p:txBody>
      </p:sp>
      <p:sp>
        <p:nvSpPr>
          <p:cNvPr id="296" name="Shape"/>
          <p:cNvSpPr/>
          <p:nvPr/>
        </p:nvSpPr>
        <p:spPr>
          <a:xfrm>
            <a:off x="8138160" y="19179540"/>
            <a:ext cx="457200" cy="457200"/>
          </a:xfrm>
          <a:prstGeom prst="ellipse">
            <a:avLst/>
          </a:prstGeom>
          <a:noFill/>
          <a:ln w="34290">
            <a:solidFill>
              <a:schemeClr val="accent4"/>
            </a:solidFill>
          </a:ln>
        </p:spPr>
      </p:sp>
      <p:sp>
        <p:nvSpPr>
          <p:cNvPr id="297" name="Shape"/>
          <p:cNvSpPr/>
          <p:nvPr/>
        </p:nvSpPr>
        <p:spPr>
          <a:xfrm>
            <a:off x="8229600" y="19270980"/>
            <a:ext cx="274320" cy="274320"/>
          </a:xfrm>
          <a:prstGeom prst="ellipse">
            <a:avLst/>
          </a:prstGeom>
          <a:solidFill>
            <a:schemeClr val="accent4"/>
          </a:solidFill>
          <a:ln w="29718">
            <a:noFill/>
          </a:ln>
        </p:spPr>
      </p:sp>
      <p:sp>
        <p:nvSpPr>
          <p:cNvPr id="298" name="Highlighted thread"/>
          <p:cNvSpPr/>
          <p:nvPr/>
        </p:nvSpPr>
        <p:spPr>
          <a:xfrm>
            <a:off x="8915400" y="19133820"/>
            <a:ext cx="525780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Highlighted thread</a:t>
            </a:r>
          </a:p>
        </p:txBody>
      </p:sp>
      <p:sp>
        <p:nvSpPr>
          <p:cNvPr id="299" name="Ranks start at zero and are relative to the group."/>
          <p:cNvSpPr/>
          <p:nvPr/>
        </p:nvSpPr>
        <p:spPr>
          <a:xfrm>
            <a:off x="19659600" y="19133820"/>
            <a:ext cx="12618720" cy="617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Ranks start at zero and are relative to the group.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>
  <p:cSld name="What makes them different? — Partition and synchron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Separation of Partition and Synchroniza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Separation of Partition and Synchronization</a:t>
            </a:r>
          </a:p>
        </p:txBody>
      </p:sp>
      <p:sp>
        <p:nvSpPr>
          <p:cNvPr id="4" name="1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5" name="How units are grouped is independent of&#10;how they are synchronized"/>
          <p:cNvSpPr/>
          <p:nvPr/>
        </p:nvSpPr>
        <p:spPr>
          <a:xfrm>
            <a:off x="1874520" y="4983480"/>
            <a:ext cx="32004000" cy="2057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units are grouped is independent of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how they are synchronized.</a:t>
            </a:r>
          </a:p>
        </p:txBody>
      </p:sp>
      <p:sp>
        <p:nvSpPr>
          <p:cNvPr id="6" name="Unit choice"/>
          <p:cNvSpPr/>
          <p:nvPr/>
        </p:nvSpPr>
        <p:spPr>
          <a:xfrm>
            <a:off x="182880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7" name="Choice number"/>
          <p:cNvSpPr/>
          <p:nvPr/>
        </p:nvSpPr>
        <p:spPr>
          <a:xfrm>
            <a:off x="230886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" name="1"/>
          <p:cNvSpPr/>
          <p:nvPr/>
        </p:nvSpPr>
        <p:spPr>
          <a:xfrm>
            <a:off x="230886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Unit"/>
          <p:cNvSpPr/>
          <p:nvPr/>
        </p:nvSpPr>
        <p:spPr>
          <a:xfrm>
            <a:off x="347472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Unit</a:t>
            </a:r>
          </a:p>
        </p:txBody>
      </p:sp>
      <p:sp>
        <p:nvSpPr>
          <p:cNvPr id="10" name="What is being&#10;grouped?"/>
          <p:cNvSpPr/>
          <p:nvPr/>
        </p:nvSpPr>
        <p:spPr>
          <a:xfrm>
            <a:off x="235458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What is being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11" name="Threads, warps, …"/>
          <p:cNvSpPr/>
          <p:nvPr/>
        </p:nvSpPr>
        <p:spPr>
          <a:xfrm>
            <a:off x="235458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2" name="Next design choice"/>
          <p:cNvSpPr/>
          <p:nvPr/>
        </p:nvSpPr>
        <p:spPr>
          <a:xfrm>
            <a:off x="950976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13" name="Upper boundary choice"/>
          <p:cNvSpPr/>
          <p:nvPr/>
        </p:nvSpPr>
        <p:spPr>
          <a:xfrm>
            <a:off x="1033272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14" name="Choice number"/>
          <p:cNvSpPr/>
          <p:nvPr/>
        </p:nvSpPr>
        <p:spPr>
          <a:xfrm>
            <a:off x="1081278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1081278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"/>
          <p:cNvSpPr/>
          <p:nvPr/>
        </p:nvSpPr>
        <p:spPr>
          <a:xfrm>
            <a:off x="1197864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Upper boundary</a:t>
            </a:r>
          </a:p>
        </p:txBody>
      </p:sp>
      <p:sp>
        <p:nvSpPr>
          <p:cNvPr id="17" name="Within what?"/>
          <p:cNvSpPr/>
          <p:nvPr/>
        </p:nvSpPr>
        <p:spPr>
          <a:xfrm>
            <a:off x="1085850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Within what?</a:t>
            </a:r>
          </a:p>
        </p:txBody>
      </p:sp>
      <p:sp>
        <p:nvSpPr>
          <p:cNvPr id="18" name="A block, another group, …"/>
          <p:cNvSpPr/>
          <p:nvPr/>
        </p:nvSpPr>
        <p:spPr>
          <a:xfrm>
            <a:off x="1085850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A block, another group, …</a:t>
            </a:r>
          </a:p>
        </p:txBody>
      </p:sp>
      <p:sp>
        <p:nvSpPr>
          <p:cNvPr id="19" name="Next design choice"/>
          <p:cNvSpPr/>
          <p:nvPr/>
        </p:nvSpPr>
        <p:spPr>
          <a:xfrm>
            <a:off x="1801368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0" name="Mapping choice"/>
          <p:cNvSpPr/>
          <p:nvPr/>
        </p:nvSpPr>
        <p:spPr>
          <a:xfrm>
            <a:off x="1883664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1" name="Choice number"/>
          <p:cNvSpPr/>
          <p:nvPr/>
        </p:nvSpPr>
        <p:spPr>
          <a:xfrm>
            <a:off x="1931670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3"/>
          <p:cNvSpPr/>
          <p:nvPr/>
        </p:nvSpPr>
        <p:spPr>
          <a:xfrm>
            <a:off x="1931670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3" name="Mapping"/>
          <p:cNvSpPr/>
          <p:nvPr/>
        </p:nvSpPr>
        <p:spPr>
          <a:xfrm>
            <a:off x="2048256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24" name="How are units&#10;grouped?"/>
          <p:cNvSpPr/>
          <p:nvPr/>
        </p:nvSpPr>
        <p:spPr>
          <a:xfrm>
            <a:off x="1936242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are units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grouped?</a:t>
            </a:r>
          </a:p>
        </p:txBody>
      </p:sp>
      <p:sp>
        <p:nvSpPr>
          <p:cNvPr id="25" name="By 4, a predicate, …"/>
          <p:cNvSpPr/>
          <p:nvPr/>
        </p:nvSpPr>
        <p:spPr>
          <a:xfrm>
            <a:off x="1936242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By 4, a predicate, …</a:t>
            </a:r>
          </a:p>
        </p:txBody>
      </p:sp>
      <p:sp>
        <p:nvSpPr>
          <p:cNvPr id="26" name="Next design choice"/>
          <p:cNvSpPr/>
          <p:nvPr/>
        </p:nvSpPr>
        <p:spPr>
          <a:xfrm>
            <a:off x="26517600" y="11315700"/>
            <a:ext cx="548640" cy="36576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7" name="Synchronizer Selection choice"/>
          <p:cNvSpPr/>
          <p:nvPr/>
        </p:nvSpPr>
        <p:spPr>
          <a:xfrm>
            <a:off x="27340560" y="8298180"/>
            <a:ext cx="7406640" cy="64008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28" name="Choice number"/>
          <p:cNvSpPr/>
          <p:nvPr/>
        </p:nvSpPr>
        <p:spPr>
          <a:xfrm>
            <a:off x="27820620" y="8892540"/>
            <a:ext cx="822960" cy="82296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4"/>
          <p:cNvSpPr/>
          <p:nvPr/>
        </p:nvSpPr>
        <p:spPr>
          <a:xfrm>
            <a:off x="27820620" y="8983980"/>
            <a:ext cx="82296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0" name="Synchronizer Selection"/>
          <p:cNvSpPr/>
          <p:nvPr/>
        </p:nvSpPr>
        <p:spPr>
          <a:xfrm>
            <a:off x="28986480" y="9052560"/>
            <a:ext cx="539496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420" b="0">
                <a:solidFill>
                  <a:schemeClr val="accent6"/>
                </a:solidFill>
                <a:latin typeface="NVIDIA Sans"/>
              </a:rPr>
              <a:t xml:space="preserve">Synchronizer Selection</a:t>
            </a:r>
          </a:p>
        </p:txBody>
      </p:sp>
      <p:sp>
        <p:nvSpPr>
          <p:cNvPr id="31" name="How shall it&#10;synchronize?"/>
          <p:cNvSpPr/>
          <p:nvPr/>
        </p:nvSpPr>
        <p:spPr>
          <a:xfrm>
            <a:off x="27866340" y="10492740"/>
            <a:ext cx="6446520" cy="20802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How shall it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5220" b="1">
                <a:solidFill>
                  <a:schemeClr val="dk1"/>
                </a:solidFill>
                <a:latin typeface="NVIDIA Sans Medium"/>
              </a:rPr>
              <a:t xml:space="preserve">synchronize?</a:t>
            </a:r>
          </a:p>
        </p:txBody>
      </p:sp>
      <p:sp>
        <p:nvSpPr>
          <p:cNvPr id="32" name="Barrier, __syncwarp(), …"/>
          <p:cNvSpPr/>
          <p:nvPr/>
        </p:nvSpPr>
        <p:spPr>
          <a:xfrm>
            <a:off x="27866340" y="13327380"/>
            <a:ext cx="644652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780" b="0">
                <a:solidFill>
                  <a:schemeClr val="dk1"/>
                </a:solidFill>
                <a:latin typeface="NVIDIA Sans"/>
              </a:rPr>
              <a:t xml:space="preserve">Barrier, __syncwarp(), …</a:t>
            </a:r>
          </a:p>
        </p:txBody>
      </p:sp>
      <p:sp>
        <p:nvSpPr>
          <p:cNvPr id="33" name="Partition choices"/>
          <p:cNvSpPr/>
          <p:nvPr/>
        </p:nvSpPr>
        <p:spPr>
          <a:xfrm>
            <a:off x="1828800" y="15567660"/>
            <a:ext cx="2441448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4" name="Synchronization choice"/>
          <p:cNvSpPr/>
          <p:nvPr/>
        </p:nvSpPr>
        <p:spPr>
          <a:xfrm>
            <a:off x="27340560" y="15567660"/>
            <a:ext cx="740664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5" name="Partition"/>
          <p:cNvSpPr/>
          <p:nvPr/>
        </p:nvSpPr>
        <p:spPr>
          <a:xfrm>
            <a:off x="1828800" y="16207740"/>
            <a:ext cx="2441448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Partition</a:t>
            </a:r>
          </a:p>
        </p:txBody>
      </p:sp>
      <p:sp>
        <p:nvSpPr>
          <p:cNvPr id="36" name="Unit + upper boundary + mapping"/>
          <p:cNvSpPr/>
          <p:nvPr/>
        </p:nvSpPr>
        <p:spPr>
          <a:xfrm>
            <a:off x="1828800" y="17442180"/>
            <a:ext cx="244144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Unit + upper boundary + mapping</a:t>
            </a:r>
          </a:p>
        </p:txBody>
      </p:sp>
      <p:sp>
        <p:nvSpPr>
          <p:cNvPr id="37" name="Synchronization"/>
          <p:cNvSpPr/>
          <p:nvPr/>
        </p:nvSpPr>
        <p:spPr>
          <a:xfrm>
            <a:off x="27340560" y="16207740"/>
            <a:ext cx="740664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</a:t>
            </a:r>
          </a:p>
        </p:txBody>
      </p:sp>
      <p:sp>
        <p:nvSpPr>
          <p:cNvPr id="38" name="Choose the mechanism"/>
          <p:cNvSpPr/>
          <p:nvPr/>
        </p:nvSpPr>
        <p:spPr>
          <a:xfrm>
            <a:off x="27340560" y="17442180"/>
            <a:ext cx="740664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0">
                <a:solidFill>
                  <a:schemeClr val="accent6"/>
                </a:solidFill>
                <a:latin typeface="NVIDIA Sans"/>
              </a:rPr>
              <a:t xml:space="preserve">Choose the mechanism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>
  <p:cSld name="What makes them different? — Optional particip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What makes them different?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What makes them different?</a:t>
            </a:r>
          </a:p>
        </p:txBody>
      </p:sp>
      <p:sp>
        <p:nvSpPr>
          <p:cNvPr id="3" name="Optional participat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Optional participation</a:t>
            </a:r>
          </a:p>
        </p:txBody>
      </p:sp>
      <p:sp>
        <p:nvSpPr>
          <p:cNvPr id="4" name="1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" name="CCCL Cooperative Groups support non-exhaustive mapping."/>
          <p:cNvSpPr/>
          <p:nvPr/>
        </p:nvSpPr>
        <p:spPr>
          <a:xfrm>
            <a:off x="1874520" y="4983480"/>
            <a:ext cx="32346900" cy="11430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CCCL Cooperative Groups support non-exhaustive mapping.</a:t>
            </a:r>
          </a:p>
        </p:txBody>
      </p:sp>
      <p:sp>
        <p:nvSpPr>
          <p:cNvPr id="6" name="Parent group · one warp"/>
          <p:cNvSpPr/>
          <p:nvPr/>
        </p:nvSpPr>
        <p:spPr>
          <a:xfrm>
            <a:off x="1828800" y="7132320"/>
            <a:ext cx="8343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Parent group · one warp</a:t>
            </a:r>
          </a:p>
        </p:txBody>
      </p:sp>
      <p:sp>
        <p:nvSpPr>
          <p:cNvPr id="7" name="Resulting groups"/>
          <p:cNvSpPr/>
          <p:nvPr/>
        </p:nvSpPr>
        <p:spPr>
          <a:xfrm>
            <a:off x="22860000" y="7132320"/>
            <a:ext cx="118872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1">
                <a:solidFill>
                  <a:schemeClr val="dk1"/>
                </a:solidFill>
                <a:latin typeface="NVIDIA Sans Medium"/>
              </a:rPr>
              <a:t xml:space="preserve">Resulting groups</a:t>
            </a:r>
          </a:p>
        </p:txBody>
      </p:sp>
      <p:sp>
        <p:nvSpPr>
          <p:cNvPr id="8" name="Parent group: one 32-thread warp"/>
          <p:cNvSpPr/>
          <p:nvPr/>
        </p:nvSpPr>
        <p:spPr>
          <a:xfrm>
            <a:off x="1828800" y="8641080"/>
            <a:ext cx="8343900" cy="68580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9" name="Parent group upper boundary"/>
          <p:cNvSpPr/>
          <p:nvPr/>
        </p:nvSpPr>
        <p:spPr>
          <a:xfrm>
            <a:off x="1668780" y="8481060"/>
            <a:ext cx="8663940" cy="7178040"/>
          </a:xfrm>
          <a:prstGeom prst="roundRect">
            <a:avLst>
              <a:gd name="adj" fmla="val 6000"/>
            </a:avLst>
          </a:prstGeom>
          <a:noFill/>
          <a:ln w="57150">
            <a:solidFill>
              <a:schemeClr val="dk2"/>
            </a:solidFill>
            <a:prstDash val="dash"/>
          </a:ln>
        </p:spPr>
      </p:sp>
      <p:sp>
        <p:nvSpPr>
          <p:cNvPr id="10" name="Parent thread 0"/>
          <p:cNvSpPr/>
          <p:nvPr/>
        </p:nvSpPr>
        <p:spPr>
          <a:xfrm>
            <a:off x="25603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Parent thread 1"/>
          <p:cNvSpPr/>
          <p:nvPr/>
        </p:nvSpPr>
        <p:spPr>
          <a:xfrm>
            <a:off x="34518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2" name="Parent thread 2"/>
          <p:cNvSpPr/>
          <p:nvPr/>
        </p:nvSpPr>
        <p:spPr>
          <a:xfrm>
            <a:off x="43434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3" name="Parent thread 3"/>
          <p:cNvSpPr/>
          <p:nvPr/>
        </p:nvSpPr>
        <p:spPr>
          <a:xfrm>
            <a:off x="523494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4" name="Parent thread 4"/>
          <p:cNvSpPr/>
          <p:nvPr/>
        </p:nvSpPr>
        <p:spPr>
          <a:xfrm>
            <a:off x="612648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Parent thread 5"/>
          <p:cNvSpPr/>
          <p:nvPr/>
        </p:nvSpPr>
        <p:spPr>
          <a:xfrm>
            <a:off x="701802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6" name="Parent thread 6"/>
          <p:cNvSpPr/>
          <p:nvPr/>
        </p:nvSpPr>
        <p:spPr>
          <a:xfrm>
            <a:off x="790956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7" name="Parent thread 7"/>
          <p:cNvSpPr/>
          <p:nvPr/>
        </p:nvSpPr>
        <p:spPr>
          <a:xfrm>
            <a:off x="8801100" y="964692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8" name="Parent thread 8"/>
          <p:cNvSpPr/>
          <p:nvPr/>
        </p:nvSpPr>
        <p:spPr>
          <a:xfrm>
            <a:off x="25603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Parent thread 9"/>
          <p:cNvSpPr/>
          <p:nvPr/>
        </p:nvSpPr>
        <p:spPr>
          <a:xfrm>
            <a:off x="34518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Parent thread 10"/>
          <p:cNvSpPr/>
          <p:nvPr/>
        </p:nvSpPr>
        <p:spPr>
          <a:xfrm>
            <a:off x="43434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Parent thread 11"/>
          <p:cNvSpPr/>
          <p:nvPr/>
        </p:nvSpPr>
        <p:spPr>
          <a:xfrm>
            <a:off x="523494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Parent thread 12"/>
          <p:cNvSpPr/>
          <p:nvPr/>
        </p:nvSpPr>
        <p:spPr>
          <a:xfrm>
            <a:off x="612648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Parent thread 13"/>
          <p:cNvSpPr/>
          <p:nvPr/>
        </p:nvSpPr>
        <p:spPr>
          <a:xfrm>
            <a:off x="701802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Parent thread 14"/>
          <p:cNvSpPr/>
          <p:nvPr/>
        </p:nvSpPr>
        <p:spPr>
          <a:xfrm>
            <a:off x="790956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Parent thread 15"/>
          <p:cNvSpPr/>
          <p:nvPr/>
        </p:nvSpPr>
        <p:spPr>
          <a:xfrm>
            <a:off x="8801100" y="1097280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Parent thread 16"/>
          <p:cNvSpPr/>
          <p:nvPr/>
        </p:nvSpPr>
        <p:spPr>
          <a:xfrm>
            <a:off x="25603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Parent thread 17"/>
          <p:cNvSpPr/>
          <p:nvPr/>
        </p:nvSpPr>
        <p:spPr>
          <a:xfrm>
            <a:off x="34518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Parent thread 18"/>
          <p:cNvSpPr/>
          <p:nvPr/>
        </p:nvSpPr>
        <p:spPr>
          <a:xfrm>
            <a:off x="43434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Parent thread 19"/>
          <p:cNvSpPr/>
          <p:nvPr/>
        </p:nvSpPr>
        <p:spPr>
          <a:xfrm>
            <a:off x="523494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Parent thread 20"/>
          <p:cNvSpPr/>
          <p:nvPr/>
        </p:nvSpPr>
        <p:spPr>
          <a:xfrm>
            <a:off x="612648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thread 21"/>
          <p:cNvSpPr/>
          <p:nvPr/>
        </p:nvSpPr>
        <p:spPr>
          <a:xfrm>
            <a:off x="701802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Parent thread 22"/>
          <p:cNvSpPr/>
          <p:nvPr/>
        </p:nvSpPr>
        <p:spPr>
          <a:xfrm>
            <a:off x="790956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Parent thread 23"/>
          <p:cNvSpPr/>
          <p:nvPr/>
        </p:nvSpPr>
        <p:spPr>
          <a:xfrm>
            <a:off x="8801100" y="1229868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Parent thread 24"/>
          <p:cNvSpPr/>
          <p:nvPr/>
        </p:nvSpPr>
        <p:spPr>
          <a:xfrm>
            <a:off x="25603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Parent thread 25"/>
          <p:cNvSpPr/>
          <p:nvPr/>
        </p:nvSpPr>
        <p:spPr>
          <a:xfrm>
            <a:off x="34518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Parent thread 26"/>
          <p:cNvSpPr/>
          <p:nvPr/>
        </p:nvSpPr>
        <p:spPr>
          <a:xfrm>
            <a:off x="43434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Parent thread 27"/>
          <p:cNvSpPr/>
          <p:nvPr/>
        </p:nvSpPr>
        <p:spPr>
          <a:xfrm>
            <a:off x="523494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Parent thread 28"/>
          <p:cNvSpPr/>
          <p:nvPr/>
        </p:nvSpPr>
        <p:spPr>
          <a:xfrm>
            <a:off x="612648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Parent thread 29"/>
          <p:cNvSpPr/>
          <p:nvPr/>
        </p:nvSpPr>
        <p:spPr>
          <a:xfrm>
            <a:off x="701802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Parent thread 30"/>
          <p:cNvSpPr/>
          <p:nvPr/>
        </p:nvSpPr>
        <p:spPr>
          <a:xfrm>
            <a:off x="790956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Parent thread 31"/>
          <p:cNvSpPr/>
          <p:nvPr/>
        </p:nvSpPr>
        <p:spPr>
          <a:xfrm>
            <a:off x="8801100" y="13624560"/>
            <a:ext cx="525780" cy="525780"/>
          </a:xfrm>
          <a:prstGeom prst="ellipse">
            <a:avLst/>
          </a:prstGeom>
          <a:solidFill>
            <a:schemeClr val="accent1"/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32 threads"/>
          <p:cNvSpPr/>
          <p:nvPr/>
        </p:nvSpPr>
        <p:spPr>
          <a:xfrm>
            <a:off x="2377440" y="14424660"/>
            <a:ext cx="722376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32 threads</a:t>
            </a:r>
          </a:p>
        </p:txBody>
      </p:sp>
      <p:sp>
        <p:nvSpPr>
          <p:cNvPr id="43" name="Parent to mapping"/>
          <p:cNvSpPr/>
          <p:nvPr/>
        </p:nvSpPr>
        <p:spPr>
          <a:xfrm>
            <a:off x="1085850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4" name="Mapping: group by five"/>
          <p:cNvSpPr/>
          <p:nvPr/>
        </p:nvSpPr>
        <p:spPr>
          <a:xfrm>
            <a:off x="13235940" y="9989820"/>
            <a:ext cx="6515100" cy="372618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34290">
            <a:solidFill>
              <a:schemeClr val="dk1">
                <a:tint val="30000"/>
              </a:schemeClr>
            </a:solidFill>
          </a:ln>
        </p:spPr>
      </p:sp>
      <p:sp>
        <p:nvSpPr>
          <p:cNvPr id="45" name="MAPPING"/>
          <p:cNvSpPr/>
          <p:nvPr/>
        </p:nvSpPr>
        <p:spPr>
          <a:xfrm>
            <a:off x="13624560" y="10538460"/>
            <a:ext cx="5715000" cy="7315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MAPPING</a:t>
            </a:r>
          </a:p>
        </p:txBody>
      </p:sp>
      <p:sp>
        <p:nvSpPr>
          <p:cNvPr id="46" name="Group by 5"/>
          <p:cNvSpPr/>
          <p:nvPr/>
        </p:nvSpPr>
        <p:spPr>
          <a:xfrm>
            <a:off x="13624560" y="11635740"/>
            <a:ext cx="5715000" cy="13030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5940" b="1">
                <a:solidFill>
                  <a:schemeClr val="dk1"/>
                </a:solidFill>
                <a:latin typeface="NVIDIA Sans Medium"/>
              </a:rPr>
              <a:t xml:space="preserve">Group by 5</a:t>
            </a:r>
          </a:p>
        </p:txBody>
      </p:sp>
      <p:sp>
        <p:nvSpPr>
          <p:cNvPr id="47" name="Mapping to resulting groups"/>
          <p:cNvSpPr/>
          <p:nvPr/>
        </p:nvSpPr>
        <p:spPr>
          <a:xfrm>
            <a:off x="20482560" y="11590020"/>
            <a:ext cx="1600200" cy="640080"/>
          </a:xfrm>
          <a:prstGeom prst="right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48" name="Resulting group 0: five threads"/>
          <p:cNvSpPr/>
          <p:nvPr/>
        </p:nvSpPr>
        <p:spPr>
          <a:xfrm>
            <a:off x="228600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Group 0"/>
          <p:cNvSpPr/>
          <p:nvPr/>
        </p:nvSpPr>
        <p:spPr>
          <a:xfrm>
            <a:off x="231800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0</a:t>
            </a:r>
          </a:p>
        </p:txBody>
      </p:sp>
      <p:sp>
        <p:nvSpPr>
          <p:cNvPr id="50" name="Mapped thread 0 in group 0"/>
          <p:cNvSpPr/>
          <p:nvPr/>
        </p:nvSpPr>
        <p:spPr>
          <a:xfrm>
            <a:off x="233629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Mapped thread 1 in group 0"/>
          <p:cNvSpPr/>
          <p:nvPr/>
        </p:nvSpPr>
        <p:spPr>
          <a:xfrm>
            <a:off x="243687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Mapped thread 2 in group 0"/>
          <p:cNvSpPr/>
          <p:nvPr/>
        </p:nvSpPr>
        <p:spPr>
          <a:xfrm>
            <a:off x="253746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Mapped thread 3 in group 0"/>
          <p:cNvSpPr/>
          <p:nvPr/>
        </p:nvSpPr>
        <p:spPr>
          <a:xfrm>
            <a:off x="263804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Mapped thread 4 in group 0"/>
          <p:cNvSpPr/>
          <p:nvPr/>
        </p:nvSpPr>
        <p:spPr>
          <a:xfrm>
            <a:off x="273862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Resulting group 1: five threads"/>
          <p:cNvSpPr/>
          <p:nvPr/>
        </p:nvSpPr>
        <p:spPr>
          <a:xfrm>
            <a:off x="29032200" y="864108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Group 1"/>
          <p:cNvSpPr/>
          <p:nvPr/>
        </p:nvSpPr>
        <p:spPr>
          <a:xfrm>
            <a:off x="29352240" y="886968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1</a:t>
            </a:r>
          </a:p>
        </p:txBody>
      </p:sp>
      <p:sp>
        <p:nvSpPr>
          <p:cNvPr id="57" name="Mapped thread 5 in group 1"/>
          <p:cNvSpPr/>
          <p:nvPr/>
        </p:nvSpPr>
        <p:spPr>
          <a:xfrm>
            <a:off x="2953512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Mapped thread 6 in group 1"/>
          <p:cNvSpPr/>
          <p:nvPr/>
        </p:nvSpPr>
        <p:spPr>
          <a:xfrm>
            <a:off x="3054096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Mapped thread 7 in group 1"/>
          <p:cNvSpPr/>
          <p:nvPr/>
        </p:nvSpPr>
        <p:spPr>
          <a:xfrm>
            <a:off x="3154680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Mapped thread 8 in group 1"/>
          <p:cNvSpPr/>
          <p:nvPr/>
        </p:nvSpPr>
        <p:spPr>
          <a:xfrm>
            <a:off x="3255264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Mapped thread 9 in group 1"/>
          <p:cNvSpPr/>
          <p:nvPr/>
        </p:nvSpPr>
        <p:spPr>
          <a:xfrm>
            <a:off x="33558480" y="973836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Resulting group 2: five threads"/>
          <p:cNvSpPr/>
          <p:nvPr/>
        </p:nvSpPr>
        <p:spPr>
          <a:xfrm>
            <a:off x="228600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Group 2"/>
          <p:cNvSpPr/>
          <p:nvPr/>
        </p:nvSpPr>
        <p:spPr>
          <a:xfrm>
            <a:off x="231800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2</a:t>
            </a:r>
          </a:p>
        </p:txBody>
      </p:sp>
      <p:sp>
        <p:nvSpPr>
          <p:cNvPr id="64" name="Mapped thread 10 in group 2"/>
          <p:cNvSpPr/>
          <p:nvPr/>
        </p:nvSpPr>
        <p:spPr>
          <a:xfrm>
            <a:off x="233629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Mapped thread 11 in group 2"/>
          <p:cNvSpPr/>
          <p:nvPr/>
        </p:nvSpPr>
        <p:spPr>
          <a:xfrm>
            <a:off x="243687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Mapped thread 12 in group 2"/>
          <p:cNvSpPr/>
          <p:nvPr/>
        </p:nvSpPr>
        <p:spPr>
          <a:xfrm>
            <a:off x="253746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Mapped thread 13 in group 2"/>
          <p:cNvSpPr/>
          <p:nvPr/>
        </p:nvSpPr>
        <p:spPr>
          <a:xfrm>
            <a:off x="263804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Mapped thread 14 in group 2"/>
          <p:cNvSpPr/>
          <p:nvPr/>
        </p:nvSpPr>
        <p:spPr>
          <a:xfrm>
            <a:off x="273862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Resulting group 3: five threads"/>
          <p:cNvSpPr/>
          <p:nvPr/>
        </p:nvSpPr>
        <p:spPr>
          <a:xfrm>
            <a:off x="29032200" y="1094994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Group 3"/>
          <p:cNvSpPr/>
          <p:nvPr/>
        </p:nvSpPr>
        <p:spPr>
          <a:xfrm>
            <a:off x="29352240" y="1117854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3</a:t>
            </a:r>
          </a:p>
        </p:txBody>
      </p:sp>
      <p:sp>
        <p:nvSpPr>
          <p:cNvPr id="71" name="Mapped thread 15 in group 3"/>
          <p:cNvSpPr/>
          <p:nvPr/>
        </p:nvSpPr>
        <p:spPr>
          <a:xfrm>
            <a:off x="2953512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Mapped thread 16 in group 3"/>
          <p:cNvSpPr/>
          <p:nvPr/>
        </p:nvSpPr>
        <p:spPr>
          <a:xfrm>
            <a:off x="3054096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Mapped thread 17 in group 3"/>
          <p:cNvSpPr/>
          <p:nvPr/>
        </p:nvSpPr>
        <p:spPr>
          <a:xfrm>
            <a:off x="3154680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Mapped thread 18 in group 3"/>
          <p:cNvSpPr/>
          <p:nvPr/>
        </p:nvSpPr>
        <p:spPr>
          <a:xfrm>
            <a:off x="3255264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Mapped thread 19 in group 3"/>
          <p:cNvSpPr/>
          <p:nvPr/>
        </p:nvSpPr>
        <p:spPr>
          <a:xfrm>
            <a:off x="33558480" y="1204722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Resulting group 4: five threads"/>
          <p:cNvSpPr/>
          <p:nvPr/>
        </p:nvSpPr>
        <p:spPr>
          <a:xfrm>
            <a:off x="228600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Group 4"/>
          <p:cNvSpPr/>
          <p:nvPr/>
        </p:nvSpPr>
        <p:spPr>
          <a:xfrm>
            <a:off x="231800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4</a:t>
            </a:r>
          </a:p>
        </p:txBody>
      </p:sp>
      <p:sp>
        <p:nvSpPr>
          <p:cNvPr id="78" name="Mapped thread 20 in group 4"/>
          <p:cNvSpPr/>
          <p:nvPr/>
        </p:nvSpPr>
        <p:spPr>
          <a:xfrm>
            <a:off x="233629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Mapped thread 21 in group 4"/>
          <p:cNvSpPr/>
          <p:nvPr/>
        </p:nvSpPr>
        <p:spPr>
          <a:xfrm>
            <a:off x="243687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Mapped thread 22 in group 4"/>
          <p:cNvSpPr/>
          <p:nvPr/>
        </p:nvSpPr>
        <p:spPr>
          <a:xfrm>
            <a:off x="253746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Mapped thread 23 in group 4"/>
          <p:cNvSpPr/>
          <p:nvPr/>
        </p:nvSpPr>
        <p:spPr>
          <a:xfrm>
            <a:off x="263804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Mapped thread 24 in group 4"/>
          <p:cNvSpPr/>
          <p:nvPr/>
        </p:nvSpPr>
        <p:spPr>
          <a:xfrm>
            <a:off x="273862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Resulting group 5: five threads"/>
          <p:cNvSpPr/>
          <p:nvPr/>
        </p:nvSpPr>
        <p:spPr>
          <a:xfrm>
            <a:off x="29032200" y="13258800"/>
            <a:ext cx="5715000" cy="196596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7432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Group 5"/>
          <p:cNvSpPr/>
          <p:nvPr/>
        </p:nvSpPr>
        <p:spPr>
          <a:xfrm>
            <a:off x="29352240" y="13487400"/>
            <a:ext cx="5029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Group 5</a:t>
            </a:r>
          </a:p>
        </p:txBody>
      </p:sp>
      <p:sp>
        <p:nvSpPr>
          <p:cNvPr id="85" name="Mapped thread 25 in group 5"/>
          <p:cNvSpPr/>
          <p:nvPr/>
        </p:nvSpPr>
        <p:spPr>
          <a:xfrm>
            <a:off x="2953512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Mapped thread 26 in group 5"/>
          <p:cNvSpPr/>
          <p:nvPr/>
        </p:nvSpPr>
        <p:spPr>
          <a:xfrm>
            <a:off x="3054096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Mapped thread 27 in group 5"/>
          <p:cNvSpPr/>
          <p:nvPr/>
        </p:nvSpPr>
        <p:spPr>
          <a:xfrm>
            <a:off x="3154680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Mapped thread 28 in group 5"/>
          <p:cNvSpPr/>
          <p:nvPr/>
        </p:nvSpPr>
        <p:spPr>
          <a:xfrm>
            <a:off x="3255264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Mapped thread 29 in group 5"/>
          <p:cNvSpPr/>
          <p:nvPr/>
        </p:nvSpPr>
        <p:spPr>
          <a:xfrm>
            <a:off x="33558480" y="14356080"/>
            <a:ext cx="457200" cy="457200"/>
          </a:xfrm>
          <a:prstGeom prst="ellipse">
            <a:avLst/>
          </a:prstGeom>
          <a:solidFill>
            <a:schemeClr val="accent1"/>
          </a:solidFill>
          <a:ln w="25146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No group"/>
          <p:cNvSpPr/>
          <p:nvPr/>
        </p:nvSpPr>
        <p:spPr>
          <a:xfrm>
            <a:off x="22860000" y="16162020"/>
            <a:ext cx="388620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dk1"/>
                </a:solidFill>
                <a:latin typeface="NVIDIA Sans Medium"/>
              </a:rPr>
              <a:t xml:space="preserve">No group</a:t>
            </a:r>
          </a:p>
        </p:txBody>
      </p:sp>
      <p:sp>
        <p:nvSpPr>
          <p:cNvPr id="91" name="Thread 30: no resulting group"/>
          <p:cNvSpPr/>
          <p:nvPr/>
        </p:nvSpPr>
        <p:spPr>
          <a:xfrm>
            <a:off x="27500580" y="16230600"/>
            <a:ext cx="502920" cy="502920"/>
          </a:xfrm>
          <a:prstGeom prst="ellipse">
            <a:avLst/>
          </a:prstGeom>
          <a:solidFill>
            <a:schemeClr val="dk1">
              <a:tint val="18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31: no resulting group"/>
          <p:cNvSpPr/>
          <p:nvPr/>
        </p:nvSpPr>
        <p:spPr>
          <a:xfrm>
            <a:off x="28506420" y="16230600"/>
            <a:ext cx="502920" cy="502920"/>
          </a:xfrm>
          <a:prstGeom prst="ellipse">
            <a:avLst/>
          </a:prstGeom>
          <a:solidFill>
            <a:schemeClr val="dk1">
              <a:tint val="18000"/>
            </a:schemeClr>
          </a:solidFill>
          <a:ln w="25146">
            <a:solidFill>
              <a:schemeClr val="dk1">
                <a:tint val="35000"/>
              </a:schemeClr>
            </a:solidFill>
          </a:ln>
        </p:spPr>
      </p:sp>
      <p:sp>
        <p:nvSpPr>
          <p:cNvPr id="93" name="2 threads"/>
          <p:cNvSpPr/>
          <p:nvPr/>
        </p:nvSpPr>
        <p:spPr>
          <a:xfrm>
            <a:off x="29946600" y="16207740"/>
            <a:ext cx="48006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2 threads</a:t>
            </a:r>
          </a:p>
        </p:txBody>
      </p:sp>
      <p:sp>
        <p:nvSpPr>
          <p:cNvPr id="94" name="32 threads → 6 groups × 5 threads + 2 threads without a group"/>
          <p:cNvSpPr/>
          <p:nvPr/>
        </p:nvSpPr>
        <p:spPr>
          <a:xfrm>
            <a:off x="1874520" y="18356580"/>
            <a:ext cx="3287268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220" b="0">
                <a:solidFill>
                  <a:schemeClr val="dk1"/>
                </a:solidFill>
                <a:latin typeface="NVIDIA Sans"/>
              </a:rPr>
              <a:t xml:space="preserve">32 threads → 6 groups × 5 threads + 2 threads without a group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>
  <p:cSld name="Requirements on groups — Over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What a group specifies and provide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a group specifies and provides</a:t>
            </a:r>
          </a:p>
        </p:txBody>
      </p:sp>
      <p:sp>
        <p:nvSpPr>
          <p:cNvPr id="4" name="1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6035040"/>
            <a:ext cx="195453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Shape"/>
          <p:cNvSpPr/>
          <p:nvPr/>
        </p:nvSpPr>
        <p:spPr>
          <a:xfrm>
            <a:off x="22860000" y="6035040"/>
            <a:ext cx="11887200" cy="108585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035040"/>
            <a:ext cx="195453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Shape"/>
          <p:cNvSpPr/>
          <p:nvPr/>
        </p:nvSpPr>
        <p:spPr>
          <a:xfrm>
            <a:off x="22860000" y="6035040"/>
            <a:ext cx="118872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It should specify"/>
          <p:cNvSpPr/>
          <p:nvPr/>
        </p:nvSpPr>
        <p:spPr>
          <a:xfrm>
            <a:off x="2514600" y="6789420"/>
            <a:ext cx="181737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It should specify</a:t>
            </a:r>
          </a:p>
        </p:txBody>
      </p:sp>
      <p:sp>
        <p:nvSpPr>
          <p:cNvPr id="10" name="Shape"/>
          <p:cNvSpPr/>
          <p:nvPr/>
        </p:nvSpPr>
        <p:spPr>
          <a:xfrm>
            <a:off x="2560320" y="9121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1" name="1"/>
          <p:cNvSpPr/>
          <p:nvPr/>
        </p:nvSpPr>
        <p:spPr>
          <a:xfrm>
            <a:off x="2560320" y="9212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2" name="Units being grouped"/>
          <p:cNvSpPr/>
          <p:nvPr/>
        </p:nvSpPr>
        <p:spPr>
          <a:xfrm>
            <a:off x="4114800" y="9029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Units being grouped</a:t>
            </a:r>
          </a:p>
        </p:txBody>
      </p:sp>
      <p:sp>
        <p:nvSpPr>
          <p:cNvPr id="13" name="Threads, warps, …"/>
          <p:cNvSpPr/>
          <p:nvPr/>
        </p:nvSpPr>
        <p:spPr>
          <a:xfrm>
            <a:off x="4114800" y="10058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Threads, warps, …</a:t>
            </a:r>
          </a:p>
        </p:txBody>
      </p:sp>
      <p:sp>
        <p:nvSpPr>
          <p:cNvPr id="14" name="Shape"/>
          <p:cNvSpPr/>
          <p:nvPr/>
        </p:nvSpPr>
        <p:spPr>
          <a:xfrm>
            <a:off x="2560320" y="11407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5" name="2"/>
          <p:cNvSpPr/>
          <p:nvPr/>
        </p:nvSpPr>
        <p:spPr>
          <a:xfrm>
            <a:off x="2560320" y="11498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6" name="Upper boundary level"/>
          <p:cNvSpPr/>
          <p:nvPr/>
        </p:nvSpPr>
        <p:spPr>
          <a:xfrm>
            <a:off x="4114800" y="11315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Upper boundary level</a:t>
            </a:r>
          </a:p>
        </p:txBody>
      </p:sp>
      <p:sp>
        <p:nvSpPr>
          <p:cNvPr id="17" name="Block, grid, …"/>
          <p:cNvSpPr/>
          <p:nvPr/>
        </p:nvSpPr>
        <p:spPr>
          <a:xfrm>
            <a:off x="4114800" y="12344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Block, grid, …</a:t>
            </a:r>
          </a:p>
        </p:txBody>
      </p:sp>
      <p:sp>
        <p:nvSpPr>
          <p:cNvPr id="18" name="Shape"/>
          <p:cNvSpPr/>
          <p:nvPr/>
        </p:nvSpPr>
        <p:spPr>
          <a:xfrm>
            <a:off x="2560320" y="13693140"/>
            <a:ext cx="960120" cy="960120"/>
          </a:xfrm>
          <a:prstGeom prst="ellipse">
            <a:avLst/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3"/>
          <p:cNvSpPr/>
          <p:nvPr/>
        </p:nvSpPr>
        <p:spPr>
          <a:xfrm>
            <a:off x="2560320" y="13784580"/>
            <a:ext cx="96012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45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20" name="Hierarchy"/>
          <p:cNvSpPr/>
          <p:nvPr/>
        </p:nvSpPr>
        <p:spPr>
          <a:xfrm>
            <a:off x="4114800" y="13601700"/>
            <a:ext cx="16344900" cy="9601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Hierarchy</a:t>
            </a:r>
          </a:p>
        </p:txBody>
      </p:sp>
      <p:sp>
        <p:nvSpPr>
          <p:cNvPr id="21" name="The hierarchy in which the group exists"/>
          <p:cNvSpPr/>
          <p:nvPr/>
        </p:nvSpPr>
        <p:spPr>
          <a:xfrm>
            <a:off x="4114800" y="14630400"/>
            <a:ext cx="163449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The hierarchy in which the group exists</a:t>
            </a:r>
          </a:p>
        </p:txBody>
      </p:sp>
      <p:sp>
        <p:nvSpPr>
          <p:cNvPr id="22" name="It should provide"/>
          <p:cNvSpPr/>
          <p:nvPr/>
        </p:nvSpPr>
        <p:spPr>
          <a:xfrm>
            <a:off x="23545800" y="6789420"/>
            <a:ext cx="10515600" cy="12573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It should provide</a:t>
            </a:r>
          </a:p>
        </p:txBody>
      </p:sp>
      <p:sp>
        <p:nvSpPr>
          <p:cNvPr id="23" name="Query APIs"/>
          <p:cNvSpPr/>
          <p:nvPr/>
        </p:nvSpPr>
        <p:spPr>
          <a:xfrm>
            <a:off x="23545800" y="937260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Query APIs</a:t>
            </a:r>
          </a:p>
        </p:txBody>
      </p:sp>
      <p:sp>
        <p:nvSpPr>
          <p:cNvPr id="24" name="Information about the group"/>
          <p:cNvSpPr/>
          <p:nvPr/>
        </p:nvSpPr>
        <p:spPr>
          <a:xfrm>
            <a:off x="23545800" y="1062990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Information about the group</a:t>
            </a:r>
          </a:p>
        </p:txBody>
      </p:sp>
      <p:sp>
        <p:nvSpPr>
          <p:cNvPr id="25" name="Shape"/>
          <p:cNvSpPr/>
          <p:nvPr/>
        </p:nvSpPr>
        <p:spPr>
          <a:xfrm>
            <a:off x="23545800" y="12595860"/>
            <a:ext cx="105156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6" name="Synchronization APIs"/>
          <p:cNvSpPr/>
          <p:nvPr/>
        </p:nvSpPr>
        <p:spPr>
          <a:xfrm>
            <a:off x="23545800" y="13510260"/>
            <a:ext cx="1051560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Synchronization APIs</a:t>
            </a:r>
          </a:p>
        </p:txBody>
      </p:sp>
      <p:sp>
        <p:nvSpPr>
          <p:cNvPr id="27" name="Synchronization of its units"/>
          <p:cNvSpPr/>
          <p:nvPr/>
        </p:nvSpPr>
        <p:spPr>
          <a:xfrm>
            <a:off x="23545800" y="14767560"/>
            <a:ext cx="10515600" cy="14173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Synchronization of its units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>
  <p:cSld name="Requirements on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quirements on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Requirements on groups</a:t>
            </a:r>
          </a:p>
        </p:txBody>
      </p:sp>
      <p:sp>
        <p:nvSpPr>
          <p:cNvPr id="3" name="The group concept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The group concept</a:t>
            </a:r>
          </a:p>
        </p:txBody>
      </p:sp>
      <p:sp>
        <p:nvSpPr>
          <p:cNvPr id="4" name="1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29200"/>
            <a:ext cx="22860000" cy="135102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CONCEPT"/>
          <p:cNvSpPr/>
          <p:nvPr/>
        </p:nvSpPr>
        <p:spPr>
          <a:xfrm>
            <a:off x="2423160" y="5532120"/>
            <a:ext cx="216712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3060" b="1">
                <a:solidFill>
                  <a:schemeClr val="accent6"/>
                </a:solidFill>
                <a:latin typeface="NVIDIA Sans Medium"/>
              </a:rPr>
              <a:t xml:space="preserve">CONCEPT</a:t>
            </a:r>
          </a:p>
        </p:txBody>
      </p:sp>
      <p:sp>
        <p:nvSpPr>
          <p:cNvPr id="7" name="Verbatim C++ snippet" descr="Verbatim fenced C++ snippet from slides.md"/>
          <p:cNvSpPr/>
          <p:nvPr/>
        </p:nvSpPr>
        <p:spPr>
          <a:xfrm>
            <a:off x="2423160" y="6858000"/>
            <a:ext cx="21671280" cy="109728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template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concept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Member types.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/*is-hierarchy-level*/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unit_type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/*is-hierarchy-level*/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level_type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requires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/*is-hierarchy*/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hierarchy_type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Getters.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hierarchy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noexcept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hierarchy_type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Synchronization.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noexcept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Properties.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is_always_contiguous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noexcept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same_as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24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bool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                              </a:t>
            </a:r>
            <a:r>
              <a:rPr lang="en-US" sz="3240" b="0">
                <a:solidFill>
                  <a:schemeClr val="accent6"/>
                </a:solidFill>
                <a:latin typeface="DejaVu Sans Mono"/>
              </a:rPr>
              <a:t xml:space="preserve">// (7), must be constexpr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24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564"/>
              </a:lnSpc>
              <a:spcBef>
                <a:spcPts val="0"/>
              </a:spcBef>
              <a:spcAft>
                <a:spcPts val="0"/>
              </a:spcAft>
              <a:buNone/>
              <a:defRPr lang="en-US" sz="3240" b="0">
                <a:solidFill>
                  <a:schemeClr val="dk1"/>
                </a:solidFill>
                <a:latin typeface="DejaVu Sans Mono"/>
              </a:defRPr>
            </a:pPr>
            <a:endParaRPr lang="en-US" sz="324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8" name="1"/>
          <p:cNvSpPr/>
          <p:nvPr/>
        </p:nvSpPr>
        <p:spPr>
          <a:xfrm>
            <a:off x="25374600" y="54635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9" name="what units are being grouped"/>
          <p:cNvSpPr/>
          <p:nvPr/>
        </p:nvSpPr>
        <p:spPr>
          <a:xfrm>
            <a:off x="26403300" y="546354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what units are being grouped</a:t>
            </a:r>
          </a:p>
        </p:txBody>
      </p:sp>
      <p:sp>
        <p:nvSpPr>
          <p:cNvPr id="10" name="2"/>
          <p:cNvSpPr/>
          <p:nvPr/>
        </p:nvSpPr>
        <p:spPr>
          <a:xfrm>
            <a:off x="25374600" y="72237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1" name="within which level"/>
          <p:cNvSpPr/>
          <p:nvPr/>
        </p:nvSpPr>
        <p:spPr>
          <a:xfrm>
            <a:off x="26403300" y="722376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within which level</a:t>
            </a:r>
          </a:p>
        </p:txBody>
      </p:sp>
      <p:sp>
        <p:nvSpPr>
          <p:cNvPr id="12" name="3"/>
          <p:cNvSpPr/>
          <p:nvPr/>
        </p:nvSpPr>
        <p:spPr>
          <a:xfrm>
            <a:off x="25374600" y="898398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3" name="in which hierarchy"/>
          <p:cNvSpPr/>
          <p:nvPr/>
        </p:nvSpPr>
        <p:spPr>
          <a:xfrm>
            <a:off x="26403300" y="898398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in which hierarchy</a:t>
            </a:r>
          </a:p>
        </p:txBody>
      </p:sp>
      <p:sp>
        <p:nvSpPr>
          <p:cNvPr id="14" name="4"/>
          <p:cNvSpPr/>
          <p:nvPr/>
        </p:nvSpPr>
        <p:spPr>
          <a:xfrm>
            <a:off x="25374600" y="1074420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5" name="hierarchy getter"/>
          <p:cNvSpPr/>
          <p:nvPr/>
        </p:nvSpPr>
        <p:spPr>
          <a:xfrm>
            <a:off x="26403300" y="1074420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hierarchy getter</a:t>
            </a:r>
          </a:p>
        </p:txBody>
      </p:sp>
      <p:sp>
        <p:nvSpPr>
          <p:cNvPr id="16" name="5"/>
          <p:cNvSpPr/>
          <p:nvPr/>
        </p:nvSpPr>
        <p:spPr>
          <a:xfrm>
            <a:off x="25374600" y="125044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7" name="synchronizes all units"/>
          <p:cNvSpPr/>
          <p:nvPr/>
        </p:nvSpPr>
        <p:spPr>
          <a:xfrm>
            <a:off x="26403300" y="1250442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</a:t>
            </a:r>
          </a:p>
        </p:txBody>
      </p:sp>
      <p:sp>
        <p:nvSpPr>
          <p:cNvPr id="18" name="6"/>
          <p:cNvSpPr/>
          <p:nvPr/>
        </p:nvSpPr>
        <p:spPr>
          <a:xfrm>
            <a:off x="25374600" y="1426464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19" name="synchronizes all units, requires context alignment"/>
          <p:cNvSpPr/>
          <p:nvPr/>
        </p:nvSpPr>
        <p:spPr>
          <a:xfrm>
            <a:off x="26403300" y="1426464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synchronizes all units, requires context alignment</a:t>
            </a:r>
          </a:p>
        </p:txBody>
      </p:sp>
      <p:sp>
        <p:nvSpPr>
          <p:cNvPr id="20" name="7"/>
          <p:cNvSpPr/>
          <p:nvPr/>
        </p:nvSpPr>
        <p:spPr>
          <a:xfrm>
            <a:off x="25374600" y="1602486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7</a:t>
            </a:r>
          </a:p>
        </p:txBody>
      </p:sp>
      <p:sp>
        <p:nvSpPr>
          <p:cNvPr id="21" name="`true` if each group occupies a contiguous range of physical unit"/>
          <p:cNvSpPr/>
          <p:nvPr/>
        </p:nvSpPr>
        <p:spPr>
          <a:xfrm>
            <a:off x="26403300" y="16024860"/>
            <a:ext cx="8343900" cy="15773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true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 if each group occupies a contiguous range of physical units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>
  <p:cSld name="Group queri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querie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queries</a:t>
            </a:r>
          </a:p>
        </p:txBody>
      </p:sp>
      <p:sp>
        <p:nvSpPr>
          <p:cNvPr id="3" name="Sub-unit and super-level querie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Sub-unit and super-level queries</a:t>
            </a:r>
          </a:p>
        </p:txBody>
      </p:sp>
      <p:sp>
        <p:nvSpPr>
          <p:cNvPr id="4" name="1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Sub-unit queries"/>
          <p:cNvSpPr/>
          <p:nvPr/>
        </p:nvSpPr>
        <p:spPr>
          <a:xfrm>
            <a:off x="22402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Sub-unit queries</a:t>
            </a:r>
          </a:p>
        </p:txBody>
      </p:sp>
      <p:sp>
        <p:nvSpPr>
          <p:cNvPr id="7" name="Query information about levels that are below the group's unit ty"/>
          <p:cNvSpPr/>
          <p:nvPr/>
        </p:nvSpPr>
        <p:spPr>
          <a:xfrm>
            <a:off x="22402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below the group's unit type.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9" name="Verbatim C++ snippet" descr="Verbatim fenced C++ snippet from slides.md"/>
          <p:cNvSpPr/>
          <p:nvPr/>
        </p:nvSpPr>
        <p:spPr>
          <a:xfrm>
            <a:off x="2103120" y="9395460"/>
            <a:ext cx="1533906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static_count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is_root_rank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(6)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0" name="1"/>
          <p:cNvSpPr/>
          <p:nvPr/>
        </p:nvSpPr>
        <p:spPr>
          <a:xfrm>
            <a:off x="2171700" y="1399032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1" name="Statically known number of `qunit` within `group`"/>
          <p:cNvSpPr/>
          <p:nvPr/>
        </p:nvSpPr>
        <p:spPr>
          <a:xfrm>
            <a:off x="3017520" y="1399032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2"/>
          <p:cNvSpPr/>
          <p:nvPr/>
        </p:nvSpPr>
        <p:spPr>
          <a:xfrm>
            <a:off x="2171700" y="1481328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3" name="Number of `qunit` within `group` returned as `T`"/>
          <p:cNvSpPr/>
          <p:nvPr/>
        </p:nvSpPr>
        <p:spPr>
          <a:xfrm>
            <a:off x="3017520" y="1481328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4" name="3"/>
          <p:cNvSpPr/>
          <p:nvPr/>
        </p:nvSpPr>
        <p:spPr>
          <a:xfrm>
            <a:off x="2171700" y="1563624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15" name="Current `qunit`'s rank within `group` returned as `T`"/>
          <p:cNvSpPr/>
          <p:nvPr/>
        </p:nvSpPr>
        <p:spPr>
          <a:xfrm>
            <a:off x="3017520" y="1563624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6" name="4"/>
          <p:cNvSpPr/>
          <p:nvPr/>
        </p:nvSpPr>
        <p:spPr>
          <a:xfrm>
            <a:off x="2171700" y="1645920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17" name="Same as `qunit.count_as&lt;/*default-T*/&gt;(group)`"/>
          <p:cNvSpPr/>
          <p:nvPr/>
        </p:nvSpPr>
        <p:spPr>
          <a:xfrm>
            <a:off x="3017520" y="1645920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qunit.count_as&lt;/*default-T*/&gt;(group)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18" name="5"/>
          <p:cNvSpPr/>
          <p:nvPr/>
        </p:nvSpPr>
        <p:spPr>
          <a:xfrm>
            <a:off x="2171700" y="1728216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19" name="Same as `qunit.rank_as&lt;/*default-T*/&gt;(group)`"/>
          <p:cNvSpPr/>
          <p:nvPr/>
        </p:nvSpPr>
        <p:spPr>
          <a:xfrm>
            <a:off x="3017520" y="1728216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qunit.rank_as&lt;/*default-T*/&gt;(group)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0" name="6"/>
          <p:cNvSpPr/>
          <p:nvPr/>
        </p:nvSpPr>
        <p:spPr>
          <a:xfrm>
            <a:off x="2171700" y="1810512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6</a:t>
            </a:r>
          </a:p>
        </p:txBody>
      </p:sp>
      <p:sp>
        <p:nvSpPr>
          <p:cNvPr id="21" name="Same as `qunit.rank(group) == 0`"/>
          <p:cNvSpPr/>
          <p:nvPr/>
        </p:nvSpPr>
        <p:spPr>
          <a:xfrm>
            <a:off x="3017520" y="1810512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qunit.rank(group) == 0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Shape"/>
          <p:cNvSpPr/>
          <p:nvPr/>
        </p:nvSpPr>
        <p:spPr>
          <a:xfrm>
            <a:off x="18859500" y="500634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23" name="Super-level queries"/>
          <p:cNvSpPr/>
          <p:nvPr/>
        </p:nvSpPr>
        <p:spPr>
          <a:xfrm>
            <a:off x="19270980" y="5600700"/>
            <a:ext cx="1506474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Super-level queries</a:t>
            </a:r>
          </a:p>
        </p:txBody>
      </p:sp>
      <p:sp>
        <p:nvSpPr>
          <p:cNvPr id="24" name="Query information about levels that are above the group's upper b"/>
          <p:cNvSpPr/>
          <p:nvPr/>
        </p:nvSpPr>
        <p:spPr>
          <a:xfrm>
            <a:off x="19270980" y="6926580"/>
            <a:ext cx="1506474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Query information about levels that are above the group's upper boundary type.</a:t>
            </a:r>
          </a:p>
        </p:txBody>
      </p:sp>
      <p:sp>
        <p:nvSpPr>
          <p:cNvPr id="25" name="Shape"/>
          <p:cNvSpPr/>
          <p:nvPr/>
        </p:nvSpPr>
        <p:spPr>
          <a:xfrm>
            <a:off x="18859500" y="8778240"/>
            <a:ext cx="15887700" cy="477774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26" name="Verbatim C++ snippet" descr="Verbatim fenced C++ snippet from slides.md"/>
          <p:cNvSpPr/>
          <p:nvPr/>
        </p:nvSpPr>
        <p:spPr>
          <a:xfrm>
            <a:off x="19133820" y="9395460"/>
            <a:ext cx="15339060" cy="3886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static_count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rank_as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(3)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(4)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/*parent-group-or-qlevel*/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060" b="0">
                <a:solidFill>
                  <a:schemeClr val="dk1"/>
                </a:solidFill>
                <a:latin typeface="DejaVu Sans Mono"/>
              </a:rPr>
              <a:t xml:space="preserve">         </a:t>
            </a:r>
            <a:r>
              <a:rPr lang="en-US" sz="3060" b="0">
                <a:solidFill>
                  <a:schemeClr val="accent6"/>
                </a:solidFill>
                <a:latin typeface="DejaVu Sans Mono"/>
              </a:rPr>
              <a:t xml:space="preserve">// (5)</a:t>
            </a:r>
            <a:endParaRPr lang="en-US" sz="306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366"/>
              </a:lnSpc>
              <a:spcBef>
                <a:spcPts val="0"/>
              </a:spcBef>
              <a:spcAft>
                <a:spcPts val="0"/>
              </a:spcAft>
              <a:buNone/>
              <a:defRPr lang="en-US" sz="3060" b="0">
                <a:solidFill>
                  <a:schemeClr val="dk1"/>
                </a:solidFill>
                <a:latin typeface="DejaVu Sans Mono"/>
              </a:defRPr>
            </a:pPr>
            <a:endParaRPr lang="en-US" sz="306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27" name="1"/>
          <p:cNvSpPr/>
          <p:nvPr/>
        </p:nvSpPr>
        <p:spPr>
          <a:xfrm>
            <a:off x="19202400" y="1399032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28" name="Statically known number of `group` within `/*parent-group-or-qlev"/>
          <p:cNvSpPr/>
          <p:nvPr/>
        </p:nvSpPr>
        <p:spPr>
          <a:xfrm>
            <a:off x="20048220" y="1399032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Statically known 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9" name="2"/>
          <p:cNvSpPr/>
          <p:nvPr/>
        </p:nvSpPr>
        <p:spPr>
          <a:xfrm>
            <a:off x="19202400" y="1481328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30" name="Number of `group` within `/*parent-group-or-qlevel*/` returned as"/>
          <p:cNvSpPr/>
          <p:nvPr/>
        </p:nvSpPr>
        <p:spPr>
          <a:xfrm>
            <a:off x="20048220" y="1481328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Number of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3"/>
          <p:cNvSpPr/>
          <p:nvPr/>
        </p:nvSpPr>
        <p:spPr>
          <a:xfrm>
            <a:off x="19202400" y="1563624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3</a:t>
            </a:r>
          </a:p>
        </p:txBody>
      </p:sp>
      <p:sp>
        <p:nvSpPr>
          <p:cNvPr id="32" name="Current `group`'s rank within `/*parent-group-or-qlevel*/` return"/>
          <p:cNvSpPr/>
          <p:nvPr/>
        </p:nvSpPr>
        <p:spPr>
          <a:xfrm>
            <a:off x="20048220" y="1563624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Current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's rank within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/*parent-group-or-qlevel*/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 returned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3" name="4"/>
          <p:cNvSpPr/>
          <p:nvPr/>
        </p:nvSpPr>
        <p:spPr>
          <a:xfrm>
            <a:off x="19202400" y="1645920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4</a:t>
            </a:r>
          </a:p>
        </p:txBody>
      </p:sp>
      <p:sp>
        <p:nvSpPr>
          <p:cNvPr id="34" name="Same as `group.count_as&lt;/*default-T*/&gt;(/*parent-group-or-qlevel*/"/>
          <p:cNvSpPr/>
          <p:nvPr/>
        </p:nvSpPr>
        <p:spPr>
          <a:xfrm>
            <a:off x="20048220" y="1645920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group.count_as&lt;/*default-T*/&gt;(/*parent-group-or-qlevel*/)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5"/>
          <p:cNvSpPr/>
          <p:nvPr/>
        </p:nvSpPr>
        <p:spPr>
          <a:xfrm>
            <a:off x="19202400" y="17282160"/>
            <a:ext cx="54864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0000"/>
              </a:lnSpc>
              <a:buNone/>
            </a:pPr>
            <a:r>
              <a:rPr lang="en-US" sz="288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5</a:t>
            </a:r>
          </a:p>
        </p:txBody>
      </p:sp>
      <p:sp>
        <p:nvSpPr>
          <p:cNvPr id="36" name="Same as `group.rank_as&lt;/*default-T*/&gt;(/*parent-group-or-qlevel*/)"/>
          <p:cNvSpPr/>
          <p:nvPr/>
        </p:nvSpPr>
        <p:spPr>
          <a:xfrm>
            <a:off x="20048220" y="17282160"/>
            <a:ext cx="1424178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Same as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group.rank_as&lt;/*default-T*/&gt;(/*parent-group-or-qlevel*/)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7" name="default-T is the default result type."/>
          <p:cNvSpPr/>
          <p:nvPr/>
        </p:nvSpPr>
        <p:spPr>
          <a:xfrm>
            <a:off x="1874520" y="19133820"/>
            <a:ext cx="323469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default-T is the default result type.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>
  <p:cSld name="Predefined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Groups</a:t>
            </a:r>
          </a:p>
        </p:txBody>
      </p:sp>
      <p:sp>
        <p:nvSpPr>
          <p:cNvPr id="3" name="Overview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Overview</a:t>
            </a:r>
          </a:p>
        </p:txBody>
      </p:sp>
      <p:sp>
        <p:nvSpPr>
          <p:cNvPr id="4" name="1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" name="CCCL Cooperative Groups come with several predefined group types.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CCCL Cooperative Groups come with several predefined group types.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01"/>
          <p:cNvSpPr/>
          <p:nvPr/>
        </p:nvSpPr>
        <p:spPr>
          <a:xfrm>
            <a:off x="24231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01</a:t>
            </a:r>
          </a:p>
        </p:txBody>
      </p:sp>
      <p:sp>
        <p:nvSpPr>
          <p:cNvPr id="9" name="Implicit groups"/>
          <p:cNvSpPr/>
          <p:nvPr/>
        </p:nvSpPr>
        <p:spPr>
          <a:xfrm>
            <a:off x="24231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10" name="Shape"/>
          <p:cNvSpPr/>
          <p:nvPr/>
        </p:nvSpPr>
        <p:spPr>
          <a:xfrm>
            <a:off x="130302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30302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02"/>
          <p:cNvSpPr/>
          <p:nvPr/>
        </p:nvSpPr>
        <p:spPr>
          <a:xfrm>
            <a:off x="136245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02</a:t>
            </a:r>
          </a:p>
        </p:txBody>
      </p:sp>
      <p:sp>
        <p:nvSpPr>
          <p:cNvPr id="13" name="Derived groups"/>
          <p:cNvSpPr/>
          <p:nvPr/>
        </p:nvSpPr>
        <p:spPr>
          <a:xfrm>
            <a:off x="136245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14" name="Shape"/>
          <p:cNvSpPr/>
          <p:nvPr/>
        </p:nvSpPr>
        <p:spPr>
          <a:xfrm>
            <a:off x="24231600" y="6903720"/>
            <a:ext cx="10515600" cy="105613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hape"/>
          <p:cNvSpPr/>
          <p:nvPr/>
        </p:nvSpPr>
        <p:spPr>
          <a:xfrm>
            <a:off x="24231600" y="6903720"/>
            <a:ext cx="105156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03"/>
          <p:cNvSpPr/>
          <p:nvPr/>
        </p:nvSpPr>
        <p:spPr>
          <a:xfrm>
            <a:off x="24825960" y="7498080"/>
            <a:ext cx="1600200" cy="8229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03</a:t>
            </a:r>
          </a:p>
        </p:txBody>
      </p:sp>
      <p:sp>
        <p:nvSpPr>
          <p:cNvPr id="17" name="Non-owning view"/>
          <p:cNvSpPr/>
          <p:nvPr/>
        </p:nvSpPr>
        <p:spPr>
          <a:xfrm>
            <a:off x="24825960" y="8732520"/>
            <a:ext cx="932688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Non-owning view</a:t>
            </a:r>
          </a:p>
        </p:txBody>
      </p:sp>
      <p:sp>
        <p:nvSpPr>
          <p:cNvPr id="18" name="Independent building block"/>
          <p:cNvSpPr/>
          <p:nvPr/>
        </p:nvSpPr>
        <p:spPr>
          <a:xfrm>
            <a:off x="2743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Independent building block"/>
          <p:cNvSpPr/>
          <p:nvPr/>
        </p:nvSpPr>
        <p:spPr>
          <a:xfrm>
            <a:off x="56007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Independent building block"/>
          <p:cNvSpPr/>
          <p:nvPr/>
        </p:nvSpPr>
        <p:spPr>
          <a:xfrm>
            <a:off x="8458200" y="10584180"/>
            <a:ext cx="2171700" cy="121158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`this_{level} groups`"/>
          <p:cNvSpPr/>
          <p:nvPr/>
        </p:nvSpPr>
        <p:spPr>
          <a:xfrm>
            <a:off x="2423160" y="1273302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this_{level} groups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2" name="`coalesced_group`"/>
          <p:cNvSpPr/>
          <p:nvPr/>
        </p:nvSpPr>
        <p:spPr>
          <a:xfrm>
            <a:off x="2423160" y="1383030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3" name="NEW"/>
          <p:cNvSpPr/>
          <p:nvPr/>
        </p:nvSpPr>
        <p:spPr>
          <a:xfrm>
            <a:off x="7520940" y="1394460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24" name="No parent group; building blocks&#10;for other groups."/>
          <p:cNvSpPr/>
          <p:nvPr/>
        </p:nvSpPr>
        <p:spPr>
          <a:xfrm>
            <a:off x="24231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No parent group; building blocks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for other groups.</a:t>
            </a:r>
          </a:p>
        </p:txBody>
      </p:sp>
      <p:sp>
        <p:nvSpPr>
          <p:cNvPr id="25" name="Parent group"/>
          <p:cNvSpPr/>
          <p:nvPr/>
        </p:nvSpPr>
        <p:spPr>
          <a:xfrm>
            <a:off x="16299180" y="10378440"/>
            <a:ext cx="3977640" cy="100584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6" name="Parent group"/>
          <p:cNvSpPr/>
          <p:nvPr/>
        </p:nvSpPr>
        <p:spPr>
          <a:xfrm>
            <a:off x="16299180" y="10538460"/>
            <a:ext cx="3977640" cy="7543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3420" b="0">
                <a:solidFill>
                  <a:schemeClr val="dk1"/>
                </a:solidFill>
                <a:latin typeface="NVIDIA Sans"/>
              </a:rPr>
              <a:t xml:space="preserve">Parent group</a:t>
            </a:r>
          </a:p>
        </p:txBody>
      </p:sp>
      <p:sp>
        <p:nvSpPr>
          <p:cNvPr id="27" name="Split from parent"/>
          <p:cNvSpPr/>
          <p:nvPr/>
        </p:nvSpPr>
        <p:spPr>
          <a:xfrm>
            <a:off x="150876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8" name="Result of splitting"/>
          <p:cNvSpPr/>
          <p:nvPr/>
        </p:nvSpPr>
        <p:spPr>
          <a:xfrm>
            <a:off x="141960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Split from parent"/>
          <p:cNvSpPr/>
          <p:nvPr/>
        </p:nvSpPr>
        <p:spPr>
          <a:xfrm>
            <a:off x="20116800" y="11704320"/>
            <a:ext cx="548640" cy="64008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0" name="Result of splitting"/>
          <p:cNvSpPr/>
          <p:nvPr/>
        </p:nvSpPr>
        <p:spPr>
          <a:xfrm>
            <a:off x="19225260" y="12664440"/>
            <a:ext cx="2331720" cy="617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Parent split branches"/>
          <p:cNvSpPr/>
          <p:nvPr/>
        </p:nvSpPr>
        <p:spPr>
          <a:xfrm>
            <a:off x="15361920" y="11498580"/>
            <a:ext cx="5029200" cy="457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2" name="Shape"/>
          <p:cNvSpPr/>
          <p:nvPr/>
        </p:nvSpPr>
        <p:spPr>
          <a:xfrm>
            <a:off x="18265140" y="11384280"/>
            <a:ext cx="45720" cy="160020"/>
          </a:xfrm>
          <a:prstGeom prst="rect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33" name="`generic_group`"/>
          <p:cNvSpPr/>
          <p:nvPr/>
        </p:nvSpPr>
        <p:spPr>
          <a:xfrm>
            <a:off x="136245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4" name="`virtual_group`"/>
          <p:cNvSpPr/>
          <p:nvPr/>
        </p:nvSpPr>
        <p:spPr>
          <a:xfrm>
            <a:off x="13624560" y="1483614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virtual_group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5" name="NEW"/>
          <p:cNvSpPr/>
          <p:nvPr/>
        </p:nvSpPr>
        <p:spPr>
          <a:xfrm>
            <a:off x="18288000" y="1495044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36" name="Created by splitting another group."/>
          <p:cNvSpPr/>
          <p:nvPr/>
        </p:nvSpPr>
        <p:spPr>
          <a:xfrm>
            <a:off x="13624560" y="16116300"/>
            <a:ext cx="932688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Created by splitting another group.</a:t>
            </a:r>
          </a:p>
        </p:txBody>
      </p:sp>
      <p:sp>
        <p:nvSpPr>
          <p:cNvPr id="37" name="Existing group"/>
          <p:cNvSpPr/>
          <p:nvPr/>
        </p:nvSpPr>
        <p:spPr>
          <a:xfrm>
            <a:off x="25786080" y="10607040"/>
            <a:ext cx="6492240" cy="2217420"/>
          </a:xfrm>
          <a:prstGeom prst="roundRect">
            <a:avLst>
              <a:gd name="adj" fmla="val 6000"/>
            </a:avLst>
          </a:prstGeom>
          <a:solidFill>
            <a:schemeClr val="lt1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38" name="Viewed group member"/>
          <p:cNvSpPr/>
          <p:nvPr/>
        </p:nvSpPr>
        <p:spPr>
          <a:xfrm>
            <a:off x="2628900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39" name="Viewed group member"/>
          <p:cNvSpPr/>
          <p:nvPr/>
        </p:nvSpPr>
        <p:spPr>
          <a:xfrm>
            <a:off x="2718054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0" name="Viewed group member"/>
          <p:cNvSpPr/>
          <p:nvPr/>
        </p:nvSpPr>
        <p:spPr>
          <a:xfrm>
            <a:off x="2807208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1" name="Viewed group member"/>
          <p:cNvSpPr/>
          <p:nvPr/>
        </p:nvSpPr>
        <p:spPr>
          <a:xfrm>
            <a:off x="2896362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2" name="Viewed group member"/>
          <p:cNvSpPr/>
          <p:nvPr/>
        </p:nvSpPr>
        <p:spPr>
          <a:xfrm>
            <a:off x="2985516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3" name="Viewed group member"/>
          <p:cNvSpPr/>
          <p:nvPr/>
        </p:nvSpPr>
        <p:spPr>
          <a:xfrm>
            <a:off x="30746700" y="11452860"/>
            <a:ext cx="342900" cy="3429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44" name="Non-owning view of existing group"/>
          <p:cNvSpPr/>
          <p:nvPr/>
        </p:nvSpPr>
        <p:spPr>
          <a:xfrm>
            <a:off x="26220420" y="10241280"/>
            <a:ext cx="6492240" cy="221742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dk2"/>
            </a:solidFill>
            <a:prstDash val="dash"/>
          </a:ln>
        </p:spPr>
      </p:sp>
      <p:sp>
        <p:nvSpPr>
          <p:cNvPr id="45" name="`group_view`"/>
          <p:cNvSpPr/>
          <p:nvPr/>
        </p:nvSpPr>
        <p:spPr>
          <a:xfrm>
            <a:off x="24825960" y="13853160"/>
            <a:ext cx="9326880" cy="8686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group_view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46" name="NEW"/>
          <p:cNvSpPr/>
          <p:nvPr/>
        </p:nvSpPr>
        <p:spPr>
          <a:xfrm>
            <a:off x="28666440" y="13967460"/>
            <a:ext cx="2400300" cy="6629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NEW</a:t>
            </a:r>
          </a:p>
        </p:txBody>
      </p:sp>
      <p:sp>
        <p:nvSpPr>
          <p:cNvPr id="47" name="A non-owning group view&#10;over a group."/>
          <p:cNvSpPr/>
          <p:nvPr/>
        </p:nvSpPr>
        <p:spPr>
          <a:xfrm>
            <a:off x="24825960" y="15567660"/>
            <a:ext cx="932688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A non-owning group view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over a group.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>
  <p:cSld name="Implicit Groups — This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This group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This groups</a:t>
            </a:r>
          </a:p>
        </p:txBody>
      </p:sp>
      <p:sp>
        <p:nvSpPr>
          <p:cNvPr id="5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6" name="This groups use-case example" descr="Supplemental this-group usage example based on repository query and synchronization APIs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construction​​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synchronization​​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 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equivalent to __barrier_sync(0)​​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sync_aligned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equivalent to __syncthreads()​​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Thread rank within block.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Warp count within block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Number of blocks within cluster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cluster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​</a:t>
            </a: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>
                    <a:shade val="65000"/>
                  </a:schemeClr>
                </a:solidFill>
                <a:latin typeface="DejaVu Sans Mono"/>
              </a:defRPr>
            </a:pPr>
            <a:endParaRPr lang="en-US" sz="288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</p:txBody>
      </p:sp>
      <p:sp>
        <p:nvSpPr>
          <p:cNvPr id="7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Named this_{level}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Named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this_{level}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one class per level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one class per level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contain a single unit within the same level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contain a single unit within the same level</a:t>
            </a:r>
          </a:p>
        </p:txBody>
      </p:sp>
      <p:sp>
        <p:nvSpPr>
          <p:cNvPr id="15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6" name="always contiguous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always contiguous</a:t>
            </a:r>
          </a:p>
        </p:txBody>
      </p:sp>
      <p:sp>
        <p:nvSpPr>
          <p:cNvPr id="17" name="this_grid: three illustrated blocks and additional blocks"/>
          <p:cNvSpPr/>
          <p:nvPr/>
        </p:nvSpPr>
        <p:spPr>
          <a:xfrm>
            <a:off x="1828800" y="14401800"/>
            <a:ext cx="32918400" cy="361696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1"/>
            </a:solidFill>
          </a:ln>
        </p:spPr>
      </p:sp>
      <p:sp>
        <p:nvSpPr>
          <p:cNvPr id="18" name="this_cluster: first two thread blocks"/>
          <p:cNvSpPr/>
          <p:nvPr/>
        </p:nvSpPr>
        <p:spPr>
          <a:xfrm>
            <a:off x="2194560" y="14706600"/>
            <a:ext cx="19293840" cy="304800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19" name="this_block: current block"/>
          <p:cNvSpPr/>
          <p:nvPr/>
        </p:nvSpPr>
        <p:spPr>
          <a:xfrm>
            <a:off x="2560320" y="15072360"/>
            <a:ext cx="8869680" cy="23774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3"/>
            </a:solidFill>
          </a:ln>
        </p:spPr>
      </p:sp>
      <p:sp>
        <p:nvSpPr>
          <p:cNvPr id="20" name="Block 0"/>
          <p:cNvSpPr/>
          <p:nvPr/>
        </p:nvSpPr>
        <p:spPr>
          <a:xfrm>
            <a:off x="2834640" y="15214600"/>
            <a:ext cx="8321040" cy="447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21" name="this_warp: current warp"/>
          <p:cNvSpPr/>
          <p:nvPr/>
        </p:nvSpPr>
        <p:spPr>
          <a:xfrm>
            <a:off x="2834640" y="15681960"/>
            <a:ext cx="8321040" cy="62992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22" name="Thread 0 in block 0"/>
          <p:cNvSpPr/>
          <p:nvPr/>
        </p:nvSpPr>
        <p:spPr>
          <a:xfrm>
            <a:off x="30175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1 in block 0"/>
          <p:cNvSpPr/>
          <p:nvPr/>
        </p:nvSpPr>
        <p:spPr>
          <a:xfrm>
            <a:off x="35204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2 in block 0"/>
          <p:cNvSpPr/>
          <p:nvPr/>
        </p:nvSpPr>
        <p:spPr>
          <a:xfrm>
            <a:off x="40233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3 in block 0"/>
          <p:cNvSpPr/>
          <p:nvPr/>
        </p:nvSpPr>
        <p:spPr>
          <a:xfrm>
            <a:off x="45262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4 in block 0"/>
          <p:cNvSpPr/>
          <p:nvPr/>
        </p:nvSpPr>
        <p:spPr>
          <a:xfrm>
            <a:off x="50292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is_thread: current thread"/>
          <p:cNvSpPr/>
          <p:nvPr/>
        </p:nvSpPr>
        <p:spPr>
          <a:xfrm>
            <a:off x="5463540" y="15722600"/>
            <a:ext cx="274320" cy="243840"/>
          </a:xfrm>
          <a:prstGeom prst="ellipse">
            <a:avLst/>
          </a:prstGeom>
          <a:noFill/>
          <a:ln w="45720">
            <a:solidFill>
              <a:schemeClr val="accent4"/>
            </a:solidFill>
          </a:ln>
        </p:spPr>
      </p:sp>
      <p:sp>
        <p:nvSpPr>
          <p:cNvPr id="28" name="Thread 5 in block 0"/>
          <p:cNvSpPr/>
          <p:nvPr/>
        </p:nvSpPr>
        <p:spPr>
          <a:xfrm>
            <a:off x="5532120" y="15783560"/>
            <a:ext cx="137160" cy="121920"/>
          </a:xfrm>
          <a:prstGeom prst="ellipse">
            <a:avLst/>
          </a:prstGeom>
          <a:solidFill>
            <a:schemeClr val="accent4"/>
          </a:solidFill>
          <a:ln w="11430">
            <a:solidFill>
              <a:schemeClr val="accent4"/>
            </a:solidFill>
          </a:ln>
        </p:spPr>
      </p:sp>
      <p:sp>
        <p:nvSpPr>
          <p:cNvPr id="29" name="Thread 6 in block 0"/>
          <p:cNvSpPr/>
          <p:nvPr/>
        </p:nvSpPr>
        <p:spPr>
          <a:xfrm>
            <a:off x="60350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7 in block 0"/>
          <p:cNvSpPr/>
          <p:nvPr/>
        </p:nvSpPr>
        <p:spPr>
          <a:xfrm>
            <a:off x="65379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8 in block 0"/>
          <p:cNvSpPr/>
          <p:nvPr/>
        </p:nvSpPr>
        <p:spPr>
          <a:xfrm>
            <a:off x="70408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9 in block 0"/>
          <p:cNvSpPr/>
          <p:nvPr/>
        </p:nvSpPr>
        <p:spPr>
          <a:xfrm>
            <a:off x="75438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0 in block 0"/>
          <p:cNvSpPr/>
          <p:nvPr/>
        </p:nvSpPr>
        <p:spPr>
          <a:xfrm>
            <a:off x="80467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1 in block 0"/>
          <p:cNvSpPr/>
          <p:nvPr/>
        </p:nvSpPr>
        <p:spPr>
          <a:xfrm>
            <a:off x="85496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2 in block 0"/>
          <p:cNvSpPr/>
          <p:nvPr/>
        </p:nvSpPr>
        <p:spPr>
          <a:xfrm>
            <a:off x="90525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3 in block 0"/>
          <p:cNvSpPr/>
          <p:nvPr/>
        </p:nvSpPr>
        <p:spPr>
          <a:xfrm>
            <a:off x="95554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4 in block 0"/>
          <p:cNvSpPr/>
          <p:nvPr/>
        </p:nvSpPr>
        <p:spPr>
          <a:xfrm>
            <a:off x="100584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15 in block 0"/>
          <p:cNvSpPr/>
          <p:nvPr/>
        </p:nvSpPr>
        <p:spPr>
          <a:xfrm>
            <a:off x="105613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16 in block 0"/>
          <p:cNvSpPr/>
          <p:nvPr/>
        </p:nvSpPr>
        <p:spPr>
          <a:xfrm>
            <a:off x="30175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17 in block 0"/>
          <p:cNvSpPr/>
          <p:nvPr/>
        </p:nvSpPr>
        <p:spPr>
          <a:xfrm>
            <a:off x="35204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18 in block 0"/>
          <p:cNvSpPr/>
          <p:nvPr/>
        </p:nvSpPr>
        <p:spPr>
          <a:xfrm>
            <a:off x="40233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19 in block 0"/>
          <p:cNvSpPr/>
          <p:nvPr/>
        </p:nvSpPr>
        <p:spPr>
          <a:xfrm>
            <a:off x="45262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0 in block 0"/>
          <p:cNvSpPr/>
          <p:nvPr/>
        </p:nvSpPr>
        <p:spPr>
          <a:xfrm>
            <a:off x="50292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1 in block 0"/>
          <p:cNvSpPr/>
          <p:nvPr/>
        </p:nvSpPr>
        <p:spPr>
          <a:xfrm>
            <a:off x="55321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2 in block 0"/>
          <p:cNvSpPr/>
          <p:nvPr/>
        </p:nvSpPr>
        <p:spPr>
          <a:xfrm>
            <a:off x="60350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3 in block 0"/>
          <p:cNvSpPr/>
          <p:nvPr/>
        </p:nvSpPr>
        <p:spPr>
          <a:xfrm>
            <a:off x="65379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4 in block 0"/>
          <p:cNvSpPr/>
          <p:nvPr/>
        </p:nvSpPr>
        <p:spPr>
          <a:xfrm>
            <a:off x="70408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25 in block 0"/>
          <p:cNvSpPr/>
          <p:nvPr/>
        </p:nvSpPr>
        <p:spPr>
          <a:xfrm>
            <a:off x="75438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26 in block 0"/>
          <p:cNvSpPr/>
          <p:nvPr/>
        </p:nvSpPr>
        <p:spPr>
          <a:xfrm>
            <a:off x="80467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27 in block 0"/>
          <p:cNvSpPr/>
          <p:nvPr/>
        </p:nvSpPr>
        <p:spPr>
          <a:xfrm>
            <a:off x="85496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28 in block 0"/>
          <p:cNvSpPr/>
          <p:nvPr/>
        </p:nvSpPr>
        <p:spPr>
          <a:xfrm>
            <a:off x="90525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29 in block 0"/>
          <p:cNvSpPr/>
          <p:nvPr/>
        </p:nvSpPr>
        <p:spPr>
          <a:xfrm>
            <a:off x="95554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0 in block 0"/>
          <p:cNvSpPr/>
          <p:nvPr/>
        </p:nvSpPr>
        <p:spPr>
          <a:xfrm>
            <a:off x="100584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1 in block 0"/>
          <p:cNvSpPr/>
          <p:nvPr/>
        </p:nvSpPr>
        <p:spPr>
          <a:xfrm>
            <a:off x="105613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2 in block 0"/>
          <p:cNvSpPr/>
          <p:nvPr/>
        </p:nvSpPr>
        <p:spPr>
          <a:xfrm>
            <a:off x="30175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3 in block 0"/>
          <p:cNvSpPr/>
          <p:nvPr/>
        </p:nvSpPr>
        <p:spPr>
          <a:xfrm>
            <a:off x="35204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4 in block 0"/>
          <p:cNvSpPr/>
          <p:nvPr/>
        </p:nvSpPr>
        <p:spPr>
          <a:xfrm>
            <a:off x="40233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35 in block 0"/>
          <p:cNvSpPr/>
          <p:nvPr/>
        </p:nvSpPr>
        <p:spPr>
          <a:xfrm>
            <a:off x="45262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36 in block 0"/>
          <p:cNvSpPr/>
          <p:nvPr/>
        </p:nvSpPr>
        <p:spPr>
          <a:xfrm>
            <a:off x="50292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37 in block 0"/>
          <p:cNvSpPr/>
          <p:nvPr/>
        </p:nvSpPr>
        <p:spPr>
          <a:xfrm>
            <a:off x="55321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38 in block 0"/>
          <p:cNvSpPr/>
          <p:nvPr/>
        </p:nvSpPr>
        <p:spPr>
          <a:xfrm>
            <a:off x="60350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39 in block 0"/>
          <p:cNvSpPr/>
          <p:nvPr/>
        </p:nvSpPr>
        <p:spPr>
          <a:xfrm>
            <a:off x="65379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0 in block 0"/>
          <p:cNvSpPr/>
          <p:nvPr/>
        </p:nvSpPr>
        <p:spPr>
          <a:xfrm>
            <a:off x="70408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1 in block 0"/>
          <p:cNvSpPr/>
          <p:nvPr/>
        </p:nvSpPr>
        <p:spPr>
          <a:xfrm>
            <a:off x="75438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2 in block 0"/>
          <p:cNvSpPr/>
          <p:nvPr/>
        </p:nvSpPr>
        <p:spPr>
          <a:xfrm>
            <a:off x="80467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3 in block 0"/>
          <p:cNvSpPr/>
          <p:nvPr/>
        </p:nvSpPr>
        <p:spPr>
          <a:xfrm>
            <a:off x="85496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4 in block 0"/>
          <p:cNvSpPr/>
          <p:nvPr/>
        </p:nvSpPr>
        <p:spPr>
          <a:xfrm>
            <a:off x="90525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45 in block 0"/>
          <p:cNvSpPr/>
          <p:nvPr/>
        </p:nvSpPr>
        <p:spPr>
          <a:xfrm>
            <a:off x="95554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46 in block 0"/>
          <p:cNvSpPr/>
          <p:nvPr/>
        </p:nvSpPr>
        <p:spPr>
          <a:xfrm>
            <a:off x="100584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47 in block 0"/>
          <p:cNvSpPr/>
          <p:nvPr/>
        </p:nvSpPr>
        <p:spPr>
          <a:xfrm>
            <a:off x="105613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48 in block 0"/>
          <p:cNvSpPr/>
          <p:nvPr/>
        </p:nvSpPr>
        <p:spPr>
          <a:xfrm>
            <a:off x="30175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49 in block 0"/>
          <p:cNvSpPr/>
          <p:nvPr/>
        </p:nvSpPr>
        <p:spPr>
          <a:xfrm>
            <a:off x="35204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0 in block 0"/>
          <p:cNvSpPr/>
          <p:nvPr/>
        </p:nvSpPr>
        <p:spPr>
          <a:xfrm>
            <a:off x="40233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1 in block 0"/>
          <p:cNvSpPr/>
          <p:nvPr/>
        </p:nvSpPr>
        <p:spPr>
          <a:xfrm>
            <a:off x="45262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2 in block 0"/>
          <p:cNvSpPr/>
          <p:nvPr/>
        </p:nvSpPr>
        <p:spPr>
          <a:xfrm>
            <a:off x="50292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3 in block 0"/>
          <p:cNvSpPr/>
          <p:nvPr/>
        </p:nvSpPr>
        <p:spPr>
          <a:xfrm>
            <a:off x="55321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4 in block 0"/>
          <p:cNvSpPr/>
          <p:nvPr/>
        </p:nvSpPr>
        <p:spPr>
          <a:xfrm>
            <a:off x="60350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55 in block 0"/>
          <p:cNvSpPr/>
          <p:nvPr/>
        </p:nvSpPr>
        <p:spPr>
          <a:xfrm>
            <a:off x="65379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56 in block 0"/>
          <p:cNvSpPr/>
          <p:nvPr/>
        </p:nvSpPr>
        <p:spPr>
          <a:xfrm>
            <a:off x="70408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57 in block 0"/>
          <p:cNvSpPr/>
          <p:nvPr/>
        </p:nvSpPr>
        <p:spPr>
          <a:xfrm>
            <a:off x="75438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58 in block 0"/>
          <p:cNvSpPr/>
          <p:nvPr/>
        </p:nvSpPr>
        <p:spPr>
          <a:xfrm>
            <a:off x="80467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Thread 59 in block 0"/>
          <p:cNvSpPr/>
          <p:nvPr/>
        </p:nvSpPr>
        <p:spPr>
          <a:xfrm>
            <a:off x="85496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60 in block 0"/>
          <p:cNvSpPr/>
          <p:nvPr/>
        </p:nvSpPr>
        <p:spPr>
          <a:xfrm>
            <a:off x="90525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1 in block 0"/>
          <p:cNvSpPr/>
          <p:nvPr/>
        </p:nvSpPr>
        <p:spPr>
          <a:xfrm>
            <a:off x="95554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2 in block 0"/>
          <p:cNvSpPr/>
          <p:nvPr/>
        </p:nvSpPr>
        <p:spPr>
          <a:xfrm>
            <a:off x="100584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3 in block 0"/>
          <p:cNvSpPr/>
          <p:nvPr/>
        </p:nvSpPr>
        <p:spPr>
          <a:xfrm>
            <a:off x="105613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block 1"/>
          <p:cNvSpPr/>
          <p:nvPr/>
        </p:nvSpPr>
        <p:spPr>
          <a:xfrm>
            <a:off x="12252960" y="15072360"/>
            <a:ext cx="8869680" cy="23774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Block 1"/>
          <p:cNvSpPr/>
          <p:nvPr/>
        </p:nvSpPr>
        <p:spPr>
          <a:xfrm>
            <a:off x="12527280" y="15214600"/>
            <a:ext cx="8321040" cy="447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89" name="Thread 0 in block 1"/>
          <p:cNvSpPr/>
          <p:nvPr/>
        </p:nvSpPr>
        <p:spPr>
          <a:xfrm>
            <a:off x="127101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1 in block 1"/>
          <p:cNvSpPr/>
          <p:nvPr/>
        </p:nvSpPr>
        <p:spPr>
          <a:xfrm>
            <a:off x="132130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2 in block 1"/>
          <p:cNvSpPr/>
          <p:nvPr/>
        </p:nvSpPr>
        <p:spPr>
          <a:xfrm>
            <a:off x="137160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3 in block 1"/>
          <p:cNvSpPr/>
          <p:nvPr/>
        </p:nvSpPr>
        <p:spPr>
          <a:xfrm>
            <a:off x="142189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4 in block 1"/>
          <p:cNvSpPr/>
          <p:nvPr/>
        </p:nvSpPr>
        <p:spPr>
          <a:xfrm>
            <a:off x="147218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5 in block 1"/>
          <p:cNvSpPr/>
          <p:nvPr/>
        </p:nvSpPr>
        <p:spPr>
          <a:xfrm>
            <a:off x="152247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6 in block 1"/>
          <p:cNvSpPr/>
          <p:nvPr/>
        </p:nvSpPr>
        <p:spPr>
          <a:xfrm>
            <a:off x="157276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 in block 1"/>
          <p:cNvSpPr/>
          <p:nvPr/>
        </p:nvSpPr>
        <p:spPr>
          <a:xfrm>
            <a:off x="162306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8 in block 1"/>
          <p:cNvSpPr/>
          <p:nvPr/>
        </p:nvSpPr>
        <p:spPr>
          <a:xfrm>
            <a:off x="167335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9 in block 1"/>
          <p:cNvSpPr/>
          <p:nvPr/>
        </p:nvSpPr>
        <p:spPr>
          <a:xfrm>
            <a:off x="172364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10 in block 1"/>
          <p:cNvSpPr/>
          <p:nvPr/>
        </p:nvSpPr>
        <p:spPr>
          <a:xfrm>
            <a:off x="177393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11 in block 1"/>
          <p:cNvSpPr/>
          <p:nvPr/>
        </p:nvSpPr>
        <p:spPr>
          <a:xfrm>
            <a:off x="182422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12 in block 1"/>
          <p:cNvSpPr/>
          <p:nvPr/>
        </p:nvSpPr>
        <p:spPr>
          <a:xfrm>
            <a:off x="187452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13 in block 1"/>
          <p:cNvSpPr/>
          <p:nvPr/>
        </p:nvSpPr>
        <p:spPr>
          <a:xfrm>
            <a:off x="192481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14 in block 1"/>
          <p:cNvSpPr/>
          <p:nvPr/>
        </p:nvSpPr>
        <p:spPr>
          <a:xfrm>
            <a:off x="197510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15 in block 1"/>
          <p:cNvSpPr/>
          <p:nvPr/>
        </p:nvSpPr>
        <p:spPr>
          <a:xfrm>
            <a:off x="202539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16 in block 1"/>
          <p:cNvSpPr/>
          <p:nvPr/>
        </p:nvSpPr>
        <p:spPr>
          <a:xfrm>
            <a:off x="127101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17 in block 1"/>
          <p:cNvSpPr/>
          <p:nvPr/>
        </p:nvSpPr>
        <p:spPr>
          <a:xfrm>
            <a:off x="132130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18 in block 1"/>
          <p:cNvSpPr/>
          <p:nvPr/>
        </p:nvSpPr>
        <p:spPr>
          <a:xfrm>
            <a:off x="137160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19 in block 1"/>
          <p:cNvSpPr/>
          <p:nvPr/>
        </p:nvSpPr>
        <p:spPr>
          <a:xfrm>
            <a:off x="142189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20 in block 1"/>
          <p:cNvSpPr/>
          <p:nvPr/>
        </p:nvSpPr>
        <p:spPr>
          <a:xfrm>
            <a:off x="147218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21 in block 1"/>
          <p:cNvSpPr/>
          <p:nvPr/>
        </p:nvSpPr>
        <p:spPr>
          <a:xfrm>
            <a:off x="152247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22 in block 1"/>
          <p:cNvSpPr/>
          <p:nvPr/>
        </p:nvSpPr>
        <p:spPr>
          <a:xfrm>
            <a:off x="157276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23 in block 1"/>
          <p:cNvSpPr/>
          <p:nvPr/>
        </p:nvSpPr>
        <p:spPr>
          <a:xfrm>
            <a:off x="162306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24 in block 1"/>
          <p:cNvSpPr/>
          <p:nvPr/>
        </p:nvSpPr>
        <p:spPr>
          <a:xfrm>
            <a:off x="167335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25 in block 1"/>
          <p:cNvSpPr/>
          <p:nvPr/>
        </p:nvSpPr>
        <p:spPr>
          <a:xfrm>
            <a:off x="172364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26 in block 1"/>
          <p:cNvSpPr/>
          <p:nvPr/>
        </p:nvSpPr>
        <p:spPr>
          <a:xfrm>
            <a:off x="177393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27 in block 1"/>
          <p:cNvSpPr/>
          <p:nvPr/>
        </p:nvSpPr>
        <p:spPr>
          <a:xfrm>
            <a:off x="182422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28 in block 1"/>
          <p:cNvSpPr/>
          <p:nvPr/>
        </p:nvSpPr>
        <p:spPr>
          <a:xfrm>
            <a:off x="187452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29 in block 1"/>
          <p:cNvSpPr/>
          <p:nvPr/>
        </p:nvSpPr>
        <p:spPr>
          <a:xfrm>
            <a:off x="192481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30 in block 1"/>
          <p:cNvSpPr/>
          <p:nvPr/>
        </p:nvSpPr>
        <p:spPr>
          <a:xfrm>
            <a:off x="197510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31 in block 1"/>
          <p:cNvSpPr/>
          <p:nvPr/>
        </p:nvSpPr>
        <p:spPr>
          <a:xfrm>
            <a:off x="202539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32 in block 1"/>
          <p:cNvSpPr/>
          <p:nvPr/>
        </p:nvSpPr>
        <p:spPr>
          <a:xfrm>
            <a:off x="127101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33 in block 1"/>
          <p:cNvSpPr/>
          <p:nvPr/>
        </p:nvSpPr>
        <p:spPr>
          <a:xfrm>
            <a:off x="132130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34 in block 1"/>
          <p:cNvSpPr/>
          <p:nvPr/>
        </p:nvSpPr>
        <p:spPr>
          <a:xfrm>
            <a:off x="137160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35 in block 1"/>
          <p:cNvSpPr/>
          <p:nvPr/>
        </p:nvSpPr>
        <p:spPr>
          <a:xfrm>
            <a:off x="142189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36 in block 1"/>
          <p:cNvSpPr/>
          <p:nvPr/>
        </p:nvSpPr>
        <p:spPr>
          <a:xfrm>
            <a:off x="147218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37 in block 1"/>
          <p:cNvSpPr/>
          <p:nvPr/>
        </p:nvSpPr>
        <p:spPr>
          <a:xfrm>
            <a:off x="152247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38 in block 1"/>
          <p:cNvSpPr/>
          <p:nvPr/>
        </p:nvSpPr>
        <p:spPr>
          <a:xfrm>
            <a:off x="157276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39 in block 1"/>
          <p:cNvSpPr/>
          <p:nvPr/>
        </p:nvSpPr>
        <p:spPr>
          <a:xfrm>
            <a:off x="162306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40 in block 1"/>
          <p:cNvSpPr/>
          <p:nvPr/>
        </p:nvSpPr>
        <p:spPr>
          <a:xfrm>
            <a:off x="167335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41 in block 1"/>
          <p:cNvSpPr/>
          <p:nvPr/>
        </p:nvSpPr>
        <p:spPr>
          <a:xfrm>
            <a:off x="172364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42 in block 1"/>
          <p:cNvSpPr/>
          <p:nvPr/>
        </p:nvSpPr>
        <p:spPr>
          <a:xfrm>
            <a:off x="177393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43 in block 1"/>
          <p:cNvSpPr/>
          <p:nvPr/>
        </p:nvSpPr>
        <p:spPr>
          <a:xfrm>
            <a:off x="182422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44 in block 1"/>
          <p:cNvSpPr/>
          <p:nvPr/>
        </p:nvSpPr>
        <p:spPr>
          <a:xfrm>
            <a:off x="187452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45 in block 1"/>
          <p:cNvSpPr/>
          <p:nvPr/>
        </p:nvSpPr>
        <p:spPr>
          <a:xfrm>
            <a:off x="192481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46 in block 1"/>
          <p:cNvSpPr/>
          <p:nvPr/>
        </p:nvSpPr>
        <p:spPr>
          <a:xfrm>
            <a:off x="197510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47 in block 1"/>
          <p:cNvSpPr/>
          <p:nvPr/>
        </p:nvSpPr>
        <p:spPr>
          <a:xfrm>
            <a:off x="202539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48 in block 1"/>
          <p:cNvSpPr/>
          <p:nvPr/>
        </p:nvSpPr>
        <p:spPr>
          <a:xfrm>
            <a:off x="127101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49 in block 1"/>
          <p:cNvSpPr/>
          <p:nvPr/>
        </p:nvSpPr>
        <p:spPr>
          <a:xfrm>
            <a:off x="132130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50 in block 1"/>
          <p:cNvSpPr/>
          <p:nvPr/>
        </p:nvSpPr>
        <p:spPr>
          <a:xfrm>
            <a:off x="137160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51 in block 1"/>
          <p:cNvSpPr/>
          <p:nvPr/>
        </p:nvSpPr>
        <p:spPr>
          <a:xfrm>
            <a:off x="142189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52 in block 1"/>
          <p:cNvSpPr/>
          <p:nvPr/>
        </p:nvSpPr>
        <p:spPr>
          <a:xfrm>
            <a:off x="147218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53 in block 1"/>
          <p:cNvSpPr/>
          <p:nvPr/>
        </p:nvSpPr>
        <p:spPr>
          <a:xfrm>
            <a:off x="152247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54 in block 1"/>
          <p:cNvSpPr/>
          <p:nvPr/>
        </p:nvSpPr>
        <p:spPr>
          <a:xfrm>
            <a:off x="157276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55 in block 1"/>
          <p:cNvSpPr/>
          <p:nvPr/>
        </p:nvSpPr>
        <p:spPr>
          <a:xfrm>
            <a:off x="162306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56 in block 1"/>
          <p:cNvSpPr/>
          <p:nvPr/>
        </p:nvSpPr>
        <p:spPr>
          <a:xfrm>
            <a:off x="167335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57 in block 1"/>
          <p:cNvSpPr/>
          <p:nvPr/>
        </p:nvSpPr>
        <p:spPr>
          <a:xfrm>
            <a:off x="172364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Thread 58 in block 1"/>
          <p:cNvSpPr/>
          <p:nvPr/>
        </p:nvSpPr>
        <p:spPr>
          <a:xfrm>
            <a:off x="177393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Thread 59 in block 1"/>
          <p:cNvSpPr/>
          <p:nvPr/>
        </p:nvSpPr>
        <p:spPr>
          <a:xfrm>
            <a:off x="182422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Thread 60 in block 1"/>
          <p:cNvSpPr/>
          <p:nvPr/>
        </p:nvSpPr>
        <p:spPr>
          <a:xfrm>
            <a:off x="187452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Thread 61 in block 1"/>
          <p:cNvSpPr/>
          <p:nvPr/>
        </p:nvSpPr>
        <p:spPr>
          <a:xfrm>
            <a:off x="192481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62 in block 1"/>
          <p:cNvSpPr/>
          <p:nvPr/>
        </p:nvSpPr>
        <p:spPr>
          <a:xfrm>
            <a:off x="197510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63 in block 1"/>
          <p:cNvSpPr/>
          <p:nvPr/>
        </p:nvSpPr>
        <p:spPr>
          <a:xfrm>
            <a:off x="202539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block 2"/>
          <p:cNvSpPr/>
          <p:nvPr/>
        </p:nvSpPr>
        <p:spPr>
          <a:xfrm>
            <a:off x="21945600" y="15072360"/>
            <a:ext cx="8869680" cy="23774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54" name="Block 2"/>
          <p:cNvSpPr/>
          <p:nvPr/>
        </p:nvSpPr>
        <p:spPr>
          <a:xfrm>
            <a:off x="22219920" y="15214600"/>
            <a:ext cx="8321040" cy="447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155" name="Thread 0 in block 2"/>
          <p:cNvSpPr/>
          <p:nvPr/>
        </p:nvSpPr>
        <p:spPr>
          <a:xfrm>
            <a:off x="224028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1 in block 2"/>
          <p:cNvSpPr/>
          <p:nvPr/>
        </p:nvSpPr>
        <p:spPr>
          <a:xfrm>
            <a:off x="229057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2 in block 2"/>
          <p:cNvSpPr/>
          <p:nvPr/>
        </p:nvSpPr>
        <p:spPr>
          <a:xfrm>
            <a:off x="234086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3 in block 2"/>
          <p:cNvSpPr/>
          <p:nvPr/>
        </p:nvSpPr>
        <p:spPr>
          <a:xfrm>
            <a:off x="239115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4 in block 2"/>
          <p:cNvSpPr/>
          <p:nvPr/>
        </p:nvSpPr>
        <p:spPr>
          <a:xfrm>
            <a:off x="244144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5 in block 2"/>
          <p:cNvSpPr/>
          <p:nvPr/>
        </p:nvSpPr>
        <p:spPr>
          <a:xfrm>
            <a:off x="249174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6 in block 2"/>
          <p:cNvSpPr/>
          <p:nvPr/>
        </p:nvSpPr>
        <p:spPr>
          <a:xfrm>
            <a:off x="254203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7 in block 2"/>
          <p:cNvSpPr/>
          <p:nvPr/>
        </p:nvSpPr>
        <p:spPr>
          <a:xfrm>
            <a:off x="259232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8 in block 2"/>
          <p:cNvSpPr/>
          <p:nvPr/>
        </p:nvSpPr>
        <p:spPr>
          <a:xfrm>
            <a:off x="264261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9 in block 2"/>
          <p:cNvSpPr/>
          <p:nvPr/>
        </p:nvSpPr>
        <p:spPr>
          <a:xfrm>
            <a:off x="269290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0 in block 2"/>
          <p:cNvSpPr/>
          <p:nvPr/>
        </p:nvSpPr>
        <p:spPr>
          <a:xfrm>
            <a:off x="274320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1 in block 2"/>
          <p:cNvSpPr/>
          <p:nvPr/>
        </p:nvSpPr>
        <p:spPr>
          <a:xfrm>
            <a:off x="2793492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2 in block 2"/>
          <p:cNvSpPr/>
          <p:nvPr/>
        </p:nvSpPr>
        <p:spPr>
          <a:xfrm>
            <a:off x="2843784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3 in block 2"/>
          <p:cNvSpPr/>
          <p:nvPr/>
        </p:nvSpPr>
        <p:spPr>
          <a:xfrm>
            <a:off x="2894076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4 in block 2"/>
          <p:cNvSpPr/>
          <p:nvPr/>
        </p:nvSpPr>
        <p:spPr>
          <a:xfrm>
            <a:off x="2944368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15 in block 2"/>
          <p:cNvSpPr/>
          <p:nvPr/>
        </p:nvSpPr>
        <p:spPr>
          <a:xfrm>
            <a:off x="29946600" y="1578356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16 in block 2"/>
          <p:cNvSpPr/>
          <p:nvPr/>
        </p:nvSpPr>
        <p:spPr>
          <a:xfrm>
            <a:off x="224028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17 in block 2"/>
          <p:cNvSpPr/>
          <p:nvPr/>
        </p:nvSpPr>
        <p:spPr>
          <a:xfrm>
            <a:off x="229057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18 in block 2"/>
          <p:cNvSpPr/>
          <p:nvPr/>
        </p:nvSpPr>
        <p:spPr>
          <a:xfrm>
            <a:off x="234086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19 in block 2"/>
          <p:cNvSpPr/>
          <p:nvPr/>
        </p:nvSpPr>
        <p:spPr>
          <a:xfrm>
            <a:off x="239115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0 in block 2"/>
          <p:cNvSpPr/>
          <p:nvPr/>
        </p:nvSpPr>
        <p:spPr>
          <a:xfrm>
            <a:off x="244144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1 in block 2"/>
          <p:cNvSpPr/>
          <p:nvPr/>
        </p:nvSpPr>
        <p:spPr>
          <a:xfrm>
            <a:off x="249174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2 in block 2"/>
          <p:cNvSpPr/>
          <p:nvPr/>
        </p:nvSpPr>
        <p:spPr>
          <a:xfrm>
            <a:off x="254203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3 in block 2"/>
          <p:cNvSpPr/>
          <p:nvPr/>
        </p:nvSpPr>
        <p:spPr>
          <a:xfrm>
            <a:off x="259232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4 in block 2"/>
          <p:cNvSpPr/>
          <p:nvPr/>
        </p:nvSpPr>
        <p:spPr>
          <a:xfrm>
            <a:off x="264261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25 in block 2"/>
          <p:cNvSpPr/>
          <p:nvPr/>
        </p:nvSpPr>
        <p:spPr>
          <a:xfrm>
            <a:off x="269290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26 in block 2"/>
          <p:cNvSpPr/>
          <p:nvPr/>
        </p:nvSpPr>
        <p:spPr>
          <a:xfrm>
            <a:off x="274320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27 in block 2"/>
          <p:cNvSpPr/>
          <p:nvPr/>
        </p:nvSpPr>
        <p:spPr>
          <a:xfrm>
            <a:off x="2793492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28 in block 2"/>
          <p:cNvSpPr/>
          <p:nvPr/>
        </p:nvSpPr>
        <p:spPr>
          <a:xfrm>
            <a:off x="2843784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29 in block 2"/>
          <p:cNvSpPr/>
          <p:nvPr/>
        </p:nvSpPr>
        <p:spPr>
          <a:xfrm>
            <a:off x="2894076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0 in block 2"/>
          <p:cNvSpPr/>
          <p:nvPr/>
        </p:nvSpPr>
        <p:spPr>
          <a:xfrm>
            <a:off x="2944368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1 in block 2"/>
          <p:cNvSpPr/>
          <p:nvPr/>
        </p:nvSpPr>
        <p:spPr>
          <a:xfrm>
            <a:off x="29946600" y="1604772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2 in block 2"/>
          <p:cNvSpPr/>
          <p:nvPr/>
        </p:nvSpPr>
        <p:spPr>
          <a:xfrm>
            <a:off x="224028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3 in block 2"/>
          <p:cNvSpPr/>
          <p:nvPr/>
        </p:nvSpPr>
        <p:spPr>
          <a:xfrm>
            <a:off x="229057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4 in block 2"/>
          <p:cNvSpPr/>
          <p:nvPr/>
        </p:nvSpPr>
        <p:spPr>
          <a:xfrm>
            <a:off x="234086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35 in block 2"/>
          <p:cNvSpPr/>
          <p:nvPr/>
        </p:nvSpPr>
        <p:spPr>
          <a:xfrm>
            <a:off x="239115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36 in block 2"/>
          <p:cNvSpPr/>
          <p:nvPr/>
        </p:nvSpPr>
        <p:spPr>
          <a:xfrm>
            <a:off x="244144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37 in block 2"/>
          <p:cNvSpPr/>
          <p:nvPr/>
        </p:nvSpPr>
        <p:spPr>
          <a:xfrm>
            <a:off x="249174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38 in block 2"/>
          <p:cNvSpPr/>
          <p:nvPr/>
        </p:nvSpPr>
        <p:spPr>
          <a:xfrm>
            <a:off x="254203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39 in block 2"/>
          <p:cNvSpPr/>
          <p:nvPr/>
        </p:nvSpPr>
        <p:spPr>
          <a:xfrm>
            <a:off x="259232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0 in block 2"/>
          <p:cNvSpPr/>
          <p:nvPr/>
        </p:nvSpPr>
        <p:spPr>
          <a:xfrm>
            <a:off x="264261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1 in block 2"/>
          <p:cNvSpPr/>
          <p:nvPr/>
        </p:nvSpPr>
        <p:spPr>
          <a:xfrm>
            <a:off x="269290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2 in block 2"/>
          <p:cNvSpPr/>
          <p:nvPr/>
        </p:nvSpPr>
        <p:spPr>
          <a:xfrm>
            <a:off x="274320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3 in block 2"/>
          <p:cNvSpPr/>
          <p:nvPr/>
        </p:nvSpPr>
        <p:spPr>
          <a:xfrm>
            <a:off x="2793492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4 in block 2"/>
          <p:cNvSpPr/>
          <p:nvPr/>
        </p:nvSpPr>
        <p:spPr>
          <a:xfrm>
            <a:off x="2843784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45 in block 2"/>
          <p:cNvSpPr/>
          <p:nvPr/>
        </p:nvSpPr>
        <p:spPr>
          <a:xfrm>
            <a:off x="2894076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46 in block 2"/>
          <p:cNvSpPr/>
          <p:nvPr/>
        </p:nvSpPr>
        <p:spPr>
          <a:xfrm>
            <a:off x="2944368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47 in block 2"/>
          <p:cNvSpPr/>
          <p:nvPr/>
        </p:nvSpPr>
        <p:spPr>
          <a:xfrm>
            <a:off x="29946600" y="1657604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48 in block 2"/>
          <p:cNvSpPr/>
          <p:nvPr/>
        </p:nvSpPr>
        <p:spPr>
          <a:xfrm>
            <a:off x="224028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49 in block 2"/>
          <p:cNvSpPr/>
          <p:nvPr/>
        </p:nvSpPr>
        <p:spPr>
          <a:xfrm>
            <a:off x="229057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0 in block 2"/>
          <p:cNvSpPr/>
          <p:nvPr/>
        </p:nvSpPr>
        <p:spPr>
          <a:xfrm>
            <a:off x="234086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1 in block 2"/>
          <p:cNvSpPr/>
          <p:nvPr/>
        </p:nvSpPr>
        <p:spPr>
          <a:xfrm>
            <a:off x="239115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2 in block 2"/>
          <p:cNvSpPr/>
          <p:nvPr/>
        </p:nvSpPr>
        <p:spPr>
          <a:xfrm>
            <a:off x="244144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3 in block 2"/>
          <p:cNvSpPr/>
          <p:nvPr/>
        </p:nvSpPr>
        <p:spPr>
          <a:xfrm>
            <a:off x="249174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4 in block 2"/>
          <p:cNvSpPr/>
          <p:nvPr/>
        </p:nvSpPr>
        <p:spPr>
          <a:xfrm>
            <a:off x="254203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55 in block 2"/>
          <p:cNvSpPr/>
          <p:nvPr/>
        </p:nvSpPr>
        <p:spPr>
          <a:xfrm>
            <a:off x="259232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56 in block 2"/>
          <p:cNvSpPr/>
          <p:nvPr/>
        </p:nvSpPr>
        <p:spPr>
          <a:xfrm>
            <a:off x="264261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57 in block 2"/>
          <p:cNvSpPr/>
          <p:nvPr/>
        </p:nvSpPr>
        <p:spPr>
          <a:xfrm>
            <a:off x="269290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58 in block 2"/>
          <p:cNvSpPr/>
          <p:nvPr/>
        </p:nvSpPr>
        <p:spPr>
          <a:xfrm>
            <a:off x="274320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Thread 59 in block 2"/>
          <p:cNvSpPr/>
          <p:nvPr/>
        </p:nvSpPr>
        <p:spPr>
          <a:xfrm>
            <a:off x="2793492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Thread 60 in block 2"/>
          <p:cNvSpPr/>
          <p:nvPr/>
        </p:nvSpPr>
        <p:spPr>
          <a:xfrm>
            <a:off x="2843784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1 in block 2"/>
          <p:cNvSpPr/>
          <p:nvPr/>
        </p:nvSpPr>
        <p:spPr>
          <a:xfrm>
            <a:off x="2894076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2 in block 2"/>
          <p:cNvSpPr/>
          <p:nvPr/>
        </p:nvSpPr>
        <p:spPr>
          <a:xfrm>
            <a:off x="2944368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3 in block 2"/>
          <p:cNvSpPr/>
          <p:nvPr/>
        </p:nvSpPr>
        <p:spPr>
          <a:xfrm>
            <a:off x="29946600" y="16840200"/>
            <a:ext cx="137160" cy="12192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Additional blocks in this grid"/>
          <p:cNvSpPr/>
          <p:nvPr/>
        </p:nvSpPr>
        <p:spPr>
          <a:xfrm>
            <a:off x="31318200" y="1582420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220" name="Shape"/>
          <p:cNvSpPr/>
          <p:nvPr/>
        </p:nvSpPr>
        <p:spPr>
          <a:xfrm>
            <a:off x="41148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21" name="`this_thread`"/>
          <p:cNvSpPr/>
          <p:nvPr/>
        </p:nvSpPr>
        <p:spPr>
          <a:xfrm>
            <a:off x="46177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4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4"/>
                </a:solidFill>
                <a:latin typeface="DejaVu Sans Mono"/>
              </a:rPr>
              <a:t xml:space="preserve">this_thread</a:t>
            </a:r>
            <a:r>
              <a:rPr lang="en-US" sz="2520" b="0">
                <a:solidFill>
                  <a:schemeClr val="accent4"/>
                </a:solidFill>
                <a:latin typeface="NVIDIA Sans"/>
              </a:rPr>
              <a:t xml:space="preserve"/>
            </a:r>
          </a:p>
        </p:txBody>
      </p:sp>
      <p:sp>
        <p:nvSpPr>
          <p:cNvPr id="222" name="Shape"/>
          <p:cNvSpPr/>
          <p:nvPr/>
        </p:nvSpPr>
        <p:spPr>
          <a:xfrm>
            <a:off x="100584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5"/>
            </a:solidFill>
          </a:ln>
        </p:spPr>
      </p:sp>
      <p:sp>
        <p:nvSpPr>
          <p:cNvPr id="223" name="`this_warp`"/>
          <p:cNvSpPr/>
          <p:nvPr/>
        </p:nvSpPr>
        <p:spPr>
          <a:xfrm>
            <a:off x="105613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5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5"/>
                </a:solidFill>
                <a:latin typeface="DejaVu Sans Mono"/>
              </a:rPr>
              <a:t xml:space="preserve">this_warp</a:t>
            </a:r>
            <a:r>
              <a:rPr lang="en-US" sz="2520" b="0">
                <a:solidFill>
                  <a:schemeClr val="accent5"/>
                </a:solidFill>
                <a:latin typeface="NVIDIA Sans"/>
              </a:rPr>
              <a:t xml:space="preserve"/>
            </a:r>
          </a:p>
        </p:txBody>
      </p:sp>
      <p:sp>
        <p:nvSpPr>
          <p:cNvPr id="224" name="Shape"/>
          <p:cNvSpPr/>
          <p:nvPr/>
        </p:nvSpPr>
        <p:spPr>
          <a:xfrm>
            <a:off x="160020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25" name="`this_block`"/>
          <p:cNvSpPr/>
          <p:nvPr/>
        </p:nvSpPr>
        <p:spPr>
          <a:xfrm>
            <a:off x="165049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3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3"/>
                </a:solidFill>
                <a:latin typeface="DejaVu Sans Mono"/>
              </a:rPr>
              <a:t xml:space="preserve">this_block</a:t>
            </a:r>
            <a:r>
              <a:rPr lang="en-US" sz="2520" b="0">
                <a:solidFill>
                  <a:schemeClr val="accent3"/>
                </a:solidFill>
                <a:latin typeface="NVIDIA Sans"/>
              </a:rPr>
              <a:t xml:space="preserve"/>
            </a:r>
          </a:p>
        </p:txBody>
      </p:sp>
      <p:sp>
        <p:nvSpPr>
          <p:cNvPr id="226" name="Shape"/>
          <p:cNvSpPr/>
          <p:nvPr/>
        </p:nvSpPr>
        <p:spPr>
          <a:xfrm>
            <a:off x="219456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2"/>
            </a:solidFill>
          </a:ln>
        </p:spPr>
      </p:sp>
      <p:sp>
        <p:nvSpPr>
          <p:cNvPr id="227" name="`this_cluster`"/>
          <p:cNvSpPr/>
          <p:nvPr/>
        </p:nvSpPr>
        <p:spPr>
          <a:xfrm>
            <a:off x="224485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2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2"/>
                </a:solidFill>
                <a:latin typeface="DejaVu Sans Mono"/>
              </a:rPr>
              <a:t xml:space="preserve">this_cluster</a:t>
            </a:r>
            <a:r>
              <a:rPr lang="en-US" sz="2520" b="0">
                <a:solidFill>
                  <a:schemeClr val="accent2"/>
                </a:solidFill>
                <a:latin typeface="NVIDIA Sans"/>
              </a:rPr>
              <a:t xml:space="preserve"/>
            </a:r>
          </a:p>
        </p:txBody>
      </p:sp>
      <p:sp>
        <p:nvSpPr>
          <p:cNvPr id="228" name="Shape"/>
          <p:cNvSpPr/>
          <p:nvPr/>
        </p:nvSpPr>
        <p:spPr>
          <a:xfrm>
            <a:off x="278892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1"/>
            </a:solidFill>
          </a:ln>
        </p:spPr>
      </p:sp>
      <p:sp>
        <p:nvSpPr>
          <p:cNvPr id="229" name="`this_grid`"/>
          <p:cNvSpPr/>
          <p:nvPr/>
        </p:nvSpPr>
        <p:spPr>
          <a:xfrm>
            <a:off x="28392120" y="18379440"/>
            <a:ext cx="3726180" cy="5486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1"/>
                </a:solidFill>
                <a:latin typeface="NVIDIA Sans"/>
              </a:rPr>
              <a:t xml:space="preserve"/>
            </a:r>
            <a:r>
              <a:rPr lang="en-US" sz="2520" b="0">
                <a:solidFill>
                  <a:schemeClr val="accent1"/>
                </a:solidFill>
                <a:latin typeface="DejaVu Sans Mono"/>
              </a:rPr>
              <a:t xml:space="preserve">this_grid</a:t>
            </a:r>
            <a:r>
              <a:rPr lang="en-US" sz="2520" b="0">
                <a:solidFill>
                  <a:schemeClr val="accent1"/>
                </a:solidFill>
                <a:latin typeface="NVIDIA Sans"/>
              </a:rPr>
              <a:t xml:space="preserve"/>
            </a:r>
          </a:p>
        </p:txBody>
      </p:sp>
      <p:sp>
        <p:nvSpPr>
          <p:cNvPr id="230" name="1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>
  <p:cSld name="Implicit Groups — Coalesced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mplicit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Implicit Groups</a:t>
            </a:r>
          </a:p>
        </p:txBody>
      </p:sp>
      <p:sp>
        <p:nvSpPr>
          <p:cNvPr id="3" name="Coalesced 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Coalesced group</a:t>
            </a:r>
          </a:p>
        </p:txBody>
      </p:sp>
      <p:sp>
        <p:nvSpPr>
          <p:cNvPr id="4" name="1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Active threads within a warp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Active threads within a warp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Membership from `__activemask()`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Membership from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__activemask()</a:t>
            </a: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Useful for opportunistic programming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Useful for opportunistic programming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May be noncontiguous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May be noncontiguous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Coalesced group use-case example" descr="Supplemental coalesced-group usage example based on repository docu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if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%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0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Group the currently active threads within this warp.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Thread rank and thread count within the group.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Synchronize the threads in the group.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Thread block 0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Coalesced group in block 0, warp 0: lane 0"/>
          <p:cNvSpPr/>
          <p:nvPr/>
        </p:nvSpPr>
        <p:spPr>
          <a:xfrm>
            <a:off x="29489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18" name="Lane 0 in warp 0, block 0 active"/>
          <p:cNvSpPr/>
          <p:nvPr/>
        </p:nvSpPr>
        <p:spPr>
          <a:xfrm>
            <a:off x="30175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Lane 1 in warp 0, block 0 inactive"/>
          <p:cNvSpPr/>
          <p:nvPr/>
        </p:nvSpPr>
        <p:spPr>
          <a:xfrm>
            <a:off x="35204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" name="Coalesced group in block 0, warp 0: lane 2"/>
          <p:cNvSpPr/>
          <p:nvPr/>
        </p:nvSpPr>
        <p:spPr>
          <a:xfrm>
            <a:off x="39547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" name="Lane 2 in warp 0, block 0 active"/>
          <p:cNvSpPr/>
          <p:nvPr/>
        </p:nvSpPr>
        <p:spPr>
          <a:xfrm>
            <a:off x="40233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Lane 3 in warp 0, block 0 inactive"/>
          <p:cNvSpPr/>
          <p:nvPr/>
        </p:nvSpPr>
        <p:spPr>
          <a:xfrm>
            <a:off x="45262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" name="Coalesced group in block 0, warp 0: lane 4"/>
          <p:cNvSpPr/>
          <p:nvPr/>
        </p:nvSpPr>
        <p:spPr>
          <a:xfrm>
            <a:off x="49606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" name="Lane 4 in warp 0, block 0 active"/>
          <p:cNvSpPr/>
          <p:nvPr/>
        </p:nvSpPr>
        <p:spPr>
          <a:xfrm>
            <a:off x="50292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Lane 5 in warp 0, block 0 inactive"/>
          <p:cNvSpPr/>
          <p:nvPr/>
        </p:nvSpPr>
        <p:spPr>
          <a:xfrm>
            <a:off x="55321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" name="Coalesced group in block 0, warp 0: lane 6"/>
          <p:cNvSpPr/>
          <p:nvPr/>
        </p:nvSpPr>
        <p:spPr>
          <a:xfrm>
            <a:off x="59664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7" name="Lane 6 in warp 0, block 0 active"/>
          <p:cNvSpPr/>
          <p:nvPr/>
        </p:nvSpPr>
        <p:spPr>
          <a:xfrm>
            <a:off x="60350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Lane 7 in warp 0, block 0 inactive"/>
          <p:cNvSpPr/>
          <p:nvPr/>
        </p:nvSpPr>
        <p:spPr>
          <a:xfrm>
            <a:off x="6537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" name="Coalesced group in block 0, warp 0: lane 8"/>
          <p:cNvSpPr/>
          <p:nvPr/>
        </p:nvSpPr>
        <p:spPr>
          <a:xfrm>
            <a:off x="69723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0" name="Lane 8 in warp 0, block 0 active"/>
          <p:cNvSpPr/>
          <p:nvPr/>
        </p:nvSpPr>
        <p:spPr>
          <a:xfrm>
            <a:off x="70408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Lane 9 in warp 0, block 0 inactive"/>
          <p:cNvSpPr/>
          <p:nvPr/>
        </p:nvSpPr>
        <p:spPr>
          <a:xfrm>
            <a:off x="75438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2" name="Coalesced group in block 0, warp 0: lane 10"/>
          <p:cNvSpPr/>
          <p:nvPr/>
        </p:nvSpPr>
        <p:spPr>
          <a:xfrm>
            <a:off x="79781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3" name="Lane 10 in warp 0, block 0 active"/>
          <p:cNvSpPr/>
          <p:nvPr/>
        </p:nvSpPr>
        <p:spPr>
          <a:xfrm>
            <a:off x="80467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Lane 11 in warp 0, block 0 inactive"/>
          <p:cNvSpPr/>
          <p:nvPr/>
        </p:nvSpPr>
        <p:spPr>
          <a:xfrm>
            <a:off x="85496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5" name="Coalesced group in block 0, warp 0: lane 12"/>
          <p:cNvSpPr/>
          <p:nvPr/>
        </p:nvSpPr>
        <p:spPr>
          <a:xfrm>
            <a:off x="89839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6" name="Lane 12 in warp 0, block 0 active"/>
          <p:cNvSpPr/>
          <p:nvPr/>
        </p:nvSpPr>
        <p:spPr>
          <a:xfrm>
            <a:off x="90525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Lane 13 in warp 0, block 0 inactive"/>
          <p:cNvSpPr/>
          <p:nvPr/>
        </p:nvSpPr>
        <p:spPr>
          <a:xfrm>
            <a:off x="95554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8" name="Coalesced group in block 0, warp 0: lane 14"/>
          <p:cNvSpPr/>
          <p:nvPr/>
        </p:nvSpPr>
        <p:spPr>
          <a:xfrm>
            <a:off x="99898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9" name="Lane 14 in warp 0, block 0 active"/>
          <p:cNvSpPr/>
          <p:nvPr/>
        </p:nvSpPr>
        <p:spPr>
          <a:xfrm>
            <a:off x="100584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Lane 15 in warp 0, block 0 inactive"/>
          <p:cNvSpPr/>
          <p:nvPr/>
        </p:nvSpPr>
        <p:spPr>
          <a:xfrm>
            <a:off x="105613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1" name="Coalesced group in block 0, warp 0: lane 16"/>
          <p:cNvSpPr/>
          <p:nvPr/>
        </p:nvSpPr>
        <p:spPr>
          <a:xfrm>
            <a:off x="29489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2" name="Lane 16 in warp 0, block 0 active"/>
          <p:cNvSpPr/>
          <p:nvPr/>
        </p:nvSpPr>
        <p:spPr>
          <a:xfrm>
            <a:off x="30175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Lane 17 in warp 0, block 0 inactive"/>
          <p:cNvSpPr/>
          <p:nvPr/>
        </p:nvSpPr>
        <p:spPr>
          <a:xfrm>
            <a:off x="35204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4" name="Coalesced group in block 0, warp 0: lane 18"/>
          <p:cNvSpPr/>
          <p:nvPr/>
        </p:nvSpPr>
        <p:spPr>
          <a:xfrm>
            <a:off x="39547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5" name="Lane 18 in warp 0, block 0 active"/>
          <p:cNvSpPr/>
          <p:nvPr/>
        </p:nvSpPr>
        <p:spPr>
          <a:xfrm>
            <a:off x="40233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Lane 19 in warp 0, block 0 inactive"/>
          <p:cNvSpPr/>
          <p:nvPr/>
        </p:nvSpPr>
        <p:spPr>
          <a:xfrm>
            <a:off x="45262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47" name="Coalesced group in block 0, warp 0: lane 20"/>
          <p:cNvSpPr/>
          <p:nvPr/>
        </p:nvSpPr>
        <p:spPr>
          <a:xfrm>
            <a:off x="49606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48" name="Lane 20 in warp 0, block 0 active"/>
          <p:cNvSpPr/>
          <p:nvPr/>
        </p:nvSpPr>
        <p:spPr>
          <a:xfrm>
            <a:off x="50292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Lane 21 in warp 0, block 0 inactive"/>
          <p:cNvSpPr/>
          <p:nvPr/>
        </p:nvSpPr>
        <p:spPr>
          <a:xfrm>
            <a:off x="55321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0" name="Coalesced group in block 0, warp 0: lane 22"/>
          <p:cNvSpPr/>
          <p:nvPr/>
        </p:nvSpPr>
        <p:spPr>
          <a:xfrm>
            <a:off x="59664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1" name="Lane 22 in warp 0, block 0 active"/>
          <p:cNvSpPr/>
          <p:nvPr/>
        </p:nvSpPr>
        <p:spPr>
          <a:xfrm>
            <a:off x="60350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Lane 23 in warp 0, block 0 inactive"/>
          <p:cNvSpPr/>
          <p:nvPr/>
        </p:nvSpPr>
        <p:spPr>
          <a:xfrm>
            <a:off x="6537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3" name="Coalesced group in block 0, warp 0: lane 24"/>
          <p:cNvSpPr/>
          <p:nvPr/>
        </p:nvSpPr>
        <p:spPr>
          <a:xfrm>
            <a:off x="69723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4" name="Lane 24 in warp 0, block 0 active"/>
          <p:cNvSpPr/>
          <p:nvPr/>
        </p:nvSpPr>
        <p:spPr>
          <a:xfrm>
            <a:off x="70408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Lane 25 in warp 0, block 0 inactive"/>
          <p:cNvSpPr/>
          <p:nvPr/>
        </p:nvSpPr>
        <p:spPr>
          <a:xfrm>
            <a:off x="75438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6" name="Coalesced group in block 0, warp 0: lane 26"/>
          <p:cNvSpPr/>
          <p:nvPr/>
        </p:nvSpPr>
        <p:spPr>
          <a:xfrm>
            <a:off x="79781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57" name="Lane 26 in warp 0, block 0 active"/>
          <p:cNvSpPr/>
          <p:nvPr/>
        </p:nvSpPr>
        <p:spPr>
          <a:xfrm>
            <a:off x="80467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Lane 27 in warp 0, block 0 inactive"/>
          <p:cNvSpPr/>
          <p:nvPr/>
        </p:nvSpPr>
        <p:spPr>
          <a:xfrm>
            <a:off x="85496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59" name="Coalesced group in block 0, warp 0: lane 28"/>
          <p:cNvSpPr/>
          <p:nvPr/>
        </p:nvSpPr>
        <p:spPr>
          <a:xfrm>
            <a:off x="89839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60" name="Lane 28 in warp 0, block 0 active"/>
          <p:cNvSpPr/>
          <p:nvPr/>
        </p:nvSpPr>
        <p:spPr>
          <a:xfrm>
            <a:off x="90525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Lane 29 in warp 0, block 0 inactive"/>
          <p:cNvSpPr/>
          <p:nvPr/>
        </p:nvSpPr>
        <p:spPr>
          <a:xfrm>
            <a:off x="95554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2" name="Coalesced group in block 0, warp 0: lane 30"/>
          <p:cNvSpPr/>
          <p:nvPr/>
        </p:nvSpPr>
        <p:spPr>
          <a:xfrm>
            <a:off x="99898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63" name="Lane 30 in warp 0, block 0 active"/>
          <p:cNvSpPr/>
          <p:nvPr/>
        </p:nvSpPr>
        <p:spPr>
          <a:xfrm>
            <a:off x="100584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Lane 31 in warp 0, block 0 inactive"/>
          <p:cNvSpPr/>
          <p:nvPr/>
        </p:nvSpPr>
        <p:spPr>
          <a:xfrm>
            <a:off x="105613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5" name="Coalesced group in block 0, warp 1: lane 0"/>
          <p:cNvSpPr/>
          <p:nvPr/>
        </p:nvSpPr>
        <p:spPr>
          <a:xfrm>
            <a:off x="29489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66" name="Lane 0 in warp 1, block 0 active"/>
          <p:cNvSpPr/>
          <p:nvPr/>
        </p:nvSpPr>
        <p:spPr>
          <a:xfrm>
            <a:off x="30175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Lane 1 in warp 1, block 0 inactive"/>
          <p:cNvSpPr/>
          <p:nvPr/>
        </p:nvSpPr>
        <p:spPr>
          <a:xfrm>
            <a:off x="3520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68" name="Coalesced group in block 0, warp 1: lane 2"/>
          <p:cNvSpPr/>
          <p:nvPr/>
        </p:nvSpPr>
        <p:spPr>
          <a:xfrm>
            <a:off x="39547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69" name="Lane 2 in warp 1, block 0 active"/>
          <p:cNvSpPr/>
          <p:nvPr/>
        </p:nvSpPr>
        <p:spPr>
          <a:xfrm>
            <a:off x="40233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Lane 3 in warp 1, block 0 inactive"/>
          <p:cNvSpPr/>
          <p:nvPr/>
        </p:nvSpPr>
        <p:spPr>
          <a:xfrm>
            <a:off x="45262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1" name="Coalesced group in block 0, warp 1: lane 4"/>
          <p:cNvSpPr/>
          <p:nvPr/>
        </p:nvSpPr>
        <p:spPr>
          <a:xfrm>
            <a:off x="49606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2" name="Lane 4 in warp 1, block 0 active"/>
          <p:cNvSpPr/>
          <p:nvPr/>
        </p:nvSpPr>
        <p:spPr>
          <a:xfrm>
            <a:off x="50292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Lane 5 in warp 1, block 0 inactive"/>
          <p:cNvSpPr/>
          <p:nvPr/>
        </p:nvSpPr>
        <p:spPr>
          <a:xfrm>
            <a:off x="55321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4" name="Coalesced group in block 0, warp 1: lane 6"/>
          <p:cNvSpPr/>
          <p:nvPr/>
        </p:nvSpPr>
        <p:spPr>
          <a:xfrm>
            <a:off x="59664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5" name="Lane 6 in warp 1, block 0 active"/>
          <p:cNvSpPr/>
          <p:nvPr/>
        </p:nvSpPr>
        <p:spPr>
          <a:xfrm>
            <a:off x="60350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Lane 7 in warp 1, block 0 inactive"/>
          <p:cNvSpPr/>
          <p:nvPr/>
        </p:nvSpPr>
        <p:spPr>
          <a:xfrm>
            <a:off x="6537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77" name="Coalesced group in block 0, warp 1: lane 8"/>
          <p:cNvSpPr/>
          <p:nvPr/>
        </p:nvSpPr>
        <p:spPr>
          <a:xfrm>
            <a:off x="69723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78" name="Lane 8 in warp 1, block 0 active"/>
          <p:cNvSpPr/>
          <p:nvPr/>
        </p:nvSpPr>
        <p:spPr>
          <a:xfrm>
            <a:off x="70408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Lane 9 in warp 1, block 0 inactive"/>
          <p:cNvSpPr/>
          <p:nvPr/>
        </p:nvSpPr>
        <p:spPr>
          <a:xfrm>
            <a:off x="75438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0" name="Coalesced group in block 0, warp 1: lane 10"/>
          <p:cNvSpPr/>
          <p:nvPr/>
        </p:nvSpPr>
        <p:spPr>
          <a:xfrm>
            <a:off x="79781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1" name="Lane 10 in warp 1, block 0 active"/>
          <p:cNvSpPr/>
          <p:nvPr/>
        </p:nvSpPr>
        <p:spPr>
          <a:xfrm>
            <a:off x="80467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Lane 11 in warp 1, block 0 inactive"/>
          <p:cNvSpPr/>
          <p:nvPr/>
        </p:nvSpPr>
        <p:spPr>
          <a:xfrm>
            <a:off x="85496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3" name="Coalesced group in block 0, warp 1: lane 12"/>
          <p:cNvSpPr/>
          <p:nvPr/>
        </p:nvSpPr>
        <p:spPr>
          <a:xfrm>
            <a:off x="89839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4" name="Lane 12 in warp 1, block 0 active"/>
          <p:cNvSpPr/>
          <p:nvPr/>
        </p:nvSpPr>
        <p:spPr>
          <a:xfrm>
            <a:off x="90525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Lane 13 in warp 1, block 0 inactive"/>
          <p:cNvSpPr/>
          <p:nvPr/>
        </p:nvSpPr>
        <p:spPr>
          <a:xfrm>
            <a:off x="95554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6" name="Coalesced group in block 0, warp 1: lane 14"/>
          <p:cNvSpPr/>
          <p:nvPr/>
        </p:nvSpPr>
        <p:spPr>
          <a:xfrm>
            <a:off x="99898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87" name="Lane 14 in warp 1, block 0 active"/>
          <p:cNvSpPr/>
          <p:nvPr/>
        </p:nvSpPr>
        <p:spPr>
          <a:xfrm>
            <a:off x="100584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Lane 15 in warp 1, block 0 inactive"/>
          <p:cNvSpPr/>
          <p:nvPr/>
        </p:nvSpPr>
        <p:spPr>
          <a:xfrm>
            <a:off x="105613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9" name="Coalesced group in block 0, warp 1: lane 16"/>
          <p:cNvSpPr/>
          <p:nvPr/>
        </p:nvSpPr>
        <p:spPr>
          <a:xfrm>
            <a:off x="29489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0" name="Lane 16 in warp 1, block 0 active"/>
          <p:cNvSpPr/>
          <p:nvPr/>
        </p:nvSpPr>
        <p:spPr>
          <a:xfrm>
            <a:off x="30175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Lane 17 in warp 1, block 0 inactive"/>
          <p:cNvSpPr/>
          <p:nvPr/>
        </p:nvSpPr>
        <p:spPr>
          <a:xfrm>
            <a:off x="3520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2" name="Coalesced group in block 0, warp 1: lane 18"/>
          <p:cNvSpPr/>
          <p:nvPr/>
        </p:nvSpPr>
        <p:spPr>
          <a:xfrm>
            <a:off x="39547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3" name="Lane 18 in warp 1, block 0 active"/>
          <p:cNvSpPr/>
          <p:nvPr/>
        </p:nvSpPr>
        <p:spPr>
          <a:xfrm>
            <a:off x="40233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Lane 19 in warp 1, block 0 inactive"/>
          <p:cNvSpPr/>
          <p:nvPr/>
        </p:nvSpPr>
        <p:spPr>
          <a:xfrm>
            <a:off x="45262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5" name="Coalesced group in block 0, warp 1: lane 20"/>
          <p:cNvSpPr/>
          <p:nvPr/>
        </p:nvSpPr>
        <p:spPr>
          <a:xfrm>
            <a:off x="49606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6" name="Lane 20 in warp 1, block 0 active"/>
          <p:cNvSpPr/>
          <p:nvPr/>
        </p:nvSpPr>
        <p:spPr>
          <a:xfrm>
            <a:off x="50292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Lane 21 in warp 1, block 0 inactive"/>
          <p:cNvSpPr/>
          <p:nvPr/>
        </p:nvSpPr>
        <p:spPr>
          <a:xfrm>
            <a:off x="55321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8" name="Coalesced group in block 0, warp 1: lane 22"/>
          <p:cNvSpPr/>
          <p:nvPr/>
        </p:nvSpPr>
        <p:spPr>
          <a:xfrm>
            <a:off x="59664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99" name="Lane 22 in warp 1, block 0 active"/>
          <p:cNvSpPr/>
          <p:nvPr/>
        </p:nvSpPr>
        <p:spPr>
          <a:xfrm>
            <a:off x="60350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Lane 23 in warp 1, block 0 inactive"/>
          <p:cNvSpPr/>
          <p:nvPr/>
        </p:nvSpPr>
        <p:spPr>
          <a:xfrm>
            <a:off x="6537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1" name="Coalesced group in block 0, warp 1: lane 24"/>
          <p:cNvSpPr/>
          <p:nvPr/>
        </p:nvSpPr>
        <p:spPr>
          <a:xfrm>
            <a:off x="69723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2" name="Lane 24 in warp 1, block 0 active"/>
          <p:cNvSpPr/>
          <p:nvPr/>
        </p:nvSpPr>
        <p:spPr>
          <a:xfrm>
            <a:off x="70408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Lane 25 in warp 1, block 0 inactive"/>
          <p:cNvSpPr/>
          <p:nvPr/>
        </p:nvSpPr>
        <p:spPr>
          <a:xfrm>
            <a:off x="75438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4" name="Coalesced group in block 0, warp 1: lane 26"/>
          <p:cNvSpPr/>
          <p:nvPr/>
        </p:nvSpPr>
        <p:spPr>
          <a:xfrm>
            <a:off x="79781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5" name="Lane 26 in warp 1, block 0 active"/>
          <p:cNvSpPr/>
          <p:nvPr/>
        </p:nvSpPr>
        <p:spPr>
          <a:xfrm>
            <a:off x="80467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Lane 27 in warp 1, block 0 inactive"/>
          <p:cNvSpPr/>
          <p:nvPr/>
        </p:nvSpPr>
        <p:spPr>
          <a:xfrm>
            <a:off x="85496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7" name="Coalesced group in block 0, warp 1: lane 28"/>
          <p:cNvSpPr/>
          <p:nvPr/>
        </p:nvSpPr>
        <p:spPr>
          <a:xfrm>
            <a:off x="89839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08" name="Lane 28 in warp 1, block 0 active"/>
          <p:cNvSpPr/>
          <p:nvPr/>
        </p:nvSpPr>
        <p:spPr>
          <a:xfrm>
            <a:off x="90525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Lane 29 in warp 1, block 0 inactive"/>
          <p:cNvSpPr/>
          <p:nvPr/>
        </p:nvSpPr>
        <p:spPr>
          <a:xfrm>
            <a:off x="95554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0" name="Coalesced group in block 0, warp 1: lane 30"/>
          <p:cNvSpPr/>
          <p:nvPr/>
        </p:nvSpPr>
        <p:spPr>
          <a:xfrm>
            <a:off x="99898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111" name="Lane 30 in warp 1, block 0 active"/>
          <p:cNvSpPr/>
          <p:nvPr/>
        </p:nvSpPr>
        <p:spPr>
          <a:xfrm>
            <a:off x="100584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Lane 31 in warp 1, block 0 inactive"/>
          <p:cNvSpPr/>
          <p:nvPr/>
        </p:nvSpPr>
        <p:spPr>
          <a:xfrm>
            <a:off x="105613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block 1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14" name="Block 1"/>
          <p:cNvSpPr/>
          <p:nvPr/>
        </p:nvSpPr>
        <p:spPr>
          <a:xfrm>
            <a:off x="1252728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15" name="Coalesced group in block 1, warp 0: lane 0"/>
          <p:cNvSpPr/>
          <p:nvPr/>
        </p:nvSpPr>
        <p:spPr>
          <a:xfrm>
            <a:off x="126415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16" name="Lane 0 in warp 0, block 1 active"/>
          <p:cNvSpPr/>
          <p:nvPr/>
        </p:nvSpPr>
        <p:spPr>
          <a:xfrm>
            <a:off x="127101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Lane 1 in warp 0, block 1 inactive"/>
          <p:cNvSpPr/>
          <p:nvPr/>
        </p:nvSpPr>
        <p:spPr>
          <a:xfrm>
            <a:off x="13213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8" name="Coalesced group in block 1, warp 0: lane 2"/>
          <p:cNvSpPr/>
          <p:nvPr/>
        </p:nvSpPr>
        <p:spPr>
          <a:xfrm>
            <a:off x="136474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19" name="Lane 2 in warp 0, block 1 active"/>
          <p:cNvSpPr/>
          <p:nvPr/>
        </p:nvSpPr>
        <p:spPr>
          <a:xfrm>
            <a:off x="137160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Lane 3 in warp 0, block 1 inactive"/>
          <p:cNvSpPr/>
          <p:nvPr/>
        </p:nvSpPr>
        <p:spPr>
          <a:xfrm>
            <a:off x="142189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1" name="Coalesced group in block 1, warp 0: lane 4"/>
          <p:cNvSpPr/>
          <p:nvPr/>
        </p:nvSpPr>
        <p:spPr>
          <a:xfrm>
            <a:off x="146532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2" name="Lane 4 in warp 0, block 1 active"/>
          <p:cNvSpPr/>
          <p:nvPr/>
        </p:nvSpPr>
        <p:spPr>
          <a:xfrm>
            <a:off x="147218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Lane 5 in warp 0, block 1 inactive"/>
          <p:cNvSpPr/>
          <p:nvPr/>
        </p:nvSpPr>
        <p:spPr>
          <a:xfrm>
            <a:off x="152247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4" name="Coalesced group in block 1, warp 0: lane 6"/>
          <p:cNvSpPr/>
          <p:nvPr/>
        </p:nvSpPr>
        <p:spPr>
          <a:xfrm>
            <a:off x="156591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5" name="Lane 6 in warp 0, block 1 active"/>
          <p:cNvSpPr/>
          <p:nvPr/>
        </p:nvSpPr>
        <p:spPr>
          <a:xfrm>
            <a:off x="157276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Lane 7 in warp 0, block 1 inactive"/>
          <p:cNvSpPr/>
          <p:nvPr/>
        </p:nvSpPr>
        <p:spPr>
          <a:xfrm>
            <a:off x="16230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7" name="Coalesced group in block 1, warp 0: lane 8"/>
          <p:cNvSpPr/>
          <p:nvPr/>
        </p:nvSpPr>
        <p:spPr>
          <a:xfrm>
            <a:off x="166649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28" name="Lane 8 in warp 0, block 1 active"/>
          <p:cNvSpPr/>
          <p:nvPr/>
        </p:nvSpPr>
        <p:spPr>
          <a:xfrm>
            <a:off x="167335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Lane 9 in warp 0, block 1 inactive"/>
          <p:cNvSpPr/>
          <p:nvPr/>
        </p:nvSpPr>
        <p:spPr>
          <a:xfrm>
            <a:off x="172364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0" name="Coalesced group in block 1, warp 0: lane 10"/>
          <p:cNvSpPr/>
          <p:nvPr/>
        </p:nvSpPr>
        <p:spPr>
          <a:xfrm>
            <a:off x="176707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1" name="Lane 10 in warp 0, block 1 active"/>
          <p:cNvSpPr/>
          <p:nvPr/>
        </p:nvSpPr>
        <p:spPr>
          <a:xfrm>
            <a:off x="177393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Lane 11 in warp 0, block 1 inactive"/>
          <p:cNvSpPr/>
          <p:nvPr/>
        </p:nvSpPr>
        <p:spPr>
          <a:xfrm>
            <a:off x="182422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3" name="Coalesced group in block 1, warp 0: lane 12"/>
          <p:cNvSpPr/>
          <p:nvPr/>
        </p:nvSpPr>
        <p:spPr>
          <a:xfrm>
            <a:off x="186766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4" name="Lane 12 in warp 0, block 1 active"/>
          <p:cNvSpPr/>
          <p:nvPr/>
        </p:nvSpPr>
        <p:spPr>
          <a:xfrm>
            <a:off x="187452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Lane 13 in warp 0, block 1 inactive"/>
          <p:cNvSpPr/>
          <p:nvPr/>
        </p:nvSpPr>
        <p:spPr>
          <a:xfrm>
            <a:off x="192481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6" name="Coalesced group in block 1, warp 0: lane 14"/>
          <p:cNvSpPr/>
          <p:nvPr/>
        </p:nvSpPr>
        <p:spPr>
          <a:xfrm>
            <a:off x="196824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37" name="Lane 14 in warp 0, block 1 active"/>
          <p:cNvSpPr/>
          <p:nvPr/>
        </p:nvSpPr>
        <p:spPr>
          <a:xfrm>
            <a:off x="197510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Lane 15 in warp 0, block 1 inactive"/>
          <p:cNvSpPr/>
          <p:nvPr/>
        </p:nvSpPr>
        <p:spPr>
          <a:xfrm>
            <a:off x="20253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9" name="Coalesced group in block 1, warp 0: lane 16"/>
          <p:cNvSpPr/>
          <p:nvPr/>
        </p:nvSpPr>
        <p:spPr>
          <a:xfrm>
            <a:off x="126415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0" name="Lane 16 in warp 0, block 1 active"/>
          <p:cNvSpPr/>
          <p:nvPr/>
        </p:nvSpPr>
        <p:spPr>
          <a:xfrm>
            <a:off x="127101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Lane 17 in warp 0, block 1 inactive"/>
          <p:cNvSpPr/>
          <p:nvPr/>
        </p:nvSpPr>
        <p:spPr>
          <a:xfrm>
            <a:off x="13213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2" name="Coalesced group in block 1, warp 0: lane 18"/>
          <p:cNvSpPr/>
          <p:nvPr/>
        </p:nvSpPr>
        <p:spPr>
          <a:xfrm>
            <a:off x="136474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3" name="Lane 18 in warp 0, block 1 active"/>
          <p:cNvSpPr/>
          <p:nvPr/>
        </p:nvSpPr>
        <p:spPr>
          <a:xfrm>
            <a:off x="137160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Lane 19 in warp 0, block 1 inactive"/>
          <p:cNvSpPr/>
          <p:nvPr/>
        </p:nvSpPr>
        <p:spPr>
          <a:xfrm>
            <a:off x="142189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5" name="Coalesced group in block 1, warp 0: lane 20"/>
          <p:cNvSpPr/>
          <p:nvPr/>
        </p:nvSpPr>
        <p:spPr>
          <a:xfrm>
            <a:off x="146532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6" name="Lane 20 in warp 0, block 1 active"/>
          <p:cNvSpPr/>
          <p:nvPr/>
        </p:nvSpPr>
        <p:spPr>
          <a:xfrm>
            <a:off x="147218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Lane 21 in warp 0, block 1 inactive"/>
          <p:cNvSpPr/>
          <p:nvPr/>
        </p:nvSpPr>
        <p:spPr>
          <a:xfrm>
            <a:off x="152247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8" name="Coalesced group in block 1, warp 0: lane 22"/>
          <p:cNvSpPr/>
          <p:nvPr/>
        </p:nvSpPr>
        <p:spPr>
          <a:xfrm>
            <a:off x="156591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49" name="Lane 22 in warp 0, block 1 active"/>
          <p:cNvSpPr/>
          <p:nvPr/>
        </p:nvSpPr>
        <p:spPr>
          <a:xfrm>
            <a:off x="157276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Lane 23 in warp 0, block 1 inactive"/>
          <p:cNvSpPr/>
          <p:nvPr/>
        </p:nvSpPr>
        <p:spPr>
          <a:xfrm>
            <a:off x="16230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1" name="Coalesced group in block 1, warp 0: lane 24"/>
          <p:cNvSpPr/>
          <p:nvPr/>
        </p:nvSpPr>
        <p:spPr>
          <a:xfrm>
            <a:off x="166649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2" name="Lane 24 in warp 0, block 1 active"/>
          <p:cNvSpPr/>
          <p:nvPr/>
        </p:nvSpPr>
        <p:spPr>
          <a:xfrm>
            <a:off x="167335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Lane 25 in warp 0, block 1 inactive"/>
          <p:cNvSpPr/>
          <p:nvPr/>
        </p:nvSpPr>
        <p:spPr>
          <a:xfrm>
            <a:off x="172364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4" name="Coalesced group in block 1, warp 0: lane 26"/>
          <p:cNvSpPr/>
          <p:nvPr/>
        </p:nvSpPr>
        <p:spPr>
          <a:xfrm>
            <a:off x="176707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5" name="Lane 26 in warp 0, block 1 active"/>
          <p:cNvSpPr/>
          <p:nvPr/>
        </p:nvSpPr>
        <p:spPr>
          <a:xfrm>
            <a:off x="177393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Lane 27 in warp 0, block 1 inactive"/>
          <p:cNvSpPr/>
          <p:nvPr/>
        </p:nvSpPr>
        <p:spPr>
          <a:xfrm>
            <a:off x="182422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7" name="Coalesced group in block 1, warp 0: lane 28"/>
          <p:cNvSpPr/>
          <p:nvPr/>
        </p:nvSpPr>
        <p:spPr>
          <a:xfrm>
            <a:off x="186766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58" name="Lane 28 in warp 0, block 1 active"/>
          <p:cNvSpPr/>
          <p:nvPr/>
        </p:nvSpPr>
        <p:spPr>
          <a:xfrm>
            <a:off x="187452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Lane 29 in warp 0, block 1 inactive"/>
          <p:cNvSpPr/>
          <p:nvPr/>
        </p:nvSpPr>
        <p:spPr>
          <a:xfrm>
            <a:off x="192481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0" name="Coalesced group in block 1, warp 0: lane 30"/>
          <p:cNvSpPr/>
          <p:nvPr/>
        </p:nvSpPr>
        <p:spPr>
          <a:xfrm>
            <a:off x="196824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161" name="Lane 30 in warp 0, block 1 active"/>
          <p:cNvSpPr/>
          <p:nvPr/>
        </p:nvSpPr>
        <p:spPr>
          <a:xfrm>
            <a:off x="197510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Lane 31 in warp 0, block 1 inactive"/>
          <p:cNvSpPr/>
          <p:nvPr/>
        </p:nvSpPr>
        <p:spPr>
          <a:xfrm>
            <a:off x="20253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3" name="Coalesced group in block 1, warp 1: lane 0"/>
          <p:cNvSpPr/>
          <p:nvPr/>
        </p:nvSpPr>
        <p:spPr>
          <a:xfrm>
            <a:off x="126415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64" name="Lane 0 in warp 1, block 1 active"/>
          <p:cNvSpPr/>
          <p:nvPr/>
        </p:nvSpPr>
        <p:spPr>
          <a:xfrm>
            <a:off x="127101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Lane 1 in warp 1, block 1 inactive"/>
          <p:cNvSpPr/>
          <p:nvPr/>
        </p:nvSpPr>
        <p:spPr>
          <a:xfrm>
            <a:off x="13213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6" name="Coalesced group in block 1, warp 1: lane 2"/>
          <p:cNvSpPr/>
          <p:nvPr/>
        </p:nvSpPr>
        <p:spPr>
          <a:xfrm>
            <a:off x="136474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67" name="Lane 2 in warp 1, block 1 active"/>
          <p:cNvSpPr/>
          <p:nvPr/>
        </p:nvSpPr>
        <p:spPr>
          <a:xfrm>
            <a:off x="137160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Lane 3 in warp 1, block 1 inactive"/>
          <p:cNvSpPr/>
          <p:nvPr/>
        </p:nvSpPr>
        <p:spPr>
          <a:xfrm>
            <a:off x="142189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9" name="Coalesced group in block 1, warp 1: lane 4"/>
          <p:cNvSpPr/>
          <p:nvPr/>
        </p:nvSpPr>
        <p:spPr>
          <a:xfrm>
            <a:off x="146532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0" name="Lane 4 in warp 1, block 1 active"/>
          <p:cNvSpPr/>
          <p:nvPr/>
        </p:nvSpPr>
        <p:spPr>
          <a:xfrm>
            <a:off x="147218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Lane 5 in warp 1, block 1 inactive"/>
          <p:cNvSpPr/>
          <p:nvPr/>
        </p:nvSpPr>
        <p:spPr>
          <a:xfrm>
            <a:off x="152247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2" name="Coalesced group in block 1, warp 1: lane 6"/>
          <p:cNvSpPr/>
          <p:nvPr/>
        </p:nvSpPr>
        <p:spPr>
          <a:xfrm>
            <a:off x="156591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3" name="Lane 6 in warp 1, block 1 active"/>
          <p:cNvSpPr/>
          <p:nvPr/>
        </p:nvSpPr>
        <p:spPr>
          <a:xfrm>
            <a:off x="157276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Lane 7 in warp 1, block 1 inactive"/>
          <p:cNvSpPr/>
          <p:nvPr/>
        </p:nvSpPr>
        <p:spPr>
          <a:xfrm>
            <a:off x="16230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5" name="Coalesced group in block 1, warp 1: lane 8"/>
          <p:cNvSpPr/>
          <p:nvPr/>
        </p:nvSpPr>
        <p:spPr>
          <a:xfrm>
            <a:off x="166649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6" name="Lane 8 in warp 1, block 1 active"/>
          <p:cNvSpPr/>
          <p:nvPr/>
        </p:nvSpPr>
        <p:spPr>
          <a:xfrm>
            <a:off x="167335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Lane 9 in warp 1, block 1 inactive"/>
          <p:cNvSpPr/>
          <p:nvPr/>
        </p:nvSpPr>
        <p:spPr>
          <a:xfrm>
            <a:off x="17236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8" name="Coalesced group in block 1, warp 1: lane 10"/>
          <p:cNvSpPr/>
          <p:nvPr/>
        </p:nvSpPr>
        <p:spPr>
          <a:xfrm>
            <a:off x="176707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79" name="Lane 10 in warp 1, block 1 active"/>
          <p:cNvSpPr/>
          <p:nvPr/>
        </p:nvSpPr>
        <p:spPr>
          <a:xfrm>
            <a:off x="177393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Lane 11 in warp 1, block 1 inactive"/>
          <p:cNvSpPr/>
          <p:nvPr/>
        </p:nvSpPr>
        <p:spPr>
          <a:xfrm>
            <a:off x="182422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1" name="Coalesced group in block 1, warp 1: lane 12"/>
          <p:cNvSpPr/>
          <p:nvPr/>
        </p:nvSpPr>
        <p:spPr>
          <a:xfrm>
            <a:off x="186766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2" name="Lane 12 in warp 1, block 1 active"/>
          <p:cNvSpPr/>
          <p:nvPr/>
        </p:nvSpPr>
        <p:spPr>
          <a:xfrm>
            <a:off x="187452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Lane 13 in warp 1, block 1 inactive"/>
          <p:cNvSpPr/>
          <p:nvPr/>
        </p:nvSpPr>
        <p:spPr>
          <a:xfrm>
            <a:off x="192481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4" name="Coalesced group in block 1, warp 1: lane 14"/>
          <p:cNvSpPr/>
          <p:nvPr/>
        </p:nvSpPr>
        <p:spPr>
          <a:xfrm>
            <a:off x="196824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5" name="Lane 14 in warp 1, block 1 active"/>
          <p:cNvSpPr/>
          <p:nvPr/>
        </p:nvSpPr>
        <p:spPr>
          <a:xfrm>
            <a:off x="197510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Lane 15 in warp 1, block 1 inactive"/>
          <p:cNvSpPr/>
          <p:nvPr/>
        </p:nvSpPr>
        <p:spPr>
          <a:xfrm>
            <a:off x="20253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7" name="Coalesced group in block 1, warp 1: lane 16"/>
          <p:cNvSpPr/>
          <p:nvPr/>
        </p:nvSpPr>
        <p:spPr>
          <a:xfrm>
            <a:off x="126415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88" name="Lane 16 in warp 1, block 1 active"/>
          <p:cNvSpPr/>
          <p:nvPr/>
        </p:nvSpPr>
        <p:spPr>
          <a:xfrm>
            <a:off x="127101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Lane 17 in warp 1, block 1 inactive"/>
          <p:cNvSpPr/>
          <p:nvPr/>
        </p:nvSpPr>
        <p:spPr>
          <a:xfrm>
            <a:off x="13213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0" name="Coalesced group in block 1, warp 1: lane 18"/>
          <p:cNvSpPr/>
          <p:nvPr/>
        </p:nvSpPr>
        <p:spPr>
          <a:xfrm>
            <a:off x="136474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1" name="Lane 18 in warp 1, block 1 active"/>
          <p:cNvSpPr/>
          <p:nvPr/>
        </p:nvSpPr>
        <p:spPr>
          <a:xfrm>
            <a:off x="137160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Lane 19 in warp 1, block 1 inactive"/>
          <p:cNvSpPr/>
          <p:nvPr/>
        </p:nvSpPr>
        <p:spPr>
          <a:xfrm>
            <a:off x="142189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3" name="Coalesced group in block 1, warp 1: lane 20"/>
          <p:cNvSpPr/>
          <p:nvPr/>
        </p:nvSpPr>
        <p:spPr>
          <a:xfrm>
            <a:off x="146532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4" name="Lane 20 in warp 1, block 1 active"/>
          <p:cNvSpPr/>
          <p:nvPr/>
        </p:nvSpPr>
        <p:spPr>
          <a:xfrm>
            <a:off x="147218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Lane 21 in warp 1, block 1 inactive"/>
          <p:cNvSpPr/>
          <p:nvPr/>
        </p:nvSpPr>
        <p:spPr>
          <a:xfrm>
            <a:off x="152247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6" name="Coalesced group in block 1, warp 1: lane 22"/>
          <p:cNvSpPr/>
          <p:nvPr/>
        </p:nvSpPr>
        <p:spPr>
          <a:xfrm>
            <a:off x="156591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197" name="Lane 22 in warp 1, block 1 active"/>
          <p:cNvSpPr/>
          <p:nvPr/>
        </p:nvSpPr>
        <p:spPr>
          <a:xfrm>
            <a:off x="157276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Lane 23 in warp 1, block 1 inactive"/>
          <p:cNvSpPr/>
          <p:nvPr/>
        </p:nvSpPr>
        <p:spPr>
          <a:xfrm>
            <a:off x="16230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9" name="Coalesced group in block 1, warp 1: lane 24"/>
          <p:cNvSpPr/>
          <p:nvPr/>
        </p:nvSpPr>
        <p:spPr>
          <a:xfrm>
            <a:off x="166649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0" name="Lane 24 in warp 1, block 1 active"/>
          <p:cNvSpPr/>
          <p:nvPr/>
        </p:nvSpPr>
        <p:spPr>
          <a:xfrm>
            <a:off x="167335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Lane 25 in warp 1, block 1 inactive"/>
          <p:cNvSpPr/>
          <p:nvPr/>
        </p:nvSpPr>
        <p:spPr>
          <a:xfrm>
            <a:off x="17236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2" name="Coalesced group in block 1, warp 1: lane 26"/>
          <p:cNvSpPr/>
          <p:nvPr/>
        </p:nvSpPr>
        <p:spPr>
          <a:xfrm>
            <a:off x="176707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3" name="Lane 26 in warp 1, block 1 active"/>
          <p:cNvSpPr/>
          <p:nvPr/>
        </p:nvSpPr>
        <p:spPr>
          <a:xfrm>
            <a:off x="177393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Lane 27 in warp 1, block 1 inactive"/>
          <p:cNvSpPr/>
          <p:nvPr/>
        </p:nvSpPr>
        <p:spPr>
          <a:xfrm>
            <a:off x="182422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5" name="Coalesced group in block 1, warp 1: lane 28"/>
          <p:cNvSpPr/>
          <p:nvPr/>
        </p:nvSpPr>
        <p:spPr>
          <a:xfrm>
            <a:off x="186766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6" name="Lane 28 in warp 1, block 1 active"/>
          <p:cNvSpPr/>
          <p:nvPr/>
        </p:nvSpPr>
        <p:spPr>
          <a:xfrm>
            <a:off x="187452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Lane 29 in warp 1, block 1 inactive"/>
          <p:cNvSpPr/>
          <p:nvPr/>
        </p:nvSpPr>
        <p:spPr>
          <a:xfrm>
            <a:off x="192481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8" name="Coalesced group in block 1, warp 1: lane 30"/>
          <p:cNvSpPr/>
          <p:nvPr/>
        </p:nvSpPr>
        <p:spPr>
          <a:xfrm>
            <a:off x="196824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209" name="Lane 30 in warp 1, block 1 active"/>
          <p:cNvSpPr/>
          <p:nvPr/>
        </p:nvSpPr>
        <p:spPr>
          <a:xfrm>
            <a:off x="197510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Lane 31 in warp 1, block 1 inactive"/>
          <p:cNvSpPr/>
          <p:nvPr/>
        </p:nvSpPr>
        <p:spPr>
          <a:xfrm>
            <a:off x="20253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block 2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12" name="Block 2"/>
          <p:cNvSpPr/>
          <p:nvPr/>
        </p:nvSpPr>
        <p:spPr>
          <a:xfrm>
            <a:off x="2221992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13" name="Coalesced group in block 2, warp 0: lane 0"/>
          <p:cNvSpPr/>
          <p:nvPr/>
        </p:nvSpPr>
        <p:spPr>
          <a:xfrm>
            <a:off x="223342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4" name="Lane 0 in warp 0, block 2 active"/>
          <p:cNvSpPr/>
          <p:nvPr/>
        </p:nvSpPr>
        <p:spPr>
          <a:xfrm>
            <a:off x="224028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5" name="Lane 1 in warp 0, block 2 inactive"/>
          <p:cNvSpPr/>
          <p:nvPr/>
        </p:nvSpPr>
        <p:spPr>
          <a:xfrm>
            <a:off x="229057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6" name="Coalesced group in block 2, warp 0: lane 2"/>
          <p:cNvSpPr/>
          <p:nvPr/>
        </p:nvSpPr>
        <p:spPr>
          <a:xfrm>
            <a:off x="233400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17" name="Lane 2 in warp 0, block 2 active"/>
          <p:cNvSpPr/>
          <p:nvPr/>
        </p:nvSpPr>
        <p:spPr>
          <a:xfrm>
            <a:off x="234086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Lane 3 in warp 0, block 2 inactive"/>
          <p:cNvSpPr/>
          <p:nvPr/>
        </p:nvSpPr>
        <p:spPr>
          <a:xfrm>
            <a:off x="239115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9" name="Coalesced group in block 2, warp 0: lane 4"/>
          <p:cNvSpPr/>
          <p:nvPr/>
        </p:nvSpPr>
        <p:spPr>
          <a:xfrm>
            <a:off x="243459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0" name="Lane 4 in warp 0, block 2 active"/>
          <p:cNvSpPr/>
          <p:nvPr/>
        </p:nvSpPr>
        <p:spPr>
          <a:xfrm>
            <a:off x="244144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Lane 5 in warp 0, block 2 inactive"/>
          <p:cNvSpPr/>
          <p:nvPr/>
        </p:nvSpPr>
        <p:spPr>
          <a:xfrm>
            <a:off x="249174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2" name="Coalesced group in block 2, warp 0: lane 6"/>
          <p:cNvSpPr/>
          <p:nvPr/>
        </p:nvSpPr>
        <p:spPr>
          <a:xfrm>
            <a:off x="2535174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3" name="Lane 6 in warp 0, block 2 active"/>
          <p:cNvSpPr/>
          <p:nvPr/>
        </p:nvSpPr>
        <p:spPr>
          <a:xfrm>
            <a:off x="254203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Lane 7 in warp 0, block 2 inactive"/>
          <p:cNvSpPr/>
          <p:nvPr/>
        </p:nvSpPr>
        <p:spPr>
          <a:xfrm>
            <a:off x="259232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5" name="Coalesced group in block 2, warp 0: lane 8"/>
          <p:cNvSpPr/>
          <p:nvPr/>
        </p:nvSpPr>
        <p:spPr>
          <a:xfrm>
            <a:off x="2635758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6" name="Lane 8 in warp 0, block 2 active"/>
          <p:cNvSpPr/>
          <p:nvPr/>
        </p:nvSpPr>
        <p:spPr>
          <a:xfrm>
            <a:off x="264261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Lane 9 in warp 0, block 2 inactive"/>
          <p:cNvSpPr/>
          <p:nvPr/>
        </p:nvSpPr>
        <p:spPr>
          <a:xfrm>
            <a:off x="26929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8" name="Coalesced group in block 2, warp 0: lane 10"/>
          <p:cNvSpPr/>
          <p:nvPr/>
        </p:nvSpPr>
        <p:spPr>
          <a:xfrm>
            <a:off x="2736342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29" name="Lane 10 in warp 0, block 2 active"/>
          <p:cNvSpPr/>
          <p:nvPr/>
        </p:nvSpPr>
        <p:spPr>
          <a:xfrm>
            <a:off x="274320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Lane 11 in warp 0, block 2 inactive"/>
          <p:cNvSpPr/>
          <p:nvPr/>
        </p:nvSpPr>
        <p:spPr>
          <a:xfrm>
            <a:off x="279349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1" name="Coalesced group in block 2, warp 0: lane 12"/>
          <p:cNvSpPr/>
          <p:nvPr/>
        </p:nvSpPr>
        <p:spPr>
          <a:xfrm>
            <a:off x="2836926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2" name="Lane 12 in warp 0, block 2 active"/>
          <p:cNvSpPr/>
          <p:nvPr/>
        </p:nvSpPr>
        <p:spPr>
          <a:xfrm>
            <a:off x="284378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Lane 13 in warp 0, block 2 inactive"/>
          <p:cNvSpPr/>
          <p:nvPr/>
        </p:nvSpPr>
        <p:spPr>
          <a:xfrm>
            <a:off x="289407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4" name="Coalesced group in block 2, warp 0: lane 14"/>
          <p:cNvSpPr/>
          <p:nvPr/>
        </p:nvSpPr>
        <p:spPr>
          <a:xfrm>
            <a:off x="29375100" y="15658814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5" name="Lane 14 in warp 0, block 2 active"/>
          <p:cNvSpPr/>
          <p:nvPr/>
        </p:nvSpPr>
        <p:spPr>
          <a:xfrm>
            <a:off x="294436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Lane 15 in warp 0, block 2 inactive"/>
          <p:cNvSpPr/>
          <p:nvPr/>
        </p:nvSpPr>
        <p:spPr>
          <a:xfrm>
            <a:off x="29946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7" name="Coalesced group in block 2, warp 0: lane 16"/>
          <p:cNvSpPr/>
          <p:nvPr/>
        </p:nvSpPr>
        <p:spPr>
          <a:xfrm>
            <a:off x="223342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38" name="Lane 16 in warp 0, block 2 active"/>
          <p:cNvSpPr/>
          <p:nvPr/>
        </p:nvSpPr>
        <p:spPr>
          <a:xfrm>
            <a:off x="224028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Lane 17 in warp 0, block 2 inactive"/>
          <p:cNvSpPr/>
          <p:nvPr/>
        </p:nvSpPr>
        <p:spPr>
          <a:xfrm>
            <a:off x="229057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0" name="Coalesced group in block 2, warp 0: lane 18"/>
          <p:cNvSpPr/>
          <p:nvPr/>
        </p:nvSpPr>
        <p:spPr>
          <a:xfrm>
            <a:off x="233400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1" name="Lane 18 in warp 0, block 2 active"/>
          <p:cNvSpPr/>
          <p:nvPr/>
        </p:nvSpPr>
        <p:spPr>
          <a:xfrm>
            <a:off x="234086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Lane 19 in warp 0, block 2 inactive"/>
          <p:cNvSpPr/>
          <p:nvPr/>
        </p:nvSpPr>
        <p:spPr>
          <a:xfrm>
            <a:off x="239115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3" name="Coalesced group in block 2, warp 0: lane 20"/>
          <p:cNvSpPr/>
          <p:nvPr/>
        </p:nvSpPr>
        <p:spPr>
          <a:xfrm>
            <a:off x="243459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4" name="Lane 20 in warp 0, block 2 active"/>
          <p:cNvSpPr/>
          <p:nvPr/>
        </p:nvSpPr>
        <p:spPr>
          <a:xfrm>
            <a:off x="244144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Lane 21 in warp 0, block 2 inactive"/>
          <p:cNvSpPr/>
          <p:nvPr/>
        </p:nvSpPr>
        <p:spPr>
          <a:xfrm>
            <a:off x="249174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6" name="Coalesced group in block 2, warp 0: lane 22"/>
          <p:cNvSpPr/>
          <p:nvPr/>
        </p:nvSpPr>
        <p:spPr>
          <a:xfrm>
            <a:off x="2535174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47" name="Lane 22 in warp 0, block 2 active"/>
          <p:cNvSpPr/>
          <p:nvPr/>
        </p:nvSpPr>
        <p:spPr>
          <a:xfrm>
            <a:off x="254203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Lane 23 in warp 0, block 2 inactive"/>
          <p:cNvSpPr/>
          <p:nvPr/>
        </p:nvSpPr>
        <p:spPr>
          <a:xfrm>
            <a:off x="259232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9" name="Coalesced group in block 2, warp 0: lane 24"/>
          <p:cNvSpPr/>
          <p:nvPr/>
        </p:nvSpPr>
        <p:spPr>
          <a:xfrm>
            <a:off x="2635758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0" name="Lane 24 in warp 0, block 2 active"/>
          <p:cNvSpPr/>
          <p:nvPr/>
        </p:nvSpPr>
        <p:spPr>
          <a:xfrm>
            <a:off x="264261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Lane 25 in warp 0, block 2 inactive"/>
          <p:cNvSpPr/>
          <p:nvPr/>
        </p:nvSpPr>
        <p:spPr>
          <a:xfrm>
            <a:off x="26929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2" name="Coalesced group in block 2, warp 0: lane 26"/>
          <p:cNvSpPr/>
          <p:nvPr/>
        </p:nvSpPr>
        <p:spPr>
          <a:xfrm>
            <a:off x="2736342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3" name="Lane 26 in warp 0, block 2 active"/>
          <p:cNvSpPr/>
          <p:nvPr/>
        </p:nvSpPr>
        <p:spPr>
          <a:xfrm>
            <a:off x="274320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Lane 27 in warp 0, block 2 inactive"/>
          <p:cNvSpPr/>
          <p:nvPr/>
        </p:nvSpPr>
        <p:spPr>
          <a:xfrm>
            <a:off x="279349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5" name="Coalesced group in block 2, warp 0: lane 28"/>
          <p:cNvSpPr/>
          <p:nvPr/>
        </p:nvSpPr>
        <p:spPr>
          <a:xfrm>
            <a:off x="2836926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6" name="Lane 28 in warp 0, block 2 active"/>
          <p:cNvSpPr/>
          <p:nvPr/>
        </p:nvSpPr>
        <p:spPr>
          <a:xfrm>
            <a:off x="284378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Lane 29 in warp 0, block 2 inactive"/>
          <p:cNvSpPr/>
          <p:nvPr/>
        </p:nvSpPr>
        <p:spPr>
          <a:xfrm>
            <a:off x="289407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58" name="Coalesced group in block 2, warp 0: lane 30"/>
          <p:cNvSpPr/>
          <p:nvPr/>
        </p:nvSpPr>
        <p:spPr>
          <a:xfrm>
            <a:off x="29375100" y="15981781"/>
            <a:ext cx="274320" cy="258373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259" name="Lane 30 in warp 0, block 2 active"/>
          <p:cNvSpPr/>
          <p:nvPr/>
        </p:nvSpPr>
        <p:spPr>
          <a:xfrm>
            <a:off x="294436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Lane 31 in warp 0, block 2 inactive"/>
          <p:cNvSpPr/>
          <p:nvPr/>
        </p:nvSpPr>
        <p:spPr>
          <a:xfrm>
            <a:off x="29946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1" name="Coalesced group in block 2, warp 1: lane 0"/>
          <p:cNvSpPr/>
          <p:nvPr/>
        </p:nvSpPr>
        <p:spPr>
          <a:xfrm>
            <a:off x="223342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2" name="Lane 0 in warp 1, block 2 active"/>
          <p:cNvSpPr/>
          <p:nvPr/>
        </p:nvSpPr>
        <p:spPr>
          <a:xfrm>
            <a:off x="224028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Lane 1 in warp 1, block 2 inactive"/>
          <p:cNvSpPr/>
          <p:nvPr/>
        </p:nvSpPr>
        <p:spPr>
          <a:xfrm>
            <a:off x="229057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4" name="Coalesced group in block 2, warp 1: lane 2"/>
          <p:cNvSpPr/>
          <p:nvPr/>
        </p:nvSpPr>
        <p:spPr>
          <a:xfrm>
            <a:off x="233400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5" name="Lane 2 in warp 1, block 2 active"/>
          <p:cNvSpPr/>
          <p:nvPr/>
        </p:nvSpPr>
        <p:spPr>
          <a:xfrm>
            <a:off x="234086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Lane 3 in warp 1, block 2 inactive"/>
          <p:cNvSpPr/>
          <p:nvPr/>
        </p:nvSpPr>
        <p:spPr>
          <a:xfrm>
            <a:off x="239115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67" name="Coalesced group in block 2, warp 1: lane 4"/>
          <p:cNvSpPr/>
          <p:nvPr/>
        </p:nvSpPr>
        <p:spPr>
          <a:xfrm>
            <a:off x="243459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68" name="Lane 4 in warp 1, block 2 active"/>
          <p:cNvSpPr/>
          <p:nvPr/>
        </p:nvSpPr>
        <p:spPr>
          <a:xfrm>
            <a:off x="244144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Lane 5 in warp 1, block 2 inactive"/>
          <p:cNvSpPr/>
          <p:nvPr/>
        </p:nvSpPr>
        <p:spPr>
          <a:xfrm>
            <a:off x="249174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0" name="Coalesced group in block 2, warp 1: lane 6"/>
          <p:cNvSpPr/>
          <p:nvPr/>
        </p:nvSpPr>
        <p:spPr>
          <a:xfrm>
            <a:off x="2535174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1" name="Lane 6 in warp 1, block 2 active"/>
          <p:cNvSpPr/>
          <p:nvPr/>
        </p:nvSpPr>
        <p:spPr>
          <a:xfrm>
            <a:off x="2542032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Lane 7 in warp 1, block 2 inactive"/>
          <p:cNvSpPr/>
          <p:nvPr/>
        </p:nvSpPr>
        <p:spPr>
          <a:xfrm>
            <a:off x="259232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3" name="Coalesced group in block 2, warp 1: lane 8"/>
          <p:cNvSpPr/>
          <p:nvPr/>
        </p:nvSpPr>
        <p:spPr>
          <a:xfrm>
            <a:off x="2635758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4" name="Lane 8 in warp 1, block 2 active"/>
          <p:cNvSpPr/>
          <p:nvPr/>
        </p:nvSpPr>
        <p:spPr>
          <a:xfrm>
            <a:off x="2642616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Lane 9 in warp 1, block 2 inactive"/>
          <p:cNvSpPr/>
          <p:nvPr/>
        </p:nvSpPr>
        <p:spPr>
          <a:xfrm>
            <a:off x="26929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6" name="Coalesced group in block 2, warp 1: lane 10"/>
          <p:cNvSpPr/>
          <p:nvPr/>
        </p:nvSpPr>
        <p:spPr>
          <a:xfrm>
            <a:off x="2736342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77" name="Lane 10 in warp 1, block 2 active"/>
          <p:cNvSpPr/>
          <p:nvPr/>
        </p:nvSpPr>
        <p:spPr>
          <a:xfrm>
            <a:off x="2743200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Lane 11 in warp 1, block 2 inactive"/>
          <p:cNvSpPr/>
          <p:nvPr/>
        </p:nvSpPr>
        <p:spPr>
          <a:xfrm>
            <a:off x="279349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79" name="Coalesced group in block 2, warp 1: lane 12"/>
          <p:cNvSpPr/>
          <p:nvPr/>
        </p:nvSpPr>
        <p:spPr>
          <a:xfrm>
            <a:off x="2836926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0" name="Lane 12 in warp 1, block 2 active"/>
          <p:cNvSpPr/>
          <p:nvPr/>
        </p:nvSpPr>
        <p:spPr>
          <a:xfrm>
            <a:off x="2843784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1" name="Lane 13 in warp 1, block 2 inactive"/>
          <p:cNvSpPr/>
          <p:nvPr/>
        </p:nvSpPr>
        <p:spPr>
          <a:xfrm>
            <a:off x="289407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2" name="Coalesced group in block 2, warp 1: lane 14"/>
          <p:cNvSpPr/>
          <p:nvPr/>
        </p:nvSpPr>
        <p:spPr>
          <a:xfrm>
            <a:off x="29375100" y="16692308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3" name="Lane 14 in warp 1, block 2 active"/>
          <p:cNvSpPr/>
          <p:nvPr/>
        </p:nvSpPr>
        <p:spPr>
          <a:xfrm>
            <a:off x="29443680" y="16756901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Lane 15 in warp 1, block 2 inactive"/>
          <p:cNvSpPr/>
          <p:nvPr/>
        </p:nvSpPr>
        <p:spPr>
          <a:xfrm>
            <a:off x="29946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5" name="Coalesced group in block 2, warp 1: lane 16"/>
          <p:cNvSpPr/>
          <p:nvPr/>
        </p:nvSpPr>
        <p:spPr>
          <a:xfrm>
            <a:off x="223342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6" name="Lane 16 in warp 1, block 2 active"/>
          <p:cNvSpPr/>
          <p:nvPr/>
        </p:nvSpPr>
        <p:spPr>
          <a:xfrm>
            <a:off x="224028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Lane 17 in warp 1, block 2 inactive"/>
          <p:cNvSpPr/>
          <p:nvPr/>
        </p:nvSpPr>
        <p:spPr>
          <a:xfrm>
            <a:off x="229057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88" name="Coalesced group in block 2, warp 1: lane 18"/>
          <p:cNvSpPr/>
          <p:nvPr/>
        </p:nvSpPr>
        <p:spPr>
          <a:xfrm>
            <a:off x="233400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89" name="Lane 18 in warp 1, block 2 active"/>
          <p:cNvSpPr/>
          <p:nvPr/>
        </p:nvSpPr>
        <p:spPr>
          <a:xfrm>
            <a:off x="234086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Lane 19 in warp 1, block 2 inactive"/>
          <p:cNvSpPr/>
          <p:nvPr/>
        </p:nvSpPr>
        <p:spPr>
          <a:xfrm>
            <a:off x="239115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1" name="Coalesced group in block 2, warp 1: lane 20"/>
          <p:cNvSpPr/>
          <p:nvPr/>
        </p:nvSpPr>
        <p:spPr>
          <a:xfrm>
            <a:off x="243459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2" name="Lane 20 in warp 1, block 2 active"/>
          <p:cNvSpPr/>
          <p:nvPr/>
        </p:nvSpPr>
        <p:spPr>
          <a:xfrm>
            <a:off x="244144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Lane 21 in warp 1, block 2 inactive"/>
          <p:cNvSpPr/>
          <p:nvPr/>
        </p:nvSpPr>
        <p:spPr>
          <a:xfrm>
            <a:off x="249174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4" name="Coalesced group in block 2, warp 1: lane 22"/>
          <p:cNvSpPr/>
          <p:nvPr/>
        </p:nvSpPr>
        <p:spPr>
          <a:xfrm>
            <a:off x="2535174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5" name="Lane 22 in warp 1, block 2 active"/>
          <p:cNvSpPr/>
          <p:nvPr/>
        </p:nvSpPr>
        <p:spPr>
          <a:xfrm>
            <a:off x="2542032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Lane 23 in warp 1, block 2 inactive"/>
          <p:cNvSpPr/>
          <p:nvPr/>
        </p:nvSpPr>
        <p:spPr>
          <a:xfrm>
            <a:off x="259232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97" name="Coalesced group in block 2, warp 1: lane 24"/>
          <p:cNvSpPr/>
          <p:nvPr/>
        </p:nvSpPr>
        <p:spPr>
          <a:xfrm>
            <a:off x="2635758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298" name="Lane 24 in warp 1, block 2 active"/>
          <p:cNvSpPr/>
          <p:nvPr/>
        </p:nvSpPr>
        <p:spPr>
          <a:xfrm>
            <a:off x="2642616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Lane 25 in warp 1, block 2 inactive"/>
          <p:cNvSpPr/>
          <p:nvPr/>
        </p:nvSpPr>
        <p:spPr>
          <a:xfrm>
            <a:off x="26929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0" name="Coalesced group in block 2, warp 1: lane 26"/>
          <p:cNvSpPr/>
          <p:nvPr/>
        </p:nvSpPr>
        <p:spPr>
          <a:xfrm>
            <a:off x="2736342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1" name="Lane 26 in warp 1, block 2 active"/>
          <p:cNvSpPr/>
          <p:nvPr/>
        </p:nvSpPr>
        <p:spPr>
          <a:xfrm>
            <a:off x="2743200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Lane 27 in warp 1, block 2 inactive"/>
          <p:cNvSpPr/>
          <p:nvPr/>
        </p:nvSpPr>
        <p:spPr>
          <a:xfrm>
            <a:off x="279349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3" name="Coalesced group in block 2, warp 1: lane 28"/>
          <p:cNvSpPr/>
          <p:nvPr/>
        </p:nvSpPr>
        <p:spPr>
          <a:xfrm>
            <a:off x="2836926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4" name="Lane 28 in warp 1, block 2 active"/>
          <p:cNvSpPr/>
          <p:nvPr/>
        </p:nvSpPr>
        <p:spPr>
          <a:xfrm>
            <a:off x="2843784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Lane 29 in warp 1, block 2 inactive"/>
          <p:cNvSpPr/>
          <p:nvPr/>
        </p:nvSpPr>
        <p:spPr>
          <a:xfrm>
            <a:off x="289407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6" name="Coalesced group in block 2, warp 1: lane 30"/>
          <p:cNvSpPr/>
          <p:nvPr/>
        </p:nvSpPr>
        <p:spPr>
          <a:xfrm>
            <a:off x="29375100" y="17015275"/>
            <a:ext cx="274320" cy="258373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07" name="Lane 30 in warp 1, block 2 active"/>
          <p:cNvSpPr/>
          <p:nvPr/>
        </p:nvSpPr>
        <p:spPr>
          <a:xfrm>
            <a:off x="29443680" y="17079868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Lane 31 in warp 1, block 2 inactive"/>
          <p:cNvSpPr/>
          <p:nvPr/>
        </p:nvSpPr>
        <p:spPr>
          <a:xfrm>
            <a:off x="29946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09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310" name="Shape"/>
          <p:cNvSpPr/>
          <p:nvPr/>
        </p:nvSpPr>
        <p:spPr>
          <a:xfrm>
            <a:off x="4160520" y="18493740"/>
            <a:ext cx="228600" cy="228600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Active thread"/>
          <p:cNvSpPr/>
          <p:nvPr/>
        </p:nvSpPr>
        <p:spPr>
          <a:xfrm>
            <a:off x="4709160" y="18379440"/>
            <a:ext cx="4572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Active thread</a:t>
            </a:r>
          </a:p>
        </p:txBody>
      </p:sp>
      <p:sp>
        <p:nvSpPr>
          <p:cNvPr id="312" name="Shape"/>
          <p:cNvSpPr/>
          <p:nvPr/>
        </p:nvSpPr>
        <p:spPr>
          <a:xfrm>
            <a:off x="11064240" y="18493740"/>
            <a:ext cx="228600" cy="228600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313" name="Inactive thread"/>
          <p:cNvSpPr/>
          <p:nvPr/>
        </p:nvSpPr>
        <p:spPr>
          <a:xfrm>
            <a:off x="11612880" y="18379440"/>
            <a:ext cx="4572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Inactive thread</a:t>
            </a:r>
          </a:p>
        </p:txBody>
      </p:sp>
      <p:sp>
        <p:nvSpPr>
          <p:cNvPr id="314" name="Shape"/>
          <p:cNvSpPr/>
          <p:nvPr/>
        </p:nvSpPr>
        <p:spPr>
          <a:xfrm>
            <a:off x="180594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4"/>
            </a:solidFill>
          </a:ln>
        </p:spPr>
      </p:sp>
      <p:sp>
        <p:nvSpPr>
          <p:cNvPr id="315" name="Shape"/>
          <p:cNvSpPr/>
          <p:nvPr/>
        </p:nvSpPr>
        <p:spPr>
          <a:xfrm>
            <a:off x="185166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3"/>
            </a:solidFill>
          </a:ln>
        </p:spPr>
      </p:sp>
      <p:sp>
        <p:nvSpPr>
          <p:cNvPr id="316" name="Shape"/>
          <p:cNvSpPr/>
          <p:nvPr/>
        </p:nvSpPr>
        <p:spPr>
          <a:xfrm>
            <a:off x="189738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2"/>
            </a:solidFill>
          </a:ln>
        </p:spPr>
      </p:sp>
      <p:sp>
        <p:nvSpPr>
          <p:cNvPr id="317" name="Shape"/>
          <p:cNvSpPr/>
          <p:nvPr/>
        </p:nvSpPr>
        <p:spPr>
          <a:xfrm>
            <a:off x="19431000" y="18493740"/>
            <a:ext cx="320040" cy="320040"/>
          </a:xfrm>
          <a:prstGeom prst="ellipse">
            <a:avLst/>
          </a:prstGeom>
          <a:noFill/>
          <a:ln w="36576">
            <a:solidFill>
              <a:schemeClr val="accent5"/>
            </a:solidFill>
          </a:ln>
        </p:spPr>
      </p:sp>
      <p:sp>
        <p:nvSpPr>
          <p:cNvPr id="318" name="Border colors identify coalesced groups"/>
          <p:cNvSpPr/>
          <p:nvPr/>
        </p:nvSpPr>
        <p:spPr>
          <a:xfrm>
            <a:off x="20345400" y="1837944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Border colors identify coalesced groups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>
  <p:cSld name="Derived Groups — Generic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rived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3" name="Generic 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Generic group</a:t>
            </a:r>
          </a:p>
        </p:txBody>
      </p:sp>
      <p:sp>
        <p:nvSpPr>
          <p:cNvPr id="4" name="2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Groups units from a parent group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Groups units from a parent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Mapping determines membership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Mapping determines membership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Each subgroup synchronizes independently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Each subgroup synchronizes independently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All parent units construct collectively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All parent units construct collectively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Generic group use-case example" descr="Supplemental generic-group usage example based on repository documentation and imple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generic_group_example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Four warps per block (128 threads).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barrier_ids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1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All parent threads construct groups of two warps.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interwarp_synchronizer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barrier_ids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Each subgroup synchronizes independently.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Group rank within the parent and thread count.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Parent block 0: 128 threads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Group 0 in block 0: two warps, barrier 1"/>
          <p:cNvSpPr/>
          <p:nvPr/>
        </p:nvSpPr>
        <p:spPr>
          <a:xfrm>
            <a:off x="283464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8" name="Thread 0 in block 0, group 0"/>
          <p:cNvSpPr/>
          <p:nvPr/>
        </p:nvSpPr>
        <p:spPr>
          <a:xfrm>
            <a:off x="3108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 in block 0, group 0"/>
          <p:cNvSpPr/>
          <p:nvPr/>
        </p:nvSpPr>
        <p:spPr>
          <a:xfrm>
            <a:off x="3589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2 in block 0, group 0"/>
          <p:cNvSpPr/>
          <p:nvPr/>
        </p:nvSpPr>
        <p:spPr>
          <a:xfrm>
            <a:off x="4069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3 in block 0, group 0"/>
          <p:cNvSpPr/>
          <p:nvPr/>
        </p:nvSpPr>
        <p:spPr>
          <a:xfrm>
            <a:off x="4549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4 in block 0, group 0"/>
          <p:cNvSpPr/>
          <p:nvPr/>
        </p:nvSpPr>
        <p:spPr>
          <a:xfrm>
            <a:off x="5029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5 in block 0, group 0"/>
          <p:cNvSpPr/>
          <p:nvPr/>
        </p:nvSpPr>
        <p:spPr>
          <a:xfrm>
            <a:off x="5509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6 in block 0, group 0"/>
          <p:cNvSpPr/>
          <p:nvPr/>
        </p:nvSpPr>
        <p:spPr>
          <a:xfrm>
            <a:off x="5989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7 in block 0, group 0"/>
          <p:cNvSpPr/>
          <p:nvPr/>
        </p:nvSpPr>
        <p:spPr>
          <a:xfrm>
            <a:off x="6469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8 in block 0, group 0"/>
          <p:cNvSpPr/>
          <p:nvPr/>
        </p:nvSpPr>
        <p:spPr>
          <a:xfrm>
            <a:off x="6949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9 in block 0, group 0"/>
          <p:cNvSpPr/>
          <p:nvPr/>
        </p:nvSpPr>
        <p:spPr>
          <a:xfrm>
            <a:off x="7429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0 in block 0, group 0"/>
          <p:cNvSpPr/>
          <p:nvPr/>
        </p:nvSpPr>
        <p:spPr>
          <a:xfrm>
            <a:off x="79095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1 in block 0, group 0"/>
          <p:cNvSpPr/>
          <p:nvPr/>
        </p:nvSpPr>
        <p:spPr>
          <a:xfrm>
            <a:off x="83896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2 in block 0, group 0"/>
          <p:cNvSpPr/>
          <p:nvPr/>
        </p:nvSpPr>
        <p:spPr>
          <a:xfrm>
            <a:off x="88696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13 in block 0, group 0"/>
          <p:cNvSpPr/>
          <p:nvPr/>
        </p:nvSpPr>
        <p:spPr>
          <a:xfrm>
            <a:off x="93497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14 in block 0, group 0"/>
          <p:cNvSpPr/>
          <p:nvPr/>
        </p:nvSpPr>
        <p:spPr>
          <a:xfrm>
            <a:off x="98298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5 in block 0, group 0"/>
          <p:cNvSpPr/>
          <p:nvPr/>
        </p:nvSpPr>
        <p:spPr>
          <a:xfrm>
            <a:off x="103098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6 in block 0, group 0"/>
          <p:cNvSpPr/>
          <p:nvPr/>
        </p:nvSpPr>
        <p:spPr>
          <a:xfrm>
            <a:off x="3108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7 in block 0, group 0"/>
          <p:cNvSpPr/>
          <p:nvPr/>
        </p:nvSpPr>
        <p:spPr>
          <a:xfrm>
            <a:off x="3589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8 in block 0, group 0"/>
          <p:cNvSpPr/>
          <p:nvPr/>
        </p:nvSpPr>
        <p:spPr>
          <a:xfrm>
            <a:off x="4069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9 in block 0, group 0"/>
          <p:cNvSpPr/>
          <p:nvPr/>
        </p:nvSpPr>
        <p:spPr>
          <a:xfrm>
            <a:off x="4549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0 in block 0, group 0"/>
          <p:cNvSpPr/>
          <p:nvPr/>
        </p:nvSpPr>
        <p:spPr>
          <a:xfrm>
            <a:off x="5029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1 in block 0, group 0"/>
          <p:cNvSpPr/>
          <p:nvPr/>
        </p:nvSpPr>
        <p:spPr>
          <a:xfrm>
            <a:off x="5509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2 in block 0, group 0"/>
          <p:cNvSpPr/>
          <p:nvPr/>
        </p:nvSpPr>
        <p:spPr>
          <a:xfrm>
            <a:off x="5989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23 in block 0, group 0"/>
          <p:cNvSpPr/>
          <p:nvPr/>
        </p:nvSpPr>
        <p:spPr>
          <a:xfrm>
            <a:off x="6469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24 in block 0, group 0"/>
          <p:cNvSpPr/>
          <p:nvPr/>
        </p:nvSpPr>
        <p:spPr>
          <a:xfrm>
            <a:off x="6949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5 in block 0, group 0"/>
          <p:cNvSpPr/>
          <p:nvPr/>
        </p:nvSpPr>
        <p:spPr>
          <a:xfrm>
            <a:off x="7429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6 in block 0, group 0"/>
          <p:cNvSpPr/>
          <p:nvPr/>
        </p:nvSpPr>
        <p:spPr>
          <a:xfrm>
            <a:off x="79095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7 in block 0, group 0"/>
          <p:cNvSpPr/>
          <p:nvPr/>
        </p:nvSpPr>
        <p:spPr>
          <a:xfrm>
            <a:off x="83896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8 in block 0, group 0"/>
          <p:cNvSpPr/>
          <p:nvPr/>
        </p:nvSpPr>
        <p:spPr>
          <a:xfrm>
            <a:off x="88696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9 in block 0, group 0"/>
          <p:cNvSpPr/>
          <p:nvPr/>
        </p:nvSpPr>
        <p:spPr>
          <a:xfrm>
            <a:off x="93497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0 in block 0, group 0"/>
          <p:cNvSpPr/>
          <p:nvPr/>
        </p:nvSpPr>
        <p:spPr>
          <a:xfrm>
            <a:off x="98298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1 in block 0, group 0"/>
          <p:cNvSpPr/>
          <p:nvPr/>
        </p:nvSpPr>
        <p:spPr>
          <a:xfrm>
            <a:off x="103098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2 in block 0, group 0"/>
          <p:cNvSpPr/>
          <p:nvPr/>
        </p:nvSpPr>
        <p:spPr>
          <a:xfrm>
            <a:off x="3108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3 in block 0, group 0"/>
          <p:cNvSpPr/>
          <p:nvPr/>
        </p:nvSpPr>
        <p:spPr>
          <a:xfrm>
            <a:off x="3589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34 in block 0, group 0"/>
          <p:cNvSpPr/>
          <p:nvPr/>
        </p:nvSpPr>
        <p:spPr>
          <a:xfrm>
            <a:off x="4069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5 in block 0, group 0"/>
          <p:cNvSpPr/>
          <p:nvPr/>
        </p:nvSpPr>
        <p:spPr>
          <a:xfrm>
            <a:off x="4549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6 in block 0, group 0"/>
          <p:cNvSpPr/>
          <p:nvPr/>
        </p:nvSpPr>
        <p:spPr>
          <a:xfrm>
            <a:off x="5029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7 in block 0, group 0"/>
          <p:cNvSpPr/>
          <p:nvPr/>
        </p:nvSpPr>
        <p:spPr>
          <a:xfrm>
            <a:off x="5509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8 in block 0, group 0"/>
          <p:cNvSpPr/>
          <p:nvPr/>
        </p:nvSpPr>
        <p:spPr>
          <a:xfrm>
            <a:off x="5989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9 in block 0, group 0"/>
          <p:cNvSpPr/>
          <p:nvPr/>
        </p:nvSpPr>
        <p:spPr>
          <a:xfrm>
            <a:off x="6469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0 in block 0, group 0"/>
          <p:cNvSpPr/>
          <p:nvPr/>
        </p:nvSpPr>
        <p:spPr>
          <a:xfrm>
            <a:off x="6949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1 in block 0, group 0"/>
          <p:cNvSpPr/>
          <p:nvPr/>
        </p:nvSpPr>
        <p:spPr>
          <a:xfrm>
            <a:off x="7429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2 in block 0, group 0"/>
          <p:cNvSpPr/>
          <p:nvPr/>
        </p:nvSpPr>
        <p:spPr>
          <a:xfrm>
            <a:off x="79095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3 in block 0, group 0"/>
          <p:cNvSpPr/>
          <p:nvPr/>
        </p:nvSpPr>
        <p:spPr>
          <a:xfrm>
            <a:off x="83896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44 in block 0, group 0"/>
          <p:cNvSpPr/>
          <p:nvPr/>
        </p:nvSpPr>
        <p:spPr>
          <a:xfrm>
            <a:off x="88696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5 in block 0, group 0"/>
          <p:cNvSpPr/>
          <p:nvPr/>
        </p:nvSpPr>
        <p:spPr>
          <a:xfrm>
            <a:off x="93497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6 in block 0, group 0"/>
          <p:cNvSpPr/>
          <p:nvPr/>
        </p:nvSpPr>
        <p:spPr>
          <a:xfrm>
            <a:off x="98298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7 in block 0, group 0"/>
          <p:cNvSpPr/>
          <p:nvPr/>
        </p:nvSpPr>
        <p:spPr>
          <a:xfrm>
            <a:off x="103098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8 in block 0, group 0"/>
          <p:cNvSpPr/>
          <p:nvPr/>
        </p:nvSpPr>
        <p:spPr>
          <a:xfrm>
            <a:off x="3108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9 in block 0, group 0"/>
          <p:cNvSpPr/>
          <p:nvPr/>
        </p:nvSpPr>
        <p:spPr>
          <a:xfrm>
            <a:off x="3589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0 in block 0, group 0"/>
          <p:cNvSpPr/>
          <p:nvPr/>
        </p:nvSpPr>
        <p:spPr>
          <a:xfrm>
            <a:off x="4069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1 in block 0, group 0"/>
          <p:cNvSpPr/>
          <p:nvPr/>
        </p:nvSpPr>
        <p:spPr>
          <a:xfrm>
            <a:off x="4549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2 in block 0, group 0"/>
          <p:cNvSpPr/>
          <p:nvPr/>
        </p:nvSpPr>
        <p:spPr>
          <a:xfrm>
            <a:off x="5029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3 in block 0, group 0"/>
          <p:cNvSpPr/>
          <p:nvPr/>
        </p:nvSpPr>
        <p:spPr>
          <a:xfrm>
            <a:off x="5509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54 in block 0, group 0"/>
          <p:cNvSpPr/>
          <p:nvPr/>
        </p:nvSpPr>
        <p:spPr>
          <a:xfrm>
            <a:off x="5989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5 in block 0, group 0"/>
          <p:cNvSpPr/>
          <p:nvPr/>
        </p:nvSpPr>
        <p:spPr>
          <a:xfrm>
            <a:off x="6469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6 in block 0, group 0"/>
          <p:cNvSpPr/>
          <p:nvPr/>
        </p:nvSpPr>
        <p:spPr>
          <a:xfrm>
            <a:off x="6949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7 in block 0, group 0"/>
          <p:cNvSpPr/>
          <p:nvPr/>
        </p:nvSpPr>
        <p:spPr>
          <a:xfrm>
            <a:off x="7429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8 in block 0, group 0"/>
          <p:cNvSpPr/>
          <p:nvPr/>
        </p:nvSpPr>
        <p:spPr>
          <a:xfrm>
            <a:off x="79095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9 in block 0, group 0"/>
          <p:cNvSpPr/>
          <p:nvPr/>
        </p:nvSpPr>
        <p:spPr>
          <a:xfrm>
            <a:off x="83896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0 in block 0, group 0"/>
          <p:cNvSpPr/>
          <p:nvPr/>
        </p:nvSpPr>
        <p:spPr>
          <a:xfrm>
            <a:off x="88696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1 in block 0, group 0"/>
          <p:cNvSpPr/>
          <p:nvPr/>
        </p:nvSpPr>
        <p:spPr>
          <a:xfrm>
            <a:off x="93497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2 in block 0, group 0"/>
          <p:cNvSpPr/>
          <p:nvPr/>
        </p:nvSpPr>
        <p:spPr>
          <a:xfrm>
            <a:off x="98298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3 in block 0, group 0"/>
          <p:cNvSpPr/>
          <p:nvPr/>
        </p:nvSpPr>
        <p:spPr>
          <a:xfrm>
            <a:off x="103098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Group 1 in block 0: two warps, barrier 2"/>
          <p:cNvSpPr/>
          <p:nvPr/>
        </p:nvSpPr>
        <p:spPr>
          <a:xfrm>
            <a:off x="283464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83" name="Thread 64 in block 0, group 1"/>
          <p:cNvSpPr/>
          <p:nvPr/>
        </p:nvSpPr>
        <p:spPr>
          <a:xfrm>
            <a:off x="3108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5 in block 0, group 1"/>
          <p:cNvSpPr/>
          <p:nvPr/>
        </p:nvSpPr>
        <p:spPr>
          <a:xfrm>
            <a:off x="3589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6 in block 0, group 1"/>
          <p:cNvSpPr/>
          <p:nvPr/>
        </p:nvSpPr>
        <p:spPr>
          <a:xfrm>
            <a:off x="4069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7 in block 0, group 1"/>
          <p:cNvSpPr/>
          <p:nvPr/>
        </p:nvSpPr>
        <p:spPr>
          <a:xfrm>
            <a:off x="4549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68 in block 0, group 1"/>
          <p:cNvSpPr/>
          <p:nvPr/>
        </p:nvSpPr>
        <p:spPr>
          <a:xfrm>
            <a:off x="5029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69 in block 0, group 1"/>
          <p:cNvSpPr/>
          <p:nvPr/>
        </p:nvSpPr>
        <p:spPr>
          <a:xfrm>
            <a:off x="5509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70 in block 0, group 1"/>
          <p:cNvSpPr/>
          <p:nvPr/>
        </p:nvSpPr>
        <p:spPr>
          <a:xfrm>
            <a:off x="5989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71 in block 0, group 1"/>
          <p:cNvSpPr/>
          <p:nvPr/>
        </p:nvSpPr>
        <p:spPr>
          <a:xfrm>
            <a:off x="6469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72 in block 0, group 1"/>
          <p:cNvSpPr/>
          <p:nvPr/>
        </p:nvSpPr>
        <p:spPr>
          <a:xfrm>
            <a:off x="6949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3 in block 0, group 1"/>
          <p:cNvSpPr/>
          <p:nvPr/>
        </p:nvSpPr>
        <p:spPr>
          <a:xfrm>
            <a:off x="7429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4 in block 0, group 1"/>
          <p:cNvSpPr/>
          <p:nvPr/>
        </p:nvSpPr>
        <p:spPr>
          <a:xfrm>
            <a:off x="79095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5 in block 0, group 1"/>
          <p:cNvSpPr/>
          <p:nvPr/>
        </p:nvSpPr>
        <p:spPr>
          <a:xfrm>
            <a:off x="83896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76 in block 0, group 1"/>
          <p:cNvSpPr/>
          <p:nvPr/>
        </p:nvSpPr>
        <p:spPr>
          <a:xfrm>
            <a:off x="88696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7 in block 0, group 1"/>
          <p:cNvSpPr/>
          <p:nvPr/>
        </p:nvSpPr>
        <p:spPr>
          <a:xfrm>
            <a:off x="93497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78 in block 0, group 1"/>
          <p:cNvSpPr/>
          <p:nvPr/>
        </p:nvSpPr>
        <p:spPr>
          <a:xfrm>
            <a:off x="98298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79 in block 0, group 1"/>
          <p:cNvSpPr/>
          <p:nvPr/>
        </p:nvSpPr>
        <p:spPr>
          <a:xfrm>
            <a:off x="103098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0 in block 0, group 1"/>
          <p:cNvSpPr/>
          <p:nvPr/>
        </p:nvSpPr>
        <p:spPr>
          <a:xfrm>
            <a:off x="3108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1 in block 0, group 1"/>
          <p:cNvSpPr/>
          <p:nvPr/>
        </p:nvSpPr>
        <p:spPr>
          <a:xfrm>
            <a:off x="3589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2 in block 0, group 1"/>
          <p:cNvSpPr/>
          <p:nvPr/>
        </p:nvSpPr>
        <p:spPr>
          <a:xfrm>
            <a:off x="4069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3 in block 0, group 1"/>
          <p:cNvSpPr/>
          <p:nvPr/>
        </p:nvSpPr>
        <p:spPr>
          <a:xfrm>
            <a:off x="4549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4 in block 0, group 1"/>
          <p:cNvSpPr/>
          <p:nvPr/>
        </p:nvSpPr>
        <p:spPr>
          <a:xfrm>
            <a:off x="5029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5 in block 0, group 1"/>
          <p:cNvSpPr/>
          <p:nvPr/>
        </p:nvSpPr>
        <p:spPr>
          <a:xfrm>
            <a:off x="5509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86 in block 0, group 1"/>
          <p:cNvSpPr/>
          <p:nvPr/>
        </p:nvSpPr>
        <p:spPr>
          <a:xfrm>
            <a:off x="5989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87 in block 0, group 1"/>
          <p:cNvSpPr/>
          <p:nvPr/>
        </p:nvSpPr>
        <p:spPr>
          <a:xfrm>
            <a:off x="6469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88 in block 0, group 1"/>
          <p:cNvSpPr/>
          <p:nvPr/>
        </p:nvSpPr>
        <p:spPr>
          <a:xfrm>
            <a:off x="6949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89 in block 0, group 1"/>
          <p:cNvSpPr/>
          <p:nvPr/>
        </p:nvSpPr>
        <p:spPr>
          <a:xfrm>
            <a:off x="7429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0 in block 0, group 1"/>
          <p:cNvSpPr/>
          <p:nvPr/>
        </p:nvSpPr>
        <p:spPr>
          <a:xfrm>
            <a:off x="79095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1 in block 0, group 1"/>
          <p:cNvSpPr/>
          <p:nvPr/>
        </p:nvSpPr>
        <p:spPr>
          <a:xfrm>
            <a:off x="83896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92 in block 0, group 1"/>
          <p:cNvSpPr/>
          <p:nvPr/>
        </p:nvSpPr>
        <p:spPr>
          <a:xfrm>
            <a:off x="88696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93 in block 0, group 1"/>
          <p:cNvSpPr/>
          <p:nvPr/>
        </p:nvSpPr>
        <p:spPr>
          <a:xfrm>
            <a:off x="93497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4 in block 0, group 1"/>
          <p:cNvSpPr/>
          <p:nvPr/>
        </p:nvSpPr>
        <p:spPr>
          <a:xfrm>
            <a:off x="98298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5 in block 0, group 1"/>
          <p:cNvSpPr/>
          <p:nvPr/>
        </p:nvSpPr>
        <p:spPr>
          <a:xfrm>
            <a:off x="103098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6 in block 0, group 1"/>
          <p:cNvSpPr/>
          <p:nvPr/>
        </p:nvSpPr>
        <p:spPr>
          <a:xfrm>
            <a:off x="3108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97 in block 0, group 1"/>
          <p:cNvSpPr/>
          <p:nvPr/>
        </p:nvSpPr>
        <p:spPr>
          <a:xfrm>
            <a:off x="3589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98 in block 0, group 1"/>
          <p:cNvSpPr/>
          <p:nvPr/>
        </p:nvSpPr>
        <p:spPr>
          <a:xfrm>
            <a:off x="4069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99 in block 0, group 1"/>
          <p:cNvSpPr/>
          <p:nvPr/>
        </p:nvSpPr>
        <p:spPr>
          <a:xfrm>
            <a:off x="4549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0 in block 0, group 1"/>
          <p:cNvSpPr/>
          <p:nvPr/>
        </p:nvSpPr>
        <p:spPr>
          <a:xfrm>
            <a:off x="5029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1 in block 0, group 1"/>
          <p:cNvSpPr/>
          <p:nvPr/>
        </p:nvSpPr>
        <p:spPr>
          <a:xfrm>
            <a:off x="5509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2 in block 0, group 1"/>
          <p:cNvSpPr/>
          <p:nvPr/>
        </p:nvSpPr>
        <p:spPr>
          <a:xfrm>
            <a:off x="5989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3 in block 0, group 1"/>
          <p:cNvSpPr/>
          <p:nvPr/>
        </p:nvSpPr>
        <p:spPr>
          <a:xfrm>
            <a:off x="6469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4 in block 0, group 1"/>
          <p:cNvSpPr/>
          <p:nvPr/>
        </p:nvSpPr>
        <p:spPr>
          <a:xfrm>
            <a:off x="6949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5 in block 0, group 1"/>
          <p:cNvSpPr/>
          <p:nvPr/>
        </p:nvSpPr>
        <p:spPr>
          <a:xfrm>
            <a:off x="7429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6 in block 0, group 1"/>
          <p:cNvSpPr/>
          <p:nvPr/>
        </p:nvSpPr>
        <p:spPr>
          <a:xfrm>
            <a:off x="79095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07 in block 0, group 1"/>
          <p:cNvSpPr/>
          <p:nvPr/>
        </p:nvSpPr>
        <p:spPr>
          <a:xfrm>
            <a:off x="83896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08 in block 0, group 1"/>
          <p:cNvSpPr/>
          <p:nvPr/>
        </p:nvSpPr>
        <p:spPr>
          <a:xfrm>
            <a:off x="88696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09 in block 0, group 1"/>
          <p:cNvSpPr/>
          <p:nvPr/>
        </p:nvSpPr>
        <p:spPr>
          <a:xfrm>
            <a:off x="93497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0 in block 0, group 1"/>
          <p:cNvSpPr/>
          <p:nvPr/>
        </p:nvSpPr>
        <p:spPr>
          <a:xfrm>
            <a:off x="98298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1 in block 0, group 1"/>
          <p:cNvSpPr/>
          <p:nvPr/>
        </p:nvSpPr>
        <p:spPr>
          <a:xfrm>
            <a:off x="103098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2 in block 0, group 1"/>
          <p:cNvSpPr/>
          <p:nvPr/>
        </p:nvSpPr>
        <p:spPr>
          <a:xfrm>
            <a:off x="3108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3 in block 0, group 1"/>
          <p:cNvSpPr/>
          <p:nvPr/>
        </p:nvSpPr>
        <p:spPr>
          <a:xfrm>
            <a:off x="3589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4 in block 0, group 1"/>
          <p:cNvSpPr/>
          <p:nvPr/>
        </p:nvSpPr>
        <p:spPr>
          <a:xfrm>
            <a:off x="4069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5 in block 0, group 1"/>
          <p:cNvSpPr/>
          <p:nvPr/>
        </p:nvSpPr>
        <p:spPr>
          <a:xfrm>
            <a:off x="4549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6 in block 0, group 1"/>
          <p:cNvSpPr/>
          <p:nvPr/>
        </p:nvSpPr>
        <p:spPr>
          <a:xfrm>
            <a:off x="5029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17 in block 0, group 1"/>
          <p:cNvSpPr/>
          <p:nvPr/>
        </p:nvSpPr>
        <p:spPr>
          <a:xfrm>
            <a:off x="5509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18 in block 0, group 1"/>
          <p:cNvSpPr/>
          <p:nvPr/>
        </p:nvSpPr>
        <p:spPr>
          <a:xfrm>
            <a:off x="5989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19 in block 0, group 1"/>
          <p:cNvSpPr/>
          <p:nvPr/>
        </p:nvSpPr>
        <p:spPr>
          <a:xfrm>
            <a:off x="6469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0 in block 0, group 1"/>
          <p:cNvSpPr/>
          <p:nvPr/>
        </p:nvSpPr>
        <p:spPr>
          <a:xfrm>
            <a:off x="6949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1 in block 0, group 1"/>
          <p:cNvSpPr/>
          <p:nvPr/>
        </p:nvSpPr>
        <p:spPr>
          <a:xfrm>
            <a:off x="7429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2 in block 0, group 1"/>
          <p:cNvSpPr/>
          <p:nvPr/>
        </p:nvSpPr>
        <p:spPr>
          <a:xfrm>
            <a:off x="79095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3 in block 0, group 1"/>
          <p:cNvSpPr/>
          <p:nvPr/>
        </p:nvSpPr>
        <p:spPr>
          <a:xfrm>
            <a:off x="83896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4 in block 0, group 1"/>
          <p:cNvSpPr/>
          <p:nvPr/>
        </p:nvSpPr>
        <p:spPr>
          <a:xfrm>
            <a:off x="88696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125 in block 0, group 1"/>
          <p:cNvSpPr/>
          <p:nvPr/>
        </p:nvSpPr>
        <p:spPr>
          <a:xfrm>
            <a:off x="93497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126 in block 0, group 1"/>
          <p:cNvSpPr/>
          <p:nvPr/>
        </p:nvSpPr>
        <p:spPr>
          <a:xfrm>
            <a:off x="98298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127 in block 0, group 1"/>
          <p:cNvSpPr/>
          <p:nvPr/>
        </p:nvSpPr>
        <p:spPr>
          <a:xfrm>
            <a:off x="103098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Parent block 1: 128 threads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48" name="Block 1"/>
          <p:cNvSpPr/>
          <p:nvPr/>
        </p:nvSpPr>
        <p:spPr>
          <a:xfrm>
            <a:off x="1252728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49" name="Group 0 in block 1: two warps, barrier 1"/>
          <p:cNvSpPr/>
          <p:nvPr/>
        </p:nvSpPr>
        <p:spPr>
          <a:xfrm>
            <a:off x="1252728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50" name="Thread 0 in block 1, group 0"/>
          <p:cNvSpPr/>
          <p:nvPr/>
        </p:nvSpPr>
        <p:spPr>
          <a:xfrm>
            <a:off x="12801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 in block 1, group 0"/>
          <p:cNvSpPr/>
          <p:nvPr/>
        </p:nvSpPr>
        <p:spPr>
          <a:xfrm>
            <a:off x="13281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2 in block 1, group 0"/>
          <p:cNvSpPr/>
          <p:nvPr/>
        </p:nvSpPr>
        <p:spPr>
          <a:xfrm>
            <a:off x="13761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3 in block 1, group 0"/>
          <p:cNvSpPr/>
          <p:nvPr/>
        </p:nvSpPr>
        <p:spPr>
          <a:xfrm>
            <a:off x="14241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4 in block 1, group 0"/>
          <p:cNvSpPr/>
          <p:nvPr/>
        </p:nvSpPr>
        <p:spPr>
          <a:xfrm>
            <a:off x="14721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5 in block 1, group 0"/>
          <p:cNvSpPr/>
          <p:nvPr/>
        </p:nvSpPr>
        <p:spPr>
          <a:xfrm>
            <a:off x="15201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6 in block 1, group 0"/>
          <p:cNvSpPr/>
          <p:nvPr/>
        </p:nvSpPr>
        <p:spPr>
          <a:xfrm>
            <a:off x="15681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7 in block 1, group 0"/>
          <p:cNvSpPr/>
          <p:nvPr/>
        </p:nvSpPr>
        <p:spPr>
          <a:xfrm>
            <a:off x="16162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8 in block 1, group 0"/>
          <p:cNvSpPr/>
          <p:nvPr/>
        </p:nvSpPr>
        <p:spPr>
          <a:xfrm>
            <a:off x="16642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9 in block 1, group 0"/>
          <p:cNvSpPr/>
          <p:nvPr/>
        </p:nvSpPr>
        <p:spPr>
          <a:xfrm>
            <a:off x="17122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10 in block 1, group 0"/>
          <p:cNvSpPr/>
          <p:nvPr/>
        </p:nvSpPr>
        <p:spPr>
          <a:xfrm>
            <a:off x="17602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11 in block 1, group 0"/>
          <p:cNvSpPr/>
          <p:nvPr/>
        </p:nvSpPr>
        <p:spPr>
          <a:xfrm>
            <a:off x="18082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12 in block 1, group 0"/>
          <p:cNvSpPr/>
          <p:nvPr/>
        </p:nvSpPr>
        <p:spPr>
          <a:xfrm>
            <a:off x="18562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3 in block 1, group 0"/>
          <p:cNvSpPr/>
          <p:nvPr/>
        </p:nvSpPr>
        <p:spPr>
          <a:xfrm>
            <a:off x="19042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4 in block 1, group 0"/>
          <p:cNvSpPr/>
          <p:nvPr/>
        </p:nvSpPr>
        <p:spPr>
          <a:xfrm>
            <a:off x="19522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5 in block 1, group 0"/>
          <p:cNvSpPr/>
          <p:nvPr/>
        </p:nvSpPr>
        <p:spPr>
          <a:xfrm>
            <a:off x="20002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6 in block 1, group 0"/>
          <p:cNvSpPr/>
          <p:nvPr/>
        </p:nvSpPr>
        <p:spPr>
          <a:xfrm>
            <a:off x="12801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7 in block 1, group 0"/>
          <p:cNvSpPr/>
          <p:nvPr/>
        </p:nvSpPr>
        <p:spPr>
          <a:xfrm>
            <a:off x="13281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8 in block 1, group 0"/>
          <p:cNvSpPr/>
          <p:nvPr/>
        </p:nvSpPr>
        <p:spPr>
          <a:xfrm>
            <a:off x="13761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9 in block 1, group 0"/>
          <p:cNvSpPr/>
          <p:nvPr/>
        </p:nvSpPr>
        <p:spPr>
          <a:xfrm>
            <a:off x="14241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20 in block 1, group 0"/>
          <p:cNvSpPr/>
          <p:nvPr/>
        </p:nvSpPr>
        <p:spPr>
          <a:xfrm>
            <a:off x="14721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21 in block 1, group 0"/>
          <p:cNvSpPr/>
          <p:nvPr/>
        </p:nvSpPr>
        <p:spPr>
          <a:xfrm>
            <a:off x="15201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22 in block 1, group 0"/>
          <p:cNvSpPr/>
          <p:nvPr/>
        </p:nvSpPr>
        <p:spPr>
          <a:xfrm>
            <a:off x="15681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3 in block 1, group 0"/>
          <p:cNvSpPr/>
          <p:nvPr/>
        </p:nvSpPr>
        <p:spPr>
          <a:xfrm>
            <a:off x="16162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4 in block 1, group 0"/>
          <p:cNvSpPr/>
          <p:nvPr/>
        </p:nvSpPr>
        <p:spPr>
          <a:xfrm>
            <a:off x="16642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5 in block 1, group 0"/>
          <p:cNvSpPr/>
          <p:nvPr/>
        </p:nvSpPr>
        <p:spPr>
          <a:xfrm>
            <a:off x="17122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6 in block 1, group 0"/>
          <p:cNvSpPr/>
          <p:nvPr/>
        </p:nvSpPr>
        <p:spPr>
          <a:xfrm>
            <a:off x="17602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7 in block 1, group 0"/>
          <p:cNvSpPr/>
          <p:nvPr/>
        </p:nvSpPr>
        <p:spPr>
          <a:xfrm>
            <a:off x="18082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8 in block 1, group 0"/>
          <p:cNvSpPr/>
          <p:nvPr/>
        </p:nvSpPr>
        <p:spPr>
          <a:xfrm>
            <a:off x="18562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9 in block 1, group 0"/>
          <p:cNvSpPr/>
          <p:nvPr/>
        </p:nvSpPr>
        <p:spPr>
          <a:xfrm>
            <a:off x="19042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30 in block 1, group 0"/>
          <p:cNvSpPr/>
          <p:nvPr/>
        </p:nvSpPr>
        <p:spPr>
          <a:xfrm>
            <a:off x="19522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31 in block 1, group 0"/>
          <p:cNvSpPr/>
          <p:nvPr/>
        </p:nvSpPr>
        <p:spPr>
          <a:xfrm>
            <a:off x="20002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32 in block 1, group 0"/>
          <p:cNvSpPr/>
          <p:nvPr/>
        </p:nvSpPr>
        <p:spPr>
          <a:xfrm>
            <a:off x="12801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3 in block 1, group 0"/>
          <p:cNvSpPr/>
          <p:nvPr/>
        </p:nvSpPr>
        <p:spPr>
          <a:xfrm>
            <a:off x="13281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4 in block 1, group 0"/>
          <p:cNvSpPr/>
          <p:nvPr/>
        </p:nvSpPr>
        <p:spPr>
          <a:xfrm>
            <a:off x="13761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5 in block 1, group 0"/>
          <p:cNvSpPr/>
          <p:nvPr/>
        </p:nvSpPr>
        <p:spPr>
          <a:xfrm>
            <a:off x="14241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6 in block 1, group 0"/>
          <p:cNvSpPr/>
          <p:nvPr/>
        </p:nvSpPr>
        <p:spPr>
          <a:xfrm>
            <a:off x="14721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7 in block 1, group 0"/>
          <p:cNvSpPr/>
          <p:nvPr/>
        </p:nvSpPr>
        <p:spPr>
          <a:xfrm>
            <a:off x="15201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8 in block 1, group 0"/>
          <p:cNvSpPr/>
          <p:nvPr/>
        </p:nvSpPr>
        <p:spPr>
          <a:xfrm>
            <a:off x="15681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9 in block 1, group 0"/>
          <p:cNvSpPr/>
          <p:nvPr/>
        </p:nvSpPr>
        <p:spPr>
          <a:xfrm>
            <a:off x="16162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40 in block 1, group 0"/>
          <p:cNvSpPr/>
          <p:nvPr/>
        </p:nvSpPr>
        <p:spPr>
          <a:xfrm>
            <a:off x="16642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41 in block 1, group 0"/>
          <p:cNvSpPr/>
          <p:nvPr/>
        </p:nvSpPr>
        <p:spPr>
          <a:xfrm>
            <a:off x="17122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42 in block 1, group 0"/>
          <p:cNvSpPr/>
          <p:nvPr/>
        </p:nvSpPr>
        <p:spPr>
          <a:xfrm>
            <a:off x="17602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43 in block 1, group 0"/>
          <p:cNvSpPr/>
          <p:nvPr/>
        </p:nvSpPr>
        <p:spPr>
          <a:xfrm>
            <a:off x="18082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4 in block 1, group 0"/>
          <p:cNvSpPr/>
          <p:nvPr/>
        </p:nvSpPr>
        <p:spPr>
          <a:xfrm>
            <a:off x="18562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5 in block 1, group 0"/>
          <p:cNvSpPr/>
          <p:nvPr/>
        </p:nvSpPr>
        <p:spPr>
          <a:xfrm>
            <a:off x="19042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6 in block 1, group 0"/>
          <p:cNvSpPr/>
          <p:nvPr/>
        </p:nvSpPr>
        <p:spPr>
          <a:xfrm>
            <a:off x="19522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7 in block 1, group 0"/>
          <p:cNvSpPr/>
          <p:nvPr/>
        </p:nvSpPr>
        <p:spPr>
          <a:xfrm>
            <a:off x="20002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8 in block 1, group 0"/>
          <p:cNvSpPr/>
          <p:nvPr/>
        </p:nvSpPr>
        <p:spPr>
          <a:xfrm>
            <a:off x="12801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9 in block 1, group 0"/>
          <p:cNvSpPr/>
          <p:nvPr/>
        </p:nvSpPr>
        <p:spPr>
          <a:xfrm>
            <a:off x="13281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50 in block 1, group 0"/>
          <p:cNvSpPr/>
          <p:nvPr/>
        </p:nvSpPr>
        <p:spPr>
          <a:xfrm>
            <a:off x="13761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51 in block 1, group 0"/>
          <p:cNvSpPr/>
          <p:nvPr/>
        </p:nvSpPr>
        <p:spPr>
          <a:xfrm>
            <a:off x="14241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52 in block 1, group 0"/>
          <p:cNvSpPr/>
          <p:nvPr/>
        </p:nvSpPr>
        <p:spPr>
          <a:xfrm>
            <a:off x="14721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53 in block 1, group 0"/>
          <p:cNvSpPr/>
          <p:nvPr/>
        </p:nvSpPr>
        <p:spPr>
          <a:xfrm>
            <a:off x="15201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4 in block 1, group 0"/>
          <p:cNvSpPr/>
          <p:nvPr/>
        </p:nvSpPr>
        <p:spPr>
          <a:xfrm>
            <a:off x="15681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5 in block 1, group 0"/>
          <p:cNvSpPr/>
          <p:nvPr/>
        </p:nvSpPr>
        <p:spPr>
          <a:xfrm>
            <a:off x="16162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6 in block 1, group 0"/>
          <p:cNvSpPr/>
          <p:nvPr/>
        </p:nvSpPr>
        <p:spPr>
          <a:xfrm>
            <a:off x="16642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7 in block 1, group 0"/>
          <p:cNvSpPr/>
          <p:nvPr/>
        </p:nvSpPr>
        <p:spPr>
          <a:xfrm>
            <a:off x="17122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8 in block 1, group 0"/>
          <p:cNvSpPr/>
          <p:nvPr/>
        </p:nvSpPr>
        <p:spPr>
          <a:xfrm>
            <a:off x="17602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9 in block 1, group 0"/>
          <p:cNvSpPr/>
          <p:nvPr/>
        </p:nvSpPr>
        <p:spPr>
          <a:xfrm>
            <a:off x="18082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60 in block 1, group 0"/>
          <p:cNvSpPr/>
          <p:nvPr/>
        </p:nvSpPr>
        <p:spPr>
          <a:xfrm>
            <a:off x="18562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61 in block 1, group 0"/>
          <p:cNvSpPr/>
          <p:nvPr/>
        </p:nvSpPr>
        <p:spPr>
          <a:xfrm>
            <a:off x="19042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62 in block 1, group 0"/>
          <p:cNvSpPr/>
          <p:nvPr/>
        </p:nvSpPr>
        <p:spPr>
          <a:xfrm>
            <a:off x="19522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63 in block 1, group 0"/>
          <p:cNvSpPr/>
          <p:nvPr/>
        </p:nvSpPr>
        <p:spPr>
          <a:xfrm>
            <a:off x="20002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Group 1 in block 1: two warps, barrier 2"/>
          <p:cNvSpPr/>
          <p:nvPr/>
        </p:nvSpPr>
        <p:spPr>
          <a:xfrm>
            <a:off x="1252728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15" name="Thread 64 in block 1, group 1"/>
          <p:cNvSpPr/>
          <p:nvPr/>
        </p:nvSpPr>
        <p:spPr>
          <a:xfrm>
            <a:off x="12801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5 in block 1, group 1"/>
          <p:cNvSpPr/>
          <p:nvPr/>
        </p:nvSpPr>
        <p:spPr>
          <a:xfrm>
            <a:off x="13281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6 in block 1, group 1"/>
          <p:cNvSpPr/>
          <p:nvPr/>
        </p:nvSpPr>
        <p:spPr>
          <a:xfrm>
            <a:off x="13761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7 in block 1, group 1"/>
          <p:cNvSpPr/>
          <p:nvPr/>
        </p:nvSpPr>
        <p:spPr>
          <a:xfrm>
            <a:off x="14241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68 in block 1, group 1"/>
          <p:cNvSpPr/>
          <p:nvPr/>
        </p:nvSpPr>
        <p:spPr>
          <a:xfrm>
            <a:off x="14721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9 in block 1, group 1"/>
          <p:cNvSpPr/>
          <p:nvPr/>
        </p:nvSpPr>
        <p:spPr>
          <a:xfrm>
            <a:off x="15201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70 in block 1, group 1"/>
          <p:cNvSpPr/>
          <p:nvPr/>
        </p:nvSpPr>
        <p:spPr>
          <a:xfrm>
            <a:off x="15681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71 in block 1, group 1"/>
          <p:cNvSpPr/>
          <p:nvPr/>
        </p:nvSpPr>
        <p:spPr>
          <a:xfrm>
            <a:off x="16162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72 in block 1, group 1"/>
          <p:cNvSpPr/>
          <p:nvPr/>
        </p:nvSpPr>
        <p:spPr>
          <a:xfrm>
            <a:off x="16642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73 in block 1, group 1"/>
          <p:cNvSpPr/>
          <p:nvPr/>
        </p:nvSpPr>
        <p:spPr>
          <a:xfrm>
            <a:off x="17122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4 in block 1, group 1"/>
          <p:cNvSpPr/>
          <p:nvPr/>
        </p:nvSpPr>
        <p:spPr>
          <a:xfrm>
            <a:off x="17602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5 in block 1, group 1"/>
          <p:cNvSpPr/>
          <p:nvPr/>
        </p:nvSpPr>
        <p:spPr>
          <a:xfrm>
            <a:off x="18082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6 in block 1, group 1"/>
          <p:cNvSpPr/>
          <p:nvPr/>
        </p:nvSpPr>
        <p:spPr>
          <a:xfrm>
            <a:off x="18562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7 in block 1, group 1"/>
          <p:cNvSpPr/>
          <p:nvPr/>
        </p:nvSpPr>
        <p:spPr>
          <a:xfrm>
            <a:off x="19042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8 in block 1, group 1"/>
          <p:cNvSpPr/>
          <p:nvPr/>
        </p:nvSpPr>
        <p:spPr>
          <a:xfrm>
            <a:off x="19522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9 in block 1, group 1"/>
          <p:cNvSpPr/>
          <p:nvPr/>
        </p:nvSpPr>
        <p:spPr>
          <a:xfrm>
            <a:off x="20002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80 in block 1, group 1"/>
          <p:cNvSpPr/>
          <p:nvPr/>
        </p:nvSpPr>
        <p:spPr>
          <a:xfrm>
            <a:off x="12801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81 in block 1, group 1"/>
          <p:cNvSpPr/>
          <p:nvPr/>
        </p:nvSpPr>
        <p:spPr>
          <a:xfrm>
            <a:off x="13281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82 in block 1, group 1"/>
          <p:cNvSpPr/>
          <p:nvPr/>
        </p:nvSpPr>
        <p:spPr>
          <a:xfrm>
            <a:off x="13761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83 in block 1, group 1"/>
          <p:cNvSpPr/>
          <p:nvPr/>
        </p:nvSpPr>
        <p:spPr>
          <a:xfrm>
            <a:off x="14241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84 in block 1, group 1"/>
          <p:cNvSpPr/>
          <p:nvPr/>
        </p:nvSpPr>
        <p:spPr>
          <a:xfrm>
            <a:off x="14721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85 in block 1, group 1"/>
          <p:cNvSpPr/>
          <p:nvPr/>
        </p:nvSpPr>
        <p:spPr>
          <a:xfrm>
            <a:off x="15201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6 in block 1, group 1"/>
          <p:cNvSpPr/>
          <p:nvPr/>
        </p:nvSpPr>
        <p:spPr>
          <a:xfrm>
            <a:off x="15681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7 in block 1, group 1"/>
          <p:cNvSpPr/>
          <p:nvPr/>
        </p:nvSpPr>
        <p:spPr>
          <a:xfrm>
            <a:off x="16162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8 in block 1, group 1"/>
          <p:cNvSpPr/>
          <p:nvPr/>
        </p:nvSpPr>
        <p:spPr>
          <a:xfrm>
            <a:off x="16642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9 in block 1, group 1"/>
          <p:cNvSpPr/>
          <p:nvPr/>
        </p:nvSpPr>
        <p:spPr>
          <a:xfrm>
            <a:off x="17122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90 in block 1, group 1"/>
          <p:cNvSpPr/>
          <p:nvPr/>
        </p:nvSpPr>
        <p:spPr>
          <a:xfrm>
            <a:off x="17602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91 in block 1, group 1"/>
          <p:cNvSpPr/>
          <p:nvPr/>
        </p:nvSpPr>
        <p:spPr>
          <a:xfrm>
            <a:off x="18082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92 in block 1, group 1"/>
          <p:cNvSpPr/>
          <p:nvPr/>
        </p:nvSpPr>
        <p:spPr>
          <a:xfrm>
            <a:off x="18562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93 in block 1, group 1"/>
          <p:cNvSpPr/>
          <p:nvPr/>
        </p:nvSpPr>
        <p:spPr>
          <a:xfrm>
            <a:off x="19042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94 in block 1, group 1"/>
          <p:cNvSpPr/>
          <p:nvPr/>
        </p:nvSpPr>
        <p:spPr>
          <a:xfrm>
            <a:off x="19522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95 in block 1, group 1"/>
          <p:cNvSpPr/>
          <p:nvPr/>
        </p:nvSpPr>
        <p:spPr>
          <a:xfrm>
            <a:off x="20002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6 in block 1, group 1"/>
          <p:cNvSpPr/>
          <p:nvPr/>
        </p:nvSpPr>
        <p:spPr>
          <a:xfrm>
            <a:off x="12801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7 in block 1, group 1"/>
          <p:cNvSpPr/>
          <p:nvPr/>
        </p:nvSpPr>
        <p:spPr>
          <a:xfrm>
            <a:off x="13281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8 in block 1, group 1"/>
          <p:cNvSpPr/>
          <p:nvPr/>
        </p:nvSpPr>
        <p:spPr>
          <a:xfrm>
            <a:off x="13761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9 in block 1, group 1"/>
          <p:cNvSpPr/>
          <p:nvPr/>
        </p:nvSpPr>
        <p:spPr>
          <a:xfrm>
            <a:off x="14241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100 in block 1, group 1"/>
          <p:cNvSpPr/>
          <p:nvPr/>
        </p:nvSpPr>
        <p:spPr>
          <a:xfrm>
            <a:off x="14721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101 in block 1, group 1"/>
          <p:cNvSpPr/>
          <p:nvPr/>
        </p:nvSpPr>
        <p:spPr>
          <a:xfrm>
            <a:off x="15201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102 in block 1, group 1"/>
          <p:cNvSpPr/>
          <p:nvPr/>
        </p:nvSpPr>
        <p:spPr>
          <a:xfrm>
            <a:off x="15681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103 in block 1, group 1"/>
          <p:cNvSpPr/>
          <p:nvPr/>
        </p:nvSpPr>
        <p:spPr>
          <a:xfrm>
            <a:off x="16162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104 in block 1, group 1"/>
          <p:cNvSpPr/>
          <p:nvPr/>
        </p:nvSpPr>
        <p:spPr>
          <a:xfrm>
            <a:off x="16642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105 in block 1, group 1"/>
          <p:cNvSpPr/>
          <p:nvPr/>
        </p:nvSpPr>
        <p:spPr>
          <a:xfrm>
            <a:off x="17122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106 in block 1, group 1"/>
          <p:cNvSpPr/>
          <p:nvPr/>
        </p:nvSpPr>
        <p:spPr>
          <a:xfrm>
            <a:off x="17602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7 in block 1, group 1"/>
          <p:cNvSpPr/>
          <p:nvPr/>
        </p:nvSpPr>
        <p:spPr>
          <a:xfrm>
            <a:off x="18082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8 in block 1, group 1"/>
          <p:cNvSpPr/>
          <p:nvPr/>
        </p:nvSpPr>
        <p:spPr>
          <a:xfrm>
            <a:off x="18562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9 in block 1, group 1"/>
          <p:cNvSpPr/>
          <p:nvPr/>
        </p:nvSpPr>
        <p:spPr>
          <a:xfrm>
            <a:off x="19042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10 in block 1, group 1"/>
          <p:cNvSpPr/>
          <p:nvPr/>
        </p:nvSpPr>
        <p:spPr>
          <a:xfrm>
            <a:off x="19522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11 in block 1, group 1"/>
          <p:cNvSpPr/>
          <p:nvPr/>
        </p:nvSpPr>
        <p:spPr>
          <a:xfrm>
            <a:off x="20002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12 in block 1, group 1"/>
          <p:cNvSpPr/>
          <p:nvPr/>
        </p:nvSpPr>
        <p:spPr>
          <a:xfrm>
            <a:off x="12801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13 in block 1, group 1"/>
          <p:cNvSpPr/>
          <p:nvPr/>
        </p:nvSpPr>
        <p:spPr>
          <a:xfrm>
            <a:off x="13281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14 in block 1, group 1"/>
          <p:cNvSpPr/>
          <p:nvPr/>
        </p:nvSpPr>
        <p:spPr>
          <a:xfrm>
            <a:off x="13761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15 in block 1, group 1"/>
          <p:cNvSpPr/>
          <p:nvPr/>
        </p:nvSpPr>
        <p:spPr>
          <a:xfrm>
            <a:off x="14241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16 in block 1, group 1"/>
          <p:cNvSpPr/>
          <p:nvPr/>
        </p:nvSpPr>
        <p:spPr>
          <a:xfrm>
            <a:off x="14721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7 in block 1, group 1"/>
          <p:cNvSpPr/>
          <p:nvPr/>
        </p:nvSpPr>
        <p:spPr>
          <a:xfrm>
            <a:off x="15201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8 in block 1, group 1"/>
          <p:cNvSpPr/>
          <p:nvPr/>
        </p:nvSpPr>
        <p:spPr>
          <a:xfrm>
            <a:off x="15681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9 in block 1, group 1"/>
          <p:cNvSpPr/>
          <p:nvPr/>
        </p:nvSpPr>
        <p:spPr>
          <a:xfrm>
            <a:off x="16162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20 in block 1, group 1"/>
          <p:cNvSpPr/>
          <p:nvPr/>
        </p:nvSpPr>
        <p:spPr>
          <a:xfrm>
            <a:off x="16642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21 in block 1, group 1"/>
          <p:cNvSpPr/>
          <p:nvPr/>
        </p:nvSpPr>
        <p:spPr>
          <a:xfrm>
            <a:off x="17122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22 in block 1, group 1"/>
          <p:cNvSpPr/>
          <p:nvPr/>
        </p:nvSpPr>
        <p:spPr>
          <a:xfrm>
            <a:off x="17602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23 in block 1, group 1"/>
          <p:cNvSpPr/>
          <p:nvPr/>
        </p:nvSpPr>
        <p:spPr>
          <a:xfrm>
            <a:off x="18082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24 in block 1, group 1"/>
          <p:cNvSpPr/>
          <p:nvPr/>
        </p:nvSpPr>
        <p:spPr>
          <a:xfrm>
            <a:off x="18562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25 in block 1, group 1"/>
          <p:cNvSpPr/>
          <p:nvPr/>
        </p:nvSpPr>
        <p:spPr>
          <a:xfrm>
            <a:off x="19042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26 in block 1, group 1"/>
          <p:cNvSpPr/>
          <p:nvPr/>
        </p:nvSpPr>
        <p:spPr>
          <a:xfrm>
            <a:off x="19522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7 in block 1, group 1"/>
          <p:cNvSpPr/>
          <p:nvPr/>
        </p:nvSpPr>
        <p:spPr>
          <a:xfrm>
            <a:off x="20002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Parent block 2: 128 threads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80" name="Block 2"/>
          <p:cNvSpPr/>
          <p:nvPr/>
        </p:nvSpPr>
        <p:spPr>
          <a:xfrm>
            <a:off x="2221992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81" name="Group 0 in block 2: two warps, barrier 1"/>
          <p:cNvSpPr/>
          <p:nvPr/>
        </p:nvSpPr>
        <p:spPr>
          <a:xfrm>
            <a:off x="2221992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82" name="Thread 0 in block 2, group 0"/>
          <p:cNvSpPr/>
          <p:nvPr/>
        </p:nvSpPr>
        <p:spPr>
          <a:xfrm>
            <a:off x="224942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 in block 2, group 0"/>
          <p:cNvSpPr/>
          <p:nvPr/>
        </p:nvSpPr>
        <p:spPr>
          <a:xfrm>
            <a:off x="229743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2 in block 2, group 0"/>
          <p:cNvSpPr/>
          <p:nvPr/>
        </p:nvSpPr>
        <p:spPr>
          <a:xfrm>
            <a:off x="234543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3 in block 2, group 0"/>
          <p:cNvSpPr/>
          <p:nvPr/>
        </p:nvSpPr>
        <p:spPr>
          <a:xfrm>
            <a:off x="239344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4 in block 2, group 0"/>
          <p:cNvSpPr/>
          <p:nvPr/>
        </p:nvSpPr>
        <p:spPr>
          <a:xfrm>
            <a:off x="244144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5 in block 2, group 0"/>
          <p:cNvSpPr/>
          <p:nvPr/>
        </p:nvSpPr>
        <p:spPr>
          <a:xfrm>
            <a:off x="248945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6 in block 2, group 0"/>
          <p:cNvSpPr/>
          <p:nvPr/>
        </p:nvSpPr>
        <p:spPr>
          <a:xfrm>
            <a:off x="25374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7 in block 2, group 0"/>
          <p:cNvSpPr/>
          <p:nvPr/>
        </p:nvSpPr>
        <p:spPr>
          <a:xfrm>
            <a:off x="25854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8 in block 2, group 0"/>
          <p:cNvSpPr/>
          <p:nvPr/>
        </p:nvSpPr>
        <p:spPr>
          <a:xfrm>
            <a:off x="26334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9 in block 2, group 0"/>
          <p:cNvSpPr/>
          <p:nvPr/>
        </p:nvSpPr>
        <p:spPr>
          <a:xfrm>
            <a:off x="26814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0 in block 2, group 0"/>
          <p:cNvSpPr/>
          <p:nvPr/>
        </p:nvSpPr>
        <p:spPr>
          <a:xfrm>
            <a:off x="27294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1 in block 2, group 0"/>
          <p:cNvSpPr/>
          <p:nvPr/>
        </p:nvSpPr>
        <p:spPr>
          <a:xfrm>
            <a:off x="27774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12 in block 2, group 0"/>
          <p:cNvSpPr/>
          <p:nvPr/>
        </p:nvSpPr>
        <p:spPr>
          <a:xfrm>
            <a:off x="28254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13 in block 2, group 0"/>
          <p:cNvSpPr/>
          <p:nvPr/>
        </p:nvSpPr>
        <p:spPr>
          <a:xfrm>
            <a:off x="28735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14 in block 2, group 0"/>
          <p:cNvSpPr/>
          <p:nvPr/>
        </p:nvSpPr>
        <p:spPr>
          <a:xfrm>
            <a:off x="29215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15 in block 2, group 0"/>
          <p:cNvSpPr/>
          <p:nvPr/>
        </p:nvSpPr>
        <p:spPr>
          <a:xfrm>
            <a:off x="29695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16 in block 2, group 0"/>
          <p:cNvSpPr/>
          <p:nvPr/>
        </p:nvSpPr>
        <p:spPr>
          <a:xfrm>
            <a:off x="224942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17 in block 2, group 0"/>
          <p:cNvSpPr/>
          <p:nvPr/>
        </p:nvSpPr>
        <p:spPr>
          <a:xfrm>
            <a:off x="229743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18 in block 2, group 0"/>
          <p:cNvSpPr/>
          <p:nvPr/>
        </p:nvSpPr>
        <p:spPr>
          <a:xfrm>
            <a:off x="234543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19 in block 2, group 0"/>
          <p:cNvSpPr/>
          <p:nvPr/>
        </p:nvSpPr>
        <p:spPr>
          <a:xfrm>
            <a:off x="239344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0 in block 2, group 0"/>
          <p:cNvSpPr/>
          <p:nvPr/>
        </p:nvSpPr>
        <p:spPr>
          <a:xfrm>
            <a:off x="244144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1 in block 2, group 0"/>
          <p:cNvSpPr/>
          <p:nvPr/>
        </p:nvSpPr>
        <p:spPr>
          <a:xfrm>
            <a:off x="248945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22 in block 2, group 0"/>
          <p:cNvSpPr/>
          <p:nvPr/>
        </p:nvSpPr>
        <p:spPr>
          <a:xfrm>
            <a:off x="25374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23 in block 2, group 0"/>
          <p:cNvSpPr/>
          <p:nvPr/>
        </p:nvSpPr>
        <p:spPr>
          <a:xfrm>
            <a:off x="25854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24 in block 2, group 0"/>
          <p:cNvSpPr/>
          <p:nvPr/>
        </p:nvSpPr>
        <p:spPr>
          <a:xfrm>
            <a:off x="26334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7" name="Thread 25 in block 2, group 0"/>
          <p:cNvSpPr/>
          <p:nvPr/>
        </p:nvSpPr>
        <p:spPr>
          <a:xfrm>
            <a:off x="26814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Thread 26 in block 2, group 0"/>
          <p:cNvSpPr/>
          <p:nvPr/>
        </p:nvSpPr>
        <p:spPr>
          <a:xfrm>
            <a:off x="27294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9" name="Thread 27 in block 2, group 0"/>
          <p:cNvSpPr/>
          <p:nvPr/>
        </p:nvSpPr>
        <p:spPr>
          <a:xfrm>
            <a:off x="27774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0" name="Thread 28 in block 2, group 0"/>
          <p:cNvSpPr/>
          <p:nvPr/>
        </p:nvSpPr>
        <p:spPr>
          <a:xfrm>
            <a:off x="28254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Thread 29 in block 2, group 0"/>
          <p:cNvSpPr/>
          <p:nvPr/>
        </p:nvSpPr>
        <p:spPr>
          <a:xfrm>
            <a:off x="28735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2" name="Thread 30 in block 2, group 0"/>
          <p:cNvSpPr/>
          <p:nvPr/>
        </p:nvSpPr>
        <p:spPr>
          <a:xfrm>
            <a:off x="29215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3" name="Thread 31 in block 2, group 0"/>
          <p:cNvSpPr/>
          <p:nvPr/>
        </p:nvSpPr>
        <p:spPr>
          <a:xfrm>
            <a:off x="29695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32 in block 2, group 0"/>
          <p:cNvSpPr/>
          <p:nvPr/>
        </p:nvSpPr>
        <p:spPr>
          <a:xfrm>
            <a:off x="224942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5" name="Thread 33 in block 2, group 0"/>
          <p:cNvSpPr/>
          <p:nvPr/>
        </p:nvSpPr>
        <p:spPr>
          <a:xfrm>
            <a:off x="229743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6" name="Thread 34 in block 2, group 0"/>
          <p:cNvSpPr/>
          <p:nvPr/>
        </p:nvSpPr>
        <p:spPr>
          <a:xfrm>
            <a:off x="234543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35 in block 2, group 0"/>
          <p:cNvSpPr/>
          <p:nvPr/>
        </p:nvSpPr>
        <p:spPr>
          <a:xfrm>
            <a:off x="239344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8" name="Thread 36 in block 2, group 0"/>
          <p:cNvSpPr/>
          <p:nvPr/>
        </p:nvSpPr>
        <p:spPr>
          <a:xfrm>
            <a:off x="244144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9" name="Thread 37 in block 2, group 0"/>
          <p:cNvSpPr/>
          <p:nvPr/>
        </p:nvSpPr>
        <p:spPr>
          <a:xfrm>
            <a:off x="248945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0" name="Thread 38 in block 2, group 0"/>
          <p:cNvSpPr/>
          <p:nvPr/>
        </p:nvSpPr>
        <p:spPr>
          <a:xfrm>
            <a:off x="25374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1" name="Thread 39 in block 2, group 0"/>
          <p:cNvSpPr/>
          <p:nvPr/>
        </p:nvSpPr>
        <p:spPr>
          <a:xfrm>
            <a:off x="25854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2" name="Thread 40 in block 2, group 0"/>
          <p:cNvSpPr/>
          <p:nvPr/>
        </p:nvSpPr>
        <p:spPr>
          <a:xfrm>
            <a:off x="26334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3" name="Thread 41 in block 2, group 0"/>
          <p:cNvSpPr/>
          <p:nvPr/>
        </p:nvSpPr>
        <p:spPr>
          <a:xfrm>
            <a:off x="26814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4" name="Thread 42 in block 2, group 0"/>
          <p:cNvSpPr/>
          <p:nvPr/>
        </p:nvSpPr>
        <p:spPr>
          <a:xfrm>
            <a:off x="27294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5" name="Thread 43 in block 2, group 0"/>
          <p:cNvSpPr/>
          <p:nvPr/>
        </p:nvSpPr>
        <p:spPr>
          <a:xfrm>
            <a:off x="27774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6" name="Thread 44 in block 2, group 0"/>
          <p:cNvSpPr/>
          <p:nvPr/>
        </p:nvSpPr>
        <p:spPr>
          <a:xfrm>
            <a:off x="28254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7" name="Thread 45 in block 2, group 0"/>
          <p:cNvSpPr/>
          <p:nvPr/>
        </p:nvSpPr>
        <p:spPr>
          <a:xfrm>
            <a:off x="28735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46 in block 2, group 0"/>
          <p:cNvSpPr/>
          <p:nvPr/>
        </p:nvSpPr>
        <p:spPr>
          <a:xfrm>
            <a:off x="29215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9" name="Thread 47 in block 2, group 0"/>
          <p:cNvSpPr/>
          <p:nvPr/>
        </p:nvSpPr>
        <p:spPr>
          <a:xfrm>
            <a:off x="29695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0" name="Thread 48 in block 2, group 0"/>
          <p:cNvSpPr/>
          <p:nvPr/>
        </p:nvSpPr>
        <p:spPr>
          <a:xfrm>
            <a:off x="224942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1" name="Thread 49 in block 2, group 0"/>
          <p:cNvSpPr/>
          <p:nvPr/>
        </p:nvSpPr>
        <p:spPr>
          <a:xfrm>
            <a:off x="229743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2" name="Thread 50 in block 2, group 0"/>
          <p:cNvSpPr/>
          <p:nvPr/>
        </p:nvSpPr>
        <p:spPr>
          <a:xfrm>
            <a:off x="234543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3" name="Thread 51 in block 2, group 0"/>
          <p:cNvSpPr/>
          <p:nvPr/>
        </p:nvSpPr>
        <p:spPr>
          <a:xfrm>
            <a:off x="239344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4" name="Thread 52 in block 2, group 0"/>
          <p:cNvSpPr/>
          <p:nvPr/>
        </p:nvSpPr>
        <p:spPr>
          <a:xfrm>
            <a:off x="244144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53 in block 2, group 0"/>
          <p:cNvSpPr/>
          <p:nvPr/>
        </p:nvSpPr>
        <p:spPr>
          <a:xfrm>
            <a:off x="248945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6" name="Thread 54 in block 2, group 0"/>
          <p:cNvSpPr/>
          <p:nvPr/>
        </p:nvSpPr>
        <p:spPr>
          <a:xfrm>
            <a:off x="25374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7" name="Thread 55 in block 2, group 0"/>
          <p:cNvSpPr/>
          <p:nvPr/>
        </p:nvSpPr>
        <p:spPr>
          <a:xfrm>
            <a:off x="25854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8" name="Thread 56 in block 2, group 0"/>
          <p:cNvSpPr/>
          <p:nvPr/>
        </p:nvSpPr>
        <p:spPr>
          <a:xfrm>
            <a:off x="26334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57 in block 2, group 0"/>
          <p:cNvSpPr/>
          <p:nvPr/>
        </p:nvSpPr>
        <p:spPr>
          <a:xfrm>
            <a:off x="26814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58 in block 2, group 0"/>
          <p:cNvSpPr/>
          <p:nvPr/>
        </p:nvSpPr>
        <p:spPr>
          <a:xfrm>
            <a:off x="27294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59 in block 2, group 0"/>
          <p:cNvSpPr/>
          <p:nvPr/>
        </p:nvSpPr>
        <p:spPr>
          <a:xfrm>
            <a:off x="27774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0 in block 2, group 0"/>
          <p:cNvSpPr/>
          <p:nvPr/>
        </p:nvSpPr>
        <p:spPr>
          <a:xfrm>
            <a:off x="28254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1 in block 2, group 0"/>
          <p:cNvSpPr/>
          <p:nvPr/>
        </p:nvSpPr>
        <p:spPr>
          <a:xfrm>
            <a:off x="28735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62 in block 2, group 0"/>
          <p:cNvSpPr/>
          <p:nvPr/>
        </p:nvSpPr>
        <p:spPr>
          <a:xfrm>
            <a:off x="29215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63 in block 2, group 0"/>
          <p:cNvSpPr/>
          <p:nvPr/>
        </p:nvSpPr>
        <p:spPr>
          <a:xfrm>
            <a:off x="29695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Group 1 in block 2: two warps, barrier 2"/>
          <p:cNvSpPr/>
          <p:nvPr/>
        </p:nvSpPr>
        <p:spPr>
          <a:xfrm>
            <a:off x="2221992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347" name="Thread 64 in block 2, group 1"/>
          <p:cNvSpPr/>
          <p:nvPr/>
        </p:nvSpPr>
        <p:spPr>
          <a:xfrm>
            <a:off x="224942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65 in block 2, group 1"/>
          <p:cNvSpPr/>
          <p:nvPr/>
        </p:nvSpPr>
        <p:spPr>
          <a:xfrm>
            <a:off x="229743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66 in block 2, group 1"/>
          <p:cNvSpPr/>
          <p:nvPr/>
        </p:nvSpPr>
        <p:spPr>
          <a:xfrm>
            <a:off x="234543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67 in block 2, group 1"/>
          <p:cNvSpPr/>
          <p:nvPr/>
        </p:nvSpPr>
        <p:spPr>
          <a:xfrm>
            <a:off x="239344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68 in block 2, group 1"/>
          <p:cNvSpPr/>
          <p:nvPr/>
        </p:nvSpPr>
        <p:spPr>
          <a:xfrm>
            <a:off x="244144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69 in block 2, group 1"/>
          <p:cNvSpPr/>
          <p:nvPr/>
        </p:nvSpPr>
        <p:spPr>
          <a:xfrm>
            <a:off x="248945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0 in block 2, group 1"/>
          <p:cNvSpPr/>
          <p:nvPr/>
        </p:nvSpPr>
        <p:spPr>
          <a:xfrm>
            <a:off x="25374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71 in block 2, group 1"/>
          <p:cNvSpPr/>
          <p:nvPr/>
        </p:nvSpPr>
        <p:spPr>
          <a:xfrm>
            <a:off x="25854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72 in block 2, group 1"/>
          <p:cNvSpPr/>
          <p:nvPr/>
        </p:nvSpPr>
        <p:spPr>
          <a:xfrm>
            <a:off x="26334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73 in block 2, group 1"/>
          <p:cNvSpPr/>
          <p:nvPr/>
        </p:nvSpPr>
        <p:spPr>
          <a:xfrm>
            <a:off x="26814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74 in block 2, group 1"/>
          <p:cNvSpPr/>
          <p:nvPr/>
        </p:nvSpPr>
        <p:spPr>
          <a:xfrm>
            <a:off x="27294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75 in block 2, group 1"/>
          <p:cNvSpPr/>
          <p:nvPr/>
        </p:nvSpPr>
        <p:spPr>
          <a:xfrm>
            <a:off x="27774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76 in block 2, group 1"/>
          <p:cNvSpPr/>
          <p:nvPr/>
        </p:nvSpPr>
        <p:spPr>
          <a:xfrm>
            <a:off x="28254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77 in block 2, group 1"/>
          <p:cNvSpPr/>
          <p:nvPr/>
        </p:nvSpPr>
        <p:spPr>
          <a:xfrm>
            <a:off x="28735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78 in block 2, group 1"/>
          <p:cNvSpPr/>
          <p:nvPr/>
        </p:nvSpPr>
        <p:spPr>
          <a:xfrm>
            <a:off x="29215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79 in block 2, group 1"/>
          <p:cNvSpPr/>
          <p:nvPr/>
        </p:nvSpPr>
        <p:spPr>
          <a:xfrm>
            <a:off x="29695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0 in block 2, group 1"/>
          <p:cNvSpPr/>
          <p:nvPr/>
        </p:nvSpPr>
        <p:spPr>
          <a:xfrm>
            <a:off x="224942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81 in block 2, group 1"/>
          <p:cNvSpPr/>
          <p:nvPr/>
        </p:nvSpPr>
        <p:spPr>
          <a:xfrm>
            <a:off x="229743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82 in block 2, group 1"/>
          <p:cNvSpPr/>
          <p:nvPr/>
        </p:nvSpPr>
        <p:spPr>
          <a:xfrm>
            <a:off x="234543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83 in block 2, group 1"/>
          <p:cNvSpPr/>
          <p:nvPr/>
        </p:nvSpPr>
        <p:spPr>
          <a:xfrm>
            <a:off x="239344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84 in block 2, group 1"/>
          <p:cNvSpPr/>
          <p:nvPr/>
        </p:nvSpPr>
        <p:spPr>
          <a:xfrm>
            <a:off x="244144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85 in block 2, group 1"/>
          <p:cNvSpPr/>
          <p:nvPr/>
        </p:nvSpPr>
        <p:spPr>
          <a:xfrm>
            <a:off x="248945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86 in block 2, group 1"/>
          <p:cNvSpPr/>
          <p:nvPr/>
        </p:nvSpPr>
        <p:spPr>
          <a:xfrm>
            <a:off x="25374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87 in block 2, group 1"/>
          <p:cNvSpPr/>
          <p:nvPr/>
        </p:nvSpPr>
        <p:spPr>
          <a:xfrm>
            <a:off x="25854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1" name="Thread 88 in block 2, group 1"/>
          <p:cNvSpPr/>
          <p:nvPr/>
        </p:nvSpPr>
        <p:spPr>
          <a:xfrm>
            <a:off x="26334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2" name="Thread 89 in block 2, group 1"/>
          <p:cNvSpPr/>
          <p:nvPr/>
        </p:nvSpPr>
        <p:spPr>
          <a:xfrm>
            <a:off x="26814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3" name="Thread 90 in block 2, group 1"/>
          <p:cNvSpPr/>
          <p:nvPr/>
        </p:nvSpPr>
        <p:spPr>
          <a:xfrm>
            <a:off x="27294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4" name="Thread 91 in block 2, group 1"/>
          <p:cNvSpPr/>
          <p:nvPr/>
        </p:nvSpPr>
        <p:spPr>
          <a:xfrm>
            <a:off x="27774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92 in block 2, group 1"/>
          <p:cNvSpPr/>
          <p:nvPr/>
        </p:nvSpPr>
        <p:spPr>
          <a:xfrm>
            <a:off x="28254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6" name="Thread 93 in block 2, group 1"/>
          <p:cNvSpPr/>
          <p:nvPr/>
        </p:nvSpPr>
        <p:spPr>
          <a:xfrm>
            <a:off x="28735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7" name="Thread 94 in block 2, group 1"/>
          <p:cNvSpPr/>
          <p:nvPr/>
        </p:nvSpPr>
        <p:spPr>
          <a:xfrm>
            <a:off x="29215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8" name="Thread 95 in block 2, group 1"/>
          <p:cNvSpPr/>
          <p:nvPr/>
        </p:nvSpPr>
        <p:spPr>
          <a:xfrm>
            <a:off x="29695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9" name="Thread 96 in block 2, group 1"/>
          <p:cNvSpPr/>
          <p:nvPr/>
        </p:nvSpPr>
        <p:spPr>
          <a:xfrm>
            <a:off x="224942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0" name="Thread 97 in block 2, group 1"/>
          <p:cNvSpPr/>
          <p:nvPr/>
        </p:nvSpPr>
        <p:spPr>
          <a:xfrm>
            <a:off x="229743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1" name="Thread 98 in block 2, group 1"/>
          <p:cNvSpPr/>
          <p:nvPr/>
        </p:nvSpPr>
        <p:spPr>
          <a:xfrm>
            <a:off x="234543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2" name="Thread 99 in block 2, group 1"/>
          <p:cNvSpPr/>
          <p:nvPr/>
        </p:nvSpPr>
        <p:spPr>
          <a:xfrm>
            <a:off x="239344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0 in block 2, group 1"/>
          <p:cNvSpPr/>
          <p:nvPr/>
        </p:nvSpPr>
        <p:spPr>
          <a:xfrm>
            <a:off x="244144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4" name="Thread 101 in block 2, group 1"/>
          <p:cNvSpPr/>
          <p:nvPr/>
        </p:nvSpPr>
        <p:spPr>
          <a:xfrm>
            <a:off x="248945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5" name="Thread 102 in block 2, group 1"/>
          <p:cNvSpPr/>
          <p:nvPr/>
        </p:nvSpPr>
        <p:spPr>
          <a:xfrm>
            <a:off x="25374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6" name="Thread 103 in block 2, group 1"/>
          <p:cNvSpPr/>
          <p:nvPr/>
        </p:nvSpPr>
        <p:spPr>
          <a:xfrm>
            <a:off x="25854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7" name="Thread 104 in block 2, group 1"/>
          <p:cNvSpPr/>
          <p:nvPr/>
        </p:nvSpPr>
        <p:spPr>
          <a:xfrm>
            <a:off x="26334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8" name="Thread 105 in block 2, group 1"/>
          <p:cNvSpPr/>
          <p:nvPr/>
        </p:nvSpPr>
        <p:spPr>
          <a:xfrm>
            <a:off x="26814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9" name="Thread 106 in block 2, group 1"/>
          <p:cNvSpPr/>
          <p:nvPr/>
        </p:nvSpPr>
        <p:spPr>
          <a:xfrm>
            <a:off x="27294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0" name="Thread 107 in block 2, group 1"/>
          <p:cNvSpPr/>
          <p:nvPr/>
        </p:nvSpPr>
        <p:spPr>
          <a:xfrm>
            <a:off x="27774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1" name="Thread 108 in block 2, group 1"/>
          <p:cNvSpPr/>
          <p:nvPr/>
        </p:nvSpPr>
        <p:spPr>
          <a:xfrm>
            <a:off x="28254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2" name="Thread 109 in block 2, group 1"/>
          <p:cNvSpPr/>
          <p:nvPr/>
        </p:nvSpPr>
        <p:spPr>
          <a:xfrm>
            <a:off x="28735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3" name="Thread 110 in block 2, group 1"/>
          <p:cNvSpPr/>
          <p:nvPr/>
        </p:nvSpPr>
        <p:spPr>
          <a:xfrm>
            <a:off x="29215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11 in block 2, group 1"/>
          <p:cNvSpPr/>
          <p:nvPr/>
        </p:nvSpPr>
        <p:spPr>
          <a:xfrm>
            <a:off x="29695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5" name="Thread 112 in block 2, group 1"/>
          <p:cNvSpPr/>
          <p:nvPr/>
        </p:nvSpPr>
        <p:spPr>
          <a:xfrm>
            <a:off x="224942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6" name="Thread 113 in block 2, group 1"/>
          <p:cNvSpPr/>
          <p:nvPr/>
        </p:nvSpPr>
        <p:spPr>
          <a:xfrm>
            <a:off x="229743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7" name="Thread 114 in block 2, group 1"/>
          <p:cNvSpPr/>
          <p:nvPr/>
        </p:nvSpPr>
        <p:spPr>
          <a:xfrm>
            <a:off x="234543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8" name="Thread 115 in block 2, group 1"/>
          <p:cNvSpPr/>
          <p:nvPr/>
        </p:nvSpPr>
        <p:spPr>
          <a:xfrm>
            <a:off x="239344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9" name="Thread 116 in block 2, group 1"/>
          <p:cNvSpPr/>
          <p:nvPr/>
        </p:nvSpPr>
        <p:spPr>
          <a:xfrm>
            <a:off x="244144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0" name="Thread 117 in block 2, group 1"/>
          <p:cNvSpPr/>
          <p:nvPr/>
        </p:nvSpPr>
        <p:spPr>
          <a:xfrm>
            <a:off x="248945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18 in block 2, group 1"/>
          <p:cNvSpPr/>
          <p:nvPr/>
        </p:nvSpPr>
        <p:spPr>
          <a:xfrm>
            <a:off x="25374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2" name="Thread 119 in block 2, group 1"/>
          <p:cNvSpPr/>
          <p:nvPr/>
        </p:nvSpPr>
        <p:spPr>
          <a:xfrm>
            <a:off x="25854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3" name="Thread 120 in block 2, group 1"/>
          <p:cNvSpPr/>
          <p:nvPr/>
        </p:nvSpPr>
        <p:spPr>
          <a:xfrm>
            <a:off x="26334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4" name="Thread 121 in block 2, group 1"/>
          <p:cNvSpPr/>
          <p:nvPr/>
        </p:nvSpPr>
        <p:spPr>
          <a:xfrm>
            <a:off x="26814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5" name="Thread 122 in block 2, group 1"/>
          <p:cNvSpPr/>
          <p:nvPr/>
        </p:nvSpPr>
        <p:spPr>
          <a:xfrm>
            <a:off x="27294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6" name="Thread 123 in block 2, group 1"/>
          <p:cNvSpPr/>
          <p:nvPr/>
        </p:nvSpPr>
        <p:spPr>
          <a:xfrm>
            <a:off x="27774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7" name="Thread 124 in block 2, group 1"/>
          <p:cNvSpPr/>
          <p:nvPr/>
        </p:nvSpPr>
        <p:spPr>
          <a:xfrm>
            <a:off x="28254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8" name="Thread 125 in block 2, group 1"/>
          <p:cNvSpPr/>
          <p:nvPr/>
        </p:nvSpPr>
        <p:spPr>
          <a:xfrm>
            <a:off x="28735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9" name="Thread 126 in block 2, group 1"/>
          <p:cNvSpPr/>
          <p:nvPr/>
        </p:nvSpPr>
        <p:spPr>
          <a:xfrm>
            <a:off x="29215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0" name="Thread 127 in block 2, group 1"/>
          <p:cNvSpPr/>
          <p:nvPr/>
        </p:nvSpPr>
        <p:spPr>
          <a:xfrm>
            <a:off x="29695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1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412" name="Shape"/>
          <p:cNvSpPr/>
          <p:nvPr/>
        </p:nvSpPr>
        <p:spPr>
          <a:xfrm>
            <a:off x="45720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413" name="Group 0: warps 0–1 · barrier 1"/>
          <p:cNvSpPr/>
          <p:nvPr/>
        </p:nvSpPr>
        <p:spPr>
          <a:xfrm>
            <a:off x="5143500" y="1837944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0: warps 0–1 · barrier 1</a:t>
            </a:r>
          </a:p>
        </p:txBody>
      </p:sp>
      <p:sp>
        <p:nvSpPr>
          <p:cNvPr id="414" name="Shape"/>
          <p:cNvSpPr/>
          <p:nvPr/>
        </p:nvSpPr>
        <p:spPr>
          <a:xfrm>
            <a:off x="178308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415" name="Group 1: warps 2–3 · barrier 2"/>
          <p:cNvSpPr/>
          <p:nvPr/>
        </p:nvSpPr>
        <p:spPr>
          <a:xfrm>
            <a:off x="18402300" y="18379440"/>
            <a:ext cx="12115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1: warps 2–3 · barrier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>
  <p:cSld name="Derived Groups — Virtual gro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rived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Derived Groups</a:t>
            </a:r>
          </a:p>
        </p:txBody>
      </p:sp>
      <p:sp>
        <p:nvSpPr>
          <p:cNvPr id="3" name="Virtual 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Virtual group</a:t>
            </a:r>
          </a:p>
        </p:txBody>
      </p:sp>
      <p:sp>
        <p:nvSpPr>
          <p:cNvPr id="4" name="2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Partitions a parent group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Partitions a parent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Reuses the parent synchronizer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Reuses the parent synchronizer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Subgroups share synchronization points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Subgroups share synchronization points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Virtual group use-case example" descr="Supplemental virtual-group usage example based on repository documentation and imple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virtual_group_example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Four warps per block (128 threads).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All parent threads construct groups of two warps.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virtual_group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Queries refer to the virtual subgroup.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block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All subgroups share this synchronization point.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Synchronizes the entire parent block.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Parent block 0: shared synchronization for all 128 threads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Virtual group 0 in block 0: two warps, shared parent synchronization"/>
          <p:cNvSpPr/>
          <p:nvPr/>
        </p:nvSpPr>
        <p:spPr>
          <a:xfrm>
            <a:off x="283464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8" name="Thread 0 in block 0, group 0"/>
          <p:cNvSpPr/>
          <p:nvPr/>
        </p:nvSpPr>
        <p:spPr>
          <a:xfrm>
            <a:off x="3108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" name="Thread 1 in block 0, group 0"/>
          <p:cNvSpPr/>
          <p:nvPr/>
        </p:nvSpPr>
        <p:spPr>
          <a:xfrm>
            <a:off x="3589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" name="Thread 2 in block 0, group 0"/>
          <p:cNvSpPr/>
          <p:nvPr/>
        </p:nvSpPr>
        <p:spPr>
          <a:xfrm>
            <a:off x="4069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3 in block 0, group 0"/>
          <p:cNvSpPr/>
          <p:nvPr/>
        </p:nvSpPr>
        <p:spPr>
          <a:xfrm>
            <a:off x="4549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" name="Thread 4 in block 0, group 0"/>
          <p:cNvSpPr/>
          <p:nvPr/>
        </p:nvSpPr>
        <p:spPr>
          <a:xfrm>
            <a:off x="5029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5 in block 0, group 0"/>
          <p:cNvSpPr/>
          <p:nvPr/>
        </p:nvSpPr>
        <p:spPr>
          <a:xfrm>
            <a:off x="5509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" name="Thread 6 in block 0, group 0"/>
          <p:cNvSpPr/>
          <p:nvPr/>
        </p:nvSpPr>
        <p:spPr>
          <a:xfrm>
            <a:off x="5989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7 in block 0, group 0"/>
          <p:cNvSpPr/>
          <p:nvPr/>
        </p:nvSpPr>
        <p:spPr>
          <a:xfrm>
            <a:off x="6469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" name="Thread 8 in block 0, group 0"/>
          <p:cNvSpPr/>
          <p:nvPr/>
        </p:nvSpPr>
        <p:spPr>
          <a:xfrm>
            <a:off x="6949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9 in block 0, group 0"/>
          <p:cNvSpPr/>
          <p:nvPr/>
        </p:nvSpPr>
        <p:spPr>
          <a:xfrm>
            <a:off x="7429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" name="Thread 10 in block 0, group 0"/>
          <p:cNvSpPr/>
          <p:nvPr/>
        </p:nvSpPr>
        <p:spPr>
          <a:xfrm>
            <a:off x="79095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11 in block 0, group 0"/>
          <p:cNvSpPr/>
          <p:nvPr/>
        </p:nvSpPr>
        <p:spPr>
          <a:xfrm>
            <a:off x="83896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" name="Thread 12 in block 0, group 0"/>
          <p:cNvSpPr/>
          <p:nvPr/>
        </p:nvSpPr>
        <p:spPr>
          <a:xfrm>
            <a:off x="88696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13 in block 0, group 0"/>
          <p:cNvSpPr/>
          <p:nvPr/>
        </p:nvSpPr>
        <p:spPr>
          <a:xfrm>
            <a:off x="93497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" name="Thread 14 in block 0, group 0"/>
          <p:cNvSpPr/>
          <p:nvPr/>
        </p:nvSpPr>
        <p:spPr>
          <a:xfrm>
            <a:off x="98298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15 in block 0, group 0"/>
          <p:cNvSpPr/>
          <p:nvPr/>
        </p:nvSpPr>
        <p:spPr>
          <a:xfrm>
            <a:off x="103098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" name="Thread 16 in block 0, group 0"/>
          <p:cNvSpPr/>
          <p:nvPr/>
        </p:nvSpPr>
        <p:spPr>
          <a:xfrm>
            <a:off x="3108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17 in block 0, group 0"/>
          <p:cNvSpPr/>
          <p:nvPr/>
        </p:nvSpPr>
        <p:spPr>
          <a:xfrm>
            <a:off x="3589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" name="Thread 18 in block 0, group 0"/>
          <p:cNvSpPr/>
          <p:nvPr/>
        </p:nvSpPr>
        <p:spPr>
          <a:xfrm>
            <a:off x="4069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19 in block 0, group 0"/>
          <p:cNvSpPr/>
          <p:nvPr/>
        </p:nvSpPr>
        <p:spPr>
          <a:xfrm>
            <a:off x="4549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" name="Thread 20 in block 0, group 0"/>
          <p:cNvSpPr/>
          <p:nvPr/>
        </p:nvSpPr>
        <p:spPr>
          <a:xfrm>
            <a:off x="5029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21 in block 0, group 0"/>
          <p:cNvSpPr/>
          <p:nvPr/>
        </p:nvSpPr>
        <p:spPr>
          <a:xfrm>
            <a:off x="5509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" name="Thread 22 in block 0, group 0"/>
          <p:cNvSpPr/>
          <p:nvPr/>
        </p:nvSpPr>
        <p:spPr>
          <a:xfrm>
            <a:off x="5989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23 in block 0, group 0"/>
          <p:cNvSpPr/>
          <p:nvPr/>
        </p:nvSpPr>
        <p:spPr>
          <a:xfrm>
            <a:off x="6469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2" name="Thread 24 in block 0, group 0"/>
          <p:cNvSpPr/>
          <p:nvPr/>
        </p:nvSpPr>
        <p:spPr>
          <a:xfrm>
            <a:off x="6949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25 in block 0, group 0"/>
          <p:cNvSpPr/>
          <p:nvPr/>
        </p:nvSpPr>
        <p:spPr>
          <a:xfrm>
            <a:off x="7429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4" name="Thread 26 in block 0, group 0"/>
          <p:cNvSpPr/>
          <p:nvPr/>
        </p:nvSpPr>
        <p:spPr>
          <a:xfrm>
            <a:off x="79095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27 in block 0, group 0"/>
          <p:cNvSpPr/>
          <p:nvPr/>
        </p:nvSpPr>
        <p:spPr>
          <a:xfrm>
            <a:off x="83896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6" name="Thread 28 in block 0, group 0"/>
          <p:cNvSpPr/>
          <p:nvPr/>
        </p:nvSpPr>
        <p:spPr>
          <a:xfrm>
            <a:off x="88696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29 in block 0, group 0"/>
          <p:cNvSpPr/>
          <p:nvPr/>
        </p:nvSpPr>
        <p:spPr>
          <a:xfrm>
            <a:off x="93497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8" name="Thread 30 in block 0, group 0"/>
          <p:cNvSpPr/>
          <p:nvPr/>
        </p:nvSpPr>
        <p:spPr>
          <a:xfrm>
            <a:off x="98298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31 in block 0, group 0"/>
          <p:cNvSpPr/>
          <p:nvPr/>
        </p:nvSpPr>
        <p:spPr>
          <a:xfrm>
            <a:off x="103098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0" name="Thread 32 in block 0, group 0"/>
          <p:cNvSpPr/>
          <p:nvPr/>
        </p:nvSpPr>
        <p:spPr>
          <a:xfrm>
            <a:off x="3108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33 in block 0, group 0"/>
          <p:cNvSpPr/>
          <p:nvPr/>
        </p:nvSpPr>
        <p:spPr>
          <a:xfrm>
            <a:off x="3589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2" name="Thread 34 in block 0, group 0"/>
          <p:cNvSpPr/>
          <p:nvPr/>
        </p:nvSpPr>
        <p:spPr>
          <a:xfrm>
            <a:off x="4069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35 in block 0, group 0"/>
          <p:cNvSpPr/>
          <p:nvPr/>
        </p:nvSpPr>
        <p:spPr>
          <a:xfrm>
            <a:off x="4549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4" name="Thread 36 in block 0, group 0"/>
          <p:cNvSpPr/>
          <p:nvPr/>
        </p:nvSpPr>
        <p:spPr>
          <a:xfrm>
            <a:off x="5029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37 in block 0, group 0"/>
          <p:cNvSpPr/>
          <p:nvPr/>
        </p:nvSpPr>
        <p:spPr>
          <a:xfrm>
            <a:off x="5509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6" name="Thread 38 in block 0, group 0"/>
          <p:cNvSpPr/>
          <p:nvPr/>
        </p:nvSpPr>
        <p:spPr>
          <a:xfrm>
            <a:off x="5989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39 in block 0, group 0"/>
          <p:cNvSpPr/>
          <p:nvPr/>
        </p:nvSpPr>
        <p:spPr>
          <a:xfrm>
            <a:off x="6469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8" name="Thread 40 in block 0, group 0"/>
          <p:cNvSpPr/>
          <p:nvPr/>
        </p:nvSpPr>
        <p:spPr>
          <a:xfrm>
            <a:off x="6949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41 in block 0, group 0"/>
          <p:cNvSpPr/>
          <p:nvPr/>
        </p:nvSpPr>
        <p:spPr>
          <a:xfrm>
            <a:off x="7429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0" name="Thread 42 in block 0, group 0"/>
          <p:cNvSpPr/>
          <p:nvPr/>
        </p:nvSpPr>
        <p:spPr>
          <a:xfrm>
            <a:off x="79095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43 in block 0, group 0"/>
          <p:cNvSpPr/>
          <p:nvPr/>
        </p:nvSpPr>
        <p:spPr>
          <a:xfrm>
            <a:off x="83896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2" name="Thread 44 in block 0, group 0"/>
          <p:cNvSpPr/>
          <p:nvPr/>
        </p:nvSpPr>
        <p:spPr>
          <a:xfrm>
            <a:off x="88696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45 in block 0, group 0"/>
          <p:cNvSpPr/>
          <p:nvPr/>
        </p:nvSpPr>
        <p:spPr>
          <a:xfrm>
            <a:off x="93497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4" name="Thread 46 in block 0, group 0"/>
          <p:cNvSpPr/>
          <p:nvPr/>
        </p:nvSpPr>
        <p:spPr>
          <a:xfrm>
            <a:off x="98298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47 in block 0, group 0"/>
          <p:cNvSpPr/>
          <p:nvPr/>
        </p:nvSpPr>
        <p:spPr>
          <a:xfrm>
            <a:off x="103098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6" name="Thread 48 in block 0, group 0"/>
          <p:cNvSpPr/>
          <p:nvPr/>
        </p:nvSpPr>
        <p:spPr>
          <a:xfrm>
            <a:off x="3108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49 in block 0, group 0"/>
          <p:cNvSpPr/>
          <p:nvPr/>
        </p:nvSpPr>
        <p:spPr>
          <a:xfrm>
            <a:off x="3589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8" name="Thread 50 in block 0, group 0"/>
          <p:cNvSpPr/>
          <p:nvPr/>
        </p:nvSpPr>
        <p:spPr>
          <a:xfrm>
            <a:off x="4069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51 in block 0, group 0"/>
          <p:cNvSpPr/>
          <p:nvPr/>
        </p:nvSpPr>
        <p:spPr>
          <a:xfrm>
            <a:off x="4549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0" name="Thread 52 in block 0, group 0"/>
          <p:cNvSpPr/>
          <p:nvPr/>
        </p:nvSpPr>
        <p:spPr>
          <a:xfrm>
            <a:off x="5029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53 in block 0, group 0"/>
          <p:cNvSpPr/>
          <p:nvPr/>
        </p:nvSpPr>
        <p:spPr>
          <a:xfrm>
            <a:off x="5509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2" name="Thread 54 in block 0, group 0"/>
          <p:cNvSpPr/>
          <p:nvPr/>
        </p:nvSpPr>
        <p:spPr>
          <a:xfrm>
            <a:off x="5989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55 in block 0, group 0"/>
          <p:cNvSpPr/>
          <p:nvPr/>
        </p:nvSpPr>
        <p:spPr>
          <a:xfrm>
            <a:off x="6469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4" name="Thread 56 in block 0, group 0"/>
          <p:cNvSpPr/>
          <p:nvPr/>
        </p:nvSpPr>
        <p:spPr>
          <a:xfrm>
            <a:off x="6949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57 in block 0, group 0"/>
          <p:cNvSpPr/>
          <p:nvPr/>
        </p:nvSpPr>
        <p:spPr>
          <a:xfrm>
            <a:off x="7429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6" name="Thread 58 in block 0, group 0"/>
          <p:cNvSpPr/>
          <p:nvPr/>
        </p:nvSpPr>
        <p:spPr>
          <a:xfrm>
            <a:off x="79095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59 in block 0, group 0"/>
          <p:cNvSpPr/>
          <p:nvPr/>
        </p:nvSpPr>
        <p:spPr>
          <a:xfrm>
            <a:off x="83896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8" name="Thread 60 in block 0, group 0"/>
          <p:cNvSpPr/>
          <p:nvPr/>
        </p:nvSpPr>
        <p:spPr>
          <a:xfrm>
            <a:off x="88696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61 in block 0, group 0"/>
          <p:cNvSpPr/>
          <p:nvPr/>
        </p:nvSpPr>
        <p:spPr>
          <a:xfrm>
            <a:off x="93497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0" name="Thread 62 in block 0, group 0"/>
          <p:cNvSpPr/>
          <p:nvPr/>
        </p:nvSpPr>
        <p:spPr>
          <a:xfrm>
            <a:off x="98298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63 in block 0, group 0"/>
          <p:cNvSpPr/>
          <p:nvPr/>
        </p:nvSpPr>
        <p:spPr>
          <a:xfrm>
            <a:off x="103098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2" name="Virtual group 1 in block 0: two warps, shared parent synchronization"/>
          <p:cNvSpPr/>
          <p:nvPr/>
        </p:nvSpPr>
        <p:spPr>
          <a:xfrm>
            <a:off x="283464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83" name="Thread 64 in block 0, group 1"/>
          <p:cNvSpPr/>
          <p:nvPr/>
        </p:nvSpPr>
        <p:spPr>
          <a:xfrm>
            <a:off x="3108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4" name="Thread 65 in block 0, group 1"/>
          <p:cNvSpPr/>
          <p:nvPr/>
        </p:nvSpPr>
        <p:spPr>
          <a:xfrm>
            <a:off x="3589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Thread 66 in block 0, group 1"/>
          <p:cNvSpPr/>
          <p:nvPr/>
        </p:nvSpPr>
        <p:spPr>
          <a:xfrm>
            <a:off x="4069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6" name="Thread 67 in block 0, group 1"/>
          <p:cNvSpPr/>
          <p:nvPr/>
        </p:nvSpPr>
        <p:spPr>
          <a:xfrm>
            <a:off x="4549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Thread 68 in block 0, group 1"/>
          <p:cNvSpPr/>
          <p:nvPr/>
        </p:nvSpPr>
        <p:spPr>
          <a:xfrm>
            <a:off x="5029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8" name="Thread 69 in block 0, group 1"/>
          <p:cNvSpPr/>
          <p:nvPr/>
        </p:nvSpPr>
        <p:spPr>
          <a:xfrm>
            <a:off x="5509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9" name="Thread 70 in block 0, group 1"/>
          <p:cNvSpPr/>
          <p:nvPr/>
        </p:nvSpPr>
        <p:spPr>
          <a:xfrm>
            <a:off x="5989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Thread 71 in block 0, group 1"/>
          <p:cNvSpPr/>
          <p:nvPr/>
        </p:nvSpPr>
        <p:spPr>
          <a:xfrm>
            <a:off x="6469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1" name="Thread 72 in block 0, group 1"/>
          <p:cNvSpPr/>
          <p:nvPr/>
        </p:nvSpPr>
        <p:spPr>
          <a:xfrm>
            <a:off x="6949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Thread 73 in block 0, group 1"/>
          <p:cNvSpPr/>
          <p:nvPr/>
        </p:nvSpPr>
        <p:spPr>
          <a:xfrm>
            <a:off x="7429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Thread 74 in block 0, group 1"/>
          <p:cNvSpPr/>
          <p:nvPr/>
        </p:nvSpPr>
        <p:spPr>
          <a:xfrm>
            <a:off x="79095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Thread 75 in block 0, group 1"/>
          <p:cNvSpPr/>
          <p:nvPr/>
        </p:nvSpPr>
        <p:spPr>
          <a:xfrm>
            <a:off x="83896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Thread 76 in block 0, group 1"/>
          <p:cNvSpPr/>
          <p:nvPr/>
        </p:nvSpPr>
        <p:spPr>
          <a:xfrm>
            <a:off x="88696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Thread 77 in block 0, group 1"/>
          <p:cNvSpPr/>
          <p:nvPr/>
        </p:nvSpPr>
        <p:spPr>
          <a:xfrm>
            <a:off x="93497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Thread 78 in block 0, group 1"/>
          <p:cNvSpPr/>
          <p:nvPr/>
        </p:nvSpPr>
        <p:spPr>
          <a:xfrm>
            <a:off x="98298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Thread 79 in block 0, group 1"/>
          <p:cNvSpPr/>
          <p:nvPr/>
        </p:nvSpPr>
        <p:spPr>
          <a:xfrm>
            <a:off x="103098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Thread 80 in block 0, group 1"/>
          <p:cNvSpPr/>
          <p:nvPr/>
        </p:nvSpPr>
        <p:spPr>
          <a:xfrm>
            <a:off x="3108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Thread 81 in block 0, group 1"/>
          <p:cNvSpPr/>
          <p:nvPr/>
        </p:nvSpPr>
        <p:spPr>
          <a:xfrm>
            <a:off x="3589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Thread 82 in block 0, group 1"/>
          <p:cNvSpPr/>
          <p:nvPr/>
        </p:nvSpPr>
        <p:spPr>
          <a:xfrm>
            <a:off x="4069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Thread 83 in block 0, group 1"/>
          <p:cNvSpPr/>
          <p:nvPr/>
        </p:nvSpPr>
        <p:spPr>
          <a:xfrm>
            <a:off x="4549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Thread 84 in block 0, group 1"/>
          <p:cNvSpPr/>
          <p:nvPr/>
        </p:nvSpPr>
        <p:spPr>
          <a:xfrm>
            <a:off x="5029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Thread 85 in block 0, group 1"/>
          <p:cNvSpPr/>
          <p:nvPr/>
        </p:nvSpPr>
        <p:spPr>
          <a:xfrm>
            <a:off x="5509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Thread 86 in block 0, group 1"/>
          <p:cNvSpPr/>
          <p:nvPr/>
        </p:nvSpPr>
        <p:spPr>
          <a:xfrm>
            <a:off x="5989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Thread 87 in block 0, group 1"/>
          <p:cNvSpPr/>
          <p:nvPr/>
        </p:nvSpPr>
        <p:spPr>
          <a:xfrm>
            <a:off x="6469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Thread 88 in block 0, group 1"/>
          <p:cNvSpPr/>
          <p:nvPr/>
        </p:nvSpPr>
        <p:spPr>
          <a:xfrm>
            <a:off x="6949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Thread 89 in block 0, group 1"/>
          <p:cNvSpPr/>
          <p:nvPr/>
        </p:nvSpPr>
        <p:spPr>
          <a:xfrm>
            <a:off x="7429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Thread 90 in block 0, group 1"/>
          <p:cNvSpPr/>
          <p:nvPr/>
        </p:nvSpPr>
        <p:spPr>
          <a:xfrm>
            <a:off x="79095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Thread 91 in block 0, group 1"/>
          <p:cNvSpPr/>
          <p:nvPr/>
        </p:nvSpPr>
        <p:spPr>
          <a:xfrm>
            <a:off x="83896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Thread 92 in block 0, group 1"/>
          <p:cNvSpPr/>
          <p:nvPr/>
        </p:nvSpPr>
        <p:spPr>
          <a:xfrm>
            <a:off x="88696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Thread 93 in block 0, group 1"/>
          <p:cNvSpPr/>
          <p:nvPr/>
        </p:nvSpPr>
        <p:spPr>
          <a:xfrm>
            <a:off x="93497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Thread 94 in block 0, group 1"/>
          <p:cNvSpPr/>
          <p:nvPr/>
        </p:nvSpPr>
        <p:spPr>
          <a:xfrm>
            <a:off x="98298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Thread 95 in block 0, group 1"/>
          <p:cNvSpPr/>
          <p:nvPr/>
        </p:nvSpPr>
        <p:spPr>
          <a:xfrm>
            <a:off x="103098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Thread 96 in block 0, group 1"/>
          <p:cNvSpPr/>
          <p:nvPr/>
        </p:nvSpPr>
        <p:spPr>
          <a:xfrm>
            <a:off x="3108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Thread 97 in block 0, group 1"/>
          <p:cNvSpPr/>
          <p:nvPr/>
        </p:nvSpPr>
        <p:spPr>
          <a:xfrm>
            <a:off x="3589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Thread 98 in block 0, group 1"/>
          <p:cNvSpPr/>
          <p:nvPr/>
        </p:nvSpPr>
        <p:spPr>
          <a:xfrm>
            <a:off x="4069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Thread 99 in block 0, group 1"/>
          <p:cNvSpPr/>
          <p:nvPr/>
        </p:nvSpPr>
        <p:spPr>
          <a:xfrm>
            <a:off x="4549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Thread 100 in block 0, group 1"/>
          <p:cNvSpPr/>
          <p:nvPr/>
        </p:nvSpPr>
        <p:spPr>
          <a:xfrm>
            <a:off x="5029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Thread 101 in block 0, group 1"/>
          <p:cNvSpPr/>
          <p:nvPr/>
        </p:nvSpPr>
        <p:spPr>
          <a:xfrm>
            <a:off x="5509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Thread 102 in block 0, group 1"/>
          <p:cNvSpPr/>
          <p:nvPr/>
        </p:nvSpPr>
        <p:spPr>
          <a:xfrm>
            <a:off x="5989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Thread 103 in block 0, group 1"/>
          <p:cNvSpPr/>
          <p:nvPr/>
        </p:nvSpPr>
        <p:spPr>
          <a:xfrm>
            <a:off x="6469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Thread 104 in block 0, group 1"/>
          <p:cNvSpPr/>
          <p:nvPr/>
        </p:nvSpPr>
        <p:spPr>
          <a:xfrm>
            <a:off x="6949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Thread 105 in block 0, group 1"/>
          <p:cNvSpPr/>
          <p:nvPr/>
        </p:nvSpPr>
        <p:spPr>
          <a:xfrm>
            <a:off x="7429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Thread 106 in block 0, group 1"/>
          <p:cNvSpPr/>
          <p:nvPr/>
        </p:nvSpPr>
        <p:spPr>
          <a:xfrm>
            <a:off x="79095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Thread 107 in block 0, group 1"/>
          <p:cNvSpPr/>
          <p:nvPr/>
        </p:nvSpPr>
        <p:spPr>
          <a:xfrm>
            <a:off x="83896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Thread 108 in block 0, group 1"/>
          <p:cNvSpPr/>
          <p:nvPr/>
        </p:nvSpPr>
        <p:spPr>
          <a:xfrm>
            <a:off x="88696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Thread 109 in block 0, group 1"/>
          <p:cNvSpPr/>
          <p:nvPr/>
        </p:nvSpPr>
        <p:spPr>
          <a:xfrm>
            <a:off x="93497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Thread 110 in block 0, group 1"/>
          <p:cNvSpPr/>
          <p:nvPr/>
        </p:nvSpPr>
        <p:spPr>
          <a:xfrm>
            <a:off x="98298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Thread 111 in block 0, group 1"/>
          <p:cNvSpPr/>
          <p:nvPr/>
        </p:nvSpPr>
        <p:spPr>
          <a:xfrm>
            <a:off x="103098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Thread 112 in block 0, group 1"/>
          <p:cNvSpPr/>
          <p:nvPr/>
        </p:nvSpPr>
        <p:spPr>
          <a:xfrm>
            <a:off x="3108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Thread 113 in block 0, group 1"/>
          <p:cNvSpPr/>
          <p:nvPr/>
        </p:nvSpPr>
        <p:spPr>
          <a:xfrm>
            <a:off x="3589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Thread 114 in block 0, group 1"/>
          <p:cNvSpPr/>
          <p:nvPr/>
        </p:nvSpPr>
        <p:spPr>
          <a:xfrm>
            <a:off x="4069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Thread 115 in block 0, group 1"/>
          <p:cNvSpPr/>
          <p:nvPr/>
        </p:nvSpPr>
        <p:spPr>
          <a:xfrm>
            <a:off x="4549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Thread 116 in block 0, group 1"/>
          <p:cNvSpPr/>
          <p:nvPr/>
        </p:nvSpPr>
        <p:spPr>
          <a:xfrm>
            <a:off x="5029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Thread 117 in block 0, group 1"/>
          <p:cNvSpPr/>
          <p:nvPr/>
        </p:nvSpPr>
        <p:spPr>
          <a:xfrm>
            <a:off x="5509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Thread 118 in block 0, group 1"/>
          <p:cNvSpPr/>
          <p:nvPr/>
        </p:nvSpPr>
        <p:spPr>
          <a:xfrm>
            <a:off x="5989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Thread 119 in block 0, group 1"/>
          <p:cNvSpPr/>
          <p:nvPr/>
        </p:nvSpPr>
        <p:spPr>
          <a:xfrm>
            <a:off x="6469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Thread 120 in block 0, group 1"/>
          <p:cNvSpPr/>
          <p:nvPr/>
        </p:nvSpPr>
        <p:spPr>
          <a:xfrm>
            <a:off x="6949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Thread 121 in block 0, group 1"/>
          <p:cNvSpPr/>
          <p:nvPr/>
        </p:nvSpPr>
        <p:spPr>
          <a:xfrm>
            <a:off x="7429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Thread 122 in block 0, group 1"/>
          <p:cNvSpPr/>
          <p:nvPr/>
        </p:nvSpPr>
        <p:spPr>
          <a:xfrm>
            <a:off x="79095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Thread 123 in block 0, group 1"/>
          <p:cNvSpPr/>
          <p:nvPr/>
        </p:nvSpPr>
        <p:spPr>
          <a:xfrm>
            <a:off x="83896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Thread 124 in block 0, group 1"/>
          <p:cNvSpPr/>
          <p:nvPr/>
        </p:nvSpPr>
        <p:spPr>
          <a:xfrm>
            <a:off x="88696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Thread 125 in block 0, group 1"/>
          <p:cNvSpPr/>
          <p:nvPr/>
        </p:nvSpPr>
        <p:spPr>
          <a:xfrm>
            <a:off x="93497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Thread 126 in block 0, group 1"/>
          <p:cNvSpPr/>
          <p:nvPr/>
        </p:nvSpPr>
        <p:spPr>
          <a:xfrm>
            <a:off x="98298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Thread 127 in block 0, group 1"/>
          <p:cNvSpPr/>
          <p:nvPr/>
        </p:nvSpPr>
        <p:spPr>
          <a:xfrm>
            <a:off x="103098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Parent block 1: shared synchronization for all 128 threads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148" name="Block 1"/>
          <p:cNvSpPr/>
          <p:nvPr/>
        </p:nvSpPr>
        <p:spPr>
          <a:xfrm>
            <a:off x="1252728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49" name="Virtual group 0 in block 1: two warps, shared parent synchronization"/>
          <p:cNvSpPr/>
          <p:nvPr/>
        </p:nvSpPr>
        <p:spPr>
          <a:xfrm>
            <a:off x="1252728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150" name="Thread 0 in block 1, group 0"/>
          <p:cNvSpPr/>
          <p:nvPr/>
        </p:nvSpPr>
        <p:spPr>
          <a:xfrm>
            <a:off x="12801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Thread 1 in block 1, group 0"/>
          <p:cNvSpPr/>
          <p:nvPr/>
        </p:nvSpPr>
        <p:spPr>
          <a:xfrm>
            <a:off x="13281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Thread 2 in block 1, group 0"/>
          <p:cNvSpPr/>
          <p:nvPr/>
        </p:nvSpPr>
        <p:spPr>
          <a:xfrm>
            <a:off x="13761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Thread 3 in block 1, group 0"/>
          <p:cNvSpPr/>
          <p:nvPr/>
        </p:nvSpPr>
        <p:spPr>
          <a:xfrm>
            <a:off x="14241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Thread 4 in block 1, group 0"/>
          <p:cNvSpPr/>
          <p:nvPr/>
        </p:nvSpPr>
        <p:spPr>
          <a:xfrm>
            <a:off x="14721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Thread 5 in block 1, group 0"/>
          <p:cNvSpPr/>
          <p:nvPr/>
        </p:nvSpPr>
        <p:spPr>
          <a:xfrm>
            <a:off x="15201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Thread 6 in block 1, group 0"/>
          <p:cNvSpPr/>
          <p:nvPr/>
        </p:nvSpPr>
        <p:spPr>
          <a:xfrm>
            <a:off x="15681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Thread 7 in block 1, group 0"/>
          <p:cNvSpPr/>
          <p:nvPr/>
        </p:nvSpPr>
        <p:spPr>
          <a:xfrm>
            <a:off x="16162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8" name="Thread 8 in block 1, group 0"/>
          <p:cNvSpPr/>
          <p:nvPr/>
        </p:nvSpPr>
        <p:spPr>
          <a:xfrm>
            <a:off x="16642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Thread 9 in block 1, group 0"/>
          <p:cNvSpPr/>
          <p:nvPr/>
        </p:nvSpPr>
        <p:spPr>
          <a:xfrm>
            <a:off x="17122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Thread 10 in block 1, group 0"/>
          <p:cNvSpPr/>
          <p:nvPr/>
        </p:nvSpPr>
        <p:spPr>
          <a:xfrm>
            <a:off x="176022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Thread 11 in block 1, group 0"/>
          <p:cNvSpPr/>
          <p:nvPr/>
        </p:nvSpPr>
        <p:spPr>
          <a:xfrm>
            <a:off x="180822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Thread 12 in block 1, group 0"/>
          <p:cNvSpPr/>
          <p:nvPr/>
        </p:nvSpPr>
        <p:spPr>
          <a:xfrm>
            <a:off x="185623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Thread 13 in block 1, group 0"/>
          <p:cNvSpPr/>
          <p:nvPr/>
        </p:nvSpPr>
        <p:spPr>
          <a:xfrm>
            <a:off x="190423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Thread 14 in block 1, group 0"/>
          <p:cNvSpPr/>
          <p:nvPr/>
        </p:nvSpPr>
        <p:spPr>
          <a:xfrm>
            <a:off x="195224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Thread 15 in block 1, group 0"/>
          <p:cNvSpPr/>
          <p:nvPr/>
        </p:nvSpPr>
        <p:spPr>
          <a:xfrm>
            <a:off x="200025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Thread 16 in block 1, group 0"/>
          <p:cNvSpPr/>
          <p:nvPr/>
        </p:nvSpPr>
        <p:spPr>
          <a:xfrm>
            <a:off x="12801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Thread 17 in block 1, group 0"/>
          <p:cNvSpPr/>
          <p:nvPr/>
        </p:nvSpPr>
        <p:spPr>
          <a:xfrm>
            <a:off x="13281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Thread 18 in block 1, group 0"/>
          <p:cNvSpPr/>
          <p:nvPr/>
        </p:nvSpPr>
        <p:spPr>
          <a:xfrm>
            <a:off x="13761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Thread 19 in block 1, group 0"/>
          <p:cNvSpPr/>
          <p:nvPr/>
        </p:nvSpPr>
        <p:spPr>
          <a:xfrm>
            <a:off x="14241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Thread 20 in block 1, group 0"/>
          <p:cNvSpPr/>
          <p:nvPr/>
        </p:nvSpPr>
        <p:spPr>
          <a:xfrm>
            <a:off x="14721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Thread 21 in block 1, group 0"/>
          <p:cNvSpPr/>
          <p:nvPr/>
        </p:nvSpPr>
        <p:spPr>
          <a:xfrm>
            <a:off x="15201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Thread 22 in block 1, group 0"/>
          <p:cNvSpPr/>
          <p:nvPr/>
        </p:nvSpPr>
        <p:spPr>
          <a:xfrm>
            <a:off x="15681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Thread 23 in block 1, group 0"/>
          <p:cNvSpPr/>
          <p:nvPr/>
        </p:nvSpPr>
        <p:spPr>
          <a:xfrm>
            <a:off x="16162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Thread 24 in block 1, group 0"/>
          <p:cNvSpPr/>
          <p:nvPr/>
        </p:nvSpPr>
        <p:spPr>
          <a:xfrm>
            <a:off x="16642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Thread 25 in block 1, group 0"/>
          <p:cNvSpPr/>
          <p:nvPr/>
        </p:nvSpPr>
        <p:spPr>
          <a:xfrm>
            <a:off x="17122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Thread 26 in block 1, group 0"/>
          <p:cNvSpPr/>
          <p:nvPr/>
        </p:nvSpPr>
        <p:spPr>
          <a:xfrm>
            <a:off x="176022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Thread 27 in block 1, group 0"/>
          <p:cNvSpPr/>
          <p:nvPr/>
        </p:nvSpPr>
        <p:spPr>
          <a:xfrm>
            <a:off x="180822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Thread 28 in block 1, group 0"/>
          <p:cNvSpPr/>
          <p:nvPr/>
        </p:nvSpPr>
        <p:spPr>
          <a:xfrm>
            <a:off x="185623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Thread 29 in block 1, group 0"/>
          <p:cNvSpPr/>
          <p:nvPr/>
        </p:nvSpPr>
        <p:spPr>
          <a:xfrm>
            <a:off x="190423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Thread 30 in block 1, group 0"/>
          <p:cNvSpPr/>
          <p:nvPr/>
        </p:nvSpPr>
        <p:spPr>
          <a:xfrm>
            <a:off x="195224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Thread 31 in block 1, group 0"/>
          <p:cNvSpPr/>
          <p:nvPr/>
        </p:nvSpPr>
        <p:spPr>
          <a:xfrm>
            <a:off x="200025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Thread 32 in block 1, group 0"/>
          <p:cNvSpPr/>
          <p:nvPr/>
        </p:nvSpPr>
        <p:spPr>
          <a:xfrm>
            <a:off x="12801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Thread 33 in block 1, group 0"/>
          <p:cNvSpPr/>
          <p:nvPr/>
        </p:nvSpPr>
        <p:spPr>
          <a:xfrm>
            <a:off x="13281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Thread 34 in block 1, group 0"/>
          <p:cNvSpPr/>
          <p:nvPr/>
        </p:nvSpPr>
        <p:spPr>
          <a:xfrm>
            <a:off x="13761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5" name="Thread 35 in block 1, group 0"/>
          <p:cNvSpPr/>
          <p:nvPr/>
        </p:nvSpPr>
        <p:spPr>
          <a:xfrm>
            <a:off x="14241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Thread 36 in block 1, group 0"/>
          <p:cNvSpPr/>
          <p:nvPr/>
        </p:nvSpPr>
        <p:spPr>
          <a:xfrm>
            <a:off x="14721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7" name="Thread 37 in block 1, group 0"/>
          <p:cNvSpPr/>
          <p:nvPr/>
        </p:nvSpPr>
        <p:spPr>
          <a:xfrm>
            <a:off x="15201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Thread 38 in block 1, group 0"/>
          <p:cNvSpPr/>
          <p:nvPr/>
        </p:nvSpPr>
        <p:spPr>
          <a:xfrm>
            <a:off x="15681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89" name="Thread 39 in block 1, group 0"/>
          <p:cNvSpPr/>
          <p:nvPr/>
        </p:nvSpPr>
        <p:spPr>
          <a:xfrm>
            <a:off x="16162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Thread 40 in block 1, group 0"/>
          <p:cNvSpPr/>
          <p:nvPr/>
        </p:nvSpPr>
        <p:spPr>
          <a:xfrm>
            <a:off x="16642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1" name="Thread 41 in block 1, group 0"/>
          <p:cNvSpPr/>
          <p:nvPr/>
        </p:nvSpPr>
        <p:spPr>
          <a:xfrm>
            <a:off x="17122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Thread 42 in block 1, group 0"/>
          <p:cNvSpPr/>
          <p:nvPr/>
        </p:nvSpPr>
        <p:spPr>
          <a:xfrm>
            <a:off x="176022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3" name="Thread 43 in block 1, group 0"/>
          <p:cNvSpPr/>
          <p:nvPr/>
        </p:nvSpPr>
        <p:spPr>
          <a:xfrm>
            <a:off x="180822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Thread 44 in block 1, group 0"/>
          <p:cNvSpPr/>
          <p:nvPr/>
        </p:nvSpPr>
        <p:spPr>
          <a:xfrm>
            <a:off x="185623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5" name="Thread 45 in block 1, group 0"/>
          <p:cNvSpPr/>
          <p:nvPr/>
        </p:nvSpPr>
        <p:spPr>
          <a:xfrm>
            <a:off x="190423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Thread 46 in block 1, group 0"/>
          <p:cNvSpPr/>
          <p:nvPr/>
        </p:nvSpPr>
        <p:spPr>
          <a:xfrm>
            <a:off x="195224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7" name="Thread 47 in block 1, group 0"/>
          <p:cNvSpPr/>
          <p:nvPr/>
        </p:nvSpPr>
        <p:spPr>
          <a:xfrm>
            <a:off x="200025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Thread 48 in block 1, group 0"/>
          <p:cNvSpPr/>
          <p:nvPr/>
        </p:nvSpPr>
        <p:spPr>
          <a:xfrm>
            <a:off x="12801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199" name="Thread 49 in block 1, group 0"/>
          <p:cNvSpPr/>
          <p:nvPr/>
        </p:nvSpPr>
        <p:spPr>
          <a:xfrm>
            <a:off x="13281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0" name="Thread 50 in block 1, group 0"/>
          <p:cNvSpPr/>
          <p:nvPr/>
        </p:nvSpPr>
        <p:spPr>
          <a:xfrm>
            <a:off x="13761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1" name="Thread 51 in block 1, group 0"/>
          <p:cNvSpPr/>
          <p:nvPr/>
        </p:nvSpPr>
        <p:spPr>
          <a:xfrm>
            <a:off x="14241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2" name="Thread 52 in block 1, group 0"/>
          <p:cNvSpPr/>
          <p:nvPr/>
        </p:nvSpPr>
        <p:spPr>
          <a:xfrm>
            <a:off x="14721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3" name="Thread 53 in block 1, group 0"/>
          <p:cNvSpPr/>
          <p:nvPr/>
        </p:nvSpPr>
        <p:spPr>
          <a:xfrm>
            <a:off x="15201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4" name="Thread 54 in block 1, group 0"/>
          <p:cNvSpPr/>
          <p:nvPr/>
        </p:nvSpPr>
        <p:spPr>
          <a:xfrm>
            <a:off x="15681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5" name="Thread 55 in block 1, group 0"/>
          <p:cNvSpPr/>
          <p:nvPr/>
        </p:nvSpPr>
        <p:spPr>
          <a:xfrm>
            <a:off x="16162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6" name="Thread 56 in block 1, group 0"/>
          <p:cNvSpPr/>
          <p:nvPr/>
        </p:nvSpPr>
        <p:spPr>
          <a:xfrm>
            <a:off x="16642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7" name="Thread 57 in block 1, group 0"/>
          <p:cNvSpPr/>
          <p:nvPr/>
        </p:nvSpPr>
        <p:spPr>
          <a:xfrm>
            <a:off x="17122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8" name="Thread 58 in block 1, group 0"/>
          <p:cNvSpPr/>
          <p:nvPr/>
        </p:nvSpPr>
        <p:spPr>
          <a:xfrm>
            <a:off x="176022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09" name="Thread 59 in block 1, group 0"/>
          <p:cNvSpPr/>
          <p:nvPr/>
        </p:nvSpPr>
        <p:spPr>
          <a:xfrm>
            <a:off x="180822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0" name="Thread 60 in block 1, group 0"/>
          <p:cNvSpPr/>
          <p:nvPr/>
        </p:nvSpPr>
        <p:spPr>
          <a:xfrm>
            <a:off x="185623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1" name="Thread 61 in block 1, group 0"/>
          <p:cNvSpPr/>
          <p:nvPr/>
        </p:nvSpPr>
        <p:spPr>
          <a:xfrm>
            <a:off x="190423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2" name="Thread 62 in block 1, group 0"/>
          <p:cNvSpPr/>
          <p:nvPr/>
        </p:nvSpPr>
        <p:spPr>
          <a:xfrm>
            <a:off x="195224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3" name="Thread 63 in block 1, group 0"/>
          <p:cNvSpPr/>
          <p:nvPr/>
        </p:nvSpPr>
        <p:spPr>
          <a:xfrm>
            <a:off x="200025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4" name="Virtual group 1 in block 1: two warps, shared parent synchronization"/>
          <p:cNvSpPr/>
          <p:nvPr/>
        </p:nvSpPr>
        <p:spPr>
          <a:xfrm>
            <a:off x="1252728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15" name="Thread 64 in block 1, group 1"/>
          <p:cNvSpPr/>
          <p:nvPr/>
        </p:nvSpPr>
        <p:spPr>
          <a:xfrm>
            <a:off x="12801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6" name="Thread 65 in block 1, group 1"/>
          <p:cNvSpPr/>
          <p:nvPr/>
        </p:nvSpPr>
        <p:spPr>
          <a:xfrm>
            <a:off x="13281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7" name="Thread 66 in block 1, group 1"/>
          <p:cNvSpPr/>
          <p:nvPr/>
        </p:nvSpPr>
        <p:spPr>
          <a:xfrm>
            <a:off x="13761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8" name="Thread 67 in block 1, group 1"/>
          <p:cNvSpPr/>
          <p:nvPr/>
        </p:nvSpPr>
        <p:spPr>
          <a:xfrm>
            <a:off x="14241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9" name="Thread 68 in block 1, group 1"/>
          <p:cNvSpPr/>
          <p:nvPr/>
        </p:nvSpPr>
        <p:spPr>
          <a:xfrm>
            <a:off x="14721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0" name="Thread 69 in block 1, group 1"/>
          <p:cNvSpPr/>
          <p:nvPr/>
        </p:nvSpPr>
        <p:spPr>
          <a:xfrm>
            <a:off x="15201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1" name="Thread 70 in block 1, group 1"/>
          <p:cNvSpPr/>
          <p:nvPr/>
        </p:nvSpPr>
        <p:spPr>
          <a:xfrm>
            <a:off x="15681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2" name="Thread 71 in block 1, group 1"/>
          <p:cNvSpPr/>
          <p:nvPr/>
        </p:nvSpPr>
        <p:spPr>
          <a:xfrm>
            <a:off x="16162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3" name="Thread 72 in block 1, group 1"/>
          <p:cNvSpPr/>
          <p:nvPr/>
        </p:nvSpPr>
        <p:spPr>
          <a:xfrm>
            <a:off x="16642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4" name="Thread 73 in block 1, group 1"/>
          <p:cNvSpPr/>
          <p:nvPr/>
        </p:nvSpPr>
        <p:spPr>
          <a:xfrm>
            <a:off x="17122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5" name="Thread 74 in block 1, group 1"/>
          <p:cNvSpPr/>
          <p:nvPr/>
        </p:nvSpPr>
        <p:spPr>
          <a:xfrm>
            <a:off x="176022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6" name="Thread 75 in block 1, group 1"/>
          <p:cNvSpPr/>
          <p:nvPr/>
        </p:nvSpPr>
        <p:spPr>
          <a:xfrm>
            <a:off x="180822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7" name="Thread 76 in block 1, group 1"/>
          <p:cNvSpPr/>
          <p:nvPr/>
        </p:nvSpPr>
        <p:spPr>
          <a:xfrm>
            <a:off x="185623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8" name="Thread 77 in block 1, group 1"/>
          <p:cNvSpPr/>
          <p:nvPr/>
        </p:nvSpPr>
        <p:spPr>
          <a:xfrm>
            <a:off x="190423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29" name="Thread 78 in block 1, group 1"/>
          <p:cNvSpPr/>
          <p:nvPr/>
        </p:nvSpPr>
        <p:spPr>
          <a:xfrm>
            <a:off x="195224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0" name="Thread 79 in block 1, group 1"/>
          <p:cNvSpPr/>
          <p:nvPr/>
        </p:nvSpPr>
        <p:spPr>
          <a:xfrm>
            <a:off x="200025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1" name="Thread 80 in block 1, group 1"/>
          <p:cNvSpPr/>
          <p:nvPr/>
        </p:nvSpPr>
        <p:spPr>
          <a:xfrm>
            <a:off x="12801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2" name="Thread 81 in block 1, group 1"/>
          <p:cNvSpPr/>
          <p:nvPr/>
        </p:nvSpPr>
        <p:spPr>
          <a:xfrm>
            <a:off x="13281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3" name="Thread 82 in block 1, group 1"/>
          <p:cNvSpPr/>
          <p:nvPr/>
        </p:nvSpPr>
        <p:spPr>
          <a:xfrm>
            <a:off x="13761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4" name="Thread 83 in block 1, group 1"/>
          <p:cNvSpPr/>
          <p:nvPr/>
        </p:nvSpPr>
        <p:spPr>
          <a:xfrm>
            <a:off x="14241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5" name="Thread 84 in block 1, group 1"/>
          <p:cNvSpPr/>
          <p:nvPr/>
        </p:nvSpPr>
        <p:spPr>
          <a:xfrm>
            <a:off x="14721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6" name="Thread 85 in block 1, group 1"/>
          <p:cNvSpPr/>
          <p:nvPr/>
        </p:nvSpPr>
        <p:spPr>
          <a:xfrm>
            <a:off x="15201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7" name="Thread 86 in block 1, group 1"/>
          <p:cNvSpPr/>
          <p:nvPr/>
        </p:nvSpPr>
        <p:spPr>
          <a:xfrm>
            <a:off x="15681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8" name="Thread 87 in block 1, group 1"/>
          <p:cNvSpPr/>
          <p:nvPr/>
        </p:nvSpPr>
        <p:spPr>
          <a:xfrm>
            <a:off x="16162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9" name="Thread 88 in block 1, group 1"/>
          <p:cNvSpPr/>
          <p:nvPr/>
        </p:nvSpPr>
        <p:spPr>
          <a:xfrm>
            <a:off x="16642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0" name="Thread 89 in block 1, group 1"/>
          <p:cNvSpPr/>
          <p:nvPr/>
        </p:nvSpPr>
        <p:spPr>
          <a:xfrm>
            <a:off x="17122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1" name="Thread 90 in block 1, group 1"/>
          <p:cNvSpPr/>
          <p:nvPr/>
        </p:nvSpPr>
        <p:spPr>
          <a:xfrm>
            <a:off x="176022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2" name="Thread 91 in block 1, group 1"/>
          <p:cNvSpPr/>
          <p:nvPr/>
        </p:nvSpPr>
        <p:spPr>
          <a:xfrm>
            <a:off x="180822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3" name="Thread 92 in block 1, group 1"/>
          <p:cNvSpPr/>
          <p:nvPr/>
        </p:nvSpPr>
        <p:spPr>
          <a:xfrm>
            <a:off x="185623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4" name="Thread 93 in block 1, group 1"/>
          <p:cNvSpPr/>
          <p:nvPr/>
        </p:nvSpPr>
        <p:spPr>
          <a:xfrm>
            <a:off x="190423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5" name="Thread 94 in block 1, group 1"/>
          <p:cNvSpPr/>
          <p:nvPr/>
        </p:nvSpPr>
        <p:spPr>
          <a:xfrm>
            <a:off x="195224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6" name="Thread 95 in block 1, group 1"/>
          <p:cNvSpPr/>
          <p:nvPr/>
        </p:nvSpPr>
        <p:spPr>
          <a:xfrm>
            <a:off x="200025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7" name="Thread 96 in block 1, group 1"/>
          <p:cNvSpPr/>
          <p:nvPr/>
        </p:nvSpPr>
        <p:spPr>
          <a:xfrm>
            <a:off x="12801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8" name="Thread 97 in block 1, group 1"/>
          <p:cNvSpPr/>
          <p:nvPr/>
        </p:nvSpPr>
        <p:spPr>
          <a:xfrm>
            <a:off x="13281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49" name="Thread 98 in block 1, group 1"/>
          <p:cNvSpPr/>
          <p:nvPr/>
        </p:nvSpPr>
        <p:spPr>
          <a:xfrm>
            <a:off x="13761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0" name="Thread 99 in block 1, group 1"/>
          <p:cNvSpPr/>
          <p:nvPr/>
        </p:nvSpPr>
        <p:spPr>
          <a:xfrm>
            <a:off x="14241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1" name="Thread 100 in block 1, group 1"/>
          <p:cNvSpPr/>
          <p:nvPr/>
        </p:nvSpPr>
        <p:spPr>
          <a:xfrm>
            <a:off x="14721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2" name="Thread 101 in block 1, group 1"/>
          <p:cNvSpPr/>
          <p:nvPr/>
        </p:nvSpPr>
        <p:spPr>
          <a:xfrm>
            <a:off x="15201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3" name="Thread 102 in block 1, group 1"/>
          <p:cNvSpPr/>
          <p:nvPr/>
        </p:nvSpPr>
        <p:spPr>
          <a:xfrm>
            <a:off x="15681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4" name="Thread 103 in block 1, group 1"/>
          <p:cNvSpPr/>
          <p:nvPr/>
        </p:nvSpPr>
        <p:spPr>
          <a:xfrm>
            <a:off x="16162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5" name="Thread 104 in block 1, group 1"/>
          <p:cNvSpPr/>
          <p:nvPr/>
        </p:nvSpPr>
        <p:spPr>
          <a:xfrm>
            <a:off x="16642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6" name="Thread 105 in block 1, group 1"/>
          <p:cNvSpPr/>
          <p:nvPr/>
        </p:nvSpPr>
        <p:spPr>
          <a:xfrm>
            <a:off x="17122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7" name="Thread 106 in block 1, group 1"/>
          <p:cNvSpPr/>
          <p:nvPr/>
        </p:nvSpPr>
        <p:spPr>
          <a:xfrm>
            <a:off x="176022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8" name="Thread 107 in block 1, group 1"/>
          <p:cNvSpPr/>
          <p:nvPr/>
        </p:nvSpPr>
        <p:spPr>
          <a:xfrm>
            <a:off x="180822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9" name="Thread 108 in block 1, group 1"/>
          <p:cNvSpPr/>
          <p:nvPr/>
        </p:nvSpPr>
        <p:spPr>
          <a:xfrm>
            <a:off x="185623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0" name="Thread 109 in block 1, group 1"/>
          <p:cNvSpPr/>
          <p:nvPr/>
        </p:nvSpPr>
        <p:spPr>
          <a:xfrm>
            <a:off x="190423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1" name="Thread 110 in block 1, group 1"/>
          <p:cNvSpPr/>
          <p:nvPr/>
        </p:nvSpPr>
        <p:spPr>
          <a:xfrm>
            <a:off x="195224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2" name="Thread 111 in block 1, group 1"/>
          <p:cNvSpPr/>
          <p:nvPr/>
        </p:nvSpPr>
        <p:spPr>
          <a:xfrm>
            <a:off x="200025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3" name="Thread 112 in block 1, group 1"/>
          <p:cNvSpPr/>
          <p:nvPr/>
        </p:nvSpPr>
        <p:spPr>
          <a:xfrm>
            <a:off x="12801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4" name="Thread 113 in block 1, group 1"/>
          <p:cNvSpPr/>
          <p:nvPr/>
        </p:nvSpPr>
        <p:spPr>
          <a:xfrm>
            <a:off x="13281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5" name="Thread 114 in block 1, group 1"/>
          <p:cNvSpPr/>
          <p:nvPr/>
        </p:nvSpPr>
        <p:spPr>
          <a:xfrm>
            <a:off x="13761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6" name="Thread 115 in block 1, group 1"/>
          <p:cNvSpPr/>
          <p:nvPr/>
        </p:nvSpPr>
        <p:spPr>
          <a:xfrm>
            <a:off x="14241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7" name="Thread 116 in block 1, group 1"/>
          <p:cNvSpPr/>
          <p:nvPr/>
        </p:nvSpPr>
        <p:spPr>
          <a:xfrm>
            <a:off x="14721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8" name="Thread 117 in block 1, group 1"/>
          <p:cNvSpPr/>
          <p:nvPr/>
        </p:nvSpPr>
        <p:spPr>
          <a:xfrm>
            <a:off x="15201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69" name="Thread 118 in block 1, group 1"/>
          <p:cNvSpPr/>
          <p:nvPr/>
        </p:nvSpPr>
        <p:spPr>
          <a:xfrm>
            <a:off x="15681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0" name="Thread 119 in block 1, group 1"/>
          <p:cNvSpPr/>
          <p:nvPr/>
        </p:nvSpPr>
        <p:spPr>
          <a:xfrm>
            <a:off x="16162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1" name="Thread 120 in block 1, group 1"/>
          <p:cNvSpPr/>
          <p:nvPr/>
        </p:nvSpPr>
        <p:spPr>
          <a:xfrm>
            <a:off x="16642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2" name="Thread 121 in block 1, group 1"/>
          <p:cNvSpPr/>
          <p:nvPr/>
        </p:nvSpPr>
        <p:spPr>
          <a:xfrm>
            <a:off x="17122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3" name="Thread 122 in block 1, group 1"/>
          <p:cNvSpPr/>
          <p:nvPr/>
        </p:nvSpPr>
        <p:spPr>
          <a:xfrm>
            <a:off x="176022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4" name="Thread 123 in block 1, group 1"/>
          <p:cNvSpPr/>
          <p:nvPr/>
        </p:nvSpPr>
        <p:spPr>
          <a:xfrm>
            <a:off x="180822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5" name="Thread 124 in block 1, group 1"/>
          <p:cNvSpPr/>
          <p:nvPr/>
        </p:nvSpPr>
        <p:spPr>
          <a:xfrm>
            <a:off x="185623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6" name="Thread 125 in block 1, group 1"/>
          <p:cNvSpPr/>
          <p:nvPr/>
        </p:nvSpPr>
        <p:spPr>
          <a:xfrm>
            <a:off x="190423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7" name="Thread 126 in block 1, group 1"/>
          <p:cNvSpPr/>
          <p:nvPr/>
        </p:nvSpPr>
        <p:spPr>
          <a:xfrm>
            <a:off x="195224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8" name="Thread 127 in block 1, group 1"/>
          <p:cNvSpPr/>
          <p:nvPr/>
        </p:nvSpPr>
        <p:spPr>
          <a:xfrm>
            <a:off x="200025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9" name="Parent block 2: shared synchronization for all 128 threads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50292">
            <a:solidFill>
              <a:schemeClr val="accent2"/>
            </a:solidFill>
          </a:ln>
        </p:spPr>
      </p:sp>
      <p:sp>
        <p:nvSpPr>
          <p:cNvPr id="280" name="Block 2"/>
          <p:cNvSpPr/>
          <p:nvPr/>
        </p:nvSpPr>
        <p:spPr>
          <a:xfrm>
            <a:off x="22219920" y="14810047"/>
            <a:ext cx="8321040" cy="406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281" name="Virtual group 0 in block 2: two warps, shared parent synchronization"/>
          <p:cNvSpPr/>
          <p:nvPr/>
        </p:nvSpPr>
        <p:spPr>
          <a:xfrm>
            <a:off x="22219920" y="15364229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82" name="Thread 0 in block 2, group 0"/>
          <p:cNvSpPr/>
          <p:nvPr/>
        </p:nvSpPr>
        <p:spPr>
          <a:xfrm>
            <a:off x="224942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3" name="Thread 1 in block 2, group 0"/>
          <p:cNvSpPr/>
          <p:nvPr/>
        </p:nvSpPr>
        <p:spPr>
          <a:xfrm>
            <a:off x="229743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4" name="Thread 2 in block 2, group 0"/>
          <p:cNvSpPr/>
          <p:nvPr/>
        </p:nvSpPr>
        <p:spPr>
          <a:xfrm>
            <a:off x="234543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5" name="Thread 3 in block 2, group 0"/>
          <p:cNvSpPr/>
          <p:nvPr/>
        </p:nvSpPr>
        <p:spPr>
          <a:xfrm>
            <a:off x="239344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6" name="Thread 4 in block 2, group 0"/>
          <p:cNvSpPr/>
          <p:nvPr/>
        </p:nvSpPr>
        <p:spPr>
          <a:xfrm>
            <a:off x="244144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7" name="Thread 5 in block 2, group 0"/>
          <p:cNvSpPr/>
          <p:nvPr/>
        </p:nvSpPr>
        <p:spPr>
          <a:xfrm>
            <a:off x="248945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8" name="Thread 6 in block 2, group 0"/>
          <p:cNvSpPr/>
          <p:nvPr/>
        </p:nvSpPr>
        <p:spPr>
          <a:xfrm>
            <a:off x="253746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89" name="Thread 7 in block 2, group 0"/>
          <p:cNvSpPr/>
          <p:nvPr/>
        </p:nvSpPr>
        <p:spPr>
          <a:xfrm>
            <a:off x="258546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0" name="Thread 8 in block 2, group 0"/>
          <p:cNvSpPr/>
          <p:nvPr/>
        </p:nvSpPr>
        <p:spPr>
          <a:xfrm>
            <a:off x="263347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1" name="Thread 9 in block 2, group 0"/>
          <p:cNvSpPr/>
          <p:nvPr/>
        </p:nvSpPr>
        <p:spPr>
          <a:xfrm>
            <a:off x="268147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2" name="Thread 10 in block 2, group 0"/>
          <p:cNvSpPr/>
          <p:nvPr/>
        </p:nvSpPr>
        <p:spPr>
          <a:xfrm>
            <a:off x="272948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3" name="Thread 11 in block 2, group 0"/>
          <p:cNvSpPr/>
          <p:nvPr/>
        </p:nvSpPr>
        <p:spPr>
          <a:xfrm>
            <a:off x="2777490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4" name="Thread 12 in block 2, group 0"/>
          <p:cNvSpPr/>
          <p:nvPr/>
        </p:nvSpPr>
        <p:spPr>
          <a:xfrm>
            <a:off x="2825496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5" name="Thread 13 in block 2, group 0"/>
          <p:cNvSpPr/>
          <p:nvPr/>
        </p:nvSpPr>
        <p:spPr>
          <a:xfrm>
            <a:off x="2873502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6" name="Thread 14 in block 2, group 0"/>
          <p:cNvSpPr/>
          <p:nvPr/>
        </p:nvSpPr>
        <p:spPr>
          <a:xfrm>
            <a:off x="2921508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7" name="Thread 15 in block 2, group 0"/>
          <p:cNvSpPr/>
          <p:nvPr/>
        </p:nvSpPr>
        <p:spPr>
          <a:xfrm>
            <a:off x="29695140" y="155304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8" name="Thread 16 in block 2, group 0"/>
          <p:cNvSpPr/>
          <p:nvPr/>
        </p:nvSpPr>
        <p:spPr>
          <a:xfrm>
            <a:off x="224942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9" name="Thread 17 in block 2, group 0"/>
          <p:cNvSpPr/>
          <p:nvPr/>
        </p:nvSpPr>
        <p:spPr>
          <a:xfrm>
            <a:off x="229743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0" name="Thread 18 in block 2, group 0"/>
          <p:cNvSpPr/>
          <p:nvPr/>
        </p:nvSpPr>
        <p:spPr>
          <a:xfrm>
            <a:off x="234543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1" name="Thread 19 in block 2, group 0"/>
          <p:cNvSpPr/>
          <p:nvPr/>
        </p:nvSpPr>
        <p:spPr>
          <a:xfrm>
            <a:off x="239344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2" name="Thread 20 in block 2, group 0"/>
          <p:cNvSpPr/>
          <p:nvPr/>
        </p:nvSpPr>
        <p:spPr>
          <a:xfrm>
            <a:off x="244144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3" name="Thread 21 in block 2, group 0"/>
          <p:cNvSpPr/>
          <p:nvPr/>
        </p:nvSpPr>
        <p:spPr>
          <a:xfrm>
            <a:off x="248945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4" name="Thread 22 in block 2, group 0"/>
          <p:cNvSpPr/>
          <p:nvPr/>
        </p:nvSpPr>
        <p:spPr>
          <a:xfrm>
            <a:off x="253746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5" name="Thread 23 in block 2, group 0"/>
          <p:cNvSpPr/>
          <p:nvPr/>
        </p:nvSpPr>
        <p:spPr>
          <a:xfrm>
            <a:off x="258546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6" name="Thread 24 in block 2, group 0"/>
          <p:cNvSpPr/>
          <p:nvPr/>
        </p:nvSpPr>
        <p:spPr>
          <a:xfrm>
            <a:off x="263347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7" name="Thread 25 in block 2, group 0"/>
          <p:cNvSpPr/>
          <p:nvPr/>
        </p:nvSpPr>
        <p:spPr>
          <a:xfrm>
            <a:off x="268147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8" name="Thread 26 in block 2, group 0"/>
          <p:cNvSpPr/>
          <p:nvPr/>
        </p:nvSpPr>
        <p:spPr>
          <a:xfrm>
            <a:off x="272948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09" name="Thread 27 in block 2, group 0"/>
          <p:cNvSpPr/>
          <p:nvPr/>
        </p:nvSpPr>
        <p:spPr>
          <a:xfrm>
            <a:off x="2777490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0" name="Thread 28 in block 2, group 0"/>
          <p:cNvSpPr/>
          <p:nvPr/>
        </p:nvSpPr>
        <p:spPr>
          <a:xfrm>
            <a:off x="2825496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1" name="Thread 29 in block 2, group 0"/>
          <p:cNvSpPr/>
          <p:nvPr/>
        </p:nvSpPr>
        <p:spPr>
          <a:xfrm>
            <a:off x="2873502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2" name="Thread 30 in block 2, group 0"/>
          <p:cNvSpPr/>
          <p:nvPr/>
        </p:nvSpPr>
        <p:spPr>
          <a:xfrm>
            <a:off x="2921508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3" name="Thread 31 in block 2, group 0"/>
          <p:cNvSpPr/>
          <p:nvPr/>
        </p:nvSpPr>
        <p:spPr>
          <a:xfrm>
            <a:off x="29695140" y="157336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4" name="Thread 32 in block 2, group 0"/>
          <p:cNvSpPr/>
          <p:nvPr/>
        </p:nvSpPr>
        <p:spPr>
          <a:xfrm>
            <a:off x="224942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5" name="Thread 33 in block 2, group 0"/>
          <p:cNvSpPr/>
          <p:nvPr/>
        </p:nvSpPr>
        <p:spPr>
          <a:xfrm>
            <a:off x="229743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6" name="Thread 34 in block 2, group 0"/>
          <p:cNvSpPr/>
          <p:nvPr/>
        </p:nvSpPr>
        <p:spPr>
          <a:xfrm>
            <a:off x="234543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7" name="Thread 35 in block 2, group 0"/>
          <p:cNvSpPr/>
          <p:nvPr/>
        </p:nvSpPr>
        <p:spPr>
          <a:xfrm>
            <a:off x="239344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8" name="Thread 36 in block 2, group 0"/>
          <p:cNvSpPr/>
          <p:nvPr/>
        </p:nvSpPr>
        <p:spPr>
          <a:xfrm>
            <a:off x="244144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9" name="Thread 37 in block 2, group 0"/>
          <p:cNvSpPr/>
          <p:nvPr/>
        </p:nvSpPr>
        <p:spPr>
          <a:xfrm>
            <a:off x="248945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0" name="Thread 38 in block 2, group 0"/>
          <p:cNvSpPr/>
          <p:nvPr/>
        </p:nvSpPr>
        <p:spPr>
          <a:xfrm>
            <a:off x="253746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1" name="Thread 39 in block 2, group 0"/>
          <p:cNvSpPr/>
          <p:nvPr/>
        </p:nvSpPr>
        <p:spPr>
          <a:xfrm>
            <a:off x="258546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2" name="Thread 40 in block 2, group 0"/>
          <p:cNvSpPr/>
          <p:nvPr/>
        </p:nvSpPr>
        <p:spPr>
          <a:xfrm>
            <a:off x="263347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3" name="Thread 41 in block 2, group 0"/>
          <p:cNvSpPr/>
          <p:nvPr/>
        </p:nvSpPr>
        <p:spPr>
          <a:xfrm>
            <a:off x="268147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4" name="Thread 42 in block 2, group 0"/>
          <p:cNvSpPr/>
          <p:nvPr/>
        </p:nvSpPr>
        <p:spPr>
          <a:xfrm>
            <a:off x="272948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5" name="Thread 43 in block 2, group 0"/>
          <p:cNvSpPr/>
          <p:nvPr/>
        </p:nvSpPr>
        <p:spPr>
          <a:xfrm>
            <a:off x="2777490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6" name="Thread 44 in block 2, group 0"/>
          <p:cNvSpPr/>
          <p:nvPr/>
        </p:nvSpPr>
        <p:spPr>
          <a:xfrm>
            <a:off x="2825496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7" name="Thread 45 in block 2, group 0"/>
          <p:cNvSpPr/>
          <p:nvPr/>
        </p:nvSpPr>
        <p:spPr>
          <a:xfrm>
            <a:off x="2873502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8" name="Thread 46 in block 2, group 0"/>
          <p:cNvSpPr/>
          <p:nvPr/>
        </p:nvSpPr>
        <p:spPr>
          <a:xfrm>
            <a:off x="2921508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29" name="Thread 47 in block 2, group 0"/>
          <p:cNvSpPr/>
          <p:nvPr/>
        </p:nvSpPr>
        <p:spPr>
          <a:xfrm>
            <a:off x="29695140" y="160107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0" name="Thread 48 in block 2, group 0"/>
          <p:cNvSpPr/>
          <p:nvPr/>
        </p:nvSpPr>
        <p:spPr>
          <a:xfrm>
            <a:off x="224942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1" name="Thread 49 in block 2, group 0"/>
          <p:cNvSpPr/>
          <p:nvPr/>
        </p:nvSpPr>
        <p:spPr>
          <a:xfrm>
            <a:off x="229743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2" name="Thread 50 in block 2, group 0"/>
          <p:cNvSpPr/>
          <p:nvPr/>
        </p:nvSpPr>
        <p:spPr>
          <a:xfrm>
            <a:off x="234543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3" name="Thread 51 in block 2, group 0"/>
          <p:cNvSpPr/>
          <p:nvPr/>
        </p:nvSpPr>
        <p:spPr>
          <a:xfrm>
            <a:off x="239344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4" name="Thread 52 in block 2, group 0"/>
          <p:cNvSpPr/>
          <p:nvPr/>
        </p:nvSpPr>
        <p:spPr>
          <a:xfrm>
            <a:off x="244144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5" name="Thread 53 in block 2, group 0"/>
          <p:cNvSpPr/>
          <p:nvPr/>
        </p:nvSpPr>
        <p:spPr>
          <a:xfrm>
            <a:off x="248945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6" name="Thread 54 in block 2, group 0"/>
          <p:cNvSpPr/>
          <p:nvPr/>
        </p:nvSpPr>
        <p:spPr>
          <a:xfrm>
            <a:off x="253746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7" name="Thread 55 in block 2, group 0"/>
          <p:cNvSpPr/>
          <p:nvPr/>
        </p:nvSpPr>
        <p:spPr>
          <a:xfrm>
            <a:off x="258546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8" name="Thread 56 in block 2, group 0"/>
          <p:cNvSpPr/>
          <p:nvPr/>
        </p:nvSpPr>
        <p:spPr>
          <a:xfrm>
            <a:off x="263347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9" name="Thread 57 in block 2, group 0"/>
          <p:cNvSpPr/>
          <p:nvPr/>
        </p:nvSpPr>
        <p:spPr>
          <a:xfrm>
            <a:off x="268147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0" name="Thread 58 in block 2, group 0"/>
          <p:cNvSpPr/>
          <p:nvPr/>
        </p:nvSpPr>
        <p:spPr>
          <a:xfrm>
            <a:off x="272948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1" name="Thread 59 in block 2, group 0"/>
          <p:cNvSpPr/>
          <p:nvPr/>
        </p:nvSpPr>
        <p:spPr>
          <a:xfrm>
            <a:off x="2777490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2" name="Thread 60 in block 2, group 0"/>
          <p:cNvSpPr/>
          <p:nvPr/>
        </p:nvSpPr>
        <p:spPr>
          <a:xfrm>
            <a:off x="2825496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3" name="Thread 61 in block 2, group 0"/>
          <p:cNvSpPr/>
          <p:nvPr/>
        </p:nvSpPr>
        <p:spPr>
          <a:xfrm>
            <a:off x="2873502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4" name="Thread 62 in block 2, group 0"/>
          <p:cNvSpPr/>
          <p:nvPr/>
        </p:nvSpPr>
        <p:spPr>
          <a:xfrm>
            <a:off x="2921508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5" name="Thread 63 in block 2, group 0"/>
          <p:cNvSpPr/>
          <p:nvPr/>
        </p:nvSpPr>
        <p:spPr>
          <a:xfrm>
            <a:off x="29695140" y="1621397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6" name="Virtual group 1 in block 2: two warps, shared parent synchronization"/>
          <p:cNvSpPr/>
          <p:nvPr/>
        </p:nvSpPr>
        <p:spPr>
          <a:xfrm>
            <a:off x="22219920" y="16509538"/>
            <a:ext cx="8321040" cy="1126836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347" name="Thread 64 in block 2, group 1"/>
          <p:cNvSpPr/>
          <p:nvPr/>
        </p:nvSpPr>
        <p:spPr>
          <a:xfrm>
            <a:off x="224942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8" name="Thread 65 in block 2, group 1"/>
          <p:cNvSpPr/>
          <p:nvPr/>
        </p:nvSpPr>
        <p:spPr>
          <a:xfrm>
            <a:off x="229743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49" name="Thread 66 in block 2, group 1"/>
          <p:cNvSpPr/>
          <p:nvPr/>
        </p:nvSpPr>
        <p:spPr>
          <a:xfrm>
            <a:off x="234543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0" name="Thread 67 in block 2, group 1"/>
          <p:cNvSpPr/>
          <p:nvPr/>
        </p:nvSpPr>
        <p:spPr>
          <a:xfrm>
            <a:off x="239344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1" name="Thread 68 in block 2, group 1"/>
          <p:cNvSpPr/>
          <p:nvPr/>
        </p:nvSpPr>
        <p:spPr>
          <a:xfrm>
            <a:off x="244144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2" name="Thread 69 in block 2, group 1"/>
          <p:cNvSpPr/>
          <p:nvPr/>
        </p:nvSpPr>
        <p:spPr>
          <a:xfrm>
            <a:off x="248945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3" name="Thread 70 in block 2, group 1"/>
          <p:cNvSpPr/>
          <p:nvPr/>
        </p:nvSpPr>
        <p:spPr>
          <a:xfrm>
            <a:off x="253746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4" name="Thread 71 in block 2, group 1"/>
          <p:cNvSpPr/>
          <p:nvPr/>
        </p:nvSpPr>
        <p:spPr>
          <a:xfrm>
            <a:off x="258546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5" name="Thread 72 in block 2, group 1"/>
          <p:cNvSpPr/>
          <p:nvPr/>
        </p:nvSpPr>
        <p:spPr>
          <a:xfrm>
            <a:off x="263347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6" name="Thread 73 in block 2, group 1"/>
          <p:cNvSpPr/>
          <p:nvPr/>
        </p:nvSpPr>
        <p:spPr>
          <a:xfrm>
            <a:off x="268147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7" name="Thread 74 in block 2, group 1"/>
          <p:cNvSpPr/>
          <p:nvPr/>
        </p:nvSpPr>
        <p:spPr>
          <a:xfrm>
            <a:off x="272948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8" name="Thread 75 in block 2, group 1"/>
          <p:cNvSpPr/>
          <p:nvPr/>
        </p:nvSpPr>
        <p:spPr>
          <a:xfrm>
            <a:off x="2777490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9" name="Thread 76 in block 2, group 1"/>
          <p:cNvSpPr/>
          <p:nvPr/>
        </p:nvSpPr>
        <p:spPr>
          <a:xfrm>
            <a:off x="2825496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0" name="Thread 77 in block 2, group 1"/>
          <p:cNvSpPr/>
          <p:nvPr/>
        </p:nvSpPr>
        <p:spPr>
          <a:xfrm>
            <a:off x="2873502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1" name="Thread 78 in block 2, group 1"/>
          <p:cNvSpPr/>
          <p:nvPr/>
        </p:nvSpPr>
        <p:spPr>
          <a:xfrm>
            <a:off x="2921508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2" name="Thread 79 in block 2, group 1"/>
          <p:cNvSpPr/>
          <p:nvPr/>
        </p:nvSpPr>
        <p:spPr>
          <a:xfrm>
            <a:off x="29695140" y="166757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3" name="Thread 80 in block 2, group 1"/>
          <p:cNvSpPr/>
          <p:nvPr/>
        </p:nvSpPr>
        <p:spPr>
          <a:xfrm>
            <a:off x="224942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4" name="Thread 81 in block 2, group 1"/>
          <p:cNvSpPr/>
          <p:nvPr/>
        </p:nvSpPr>
        <p:spPr>
          <a:xfrm>
            <a:off x="229743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5" name="Thread 82 in block 2, group 1"/>
          <p:cNvSpPr/>
          <p:nvPr/>
        </p:nvSpPr>
        <p:spPr>
          <a:xfrm>
            <a:off x="234543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6" name="Thread 83 in block 2, group 1"/>
          <p:cNvSpPr/>
          <p:nvPr/>
        </p:nvSpPr>
        <p:spPr>
          <a:xfrm>
            <a:off x="239344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7" name="Thread 84 in block 2, group 1"/>
          <p:cNvSpPr/>
          <p:nvPr/>
        </p:nvSpPr>
        <p:spPr>
          <a:xfrm>
            <a:off x="244144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8" name="Thread 85 in block 2, group 1"/>
          <p:cNvSpPr/>
          <p:nvPr/>
        </p:nvSpPr>
        <p:spPr>
          <a:xfrm>
            <a:off x="248945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69" name="Thread 86 in block 2, group 1"/>
          <p:cNvSpPr/>
          <p:nvPr/>
        </p:nvSpPr>
        <p:spPr>
          <a:xfrm>
            <a:off x="253746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0" name="Thread 87 in block 2, group 1"/>
          <p:cNvSpPr/>
          <p:nvPr/>
        </p:nvSpPr>
        <p:spPr>
          <a:xfrm>
            <a:off x="258546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1" name="Thread 88 in block 2, group 1"/>
          <p:cNvSpPr/>
          <p:nvPr/>
        </p:nvSpPr>
        <p:spPr>
          <a:xfrm>
            <a:off x="263347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2" name="Thread 89 in block 2, group 1"/>
          <p:cNvSpPr/>
          <p:nvPr/>
        </p:nvSpPr>
        <p:spPr>
          <a:xfrm>
            <a:off x="268147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3" name="Thread 90 in block 2, group 1"/>
          <p:cNvSpPr/>
          <p:nvPr/>
        </p:nvSpPr>
        <p:spPr>
          <a:xfrm>
            <a:off x="272948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4" name="Thread 91 in block 2, group 1"/>
          <p:cNvSpPr/>
          <p:nvPr/>
        </p:nvSpPr>
        <p:spPr>
          <a:xfrm>
            <a:off x="2777490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5" name="Thread 92 in block 2, group 1"/>
          <p:cNvSpPr/>
          <p:nvPr/>
        </p:nvSpPr>
        <p:spPr>
          <a:xfrm>
            <a:off x="2825496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6" name="Thread 93 in block 2, group 1"/>
          <p:cNvSpPr/>
          <p:nvPr/>
        </p:nvSpPr>
        <p:spPr>
          <a:xfrm>
            <a:off x="2873502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7" name="Thread 94 in block 2, group 1"/>
          <p:cNvSpPr/>
          <p:nvPr/>
        </p:nvSpPr>
        <p:spPr>
          <a:xfrm>
            <a:off x="2921508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8" name="Thread 95 in block 2, group 1"/>
          <p:cNvSpPr/>
          <p:nvPr/>
        </p:nvSpPr>
        <p:spPr>
          <a:xfrm>
            <a:off x="29695140" y="16878993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9" name="Thread 96 in block 2, group 1"/>
          <p:cNvSpPr/>
          <p:nvPr/>
        </p:nvSpPr>
        <p:spPr>
          <a:xfrm>
            <a:off x="224942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0" name="Thread 97 in block 2, group 1"/>
          <p:cNvSpPr/>
          <p:nvPr/>
        </p:nvSpPr>
        <p:spPr>
          <a:xfrm>
            <a:off x="229743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1" name="Thread 98 in block 2, group 1"/>
          <p:cNvSpPr/>
          <p:nvPr/>
        </p:nvSpPr>
        <p:spPr>
          <a:xfrm>
            <a:off x="234543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2" name="Thread 99 in block 2, group 1"/>
          <p:cNvSpPr/>
          <p:nvPr/>
        </p:nvSpPr>
        <p:spPr>
          <a:xfrm>
            <a:off x="239344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3" name="Thread 100 in block 2, group 1"/>
          <p:cNvSpPr/>
          <p:nvPr/>
        </p:nvSpPr>
        <p:spPr>
          <a:xfrm>
            <a:off x="244144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4" name="Thread 101 in block 2, group 1"/>
          <p:cNvSpPr/>
          <p:nvPr/>
        </p:nvSpPr>
        <p:spPr>
          <a:xfrm>
            <a:off x="248945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5" name="Thread 102 in block 2, group 1"/>
          <p:cNvSpPr/>
          <p:nvPr/>
        </p:nvSpPr>
        <p:spPr>
          <a:xfrm>
            <a:off x="253746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6" name="Thread 103 in block 2, group 1"/>
          <p:cNvSpPr/>
          <p:nvPr/>
        </p:nvSpPr>
        <p:spPr>
          <a:xfrm>
            <a:off x="258546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7" name="Thread 104 in block 2, group 1"/>
          <p:cNvSpPr/>
          <p:nvPr/>
        </p:nvSpPr>
        <p:spPr>
          <a:xfrm>
            <a:off x="263347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8" name="Thread 105 in block 2, group 1"/>
          <p:cNvSpPr/>
          <p:nvPr/>
        </p:nvSpPr>
        <p:spPr>
          <a:xfrm>
            <a:off x="268147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89" name="Thread 106 in block 2, group 1"/>
          <p:cNvSpPr/>
          <p:nvPr/>
        </p:nvSpPr>
        <p:spPr>
          <a:xfrm>
            <a:off x="272948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0" name="Thread 107 in block 2, group 1"/>
          <p:cNvSpPr/>
          <p:nvPr/>
        </p:nvSpPr>
        <p:spPr>
          <a:xfrm>
            <a:off x="2777490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1" name="Thread 108 in block 2, group 1"/>
          <p:cNvSpPr/>
          <p:nvPr/>
        </p:nvSpPr>
        <p:spPr>
          <a:xfrm>
            <a:off x="2825496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2" name="Thread 109 in block 2, group 1"/>
          <p:cNvSpPr/>
          <p:nvPr/>
        </p:nvSpPr>
        <p:spPr>
          <a:xfrm>
            <a:off x="2873502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3" name="Thread 110 in block 2, group 1"/>
          <p:cNvSpPr/>
          <p:nvPr/>
        </p:nvSpPr>
        <p:spPr>
          <a:xfrm>
            <a:off x="2921508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4" name="Thread 111 in block 2, group 1"/>
          <p:cNvSpPr/>
          <p:nvPr/>
        </p:nvSpPr>
        <p:spPr>
          <a:xfrm>
            <a:off x="29695140" y="171560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5" name="Thread 112 in block 2, group 1"/>
          <p:cNvSpPr/>
          <p:nvPr/>
        </p:nvSpPr>
        <p:spPr>
          <a:xfrm>
            <a:off x="224942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6" name="Thread 113 in block 2, group 1"/>
          <p:cNvSpPr/>
          <p:nvPr/>
        </p:nvSpPr>
        <p:spPr>
          <a:xfrm>
            <a:off x="229743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7" name="Thread 114 in block 2, group 1"/>
          <p:cNvSpPr/>
          <p:nvPr/>
        </p:nvSpPr>
        <p:spPr>
          <a:xfrm>
            <a:off x="234543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8" name="Thread 115 in block 2, group 1"/>
          <p:cNvSpPr/>
          <p:nvPr/>
        </p:nvSpPr>
        <p:spPr>
          <a:xfrm>
            <a:off x="239344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9" name="Thread 116 in block 2, group 1"/>
          <p:cNvSpPr/>
          <p:nvPr/>
        </p:nvSpPr>
        <p:spPr>
          <a:xfrm>
            <a:off x="244144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0" name="Thread 117 in block 2, group 1"/>
          <p:cNvSpPr/>
          <p:nvPr/>
        </p:nvSpPr>
        <p:spPr>
          <a:xfrm>
            <a:off x="248945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1" name="Thread 118 in block 2, group 1"/>
          <p:cNvSpPr/>
          <p:nvPr/>
        </p:nvSpPr>
        <p:spPr>
          <a:xfrm>
            <a:off x="253746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2" name="Thread 119 in block 2, group 1"/>
          <p:cNvSpPr/>
          <p:nvPr/>
        </p:nvSpPr>
        <p:spPr>
          <a:xfrm>
            <a:off x="258546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3" name="Thread 120 in block 2, group 1"/>
          <p:cNvSpPr/>
          <p:nvPr/>
        </p:nvSpPr>
        <p:spPr>
          <a:xfrm>
            <a:off x="263347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4" name="Thread 121 in block 2, group 1"/>
          <p:cNvSpPr/>
          <p:nvPr/>
        </p:nvSpPr>
        <p:spPr>
          <a:xfrm>
            <a:off x="268147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5" name="Thread 122 in block 2, group 1"/>
          <p:cNvSpPr/>
          <p:nvPr/>
        </p:nvSpPr>
        <p:spPr>
          <a:xfrm>
            <a:off x="272948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6" name="Thread 123 in block 2, group 1"/>
          <p:cNvSpPr/>
          <p:nvPr/>
        </p:nvSpPr>
        <p:spPr>
          <a:xfrm>
            <a:off x="2777490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7" name="Thread 124 in block 2, group 1"/>
          <p:cNvSpPr/>
          <p:nvPr/>
        </p:nvSpPr>
        <p:spPr>
          <a:xfrm>
            <a:off x="2825496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8" name="Thread 125 in block 2, group 1"/>
          <p:cNvSpPr/>
          <p:nvPr/>
        </p:nvSpPr>
        <p:spPr>
          <a:xfrm>
            <a:off x="2873502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09" name="Thread 126 in block 2, group 1"/>
          <p:cNvSpPr/>
          <p:nvPr/>
        </p:nvSpPr>
        <p:spPr>
          <a:xfrm>
            <a:off x="2921508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0" name="Thread 127 in block 2, group 1"/>
          <p:cNvSpPr/>
          <p:nvPr/>
        </p:nvSpPr>
        <p:spPr>
          <a:xfrm>
            <a:off x="29695140" y="17359284"/>
            <a:ext cx="137160" cy="110836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1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412" name="Shape"/>
          <p:cNvSpPr/>
          <p:nvPr/>
        </p:nvSpPr>
        <p:spPr>
          <a:xfrm>
            <a:off x="256032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413" name="Group 0: warps 0–1"/>
          <p:cNvSpPr/>
          <p:nvPr/>
        </p:nvSpPr>
        <p:spPr>
          <a:xfrm>
            <a:off x="313182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0: warps 0–1</a:t>
            </a:r>
          </a:p>
        </p:txBody>
      </p:sp>
      <p:sp>
        <p:nvSpPr>
          <p:cNvPr id="414" name="Shape"/>
          <p:cNvSpPr/>
          <p:nvPr/>
        </p:nvSpPr>
        <p:spPr>
          <a:xfrm>
            <a:off x="128016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415" name="Group 1: warps 2–3"/>
          <p:cNvSpPr/>
          <p:nvPr/>
        </p:nvSpPr>
        <p:spPr>
          <a:xfrm>
            <a:off x="1337310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Group 1: warps 2–3</a:t>
            </a:r>
          </a:p>
        </p:txBody>
      </p:sp>
      <p:sp>
        <p:nvSpPr>
          <p:cNvPr id="416" name="Shape"/>
          <p:cNvSpPr/>
          <p:nvPr/>
        </p:nvSpPr>
        <p:spPr>
          <a:xfrm>
            <a:off x="2304288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2"/>
            </a:solidFill>
          </a:ln>
        </p:spPr>
      </p:sp>
      <p:sp>
        <p:nvSpPr>
          <p:cNvPr id="417" name="Parent block: shared synchronization"/>
          <p:cNvSpPr/>
          <p:nvPr/>
        </p:nvSpPr>
        <p:spPr>
          <a:xfrm>
            <a:off x="23614380" y="18379440"/>
            <a:ext cx="982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Parent block: shared synchronization</a:t>
            </a:r>
          </a:p>
        </p:txBody>
      </p:sp>
      <p:sp>
        <p:nvSpPr>
          <p:cNvPr id="418" name="Create subgroups without initializing new synchronization resources"/>
          <p:cNvSpPr/>
          <p:nvPr/>
        </p:nvSpPr>
        <p:spPr>
          <a:xfrm>
            <a:off x="2583180" y="11452860"/>
            <a:ext cx="9075420" cy="16459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Create subgroups without initializing new synchronization resources</a:t>
            </a:r>
          </a:p>
        </p:txBody>
      </p:sp>
      <p:sp>
        <p:nvSpPr>
          <p:cNvPr id="419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>
  <p:cSld name="Group 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View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View</a:t>
            </a:r>
          </a:p>
        </p:txBody>
      </p:sp>
      <p:sp>
        <p:nvSpPr>
          <p:cNvPr id="3" name="Non-owning view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Non-owning view</a:t>
            </a:r>
          </a:p>
        </p:txBody>
      </p:sp>
      <p:sp>
        <p:nvSpPr>
          <p:cNvPr id="4" name="2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5" name="Shape"/>
          <p:cNvSpPr/>
          <p:nvPr/>
        </p:nvSpPr>
        <p:spPr>
          <a:xfrm>
            <a:off x="1828800" y="596646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6" name="Non-owning view of an existing group"/>
          <p:cNvSpPr/>
          <p:nvPr/>
        </p:nvSpPr>
        <p:spPr>
          <a:xfrm>
            <a:off x="2583180" y="582930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Non-owning view of an existing group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84098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Copyable and movable; pass by value"/>
          <p:cNvSpPr/>
          <p:nvPr/>
        </p:nvSpPr>
        <p:spPr>
          <a:xfrm>
            <a:off x="2583180" y="770382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Copyable and movable; pass by value</a:t>
            </a:r>
          </a:p>
        </p:txBody>
      </p:sp>
      <p:sp>
        <p:nvSpPr>
          <p:cNvPr id="9" name="Shape"/>
          <p:cNvSpPr/>
          <p:nvPr/>
        </p:nvSpPr>
        <p:spPr>
          <a:xfrm>
            <a:off x="1828800" y="971550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Can address finer-grained units"/>
          <p:cNvSpPr/>
          <p:nvPr/>
        </p:nvSpPr>
        <p:spPr>
          <a:xfrm>
            <a:off x="2583180" y="957834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Can address finer-grained units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11590020"/>
            <a:ext cx="228600" cy="228600"/>
          </a:xfrm>
          <a:prstGeom prst="ellipse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Reuses the group's synchronization"/>
          <p:cNvSpPr/>
          <p:nvPr/>
        </p:nvSpPr>
        <p:spPr>
          <a:xfrm>
            <a:off x="2583180" y="11452860"/>
            <a:ext cx="9075420" cy="10972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dk1"/>
                </a:solidFill>
                <a:latin typeface="NVIDIA Sans"/>
              </a:rPr>
              <a:t xml:space="preserve">Reuses the group's synchronization</a:t>
            </a:r>
          </a:p>
        </p:txBody>
      </p:sp>
      <p:sp>
        <p:nvSpPr>
          <p:cNvPr id="13" name="Shape"/>
          <p:cNvSpPr/>
          <p:nvPr/>
        </p:nvSpPr>
        <p:spPr>
          <a:xfrm>
            <a:off x="12801600" y="5029200"/>
            <a:ext cx="21945600" cy="89154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4" name="Group view use-case example" descr="Supplemental group-view usage example based on repository documentation and implementation"/>
          <p:cNvSpPr/>
          <p:nvPr/>
        </p:nvSpPr>
        <p:spPr>
          <a:xfrm>
            <a:off x="13258800" y="5394960"/>
            <a:ext cx="21031200" cy="8458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__global__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group_view_example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View the same warp as a group of threads.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group_view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view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warp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Views can be copied and passed by value.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view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Address the individual threads within the view.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rank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nthreads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count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32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accent6"/>
                </a:solidFill>
                <a:latin typeface="DejaVu Sans Mono"/>
              </a:rPr>
              <a:t xml:space="preserve">// Synchronize using the existing warp's mechanism.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copy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sync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288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168"/>
              </a:lnSpc>
              <a:spcBef>
                <a:spcPts val="0"/>
              </a:spcBef>
              <a:spcAft>
                <a:spcPts val="0"/>
              </a:spcAft>
              <a:buNone/>
              <a:defRPr lang="en-US" sz="2880" b="0">
                <a:solidFill>
                  <a:schemeClr val="dk1"/>
                </a:solidFill>
                <a:latin typeface="DejaVu Sans Mono"/>
              </a:defRPr>
            </a:pPr>
            <a:endParaRPr lang="en-US" sz="288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5" name="Thread block 0"/>
          <p:cNvSpPr/>
          <p:nvPr/>
        </p:nvSpPr>
        <p:spPr>
          <a:xfrm>
            <a:off x="256032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6" name="Block 0"/>
          <p:cNvSpPr/>
          <p:nvPr/>
        </p:nvSpPr>
        <p:spPr>
          <a:xfrm>
            <a:off x="283464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0</a:t>
            </a:r>
          </a:p>
        </p:txBody>
      </p:sp>
      <p:sp>
        <p:nvSpPr>
          <p:cNvPr id="17" name="Original this_warp: one warp unit"/>
          <p:cNvSpPr/>
          <p:nvPr/>
        </p:nvSpPr>
        <p:spPr>
          <a:xfrm>
            <a:off x="2788920" y="15465034"/>
            <a:ext cx="8412480" cy="925838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8" name="group_view: same 32 threads, same synchronization"/>
          <p:cNvSpPr/>
          <p:nvPr/>
        </p:nvSpPr>
        <p:spPr>
          <a:xfrm>
            <a:off x="2880360" y="15551158"/>
            <a:ext cx="8229600" cy="753589"/>
          </a:xfrm>
          <a:prstGeom prst="roundRect">
            <a:avLst>
              <a:gd name="adj" fmla="val 6000"/>
            </a:avLst>
          </a:prstGeom>
          <a:noFill/>
          <a:ln w="32004">
            <a:solidFill>
              <a:schemeClr val="accent4"/>
            </a:solidFill>
            <a:prstDash val="dash"/>
          </a:ln>
        </p:spPr>
      </p:sp>
      <p:sp>
        <p:nvSpPr>
          <p:cNvPr id="19" name="Thread unit 0 in view"/>
          <p:cNvSpPr/>
          <p:nvPr/>
        </p:nvSpPr>
        <p:spPr>
          <a:xfrm>
            <a:off x="30632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0" name="Thread 0 in block 0"/>
          <p:cNvSpPr/>
          <p:nvPr/>
        </p:nvSpPr>
        <p:spPr>
          <a:xfrm>
            <a:off x="31089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1" name="Thread unit 1 in view"/>
          <p:cNvSpPr/>
          <p:nvPr/>
        </p:nvSpPr>
        <p:spPr>
          <a:xfrm>
            <a:off x="354330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2" name="Thread 1 in block 0"/>
          <p:cNvSpPr/>
          <p:nvPr/>
        </p:nvSpPr>
        <p:spPr>
          <a:xfrm>
            <a:off x="35890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Thread unit 2 in view"/>
          <p:cNvSpPr/>
          <p:nvPr/>
        </p:nvSpPr>
        <p:spPr>
          <a:xfrm>
            <a:off x="402336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4" name="Thread 2 in block 0"/>
          <p:cNvSpPr/>
          <p:nvPr/>
        </p:nvSpPr>
        <p:spPr>
          <a:xfrm>
            <a:off x="40690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Thread unit 3 in view"/>
          <p:cNvSpPr/>
          <p:nvPr/>
        </p:nvSpPr>
        <p:spPr>
          <a:xfrm>
            <a:off x="450342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6" name="Thread 3 in block 0"/>
          <p:cNvSpPr/>
          <p:nvPr/>
        </p:nvSpPr>
        <p:spPr>
          <a:xfrm>
            <a:off x="45491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Thread unit 4 in view"/>
          <p:cNvSpPr/>
          <p:nvPr/>
        </p:nvSpPr>
        <p:spPr>
          <a:xfrm>
            <a:off x="498348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28" name="Thread 4 in block 0"/>
          <p:cNvSpPr/>
          <p:nvPr/>
        </p:nvSpPr>
        <p:spPr>
          <a:xfrm>
            <a:off x="50292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Thread unit 5 in view"/>
          <p:cNvSpPr/>
          <p:nvPr/>
        </p:nvSpPr>
        <p:spPr>
          <a:xfrm>
            <a:off x="54635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0" name="Thread 5 in block 0"/>
          <p:cNvSpPr/>
          <p:nvPr/>
        </p:nvSpPr>
        <p:spPr>
          <a:xfrm>
            <a:off x="55092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Thread unit 6 in view"/>
          <p:cNvSpPr/>
          <p:nvPr/>
        </p:nvSpPr>
        <p:spPr>
          <a:xfrm>
            <a:off x="594360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2" name="Thread 6 in block 0"/>
          <p:cNvSpPr/>
          <p:nvPr/>
        </p:nvSpPr>
        <p:spPr>
          <a:xfrm>
            <a:off x="59893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Thread unit 7 in view"/>
          <p:cNvSpPr/>
          <p:nvPr/>
        </p:nvSpPr>
        <p:spPr>
          <a:xfrm>
            <a:off x="642366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4" name="Thread 7 in block 0"/>
          <p:cNvSpPr/>
          <p:nvPr/>
        </p:nvSpPr>
        <p:spPr>
          <a:xfrm>
            <a:off x="64693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Thread unit 8 in view"/>
          <p:cNvSpPr/>
          <p:nvPr/>
        </p:nvSpPr>
        <p:spPr>
          <a:xfrm>
            <a:off x="690372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6" name="Thread 8 in block 0"/>
          <p:cNvSpPr/>
          <p:nvPr/>
        </p:nvSpPr>
        <p:spPr>
          <a:xfrm>
            <a:off x="69494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Thread unit 9 in view"/>
          <p:cNvSpPr/>
          <p:nvPr/>
        </p:nvSpPr>
        <p:spPr>
          <a:xfrm>
            <a:off x="738378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38" name="Thread 9 in block 0"/>
          <p:cNvSpPr/>
          <p:nvPr/>
        </p:nvSpPr>
        <p:spPr>
          <a:xfrm>
            <a:off x="74295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Thread unit 10 in view"/>
          <p:cNvSpPr/>
          <p:nvPr/>
        </p:nvSpPr>
        <p:spPr>
          <a:xfrm>
            <a:off x="78638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0" name="Thread 10 in block 0"/>
          <p:cNvSpPr/>
          <p:nvPr/>
        </p:nvSpPr>
        <p:spPr>
          <a:xfrm>
            <a:off x="79095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Thread unit 11 in view"/>
          <p:cNvSpPr/>
          <p:nvPr/>
        </p:nvSpPr>
        <p:spPr>
          <a:xfrm>
            <a:off x="834390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2" name="Thread 11 in block 0"/>
          <p:cNvSpPr/>
          <p:nvPr/>
        </p:nvSpPr>
        <p:spPr>
          <a:xfrm>
            <a:off x="838962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Thread unit 12 in view"/>
          <p:cNvSpPr/>
          <p:nvPr/>
        </p:nvSpPr>
        <p:spPr>
          <a:xfrm>
            <a:off x="882396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4" name="Thread 12 in block 0"/>
          <p:cNvSpPr/>
          <p:nvPr/>
        </p:nvSpPr>
        <p:spPr>
          <a:xfrm>
            <a:off x="886968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Thread unit 13 in view"/>
          <p:cNvSpPr/>
          <p:nvPr/>
        </p:nvSpPr>
        <p:spPr>
          <a:xfrm>
            <a:off x="930402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6" name="Thread 13 in block 0"/>
          <p:cNvSpPr/>
          <p:nvPr/>
        </p:nvSpPr>
        <p:spPr>
          <a:xfrm>
            <a:off x="934974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Thread unit 14 in view"/>
          <p:cNvSpPr/>
          <p:nvPr/>
        </p:nvSpPr>
        <p:spPr>
          <a:xfrm>
            <a:off x="978408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48" name="Thread 14 in block 0"/>
          <p:cNvSpPr/>
          <p:nvPr/>
        </p:nvSpPr>
        <p:spPr>
          <a:xfrm>
            <a:off x="982980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Thread unit 15 in view"/>
          <p:cNvSpPr/>
          <p:nvPr/>
        </p:nvSpPr>
        <p:spPr>
          <a:xfrm>
            <a:off x="10264140" y="15680345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0" name="Thread 15 in block 0"/>
          <p:cNvSpPr/>
          <p:nvPr/>
        </p:nvSpPr>
        <p:spPr>
          <a:xfrm>
            <a:off x="10309860" y="15723407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Thread unit 16 in view"/>
          <p:cNvSpPr/>
          <p:nvPr/>
        </p:nvSpPr>
        <p:spPr>
          <a:xfrm>
            <a:off x="30632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2" name="Thread 16 in block 0"/>
          <p:cNvSpPr/>
          <p:nvPr/>
        </p:nvSpPr>
        <p:spPr>
          <a:xfrm>
            <a:off x="31089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Thread unit 17 in view"/>
          <p:cNvSpPr/>
          <p:nvPr/>
        </p:nvSpPr>
        <p:spPr>
          <a:xfrm>
            <a:off x="354330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4" name="Thread 17 in block 0"/>
          <p:cNvSpPr/>
          <p:nvPr/>
        </p:nvSpPr>
        <p:spPr>
          <a:xfrm>
            <a:off x="35890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Thread unit 18 in view"/>
          <p:cNvSpPr/>
          <p:nvPr/>
        </p:nvSpPr>
        <p:spPr>
          <a:xfrm>
            <a:off x="402336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6" name="Thread 18 in block 0"/>
          <p:cNvSpPr/>
          <p:nvPr/>
        </p:nvSpPr>
        <p:spPr>
          <a:xfrm>
            <a:off x="40690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Thread unit 19 in view"/>
          <p:cNvSpPr/>
          <p:nvPr/>
        </p:nvSpPr>
        <p:spPr>
          <a:xfrm>
            <a:off x="450342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58" name="Thread 19 in block 0"/>
          <p:cNvSpPr/>
          <p:nvPr/>
        </p:nvSpPr>
        <p:spPr>
          <a:xfrm>
            <a:off x="45491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Thread unit 20 in view"/>
          <p:cNvSpPr/>
          <p:nvPr/>
        </p:nvSpPr>
        <p:spPr>
          <a:xfrm>
            <a:off x="498348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0" name="Thread 20 in block 0"/>
          <p:cNvSpPr/>
          <p:nvPr/>
        </p:nvSpPr>
        <p:spPr>
          <a:xfrm>
            <a:off x="50292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Thread unit 21 in view"/>
          <p:cNvSpPr/>
          <p:nvPr/>
        </p:nvSpPr>
        <p:spPr>
          <a:xfrm>
            <a:off x="54635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2" name="Thread 21 in block 0"/>
          <p:cNvSpPr/>
          <p:nvPr/>
        </p:nvSpPr>
        <p:spPr>
          <a:xfrm>
            <a:off x="55092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Thread unit 22 in view"/>
          <p:cNvSpPr/>
          <p:nvPr/>
        </p:nvSpPr>
        <p:spPr>
          <a:xfrm>
            <a:off x="594360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4" name="Thread 22 in block 0"/>
          <p:cNvSpPr/>
          <p:nvPr/>
        </p:nvSpPr>
        <p:spPr>
          <a:xfrm>
            <a:off x="59893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Thread unit 23 in view"/>
          <p:cNvSpPr/>
          <p:nvPr/>
        </p:nvSpPr>
        <p:spPr>
          <a:xfrm>
            <a:off x="642366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6" name="Thread 23 in block 0"/>
          <p:cNvSpPr/>
          <p:nvPr/>
        </p:nvSpPr>
        <p:spPr>
          <a:xfrm>
            <a:off x="64693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Thread unit 24 in view"/>
          <p:cNvSpPr/>
          <p:nvPr/>
        </p:nvSpPr>
        <p:spPr>
          <a:xfrm>
            <a:off x="690372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68" name="Thread 24 in block 0"/>
          <p:cNvSpPr/>
          <p:nvPr/>
        </p:nvSpPr>
        <p:spPr>
          <a:xfrm>
            <a:off x="69494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Thread unit 25 in view"/>
          <p:cNvSpPr/>
          <p:nvPr/>
        </p:nvSpPr>
        <p:spPr>
          <a:xfrm>
            <a:off x="738378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0" name="Thread 25 in block 0"/>
          <p:cNvSpPr/>
          <p:nvPr/>
        </p:nvSpPr>
        <p:spPr>
          <a:xfrm>
            <a:off x="74295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Thread unit 26 in view"/>
          <p:cNvSpPr/>
          <p:nvPr/>
        </p:nvSpPr>
        <p:spPr>
          <a:xfrm>
            <a:off x="78638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2" name="Thread 26 in block 0"/>
          <p:cNvSpPr/>
          <p:nvPr/>
        </p:nvSpPr>
        <p:spPr>
          <a:xfrm>
            <a:off x="79095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Thread unit 27 in view"/>
          <p:cNvSpPr/>
          <p:nvPr/>
        </p:nvSpPr>
        <p:spPr>
          <a:xfrm>
            <a:off x="834390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4" name="Thread 27 in block 0"/>
          <p:cNvSpPr/>
          <p:nvPr/>
        </p:nvSpPr>
        <p:spPr>
          <a:xfrm>
            <a:off x="838962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Thread unit 28 in view"/>
          <p:cNvSpPr/>
          <p:nvPr/>
        </p:nvSpPr>
        <p:spPr>
          <a:xfrm>
            <a:off x="882396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6" name="Thread 28 in block 0"/>
          <p:cNvSpPr/>
          <p:nvPr/>
        </p:nvSpPr>
        <p:spPr>
          <a:xfrm>
            <a:off x="886968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Thread unit 29 in view"/>
          <p:cNvSpPr/>
          <p:nvPr/>
        </p:nvSpPr>
        <p:spPr>
          <a:xfrm>
            <a:off x="930402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78" name="Thread 29 in block 0"/>
          <p:cNvSpPr/>
          <p:nvPr/>
        </p:nvSpPr>
        <p:spPr>
          <a:xfrm>
            <a:off x="934974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Thread unit 30 in view"/>
          <p:cNvSpPr/>
          <p:nvPr/>
        </p:nvSpPr>
        <p:spPr>
          <a:xfrm>
            <a:off x="978408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80" name="Thread 30 in block 0"/>
          <p:cNvSpPr/>
          <p:nvPr/>
        </p:nvSpPr>
        <p:spPr>
          <a:xfrm>
            <a:off x="982980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Thread unit 31 in view"/>
          <p:cNvSpPr/>
          <p:nvPr/>
        </p:nvSpPr>
        <p:spPr>
          <a:xfrm>
            <a:off x="10264140" y="16003312"/>
            <a:ext cx="228600" cy="215311"/>
          </a:xfrm>
          <a:prstGeom prst="ellipse">
            <a:avLst/>
          </a:prstGeom>
          <a:noFill/>
          <a:ln w="27432">
            <a:solidFill>
              <a:schemeClr val="accent4"/>
            </a:solidFill>
          </a:ln>
        </p:spPr>
      </p:sp>
      <p:sp>
        <p:nvSpPr>
          <p:cNvPr id="82" name="Thread 31 in block 0"/>
          <p:cNvSpPr/>
          <p:nvPr/>
        </p:nvSpPr>
        <p:spPr>
          <a:xfrm>
            <a:off x="10309860" y="16046374"/>
            <a:ext cx="137160" cy="129187"/>
          </a:xfrm>
          <a:prstGeom prst="ellipse">
            <a:avLst/>
          </a:prstGeom>
          <a:solidFill>
            <a:schemeClr val="accent1"/>
          </a:solidFill>
          <a:ln w="11430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Thread 32 in block 0"/>
          <p:cNvSpPr/>
          <p:nvPr/>
        </p:nvSpPr>
        <p:spPr>
          <a:xfrm>
            <a:off x="3108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4" name="Thread 33 in block 0"/>
          <p:cNvSpPr/>
          <p:nvPr/>
        </p:nvSpPr>
        <p:spPr>
          <a:xfrm>
            <a:off x="35890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5" name="Thread 34 in block 0"/>
          <p:cNvSpPr/>
          <p:nvPr/>
        </p:nvSpPr>
        <p:spPr>
          <a:xfrm>
            <a:off x="4069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6" name="Thread 35 in block 0"/>
          <p:cNvSpPr/>
          <p:nvPr/>
        </p:nvSpPr>
        <p:spPr>
          <a:xfrm>
            <a:off x="45491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7" name="Thread 36 in block 0"/>
          <p:cNvSpPr/>
          <p:nvPr/>
        </p:nvSpPr>
        <p:spPr>
          <a:xfrm>
            <a:off x="50292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8" name="Thread 37 in block 0"/>
          <p:cNvSpPr/>
          <p:nvPr/>
        </p:nvSpPr>
        <p:spPr>
          <a:xfrm>
            <a:off x="55092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89" name="Thread 38 in block 0"/>
          <p:cNvSpPr/>
          <p:nvPr/>
        </p:nvSpPr>
        <p:spPr>
          <a:xfrm>
            <a:off x="59893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0" name="Thread 39 in block 0"/>
          <p:cNvSpPr/>
          <p:nvPr/>
        </p:nvSpPr>
        <p:spPr>
          <a:xfrm>
            <a:off x="64693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1" name="Thread 40 in block 0"/>
          <p:cNvSpPr/>
          <p:nvPr/>
        </p:nvSpPr>
        <p:spPr>
          <a:xfrm>
            <a:off x="6949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2" name="Thread 41 in block 0"/>
          <p:cNvSpPr/>
          <p:nvPr/>
        </p:nvSpPr>
        <p:spPr>
          <a:xfrm>
            <a:off x="74295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3" name="Thread 42 in block 0"/>
          <p:cNvSpPr/>
          <p:nvPr/>
        </p:nvSpPr>
        <p:spPr>
          <a:xfrm>
            <a:off x="79095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4" name="Thread 43 in block 0"/>
          <p:cNvSpPr/>
          <p:nvPr/>
        </p:nvSpPr>
        <p:spPr>
          <a:xfrm>
            <a:off x="83896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5" name="Thread 44 in block 0"/>
          <p:cNvSpPr/>
          <p:nvPr/>
        </p:nvSpPr>
        <p:spPr>
          <a:xfrm>
            <a:off x="88696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6" name="Thread 45 in block 0"/>
          <p:cNvSpPr/>
          <p:nvPr/>
        </p:nvSpPr>
        <p:spPr>
          <a:xfrm>
            <a:off x="93497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7" name="Thread 46 in block 0"/>
          <p:cNvSpPr/>
          <p:nvPr/>
        </p:nvSpPr>
        <p:spPr>
          <a:xfrm>
            <a:off x="98298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8" name="Thread 47 in block 0"/>
          <p:cNvSpPr/>
          <p:nvPr/>
        </p:nvSpPr>
        <p:spPr>
          <a:xfrm>
            <a:off x="103098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99" name="Thread 48 in block 0"/>
          <p:cNvSpPr/>
          <p:nvPr/>
        </p:nvSpPr>
        <p:spPr>
          <a:xfrm>
            <a:off x="3108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0" name="Thread 49 in block 0"/>
          <p:cNvSpPr/>
          <p:nvPr/>
        </p:nvSpPr>
        <p:spPr>
          <a:xfrm>
            <a:off x="35890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1" name="Thread 50 in block 0"/>
          <p:cNvSpPr/>
          <p:nvPr/>
        </p:nvSpPr>
        <p:spPr>
          <a:xfrm>
            <a:off x="4069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2" name="Thread 51 in block 0"/>
          <p:cNvSpPr/>
          <p:nvPr/>
        </p:nvSpPr>
        <p:spPr>
          <a:xfrm>
            <a:off x="45491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3" name="Thread 52 in block 0"/>
          <p:cNvSpPr/>
          <p:nvPr/>
        </p:nvSpPr>
        <p:spPr>
          <a:xfrm>
            <a:off x="50292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4" name="Thread 53 in block 0"/>
          <p:cNvSpPr/>
          <p:nvPr/>
        </p:nvSpPr>
        <p:spPr>
          <a:xfrm>
            <a:off x="55092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5" name="Thread 54 in block 0"/>
          <p:cNvSpPr/>
          <p:nvPr/>
        </p:nvSpPr>
        <p:spPr>
          <a:xfrm>
            <a:off x="59893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6" name="Thread 55 in block 0"/>
          <p:cNvSpPr/>
          <p:nvPr/>
        </p:nvSpPr>
        <p:spPr>
          <a:xfrm>
            <a:off x="64693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7" name="Thread 56 in block 0"/>
          <p:cNvSpPr/>
          <p:nvPr/>
        </p:nvSpPr>
        <p:spPr>
          <a:xfrm>
            <a:off x="6949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8" name="Thread 57 in block 0"/>
          <p:cNvSpPr/>
          <p:nvPr/>
        </p:nvSpPr>
        <p:spPr>
          <a:xfrm>
            <a:off x="74295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09" name="Thread 58 in block 0"/>
          <p:cNvSpPr/>
          <p:nvPr/>
        </p:nvSpPr>
        <p:spPr>
          <a:xfrm>
            <a:off x="79095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0" name="Thread 59 in block 0"/>
          <p:cNvSpPr/>
          <p:nvPr/>
        </p:nvSpPr>
        <p:spPr>
          <a:xfrm>
            <a:off x="83896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1" name="Thread 60 in block 0"/>
          <p:cNvSpPr/>
          <p:nvPr/>
        </p:nvSpPr>
        <p:spPr>
          <a:xfrm>
            <a:off x="88696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2" name="Thread 61 in block 0"/>
          <p:cNvSpPr/>
          <p:nvPr/>
        </p:nvSpPr>
        <p:spPr>
          <a:xfrm>
            <a:off x="93497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3" name="Thread 62 in block 0"/>
          <p:cNvSpPr/>
          <p:nvPr/>
        </p:nvSpPr>
        <p:spPr>
          <a:xfrm>
            <a:off x="98298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4" name="Thread 63 in block 0"/>
          <p:cNvSpPr/>
          <p:nvPr/>
        </p:nvSpPr>
        <p:spPr>
          <a:xfrm>
            <a:off x="103098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5" name="Thread block 1"/>
          <p:cNvSpPr/>
          <p:nvPr/>
        </p:nvSpPr>
        <p:spPr>
          <a:xfrm>
            <a:off x="1225296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16" name="Block 1"/>
          <p:cNvSpPr/>
          <p:nvPr/>
        </p:nvSpPr>
        <p:spPr>
          <a:xfrm>
            <a:off x="1252728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1</a:t>
            </a:r>
          </a:p>
        </p:txBody>
      </p:sp>
      <p:sp>
        <p:nvSpPr>
          <p:cNvPr id="117" name="Thread 0 in block 1"/>
          <p:cNvSpPr/>
          <p:nvPr/>
        </p:nvSpPr>
        <p:spPr>
          <a:xfrm>
            <a:off x="12801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8" name="Thread 1 in block 1"/>
          <p:cNvSpPr/>
          <p:nvPr/>
        </p:nvSpPr>
        <p:spPr>
          <a:xfrm>
            <a:off x="132816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19" name="Thread 2 in block 1"/>
          <p:cNvSpPr/>
          <p:nvPr/>
        </p:nvSpPr>
        <p:spPr>
          <a:xfrm>
            <a:off x="137617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0" name="Thread 3 in block 1"/>
          <p:cNvSpPr/>
          <p:nvPr/>
        </p:nvSpPr>
        <p:spPr>
          <a:xfrm>
            <a:off x="142417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1" name="Thread 4 in block 1"/>
          <p:cNvSpPr/>
          <p:nvPr/>
        </p:nvSpPr>
        <p:spPr>
          <a:xfrm>
            <a:off x="147218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2" name="Thread 5 in block 1"/>
          <p:cNvSpPr/>
          <p:nvPr/>
        </p:nvSpPr>
        <p:spPr>
          <a:xfrm>
            <a:off x="152019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3" name="Thread 6 in block 1"/>
          <p:cNvSpPr/>
          <p:nvPr/>
        </p:nvSpPr>
        <p:spPr>
          <a:xfrm>
            <a:off x="15681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4" name="Thread 7 in block 1"/>
          <p:cNvSpPr/>
          <p:nvPr/>
        </p:nvSpPr>
        <p:spPr>
          <a:xfrm>
            <a:off x="161620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5" name="Thread 8 in block 1"/>
          <p:cNvSpPr/>
          <p:nvPr/>
        </p:nvSpPr>
        <p:spPr>
          <a:xfrm>
            <a:off x="16642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6" name="Thread 9 in block 1"/>
          <p:cNvSpPr/>
          <p:nvPr/>
        </p:nvSpPr>
        <p:spPr>
          <a:xfrm>
            <a:off x="171221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7" name="Thread 10 in block 1"/>
          <p:cNvSpPr/>
          <p:nvPr/>
        </p:nvSpPr>
        <p:spPr>
          <a:xfrm>
            <a:off x="176022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8" name="Thread 11 in block 1"/>
          <p:cNvSpPr/>
          <p:nvPr/>
        </p:nvSpPr>
        <p:spPr>
          <a:xfrm>
            <a:off x="180822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29" name="Thread 12 in block 1"/>
          <p:cNvSpPr/>
          <p:nvPr/>
        </p:nvSpPr>
        <p:spPr>
          <a:xfrm>
            <a:off x="185623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0" name="Thread 13 in block 1"/>
          <p:cNvSpPr/>
          <p:nvPr/>
        </p:nvSpPr>
        <p:spPr>
          <a:xfrm>
            <a:off x="190423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1" name="Thread 14 in block 1"/>
          <p:cNvSpPr/>
          <p:nvPr/>
        </p:nvSpPr>
        <p:spPr>
          <a:xfrm>
            <a:off x="195224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2" name="Thread 15 in block 1"/>
          <p:cNvSpPr/>
          <p:nvPr/>
        </p:nvSpPr>
        <p:spPr>
          <a:xfrm>
            <a:off x="200025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3" name="Thread 16 in block 1"/>
          <p:cNvSpPr/>
          <p:nvPr/>
        </p:nvSpPr>
        <p:spPr>
          <a:xfrm>
            <a:off x="12801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4" name="Thread 17 in block 1"/>
          <p:cNvSpPr/>
          <p:nvPr/>
        </p:nvSpPr>
        <p:spPr>
          <a:xfrm>
            <a:off x="132816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5" name="Thread 18 in block 1"/>
          <p:cNvSpPr/>
          <p:nvPr/>
        </p:nvSpPr>
        <p:spPr>
          <a:xfrm>
            <a:off x="137617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6" name="Thread 19 in block 1"/>
          <p:cNvSpPr/>
          <p:nvPr/>
        </p:nvSpPr>
        <p:spPr>
          <a:xfrm>
            <a:off x="142417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7" name="Thread 20 in block 1"/>
          <p:cNvSpPr/>
          <p:nvPr/>
        </p:nvSpPr>
        <p:spPr>
          <a:xfrm>
            <a:off x="147218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8" name="Thread 21 in block 1"/>
          <p:cNvSpPr/>
          <p:nvPr/>
        </p:nvSpPr>
        <p:spPr>
          <a:xfrm>
            <a:off x="152019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39" name="Thread 22 in block 1"/>
          <p:cNvSpPr/>
          <p:nvPr/>
        </p:nvSpPr>
        <p:spPr>
          <a:xfrm>
            <a:off x="15681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0" name="Thread 23 in block 1"/>
          <p:cNvSpPr/>
          <p:nvPr/>
        </p:nvSpPr>
        <p:spPr>
          <a:xfrm>
            <a:off x="161620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1" name="Thread 24 in block 1"/>
          <p:cNvSpPr/>
          <p:nvPr/>
        </p:nvSpPr>
        <p:spPr>
          <a:xfrm>
            <a:off x="16642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2" name="Thread 25 in block 1"/>
          <p:cNvSpPr/>
          <p:nvPr/>
        </p:nvSpPr>
        <p:spPr>
          <a:xfrm>
            <a:off x="171221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3" name="Thread 26 in block 1"/>
          <p:cNvSpPr/>
          <p:nvPr/>
        </p:nvSpPr>
        <p:spPr>
          <a:xfrm>
            <a:off x="176022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4" name="Thread 27 in block 1"/>
          <p:cNvSpPr/>
          <p:nvPr/>
        </p:nvSpPr>
        <p:spPr>
          <a:xfrm>
            <a:off x="180822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5" name="Thread 28 in block 1"/>
          <p:cNvSpPr/>
          <p:nvPr/>
        </p:nvSpPr>
        <p:spPr>
          <a:xfrm>
            <a:off x="185623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6" name="Thread 29 in block 1"/>
          <p:cNvSpPr/>
          <p:nvPr/>
        </p:nvSpPr>
        <p:spPr>
          <a:xfrm>
            <a:off x="190423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7" name="Thread 30 in block 1"/>
          <p:cNvSpPr/>
          <p:nvPr/>
        </p:nvSpPr>
        <p:spPr>
          <a:xfrm>
            <a:off x="195224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8" name="Thread 31 in block 1"/>
          <p:cNvSpPr/>
          <p:nvPr/>
        </p:nvSpPr>
        <p:spPr>
          <a:xfrm>
            <a:off x="200025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49" name="Thread 32 in block 1"/>
          <p:cNvSpPr/>
          <p:nvPr/>
        </p:nvSpPr>
        <p:spPr>
          <a:xfrm>
            <a:off x="12801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0" name="Thread 33 in block 1"/>
          <p:cNvSpPr/>
          <p:nvPr/>
        </p:nvSpPr>
        <p:spPr>
          <a:xfrm>
            <a:off x="132816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1" name="Thread 34 in block 1"/>
          <p:cNvSpPr/>
          <p:nvPr/>
        </p:nvSpPr>
        <p:spPr>
          <a:xfrm>
            <a:off x="137617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2" name="Thread 35 in block 1"/>
          <p:cNvSpPr/>
          <p:nvPr/>
        </p:nvSpPr>
        <p:spPr>
          <a:xfrm>
            <a:off x="142417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3" name="Thread 36 in block 1"/>
          <p:cNvSpPr/>
          <p:nvPr/>
        </p:nvSpPr>
        <p:spPr>
          <a:xfrm>
            <a:off x="147218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4" name="Thread 37 in block 1"/>
          <p:cNvSpPr/>
          <p:nvPr/>
        </p:nvSpPr>
        <p:spPr>
          <a:xfrm>
            <a:off x="152019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5" name="Thread 38 in block 1"/>
          <p:cNvSpPr/>
          <p:nvPr/>
        </p:nvSpPr>
        <p:spPr>
          <a:xfrm>
            <a:off x="15681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6" name="Thread 39 in block 1"/>
          <p:cNvSpPr/>
          <p:nvPr/>
        </p:nvSpPr>
        <p:spPr>
          <a:xfrm>
            <a:off x="161620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7" name="Thread 40 in block 1"/>
          <p:cNvSpPr/>
          <p:nvPr/>
        </p:nvSpPr>
        <p:spPr>
          <a:xfrm>
            <a:off x="16642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8" name="Thread 41 in block 1"/>
          <p:cNvSpPr/>
          <p:nvPr/>
        </p:nvSpPr>
        <p:spPr>
          <a:xfrm>
            <a:off x="171221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59" name="Thread 42 in block 1"/>
          <p:cNvSpPr/>
          <p:nvPr/>
        </p:nvSpPr>
        <p:spPr>
          <a:xfrm>
            <a:off x="176022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0" name="Thread 43 in block 1"/>
          <p:cNvSpPr/>
          <p:nvPr/>
        </p:nvSpPr>
        <p:spPr>
          <a:xfrm>
            <a:off x="180822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1" name="Thread 44 in block 1"/>
          <p:cNvSpPr/>
          <p:nvPr/>
        </p:nvSpPr>
        <p:spPr>
          <a:xfrm>
            <a:off x="185623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2" name="Thread 45 in block 1"/>
          <p:cNvSpPr/>
          <p:nvPr/>
        </p:nvSpPr>
        <p:spPr>
          <a:xfrm>
            <a:off x="190423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3" name="Thread 46 in block 1"/>
          <p:cNvSpPr/>
          <p:nvPr/>
        </p:nvSpPr>
        <p:spPr>
          <a:xfrm>
            <a:off x="195224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4" name="Thread 47 in block 1"/>
          <p:cNvSpPr/>
          <p:nvPr/>
        </p:nvSpPr>
        <p:spPr>
          <a:xfrm>
            <a:off x="200025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5" name="Thread 48 in block 1"/>
          <p:cNvSpPr/>
          <p:nvPr/>
        </p:nvSpPr>
        <p:spPr>
          <a:xfrm>
            <a:off x="12801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6" name="Thread 49 in block 1"/>
          <p:cNvSpPr/>
          <p:nvPr/>
        </p:nvSpPr>
        <p:spPr>
          <a:xfrm>
            <a:off x="132816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7" name="Thread 50 in block 1"/>
          <p:cNvSpPr/>
          <p:nvPr/>
        </p:nvSpPr>
        <p:spPr>
          <a:xfrm>
            <a:off x="137617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8" name="Thread 51 in block 1"/>
          <p:cNvSpPr/>
          <p:nvPr/>
        </p:nvSpPr>
        <p:spPr>
          <a:xfrm>
            <a:off x="142417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69" name="Thread 52 in block 1"/>
          <p:cNvSpPr/>
          <p:nvPr/>
        </p:nvSpPr>
        <p:spPr>
          <a:xfrm>
            <a:off x="147218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0" name="Thread 53 in block 1"/>
          <p:cNvSpPr/>
          <p:nvPr/>
        </p:nvSpPr>
        <p:spPr>
          <a:xfrm>
            <a:off x="152019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1" name="Thread 54 in block 1"/>
          <p:cNvSpPr/>
          <p:nvPr/>
        </p:nvSpPr>
        <p:spPr>
          <a:xfrm>
            <a:off x="15681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2" name="Thread 55 in block 1"/>
          <p:cNvSpPr/>
          <p:nvPr/>
        </p:nvSpPr>
        <p:spPr>
          <a:xfrm>
            <a:off x="161620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3" name="Thread 56 in block 1"/>
          <p:cNvSpPr/>
          <p:nvPr/>
        </p:nvSpPr>
        <p:spPr>
          <a:xfrm>
            <a:off x="16642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4" name="Thread 57 in block 1"/>
          <p:cNvSpPr/>
          <p:nvPr/>
        </p:nvSpPr>
        <p:spPr>
          <a:xfrm>
            <a:off x="171221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5" name="Thread 58 in block 1"/>
          <p:cNvSpPr/>
          <p:nvPr/>
        </p:nvSpPr>
        <p:spPr>
          <a:xfrm>
            <a:off x="176022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6" name="Thread 59 in block 1"/>
          <p:cNvSpPr/>
          <p:nvPr/>
        </p:nvSpPr>
        <p:spPr>
          <a:xfrm>
            <a:off x="180822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7" name="Thread 60 in block 1"/>
          <p:cNvSpPr/>
          <p:nvPr/>
        </p:nvSpPr>
        <p:spPr>
          <a:xfrm>
            <a:off x="185623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8" name="Thread 61 in block 1"/>
          <p:cNvSpPr/>
          <p:nvPr/>
        </p:nvSpPr>
        <p:spPr>
          <a:xfrm>
            <a:off x="190423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79" name="Thread 62 in block 1"/>
          <p:cNvSpPr/>
          <p:nvPr/>
        </p:nvSpPr>
        <p:spPr>
          <a:xfrm>
            <a:off x="195224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0" name="Thread 63 in block 1"/>
          <p:cNvSpPr/>
          <p:nvPr/>
        </p:nvSpPr>
        <p:spPr>
          <a:xfrm>
            <a:off x="200025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1" name="Thread block 2"/>
          <p:cNvSpPr/>
          <p:nvPr/>
        </p:nvSpPr>
        <p:spPr>
          <a:xfrm>
            <a:off x="21945600" y="14625320"/>
            <a:ext cx="8869680" cy="325120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82" name="Block 2"/>
          <p:cNvSpPr/>
          <p:nvPr/>
        </p:nvSpPr>
        <p:spPr>
          <a:xfrm>
            <a:off x="22219920" y="14840631"/>
            <a:ext cx="8321040" cy="473684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2520" b="0">
                <a:solidFill>
                  <a:schemeClr val="accent6"/>
                </a:solidFill>
                <a:latin typeface="NVIDIA Sans"/>
              </a:rPr>
              <a:t xml:space="preserve">Block 2</a:t>
            </a:r>
          </a:p>
        </p:txBody>
      </p:sp>
      <p:sp>
        <p:nvSpPr>
          <p:cNvPr id="183" name="Thread 0 in block 2"/>
          <p:cNvSpPr/>
          <p:nvPr/>
        </p:nvSpPr>
        <p:spPr>
          <a:xfrm>
            <a:off x="224942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4" name="Thread 1 in block 2"/>
          <p:cNvSpPr/>
          <p:nvPr/>
        </p:nvSpPr>
        <p:spPr>
          <a:xfrm>
            <a:off x="229743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5" name="Thread 2 in block 2"/>
          <p:cNvSpPr/>
          <p:nvPr/>
        </p:nvSpPr>
        <p:spPr>
          <a:xfrm>
            <a:off x="234543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6" name="Thread 3 in block 2"/>
          <p:cNvSpPr/>
          <p:nvPr/>
        </p:nvSpPr>
        <p:spPr>
          <a:xfrm>
            <a:off x="239344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7" name="Thread 4 in block 2"/>
          <p:cNvSpPr/>
          <p:nvPr/>
        </p:nvSpPr>
        <p:spPr>
          <a:xfrm>
            <a:off x="244144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8" name="Thread 5 in block 2"/>
          <p:cNvSpPr/>
          <p:nvPr/>
        </p:nvSpPr>
        <p:spPr>
          <a:xfrm>
            <a:off x="248945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89" name="Thread 6 in block 2"/>
          <p:cNvSpPr/>
          <p:nvPr/>
        </p:nvSpPr>
        <p:spPr>
          <a:xfrm>
            <a:off x="253746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0" name="Thread 7 in block 2"/>
          <p:cNvSpPr/>
          <p:nvPr/>
        </p:nvSpPr>
        <p:spPr>
          <a:xfrm>
            <a:off x="258546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1" name="Thread 8 in block 2"/>
          <p:cNvSpPr/>
          <p:nvPr/>
        </p:nvSpPr>
        <p:spPr>
          <a:xfrm>
            <a:off x="263347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2" name="Thread 9 in block 2"/>
          <p:cNvSpPr/>
          <p:nvPr/>
        </p:nvSpPr>
        <p:spPr>
          <a:xfrm>
            <a:off x="268147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3" name="Thread 10 in block 2"/>
          <p:cNvSpPr/>
          <p:nvPr/>
        </p:nvSpPr>
        <p:spPr>
          <a:xfrm>
            <a:off x="272948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4" name="Thread 11 in block 2"/>
          <p:cNvSpPr/>
          <p:nvPr/>
        </p:nvSpPr>
        <p:spPr>
          <a:xfrm>
            <a:off x="2777490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5" name="Thread 12 in block 2"/>
          <p:cNvSpPr/>
          <p:nvPr/>
        </p:nvSpPr>
        <p:spPr>
          <a:xfrm>
            <a:off x="2825496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6" name="Thread 13 in block 2"/>
          <p:cNvSpPr/>
          <p:nvPr/>
        </p:nvSpPr>
        <p:spPr>
          <a:xfrm>
            <a:off x="2873502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7" name="Thread 14 in block 2"/>
          <p:cNvSpPr/>
          <p:nvPr/>
        </p:nvSpPr>
        <p:spPr>
          <a:xfrm>
            <a:off x="2921508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8" name="Thread 15 in block 2"/>
          <p:cNvSpPr/>
          <p:nvPr/>
        </p:nvSpPr>
        <p:spPr>
          <a:xfrm>
            <a:off x="29695140" y="15723407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199" name="Thread 16 in block 2"/>
          <p:cNvSpPr/>
          <p:nvPr/>
        </p:nvSpPr>
        <p:spPr>
          <a:xfrm>
            <a:off x="224942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0" name="Thread 17 in block 2"/>
          <p:cNvSpPr/>
          <p:nvPr/>
        </p:nvSpPr>
        <p:spPr>
          <a:xfrm>
            <a:off x="229743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1" name="Thread 18 in block 2"/>
          <p:cNvSpPr/>
          <p:nvPr/>
        </p:nvSpPr>
        <p:spPr>
          <a:xfrm>
            <a:off x="234543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2" name="Thread 19 in block 2"/>
          <p:cNvSpPr/>
          <p:nvPr/>
        </p:nvSpPr>
        <p:spPr>
          <a:xfrm>
            <a:off x="239344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3" name="Thread 20 in block 2"/>
          <p:cNvSpPr/>
          <p:nvPr/>
        </p:nvSpPr>
        <p:spPr>
          <a:xfrm>
            <a:off x="244144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4" name="Thread 21 in block 2"/>
          <p:cNvSpPr/>
          <p:nvPr/>
        </p:nvSpPr>
        <p:spPr>
          <a:xfrm>
            <a:off x="248945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5" name="Thread 22 in block 2"/>
          <p:cNvSpPr/>
          <p:nvPr/>
        </p:nvSpPr>
        <p:spPr>
          <a:xfrm>
            <a:off x="253746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6" name="Thread 23 in block 2"/>
          <p:cNvSpPr/>
          <p:nvPr/>
        </p:nvSpPr>
        <p:spPr>
          <a:xfrm>
            <a:off x="258546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7" name="Thread 24 in block 2"/>
          <p:cNvSpPr/>
          <p:nvPr/>
        </p:nvSpPr>
        <p:spPr>
          <a:xfrm>
            <a:off x="263347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8" name="Thread 25 in block 2"/>
          <p:cNvSpPr/>
          <p:nvPr/>
        </p:nvSpPr>
        <p:spPr>
          <a:xfrm>
            <a:off x="268147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09" name="Thread 26 in block 2"/>
          <p:cNvSpPr/>
          <p:nvPr/>
        </p:nvSpPr>
        <p:spPr>
          <a:xfrm>
            <a:off x="272948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0" name="Thread 27 in block 2"/>
          <p:cNvSpPr/>
          <p:nvPr/>
        </p:nvSpPr>
        <p:spPr>
          <a:xfrm>
            <a:off x="2777490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1" name="Thread 28 in block 2"/>
          <p:cNvSpPr/>
          <p:nvPr/>
        </p:nvSpPr>
        <p:spPr>
          <a:xfrm>
            <a:off x="2825496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2" name="Thread 29 in block 2"/>
          <p:cNvSpPr/>
          <p:nvPr/>
        </p:nvSpPr>
        <p:spPr>
          <a:xfrm>
            <a:off x="2873502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3" name="Thread 30 in block 2"/>
          <p:cNvSpPr/>
          <p:nvPr/>
        </p:nvSpPr>
        <p:spPr>
          <a:xfrm>
            <a:off x="2921508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4" name="Thread 31 in block 2"/>
          <p:cNvSpPr/>
          <p:nvPr/>
        </p:nvSpPr>
        <p:spPr>
          <a:xfrm>
            <a:off x="29695140" y="16046374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5" name="Thread 32 in block 2"/>
          <p:cNvSpPr/>
          <p:nvPr/>
        </p:nvSpPr>
        <p:spPr>
          <a:xfrm>
            <a:off x="224942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6" name="Thread 33 in block 2"/>
          <p:cNvSpPr/>
          <p:nvPr/>
        </p:nvSpPr>
        <p:spPr>
          <a:xfrm>
            <a:off x="229743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7" name="Thread 34 in block 2"/>
          <p:cNvSpPr/>
          <p:nvPr/>
        </p:nvSpPr>
        <p:spPr>
          <a:xfrm>
            <a:off x="234543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8" name="Thread 35 in block 2"/>
          <p:cNvSpPr/>
          <p:nvPr/>
        </p:nvSpPr>
        <p:spPr>
          <a:xfrm>
            <a:off x="239344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19" name="Thread 36 in block 2"/>
          <p:cNvSpPr/>
          <p:nvPr/>
        </p:nvSpPr>
        <p:spPr>
          <a:xfrm>
            <a:off x="244144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0" name="Thread 37 in block 2"/>
          <p:cNvSpPr/>
          <p:nvPr/>
        </p:nvSpPr>
        <p:spPr>
          <a:xfrm>
            <a:off x="248945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1" name="Thread 38 in block 2"/>
          <p:cNvSpPr/>
          <p:nvPr/>
        </p:nvSpPr>
        <p:spPr>
          <a:xfrm>
            <a:off x="253746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2" name="Thread 39 in block 2"/>
          <p:cNvSpPr/>
          <p:nvPr/>
        </p:nvSpPr>
        <p:spPr>
          <a:xfrm>
            <a:off x="258546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3" name="Thread 40 in block 2"/>
          <p:cNvSpPr/>
          <p:nvPr/>
        </p:nvSpPr>
        <p:spPr>
          <a:xfrm>
            <a:off x="263347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4" name="Thread 41 in block 2"/>
          <p:cNvSpPr/>
          <p:nvPr/>
        </p:nvSpPr>
        <p:spPr>
          <a:xfrm>
            <a:off x="268147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5" name="Thread 42 in block 2"/>
          <p:cNvSpPr/>
          <p:nvPr/>
        </p:nvSpPr>
        <p:spPr>
          <a:xfrm>
            <a:off x="272948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6" name="Thread 43 in block 2"/>
          <p:cNvSpPr/>
          <p:nvPr/>
        </p:nvSpPr>
        <p:spPr>
          <a:xfrm>
            <a:off x="2777490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7" name="Thread 44 in block 2"/>
          <p:cNvSpPr/>
          <p:nvPr/>
        </p:nvSpPr>
        <p:spPr>
          <a:xfrm>
            <a:off x="2825496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8" name="Thread 45 in block 2"/>
          <p:cNvSpPr/>
          <p:nvPr/>
        </p:nvSpPr>
        <p:spPr>
          <a:xfrm>
            <a:off x="2873502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29" name="Thread 46 in block 2"/>
          <p:cNvSpPr/>
          <p:nvPr/>
        </p:nvSpPr>
        <p:spPr>
          <a:xfrm>
            <a:off x="2921508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0" name="Thread 47 in block 2"/>
          <p:cNvSpPr/>
          <p:nvPr/>
        </p:nvSpPr>
        <p:spPr>
          <a:xfrm>
            <a:off x="29695140" y="16756901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1" name="Thread 48 in block 2"/>
          <p:cNvSpPr/>
          <p:nvPr/>
        </p:nvSpPr>
        <p:spPr>
          <a:xfrm>
            <a:off x="224942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2" name="Thread 49 in block 2"/>
          <p:cNvSpPr/>
          <p:nvPr/>
        </p:nvSpPr>
        <p:spPr>
          <a:xfrm>
            <a:off x="229743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3" name="Thread 50 in block 2"/>
          <p:cNvSpPr/>
          <p:nvPr/>
        </p:nvSpPr>
        <p:spPr>
          <a:xfrm>
            <a:off x="234543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4" name="Thread 51 in block 2"/>
          <p:cNvSpPr/>
          <p:nvPr/>
        </p:nvSpPr>
        <p:spPr>
          <a:xfrm>
            <a:off x="239344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5" name="Thread 52 in block 2"/>
          <p:cNvSpPr/>
          <p:nvPr/>
        </p:nvSpPr>
        <p:spPr>
          <a:xfrm>
            <a:off x="244144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6" name="Thread 53 in block 2"/>
          <p:cNvSpPr/>
          <p:nvPr/>
        </p:nvSpPr>
        <p:spPr>
          <a:xfrm>
            <a:off x="248945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7" name="Thread 54 in block 2"/>
          <p:cNvSpPr/>
          <p:nvPr/>
        </p:nvSpPr>
        <p:spPr>
          <a:xfrm>
            <a:off x="253746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8" name="Thread 55 in block 2"/>
          <p:cNvSpPr/>
          <p:nvPr/>
        </p:nvSpPr>
        <p:spPr>
          <a:xfrm>
            <a:off x="258546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39" name="Thread 56 in block 2"/>
          <p:cNvSpPr/>
          <p:nvPr/>
        </p:nvSpPr>
        <p:spPr>
          <a:xfrm>
            <a:off x="263347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0" name="Thread 57 in block 2"/>
          <p:cNvSpPr/>
          <p:nvPr/>
        </p:nvSpPr>
        <p:spPr>
          <a:xfrm>
            <a:off x="268147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1" name="Thread 58 in block 2"/>
          <p:cNvSpPr/>
          <p:nvPr/>
        </p:nvSpPr>
        <p:spPr>
          <a:xfrm>
            <a:off x="272948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2" name="Thread 59 in block 2"/>
          <p:cNvSpPr/>
          <p:nvPr/>
        </p:nvSpPr>
        <p:spPr>
          <a:xfrm>
            <a:off x="2777490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3" name="Thread 60 in block 2"/>
          <p:cNvSpPr/>
          <p:nvPr/>
        </p:nvSpPr>
        <p:spPr>
          <a:xfrm>
            <a:off x="2825496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4" name="Thread 61 in block 2"/>
          <p:cNvSpPr/>
          <p:nvPr/>
        </p:nvSpPr>
        <p:spPr>
          <a:xfrm>
            <a:off x="2873502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5" name="Thread 62 in block 2"/>
          <p:cNvSpPr/>
          <p:nvPr/>
        </p:nvSpPr>
        <p:spPr>
          <a:xfrm>
            <a:off x="2921508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6" name="Thread 63 in block 2"/>
          <p:cNvSpPr/>
          <p:nvPr/>
        </p:nvSpPr>
        <p:spPr>
          <a:xfrm>
            <a:off x="29695140" y="17079868"/>
            <a:ext cx="137160" cy="129187"/>
          </a:xfrm>
          <a:prstGeom prst="ellipse">
            <a:avLst/>
          </a:prstGeom>
          <a:solidFill>
            <a:schemeClr val="dk1">
              <a:tint val="18000"/>
            </a:schemeClr>
          </a:solidFill>
          <a:ln w="11430">
            <a:solidFill>
              <a:schemeClr val="dk1">
                <a:tint val="35000"/>
              </a:schemeClr>
            </a:solidFill>
          </a:ln>
        </p:spPr>
      </p:sp>
      <p:sp>
        <p:nvSpPr>
          <p:cNvPr id="247" name="Additional thread blocks"/>
          <p:cNvSpPr/>
          <p:nvPr/>
        </p:nvSpPr>
        <p:spPr>
          <a:xfrm>
            <a:off x="31318200" y="15803880"/>
            <a:ext cx="2286000" cy="9753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0000"/>
              </a:lnSpc>
              <a:buNone/>
            </a:pPr>
            <a:r>
              <a:rPr lang="en-US" sz="6120" b="0">
                <a:solidFill>
                  <a:schemeClr val="accent6"/>
                </a:solidFill>
                <a:latin typeface="NVIDIA Sans"/>
              </a:rPr>
              <a:t xml:space="preserve">...</a:t>
            </a:r>
          </a:p>
        </p:txBody>
      </p:sp>
      <p:sp>
        <p:nvSpPr>
          <p:cNvPr id="248" name="Shape"/>
          <p:cNvSpPr/>
          <p:nvPr/>
        </p:nvSpPr>
        <p:spPr>
          <a:xfrm>
            <a:off x="256032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3"/>
            </a:solidFill>
          </a:ln>
        </p:spPr>
      </p:sp>
      <p:sp>
        <p:nvSpPr>
          <p:cNvPr id="249" name="Original group: one warp unit"/>
          <p:cNvSpPr/>
          <p:nvPr/>
        </p:nvSpPr>
        <p:spPr>
          <a:xfrm>
            <a:off x="3131820" y="18379440"/>
            <a:ext cx="9601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Original group: one warp unit</a:t>
            </a:r>
          </a:p>
        </p:txBody>
      </p:sp>
      <p:sp>
        <p:nvSpPr>
          <p:cNvPr id="250" name="Shape"/>
          <p:cNvSpPr/>
          <p:nvPr/>
        </p:nvSpPr>
        <p:spPr>
          <a:xfrm>
            <a:off x="12801600" y="18493740"/>
            <a:ext cx="342900" cy="342900"/>
          </a:xfrm>
          <a:prstGeom prst="roundRect">
            <a:avLst>
              <a:gd name="adj" fmla="val 6000"/>
            </a:avLst>
          </a:prstGeom>
          <a:noFill/>
          <a:ln w="45720">
            <a:solidFill>
              <a:schemeClr val="accent4"/>
            </a:solidFill>
          </a:ln>
        </p:spPr>
      </p:sp>
      <p:sp>
        <p:nvSpPr>
          <p:cNvPr id="251" name="View: 32 thread units"/>
          <p:cNvSpPr/>
          <p:nvPr/>
        </p:nvSpPr>
        <p:spPr>
          <a:xfrm>
            <a:off x="13373100" y="18379440"/>
            <a:ext cx="96012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View: 32 thread units</a:t>
            </a:r>
          </a:p>
        </p:txBody>
      </p:sp>
      <p:sp>
        <p:nvSpPr>
          <p:cNvPr id="252" name="Same threads · same synchronization"/>
          <p:cNvSpPr/>
          <p:nvPr/>
        </p:nvSpPr>
        <p:spPr>
          <a:xfrm>
            <a:off x="23042880" y="18379440"/>
            <a:ext cx="114300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700" b="0">
                <a:solidFill>
                  <a:schemeClr val="accent6"/>
                </a:solidFill>
                <a:latin typeface="NVIDIA Sans"/>
              </a:rPr>
              <a:t xml:space="preserve">Same threads · same synchronization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>
  <p:cSld name="Group Mapp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Mappings</a:t>
            </a:r>
          </a:p>
        </p:txBody>
      </p:sp>
      <p:sp>
        <p:nvSpPr>
          <p:cNvPr id="3" name="Partition units and compose mappings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Partition units and compose mappings</a:t>
            </a:r>
          </a:p>
        </p:txBody>
      </p:sp>
      <p:sp>
        <p:nvSpPr>
          <p:cNvPr id="4" name="2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5" name="Determines how the units are split into subgroups"/>
          <p:cNvSpPr/>
          <p:nvPr/>
        </p:nvSpPr>
        <p:spPr>
          <a:xfrm>
            <a:off x="1874520" y="482346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Determines how the units are split into subgroups</a:t>
            </a:r>
          </a:p>
        </p:txBody>
      </p:sp>
      <p:sp>
        <p:nvSpPr>
          <p:cNvPr id="6" name="Needs to implement the `map` method that transforms `/*group-mapp"/>
          <p:cNvSpPr/>
          <p:nvPr/>
        </p:nvSpPr>
        <p:spPr>
          <a:xfrm>
            <a:off x="1874520" y="6149340"/>
            <a:ext cx="323469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Needs to implement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method that transforms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/*group-mapping-result*/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types: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7475220"/>
            <a:ext cx="32918400" cy="61264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331720" y="8001000"/>
            <a:ext cx="31912560" cy="50749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/*group-mapping*/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requires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prev_mapping_result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prev_mapping_result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/*group-mapping-result*/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prev_mapping_result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/*group-mapping-result*/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The overload that takes the `non_exhaustive` tag does the non-exh"/>
          <p:cNvSpPr/>
          <p:nvPr/>
        </p:nvSpPr>
        <p:spPr>
          <a:xfrm>
            <a:off x="1874520" y="1426464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The overload that takes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tag does the non-exhaustive mapping</a:t>
            </a:r>
          </a:p>
        </p:txBody>
      </p:sp>
      <p:sp>
        <p:nvSpPr>
          <p:cNvPr id="10" name="Mappings can be chained with `|` to transform the result from lef"/>
          <p:cNvSpPr/>
          <p:nvPr/>
        </p:nvSpPr>
        <p:spPr>
          <a:xfrm>
            <a:off x="1874520" y="1577340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Mappings can be chained with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to transform the result from left to right</a:t>
            </a:r>
          </a:p>
        </p:txBody>
      </p:sp>
      <p:sp>
        <p:nvSpPr>
          <p:cNvPr id="11" name="Goal is to preserve as much compile-time information as possible"/>
          <p:cNvSpPr/>
          <p:nvPr/>
        </p:nvSpPr>
        <p:spPr>
          <a:xfrm>
            <a:off x="1874520" y="17282160"/>
            <a:ext cx="32346900" cy="13258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Goal is to preserve as much compile-time information as possible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>
  <p:cSld name="Predefined Group Mappings — identity_mapp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5" name="Current mapping"/>
          <p:cNvSpPr/>
          <p:nvPr/>
        </p:nvSpPr>
        <p:spPr>
          <a:xfrm>
            <a:off x="1828800" y="505206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6" name="Shape"/>
          <p:cNvSpPr/>
          <p:nvPr/>
        </p:nvSpPr>
        <p:spPr>
          <a:xfrm>
            <a:off x="1828800" y="505206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identity_mapping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8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Preserves the previous mapping result without further partitionin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Preserves the previous mapping result without further partitioning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"/>
          <p:cNvSpPr/>
          <p:nvPr/>
        </p:nvSpPr>
        <p:spPr>
          <a:xfrm>
            <a:off x="13670280" y="126415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21" name="Partition 1, row 0, threads 8,9,10,11,12,13,14,15"/>
          <p:cNvSpPr/>
          <p:nvPr/>
        </p:nvSpPr>
        <p:spPr>
          <a:xfrm>
            <a:off x="24094440" y="126415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22" name="Partition 2, row 1, threads 16,17,18,19,20,21,22,23"/>
          <p:cNvSpPr/>
          <p:nvPr/>
        </p:nvSpPr>
        <p:spPr>
          <a:xfrm>
            <a:off x="13670280" y="134645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23" name="Partition 3, row 1, threads 24,25,26,27,28,29,30,31"/>
          <p:cNvSpPr/>
          <p:nvPr/>
        </p:nvSpPr>
        <p:spPr>
          <a:xfrm>
            <a:off x="24094440" y="134645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24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6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8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30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2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4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6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8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40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2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4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6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8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50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2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4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6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8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60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2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4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6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8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70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2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4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6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8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80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2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4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6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7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8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9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90" name="Partition 0, row 0, threads 0,1,2,3,4,5,6,7"/>
          <p:cNvSpPr/>
          <p:nvPr/>
        </p:nvSpPr>
        <p:spPr>
          <a:xfrm>
            <a:off x="1367028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1" name="Partition 1, row 0, threads 8,9,10,11,12,13,14,15"/>
          <p:cNvSpPr/>
          <p:nvPr/>
        </p:nvSpPr>
        <p:spPr>
          <a:xfrm>
            <a:off x="2409444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2" name="Partition 2, row 1, threads 16,17,18,19,20,21,22,23"/>
          <p:cNvSpPr/>
          <p:nvPr/>
        </p:nvSpPr>
        <p:spPr>
          <a:xfrm>
            <a:off x="1367028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3" name="Partition 3, row 1, threads 24,25,26,27,28,29,30,31"/>
          <p:cNvSpPr/>
          <p:nvPr/>
        </p:nvSpPr>
        <p:spPr>
          <a:xfrm>
            <a:off x="2409444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4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6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8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00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2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4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6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8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10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2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4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6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8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20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2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4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6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8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30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2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4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6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8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40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2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4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6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8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50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2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4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6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>
  <p:cSld name="Predefined Group Mappings — group_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Current mapping"/>
          <p:cNvSpPr/>
          <p:nvPr/>
        </p:nvSpPr>
        <p:spPr>
          <a:xfrm>
            <a:off x="1828800" y="717804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7" name="Shape"/>
          <p:cNvSpPr/>
          <p:nvPr/>
        </p:nvSpPr>
        <p:spPr>
          <a:xfrm>
            <a:off x="1828800" y="717804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group_by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9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each group into subgroups with the same specified number o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each group into subgroups with the same specified number of units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8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,5,6,7"/>
          <p:cNvSpPr/>
          <p:nvPr/>
        </p:nvSpPr>
        <p:spPr>
          <a:xfrm>
            <a:off x="1367028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1, row 0, threads 8,9,10,11,12,13,14,15"/>
          <p:cNvSpPr/>
          <p:nvPr/>
        </p:nvSpPr>
        <p:spPr>
          <a:xfrm>
            <a:off x="24094440" y="1698498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0" name="Partition 2, row 1, threads 16,17,18,19,20,21,22,23"/>
          <p:cNvSpPr/>
          <p:nvPr/>
        </p:nvSpPr>
        <p:spPr>
          <a:xfrm>
            <a:off x="1367028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1" name="Partition 3, row 1, threads 24,25,26,27,28,29,30,31"/>
          <p:cNvSpPr/>
          <p:nvPr/>
        </p:nvSpPr>
        <p:spPr>
          <a:xfrm>
            <a:off x="24094440" y="17807940"/>
            <a:ext cx="994410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2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3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4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5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6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7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8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9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0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1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2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3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4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5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6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7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8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9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0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1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2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3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4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5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6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7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8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9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0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2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4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6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8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0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2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4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6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8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0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2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4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6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8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0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2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4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>
  <p:cSld name="Predefined Group Mappings — group_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Current mapping"/>
          <p:cNvSpPr/>
          <p:nvPr/>
        </p:nvSpPr>
        <p:spPr>
          <a:xfrm>
            <a:off x="1828800" y="930402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8" name="Shape"/>
          <p:cNvSpPr/>
          <p:nvPr/>
        </p:nvSpPr>
        <p:spPr>
          <a:xfrm>
            <a:off x="1828800" y="930402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group_as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each group into subgroups with individually specified size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each group into subgroups with individually specified sizes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8778240"/>
            <a:ext cx="20345400" cy="1600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counts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5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9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6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12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counts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>
                  <a:shade val="65000"/>
                </a:schemeClr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"/>
          <p:cNvSpPr/>
          <p:nvPr/>
        </p:nvSpPr>
        <p:spPr>
          <a:xfrm>
            <a:off x="13670280" y="169849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1, row 0, threads 5,6,7,8,9,10,11,12,13"/>
          <p:cNvSpPr/>
          <p:nvPr/>
        </p:nvSpPr>
        <p:spPr>
          <a:xfrm>
            <a:off x="20185380" y="16984980"/>
            <a:ext cx="112471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90" name="Partition 2, row 0, threads 14,15"/>
          <p:cNvSpPr/>
          <p:nvPr/>
        </p:nvSpPr>
        <p:spPr>
          <a:xfrm>
            <a:off x="31912560" y="16984980"/>
            <a:ext cx="21259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1" name="Partition 2, row 1, threads 16,17,18,19"/>
          <p:cNvSpPr/>
          <p:nvPr/>
        </p:nvSpPr>
        <p:spPr>
          <a:xfrm>
            <a:off x="13670280" y="178079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92" name="Partition 3, row 1, threads 20,21,22,23,24,25,26,27,28,29,30,31"/>
          <p:cNvSpPr/>
          <p:nvPr/>
        </p:nvSpPr>
        <p:spPr>
          <a:xfrm>
            <a:off x="18882360" y="17807940"/>
            <a:ext cx="151561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93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5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7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9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01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03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5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7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9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11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13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5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7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9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21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23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5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7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9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0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31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2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33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4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5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6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7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8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9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0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41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2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43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4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5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6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7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8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9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0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51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2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53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4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5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6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>
  <p:cSld name="Predefined Group Mappings — tak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Current mapping"/>
          <p:cNvSpPr/>
          <p:nvPr/>
        </p:nvSpPr>
        <p:spPr>
          <a:xfrm>
            <a:off x="1828800" y="1143000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9" name="Shape"/>
          <p:cNvSpPr/>
          <p:nvPr/>
        </p:nvSpPr>
        <p:spPr>
          <a:xfrm>
            <a:off x="1828800" y="1143000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take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elects the first specified number of units from each group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Selects the first specified number of units from each group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12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,1,2,3,4,5,6,7,8,9,10,11"/>
          <p:cNvSpPr/>
          <p:nvPr/>
        </p:nvSpPr>
        <p:spPr>
          <a:xfrm>
            <a:off x="13670280" y="16984980"/>
            <a:ext cx="1515618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1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3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5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7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99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1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3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5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7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09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1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3" name="Example thread 12 ex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4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5" name="Example thread 13 ex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6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7" name="Example thread 14 ex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18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19" name="Example thread 15 ex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0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1" name="Example thread 16 ex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2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3" name="Example thread 17 ex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4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5" name="Example thread 18 ex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6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7" name="Example thread 19 ex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28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29" name="Example thread 20 ex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0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1" name="Example thread 21 ex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2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3" name="Example thread 22 ex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4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5" name="Example thread 23 ex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6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7" name="Example thread 24 ex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8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39" name="Example thread 25 ex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0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1" name="Example thread 26 ex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2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3" name="Example thread 27 ex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4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5" name="Example thread 28 ex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6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7" name="Example thread 29 ex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8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49" name="Example thread 30 ex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0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1" name="Example thread 31 ex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2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>
  <p:cSld name="Predefined Group Mappings — binary_part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Current mapping"/>
          <p:cNvSpPr/>
          <p:nvPr/>
        </p:nvSpPr>
        <p:spPr>
          <a:xfrm>
            <a:off x="1828800" y="1355598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10" name="Shape"/>
          <p:cNvSpPr/>
          <p:nvPr/>
        </p:nvSpPr>
        <p:spPr>
          <a:xfrm>
            <a:off x="1828800" y="1355598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1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binary_partition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composite_mapping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Splits threads within a warp into two groups based on a predicate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Splits threads within a warp into two groups based on a predicate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029700"/>
            <a:ext cx="20345400" cy="109728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return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prev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unit_rank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%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2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0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Shape"/>
          <p:cNvSpPr/>
          <p:nvPr/>
        </p:nvSpPr>
        <p:spPr>
          <a:xfrm>
            <a:off x="23591520" y="15247620"/>
            <a:ext cx="548640" cy="7315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87" name="Example warp: 32 threads"/>
          <p:cNvSpPr/>
          <p:nvPr/>
        </p:nvSpPr>
        <p:spPr>
          <a:xfrm>
            <a:off x="13235940" y="168249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8" name="Partition 0, row 0, threads 0"/>
          <p:cNvSpPr/>
          <p:nvPr/>
        </p:nvSpPr>
        <p:spPr>
          <a:xfrm>
            <a:off x="136702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Partition 0, row 0, threads 2"/>
          <p:cNvSpPr/>
          <p:nvPr/>
        </p:nvSpPr>
        <p:spPr>
          <a:xfrm>
            <a:off x="162763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0" name="Partition 0, row 0, threads 4"/>
          <p:cNvSpPr/>
          <p:nvPr/>
        </p:nvSpPr>
        <p:spPr>
          <a:xfrm>
            <a:off x="188823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1" name="Partition 0, row 0, threads 6"/>
          <p:cNvSpPr/>
          <p:nvPr/>
        </p:nvSpPr>
        <p:spPr>
          <a:xfrm>
            <a:off x="214884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2" name="Partition 0, row 0, threads 8"/>
          <p:cNvSpPr/>
          <p:nvPr/>
        </p:nvSpPr>
        <p:spPr>
          <a:xfrm>
            <a:off x="240944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3" name="Partition 0, row 0, threads 10"/>
          <p:cNvSpPr/>
          <p:nvPr/>
        </p:nvSpPr>
        <p:spPr>
          <a:xfrm>
            <a:off x="267004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4" name="Partition 0, row 0, threads 12"/>
          <p:cNvSpPr/>
          <p:nvPr/>
        </p:nvSpPr>
        <p:spPr>
          <a:xfrm>
            <a:off x="293065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5" name="Partition 0, row 0, threads 14"/>
          <p:cNvSpPr/>
          <p:nvPr/>
        </p:nvSpPr>
        <p:spPr>
          <a:xfrm>
            <a:off x="319125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6" name="Partition 0, row 1, threads 16"/>
          <p:cNvSpPr/>
          <p:nvPr/>
        </p:nvSpPr>
        <p:spPr>
          <a:xfrm>
            <a:off x="136702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7" name="Partition 0, row 1, threads 18"/>
          <p:cNvSpPr/>
          <p:nvPr/>
        </p:nvSpPr>
        <p:spPr>
          <a:xfrm>
            <a:off x="162763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8" name="Partition 0, row 1, threads 20"/>
          <p:cNvSpPr/>
          <p:nvPr/>
        </p:nvSpPr>
        <p:spPr>
          <a:xfrm>
            <a:off x="188823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99" name="Partition 0, row 1, threads 22"/>
          <p:cNvSpPr/>
          <p:nvPr/>
        </p:nvSpPr>
        <p:spPr>
          <a:xfrm>
            <a:off x="214884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0" name="Partition 0, row 1, threads 24"/>
          <p:cNvSpPr/>
          <p:nvPr/>
        </p:nvSpPr>
        <p:spPr>
          <a:xfrm>
            <a:off x="240944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1" name="Partition 0, row 1, threads 26"/>
          <p:cNvSpPr/>
          <p:nvPr/>
        </p:nvSpPr>
        <p:spPr>
          <a:xfrm>
            <a:off x="267004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2" name="Partition 0, row 1, threads 28"/>
          <p:cNvSpPr/>
          <p:nvPr/>
        </p:nvSpPr>
        <p:spPr>
          <a:xfrm>
            <a:off x="293065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3" name="Partition 0, row 1, threads 30"/>
          <p:cNvSpPr/>
          <p:nvPr/>
        </p:nvSpPr>
        <p:spPr>
          <a:xfrm>
            <a:off x="319125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04" name="Partition 1, row 0, threads 1"/>
          <p:cNvSpPr/>
          <p:nvPr/>
        </p:nvSpPr>
        <p:spPr>
          <a:xfrm>
            <a:off x="149733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5" name="Partition 1, row 0, threads 3"/>
          <p:cNvSpPr/>
          <p:nvPr/>
        </p:nvSpPr>
        <p:spPr>
          <a:xfrm>
            <a:off x="175793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6" name="Partition 1, row 0, threads 5"/>
          <p:cNvSpPr/>
          <p:nvPr/>
        </p:nvSpPr>
        <p:spPr>
          <a:xfrm>
            <a:off x="201853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7" name="Partition 1, row 0, threads 7"/>
          <p:cNvSpPr/>
          <p:nvPr/>
        </p:nvSpPr>
        <p:spPr>
          <a:xfrm>
            <a:off x="2279142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8" name="Partition 1, row 0, threads 9"/>
          <p:cNvSpPr/>
          <p:nvPr/>
        </p:nvSpPr>
        <p:spPr>
          <a:xfrm>
            <a:off x="2539746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09" name="Partition 1, row 0, threads 11"/>
          <p:cNvSpPr/>
          <p:nvPr/>
        </p:nvSpPr>
        <p:spPr>
          <a:xfrm>
            <a:off x="2800350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0" name="Partition 1, row 0, threads 13"/>
          <p:cNvSpPr/>
          <p:nvPr/>
        </p:nvSpPr>
        <p:spPr>
          <a:xfrm>
            <a:off x="3060954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1" name="Partition 1, row 0, threads 15"/>
          <p:cNvSpPr/>
          <p:nvPr/>
        </p:nvSpPr>
        <p:spPr>
          <a:xfrm>
            <a:off x="33215580" y="169849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2" name="Partition 1, row 1, threads 17"/>
          <p:cNvSpPr/>
          <p:nvPr/>
        </p:nvSpPr>
        <p:spPr>
          <a:xfrm>
            <a:off x="149733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3" name="Partition 1, row 1, threads 19"/>
          <p:cNvSpPr/>
          <p:nvPr/>
        </p:nvSpPr>
        <p:spPr>
          <a:xfrm>
            <a:off x="175793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4" name="Partition 1, row 1, threads 21"/>
          <p:cNvSpPr/>
          <p:nvPr/>
        </p:nvSpPr>
        <p:spPr>
          <a:xfrm>
            <a:off x="201853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5" name="Partition 1, row 1, threads 23"/>
          <p:cNvSpPr/>
          <p:nvPr/>
        </p:nvSpPr>
        <p:spPr>
          <a:xfrm>
            <a:off x="2279142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6" name="Partition 1, row 1, threads 25"/>
          <p:cNvSpPr/>
          <p:nvPr/>
        </p:nvSpPr>
        <p:spPr>
          <a:xfrm>
            <a:off x="2539746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7" name="Partition 1, row 1, threads 27"/>
          <p:cNvSpPr/>
          <p:nvPr/>
        </p:nvSpPr>
        <p:spPr>
          <a:xfrm>
            <a:off x="2800350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8" name="Partition 1, row 1, threads 29"/>
          <p:cNvSpPr/>
          <p:nvPr/>
        </p:nvSpPr>
        <p:spPr>
          <a:xfrm>
            <a:off x="3060954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19" name="Partition 1, row 1, threads 31"/>
          <p:cNvSpPr/>
          <p:nvPr/>
        </p:nvSpPr>
        <p:spPr>
          <a:xfrm>
            <a:off x="33215580" y="1780794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20" name="Example thread 0 included"/>
          <p:cNvSpPr/>
          <p:nvPr/>
        </p:nvSpPr>
        <p:spPr>
          <a:xfrm>
            <a:off x="138074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1" name="0"/>
          <p:cNvSpPr/>
          <p:nvPr/>
        </p:nvSpPr>
        <p:spPr>
          <a:xfrm>
            <a:off x="138074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122" name="Example thread 1 included"/>
          <p:cNvSpPr/>
          <p:nvPr/>
        </p:nvSpPr>
        <p:spPr>
          <a:xfrm>
            <a:off x="151104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3" name="1"/>
          <p:cNvSpPr/>
          <p:nvPr/>
        </p:nvSpPr>
        <p:spPr>
          <a:xfrm>
            <a:off x="151104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124" name="Example thread 2 included"/>
          <p:cNvSpPr/>
          <p:nvPr/>
        </p:nvSpPr>
        <p:spPr>
          <a:xfrm>
            <a:off x="164134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5" name="2"/>
          <p:cNvSpPr/>
          <p:nvPr/>
        </p:nvSpPr>
        <p:spPr>
          <a:xfrm>
            <a:off x="164134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26" name="Example thread 3 included"/>
          <p:cNvSpPr/>
          <p:nvPr/>
        </p:nvSpPr>
        <p:spPr>
          <a:xfrm>
            <a:off x="177165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7" name="3"/>
          <p:cNvSpPr/>
          <p:nvPr/>
        </p:nvSpPr>
        <p:spPr>
          <a:xfrm>
            <a:off x="177165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28" name="Example thread 4 included"/>
          <p:cNvSpPr/>
          <p:nvPr/>
        </p:nvSpPr>
        <p:spPr>
          <a:xfrm>
            <a:off x="190195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9" name="4"/>
          <p:cNvSpPr/>
          <p:nvPr/>
        </p:nvSpPr>
        <p:spPr>
          <a:xfrm>
            <a:off x="190195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30" name="Example thread 5 included"/>
          <p:cNvSpPr/>
          <p:nvPr/>
        </p:nvSpPr>
        <p:spPr>
          <a:xfrm>
            <a:off x="203225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1" name="5"/>
          <p:cNvSpPr/>
          <p:nvPr/>
        </p:nvSpPr>
        <p:spPr>
          <a:xfrm>
            <a:off x="203225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32" name="Example thread 6 included"/>
          <p:cNvSpPr/>
          <p:nvPr/>
        </p:nvSpPr>
        <p:spPr>
          <a:xfrm>
            <a:off x="216255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3" name="6"/>
          <p:cNvSpPr/>
          <p:nvPr/>
        </p:nvSpPr>
        <p:spPr>
          <a:xfrm>
            <a:off x="216255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34" name="Example thread 7 included"/>
          <p:cNvSpPr/>
          <p:nvPr/>
        </p:nvSpPr>
        <p:spPr>
          <a:xfrm>
            <a:off x="229285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5" name="7"/>
          <p:cNvSpPr/>
          <p:nvPr/>
        </p:nvSpPr>
        <p:spPr>
          <a:xfrm>
            <a:off x="229285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36" name="Example thread 8 included"/>
          <p:cNvSpPr/>
          <p:nvPr/>
        </p:nvSpPr>
        <p:spPr>
          <a:xfrm>
            <a:off x="242316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7" name="8"/>
          <p:cNvSpPr/>
          <p:nvPr/>
        </p:nvSpPr>
        <p:spPr>
          <a:xfrm>
            <a:off x="242316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38" name="Example thread 9 included"/>
          <p:cNvSpPr/>
          <p:nvPr/>
        </p:nvSpPr>
        <p:spPr>
          <a:xfrm>
            <a:off x="255346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39" name="9"/>
          <p:cNvSpPr/>
          <p:nvPr/>
        </p:nvSpPr>
        <p:spPr>
          <a:xfrm>
            <a:off x="255346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40" name="Example thread 10 included"/>
          <p:cNvSpPr/>
          <p:nvPr/>
        </p:nvSpPr>
        <p:spPr>
          <a:xfrm>
            <a:off x="268376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1" name="10"/>
          <p:cNvSpPr/>
          <p:nvPr/>
        </p:nvSpPr>
        <p:spPr>
          <a:xfrm>
            <a:off x="268376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42" name="Example thread 11 included"/>
          <p:cNvSpPr/>
          <p:nvPr/>
        </p:nvSpPr>
        <p:spPr>
          <a:xfrm>
            <a:off x="2814066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3" name="11"/>
          <p:cNvSpPr/>
          <p:nvPr/>
        </p:nvSpPr>
        <p:spPr>
          <a:xfrm>
            <a:off x="2814066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44" name="Example thread 12 included"/>
          <p:cNvSpPr/>
          <p:nvPr/>
        </p:nvSpPr>
        <p:spPr>
          <a:xfrm>
            <a:off x="2944368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5" name="12"/>
          <p:cNvSpPr/>
          <p:nvPr/>
        </p:nvSpPr>
        <p:spPr>
          <a:xfrm>
            <a:off x="2944368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46" name="Example thread 13 included"/>
          <p:cNvSpPr/>
          <p:nvPr/>
        </p:nvSpPr>
        <p:spPr>
          <a:xfrm>
            <a:off x="3074670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7" name="13"/>
          <p:cNvSpPr/>
          <p:nvPr/>
        </p:nvSpPr>
        <p:spPr>
          <a:xfrm>
            <a:off x="3074670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48" name="Example thread 14 included"/>
          <p:cNvSpPr/>
          <p:nvPr/>
        </p:nvSpPr>
        <p:spPr>
          <a:xfrm>
            <a:off x="3204972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49" name="14"/>
          <p:cNvSpPr/>
          <p:nvPr/>
        </p:nvSpPr>
        <p:spPr>
          <a:xfrm>
            <a:off x="3204972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50" name="Example thread 15 included"/>
          <p:cNvSpPr/>
          <p:nvPr/>
        </p:nvSpPr>
        <p:spPr>
          <a:xfrm>
            <a:off x="33352740" y="170992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1" name="15"/>
          <p:cNvSpPr/>
          <p:nvPr/>
        </p:nvSpPr>
        <p:spPr>
          <a:xfrm>
            <a:off x="33352740" y="172135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52" name="Example thread 16 included"/>
          <p:cNvSpPr/>
          <p:nvPr/>
        </p:nvSpPr>
        <p:spPr>
          <a:xfrm>
            <a:off x="138074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3" name="16"/>
          <p:cNvSpPr/>
          <p:nvPr/>
        </p:nvSpPr>
        <p:spPr>
          <a:xfrm>
            <a:off x="138074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54" name="Example thread 17 included"/>
          <p:cNvSpPr/>
          <p:nvPr/>
        </p:nvSpPr>
        <p:spPr>
          <a:xfrm>
            <a:off x="151104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5" name="17"/>
          <p:cNvSpPr/>
          <p:nvPr/>
        </p:nvSpPr>
        <p:spPr>
          <a:xfrm>
            <a:off x="151104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56" name="Example thread 18 included"/>
          <p:cNvSpPr/>
          <p:nvPr/>
        </p:nvSpPr>
        <p:spPr>
          <a:xfrm>
            <a:off x="164134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7" name="18"/>
          <p:cNvSpPr/>
          <p:nvPr/>
        </p:nvSpPr>
        <p:spPr>
          <a:xfrm>
            <a:off x="164134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58" name="Example thread 19 included"/>
          <p:cNvSpPr/>
          <p:nvPr/>
        </p:nvSpPr>
        <p:spPr>
          <a:xfrm>
            <a:off x="177165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59" name="19"/>
          <p:cNvSpPr/>
          <p:nvPr/>
        </p:nvSpPr>
        <p:spPr>
          <a:xfrm>
            <a:off x="177165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60" name="Example thread 20 included"/>
          <p:cNvSpPr/>
          <p:nvPr/>
        </p:nvSpPr>
        <p:spPr>
          <a:xfrm>
            <a:off x="190195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1" name="20"/>
          <p:cNvSpPr/>
          <p:nvPr/>
        </p:nvSpPr>
        <p:spPr>
          <a:xfrm>
            <a:off x="190195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62" name="Example thread 21 included"/>
          <p:cNvSpPr/>
          <p:nvPr/>
        </p:nvSpPr>
        <p:spPr>
          <a:xfrm>
            <a:off x="203225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3" name="21"/>
          <p:cNvSpPr/>
          <p:nvPr/>
        </p:nvSpPr>
        <p:spPr>
          <a:xfrm>
            <a:off x="203225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64" name="Example thread 22 included"/>
          <p:cNvSpPr/>
          <p:nvPr/>
        </p:nvSpPr>
        <p:spPr>
          <a:xfrm>
            <a:off x="216255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5" name="22"/>
          <p:cNvSpPr/>
          <p:nvPr/>
        </p:nvSpPr>
        <p:spPr>
          <a:xfrm>
            <a:off x="216255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66" name="Example thread 23 included"/>
          <p:cNvSpPr/>
          <p:nvPr/>
        </p:nvSpPr>
        <p:spPr>
          <a:xfrm>
            <a:off x="229285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7" name="23"/>
          <p:cNvSpPr/>
          <p:nvPr/>
        </p:nvSpPr>
        <p:spPr>
          <a:xfrm>
            <a:off x="229285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68" name="Example thread 24 included"/>
          <p:cNvSpPr/>
          <p:nvPr/>
        </p:nvSpPr>
        <p:spPr>
          <a:xfrm>
            <a:off x="242316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9" name="24"/>
          <p:cNvSpPr/>
          <p:nvPr/>
        </p:nvSpPr>
        <p:spPr>
          <a:xfrm>
            <a:off x="242316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70" name="Example thread 25 included"/>
          <p:cNvSpPr/>
          <p:nvPr/>
        </p:nvSpPr>
        <p:spPr>
          <a:xfrm>
            <a:off x="255346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1" name="25"/>
          <p:cNvSpPr/>
          <p:nvPr/>
        </p:nvSpPr>
        <p:spPr>
          <a:xfrm>
            <a:off x="255346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72" name="Example thread 26 included"/>
          <p:cNvSpPr/>
          <p:nvPr/>
        </p:nvSpPr>
        <p:spPr>
          <a:xfrm>
            <a:off x="268376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3" name="26"/>
          <p:cNvSpPr/>
          <p:nvPr/>
        </p:nvSpPr>
        <p:spPr>
          <a:xfrm>
            <a:off x="268376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74" name="Example thread 27 included"/>
          <p:cNvSpPr/>
          <p:nvPr/>
        </p:nvSpPr>
        <p:spPr>
          <a:xfrm>
            <a:off x="2814066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5" name="27"/>
          <p:cNvSpPr/>
          <p:nvPr/>
        </p:nvSpPr>
        <p:spPr>
          <a:xfrm>
            <a:off x="2814066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76" name="Example thread 28 included"/>
          <p:cNvSpPr/>
          <p:nvPr/>
        </p:nvSpPr>
        <p:spPr>
          <a:xfrm>
            <a:off x="2944368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7" name="28"/>
          <p:cNvSpPr/>
          <p:nvPr/>
        </p:nvSpPr>
        <p:spPr>
          <a:xfrm>
            <a:off x="2944368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78" name="Example thread 29 included"/>
          <p:cNvSpPr/>
          <p:nvPr/>
        </p:nvSpPr>
        <p:spPr>
          <a:xfrm>
            <a:off x="3074670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9" name="29"/>
          <p:cNvSpPr/>
          <p:nvPr/>
        </p:nvSpPr>
        <p:spPr>
          <a:xfrm>
            <a:off x="3074670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80" name="Example thread 30 included"/>
          <p:cNvSpPr/>
          <p:nvPr/>
        </p:nvSpPr>
        <p:spPr>
          <a:xfrm>
            <a:off x="3204972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1" name="30"/>
          <p:cNvSpPr/>
          <p:nvPr/>
        </p:nvSpPr>
        <p:spPr>
          <a:xfrm>
            <a:off x="3204972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82" name="Example thread 31 included"/>
          <p:cNvSpPr/>
          <p:nvPr/>
        </p:nvSpPr>
        <p:spPr>
          <a:xfrm>
            <a:off x="33352740" y="179222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3" name="31"/>
          <p:cNvSpPr/>
          <p:nvPr/>
        </p:nvSpPr>
        <p:spPr>
          <a:xfrm>
            <a:off x="33352740" y="180365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>
  <p:cSld name="Predefined Group Mappings — composite_mapp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edefined Group Mapping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Mappings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2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5" name="`identity_mapping`"/>
          <p:cNvSpPr/>
          <p:nvPr/>
        </p:nvSpPr>
        <p:spPr>
          <a:xfrm>
            <a:off x="2286000" y="55778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identity_mapping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group_by`"/>
          <p:cNvSpPr/>
          <p:nvPr/>
        </p:nvSpPr>
        <p:spPr>
          <a:xfrm>
            <a:off x="2286000" y="770382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group_as`"/>
          <p:cNvSpPr/>
          <p:nvPr/>
        </p:nvSpPr>
        <p:spPr>
          <a:xfrm>
            <a:off x="2286000" y="982980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group_as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`take`"/>
          <p:cNvSpPr/>
          <p:nvPr/>
        </p:nvSpPr>
        <p:spPr>
          <a:xfrm>
            <a:off x="2286000" y="1195578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binary_partition`"/>
          <p:cNvSpPr/>
          <p:nvPr/>
        </p:nvSpPr>
        <p:spPr>
          <a:xfrm>
            <a:off x="2286000" y="1408176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binary_partition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Current mapping"/>
          <p:cNvSpPr/>
          <p:nvPr/>
        </p:nvSpPr>
        <p:spPr>
          <a:xfrm>
            <a:off x="1828800" y="15681960"/>
            <a:ext cx="9829800" cy="17602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11" name="Shape"/>
          <p:cNvSpPr/>
          <p:nvPr/>
        </p:nvSpPr>
        <p:spPr>
          <a:xfrm>
            <a:off x="1828800" y="15681960"/>
            <a:ext cx="114300" cy="17602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`composite_mapping`"/>
          <p:cNvSpPr/>
          <p:nvPr/>
        </p:nvSpPr>
        <p:spPr>
          <a:xfrm>
            <a:off x="2286000" y="16207740"/>
            <a:ext cx="89154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composite_mapping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3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4" name="Applies multiple mappings in sequence, composed with the `|` oper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Applies multiple mappings in sequence, composed with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operator</a:t>
            </a:r>
          </a:p>
        </p:txBody>
      </p:sp>
      <p:sp>
        <p:nvSpPr>
          <p:cNvPr id="15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6" name="Shape"/>
          <p:cNvSpPr/>
          <p:nvPr/>
        </p:nvSpPr>
        <p:spPr>
          <a:xfrm>
            <a:off x="13235940" y="8526780"/>
            <a:ext cx="21259800" cy="201168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7" name="Mapping construction example" descr="Supplemental mapping construction from repository docs and headers"/>
          <p:cNvSpPr/>
          <p:nvPr/>
        </p:nvSpPr>
        <p:spPr>
          <a:xfrm>
            <a:off x="13693140" y="9281160"/>
            <a:ext cx="20345400" cy="5943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take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20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|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5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8" name="MAPPING BEHAVIOUR"/>
          <p:cNvSpPr/>
          <p:nvPr/>
        </p:nvSpPr>
        <p:spPr>
          <a:xfrm>
            <a:off x="13235940" y="1117854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MAPPING BEHAVIOUR</a:t>
            </a:r>
          </a:p>
        </p:txBody>
      </p:sp>
      <p:sp>
        <p:nvSpPr>
          <p:cNvPr id="19" name="Example warp: 32 threads"/>
          <p:cNvSpPr/>
          <p:nvPr/>
        </p:nvSpPr>
        <p:spPr>
          <a:xfrm>
            <a:off x="13235940" y="12481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20" name="Partition 0, row 0, threads 0,1,2,3,4,5,6,7,8,9,10,11,12,13,14,15"/>
          <p:cNvSpPr/>
          <p:nvPr/>
        </p:nvSpPr>
        <p:spPr>
          <a:xfrm>
            <a:off x="13670280" y="12641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1" name="Partition 0, row 1, threads 16,17,18,19,20,21,22,23,24,25,26,27,28,29,30,31"/>
          <p:cNvSpPr/>
          <p:nvPr/>
        </p:nvSpPr>
        <p:spPr>
          <a:xfrm>
            <a:off x="13670280" y="1346454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6"/>
            </a:solidFill>
          </a:ln>
        </p:spPr>
      </p:sp>
      <p:sp>
        <p:nvSpPr>
          <p:cNvPr id="22" name="Example thread 0 included"/>
          <p:cNvSpPr/>
          <p:nvPr/>
        </p:nvSpPr>
        <p:spPr>
          <a:xfrm>
            <a:off x="138074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3" name="0"/>
          <p:cNvSpPr/>
          <p:nvPr/>
        </p:nvSpPr>
        <p:spPr>
          <a:xfrm>
            <a:off x="138074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24" name="Example thread 1 included"/>
          <p:cNvSpPr/>
          <p:nvPr/>
        </p:nvSpPr>
        <p:spPr>
          <a:xfrm>
            <a:off x="151104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5" name="1"/>
          <p:cNvSpPr/>
          <p:nvPr/>
        </p:nvSpPr>
        <p:spPr>
          <a:xfrm>
            <a:off x="151104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26" name="Example thread 2 included"/>
          <p:cNvSpPr/>
          <p:nvPr/>
        </p:nvSpPr>
        <p:spPr>
          <a:xfrm>
            <a:off x="164134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7" name="2"/>
          <p:cNvSpPr/>
          <p:nvPr/>
        </p:nvSpPr>
        <p:spPr>
          <a:xfrm>
            <a:off x="164134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28" name="Example thread 3 included"/>
          <p:cNvSpPr/>
          <p:nvPr/>
        </p:nvSpPr>
        <p:spPr>
          <a:xfrm>
            <a:off x="177165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29" name="3"/>
          <p:cNvSpPr/>
          <p:nvPr/>
        </p:nvSpPr>
        <p:spPr>
          <a:xfrm>
            <a:off x="177165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30" name="Example thread 4 included"/>
          <p:cNvSpPr/>
          <p:nvPr/>
        </p:nvSpPr>
        <p:spPr>
          <a:xfrm>
            <a:off x="190195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1" name="4"/>
          <p:cNvSpPr/>
          <p:nvPr/>
        </p:nvSpPr>
        <p:spPr>
          <a:xfrm>
            <a:off x="190195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32" name="Example thread 5 included"/>
          <p:cNvSpPr/>
          <p:nvPr/>
        </p:nvSpPr>
        <p:spPr>
          <a:xfrm>
            <a:off x="203225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3" name="5"/>
          <p:cNvSpPr/>
          <p:nvPr/>
        </p:nvSpPr>
        <p:spPr>
          <a:xfrm>
            <a:off x="203225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34" name="Example thread 6 included"/>
          <p:cNvSpPr/>
          <p:nvPr/>
        </p:nvSpPr>
        <p:spPr>
          <a:xfrm>
            <a:off x="216255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5" name="6"/>
          <p:cNvSpPr/>
          <p:nvPr/>
        </p:nvSpPr>
        <p:spPr>
          <a:xfrm>
            <a:off x="216255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36" name="Example thread 7 included"/>
          <p:cNvSpPr/>
          <p:nvPr/>
        </p:nvSpPr>
        <p:spPr>
          <a:xfrm>
            <a:off x="229285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7" name="7"/>
          <p:cNvSpPr/>
          <p:nvPr/>
        </p:nvSpPr>
        <p:spPr>
          <a:xfrm>
            <a:off x="229285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38" name="Example thread 8 included"/>
          <p:cNvSpPr/>
          <p:nvPr/>
        </p:nvSpPr>
        <p:spPr>
          <a:xfrm>
            <a:off x="242316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39" name="8"/>
          <p:cNvSpPr/>
          <p:nvPr/>
        </p:nvSpPr>
        <p:spPr>
          <a:xfrm>
            <a:off x="242316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40" name="Example thread 9 included"/>
          <p:cNvSpPr/>
          <p:nvPr/>
        </p:nvSpPr>
        <p:spPr>
          <a:xfrm>
            <a:off x="255346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1" name="9"/>
          <p:cNvSpPr/>
          <p:nvPr/>
        </p:nvSpPr>
        <p:spPr>
          <a:xfrm>
            <a:off x="255346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42" name="Example thread 10 included"/>
          <p:cNvSpPr/>
          <p:nvPr/>
        </p:nvSpPr>
        <p:spPr>
          <a:xfrm>
            <a:off x="268376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3" name="10"/>
          <p:cNvSpPr/>
          <p:nvPr/>
        </p:nvSpPr>
        <p:spPr>
          <a:xfrm>
            <a:off x="268376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44" name="Example thread 11 included"/>
          <p:cNvSpPr/>
          <p:nvPr/>
        </p:nvSpPr>
        <p:spPr>
          <a:xfrm>
            <a:off x="2814066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5" name="11"/>
          <p:cNvSpPr/>
          <p:nvPr/>
        </p:nvSpPr>
        <p:spPr>
          <a:xfrm>
            <a:off x="2814066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46" name="Example thread 12 included"/>
          <p:cNvSpPr/>
          <p:nvPr/>
        </p:nvSpPr>
        <p:spPr>
          <a:xfrm>
            <a:off x="2944368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7" name="12"/>
          <p:cNvSpPr/>
          <p:nvPr/>
        </p:nvSpPr>
        <p:spPr>
          <a:xfrm>
            <a:off x="2944368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48" name="Example thread 13 included"/>
          <p:cNvSpPr/>
          <p:nvPr/>
        </p:nvSpPr>
        <p:spPr>
          <a:xfrm>
            <a:off x="3074670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49" name="13"/>
          <p:cNvSpPr/>
          <p:nvPr/>
        </p:nvSpPr>
        <p:spPr>
          <a:xfrm>
            <a:off x="3074670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50" name="Example thread 14 included"/>
          <p:cNvSpPr/>
          <p:nvPr/>
        </p:nvSpPr>
        <p:spPr>
          <a:xfrm>
            <a:off x="3204972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1" name="14"/>
          <p:cNvSpPr/>
          <p:nvPr/>
        </p:nvSpPr>
        <p:spPr>
          <a:xfrm>
            <a:off x="3204972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52" name="Example thread 15 included"/>
          <p:cNvSpPr/>
          <p:nvPr/>
        </p:nvSpPr>
        <p:spPr>
          <a:xfrm>
            <a:off x="33352740" y="12755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3" name="15"/>
          <p:cNvSpPr/>
          <p:nvPr/>
        </p:nvSpPr>
        <p:spPr>
          <a:xfrm>
            <a:off x="33352740" y="12870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54" name="Example thread 16 included"/>
          <p:cNvSpPr/>
          <p:nvPr/>
        </p:nvSpPr>
        <p:spPr>
          <a:xfrm>
            <a:off x="138074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5" name="16"/>
          <p:cNvSpPr/>
          <p:nvPr/>
        </p:nvSpPr>
        <p:spPr>
          <a:xfrm>
            <a:off x="138074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56" name="Example thread 17 included"/>
          <p:cNvSpPr/>
          <p:nvPr/>
        </p:nvSpPr>
        <p:spPr>
          <a:xfrm>
            <a:off x="151104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7" name="17"/>
          <p:cNvSpPr/>
          <p:nvPr/>
        </p:nvSpPr>
        <p:spPr>
          <a:xfrm>
            <a:off x="151104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58" name="Example thread 18 included"/>
          <p:cNvSpPr/>
          <p:nvPr/>
        </p:nvSpPr>
        <p:spPr>
          <a:xfrm>
            <a:off x="164134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59" name="18"/>
          <p:cNvSpPr/>
          <p:nvPr/>
        </p:nvSpPr>
        <p:spPr>
          <a:xfrm>
            <a:off x="164134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60" name="Example thread 19 included"/>
          <p:cNvSpPr/>
          <p:nvPr/>
        </p:nvSpPr>
        <p:spPr>
          <a:xfrm>
            <a:off x="177165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1" name="19"/>
          <p:cNvSpPr/>
          <p:nvPr/>
        </p:nvSpPr>
        <p:spPr>
          <a:xfrm>
            <a:off x="177165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62" name="Example thread 20 included"/>
          <p:cNvSpPr/>
          <p:nvPr/>
        </p:nvSpPr>
        <p:spPr>
          <a:xfrm>
            <a:off x="190195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3" name="20"/>
          <p:cNvSpPr/>
          <p:nvPr/>
        </p:nvSpPr>
        <p:spPr>
          <a:xfrm>
            <a:off x="190195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64" name="Example thread 21 included"/>
          <p:cNvSpPr/>
          <p:nvPr/>
        </p:nvSpPr>
        <p:spPr>
          <a:xfrm>
            <a:off x="203225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5" name="21"/>
          <p:cNvSpPr/>
          <p:nvPr/>
        </p:nvSpPr>
        <p:spPr>
          <a:xfrm>
            <a:off x="203225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66" name="Example thread 22 included"/>
          <p:cNvSpPr/>
          <p:nvPr/>
        </p:nvSpPr>
        <p:spPr>
          <a:xfrm>
            <a:off x="216255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7" name="22"/>
          <p:cNvSpPr/>
          <p:nvPr/>
        </p:nvSpPr>
        <p:spPr>
          <a:xfrm>
            <a:off x="216255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68" name="Example thread 23 included"/>
          <p:cNvSpPr/>
          <p:nvPr/>
        </p:nvSpPr>
        <p:spPr>
          <a:xfrm>
            <a:off x="229285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69" name="23"/>
          <p:cNvSpPr/>
          <p:nvPr/>
        </p:nvSpPr>
        <p:spPr>
          <a:xfrm>
            <a:off x="229285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70" name="Example thread 24 included"/>
          <p:cNvSpPr/>
          <p:nvPr/>
        </p:nvSpPr>
        <p:spPr>
          <a:xfrm>
            <a:off x="242316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1" name="24"/>
          <p:cNvSpPr/>
          <p:nvPr/>
        </p:nvSpPr>
        <p:spPr>
          <a:xfrm>
            <a:off x="242316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72" name="Example thread 25 included"/>
          <p:cNvSpPr/>
          <p:nvPr/>
        </p:nvSpPr>
        <p:spPr>
          <a:xfrm>
            <a:off x="255346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3" name="25"/>
          <p:cNvSpPr/>
          <p:nvPr/>
        </p:nvSpPr>
        <p:spPr>
          <a:xfrm>
            <a:off x="255346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74" name="Example thread 26 included"/>
          <p:cNvSpPr/>
          <p:nvPr/>
        </p:nvSpPr>
        <p:spPr>
          <a:xfrm>
            <a:off x="268376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5" name="26"/>
          <p:cNvSpPr/>
          <p:nvPr/>
        </p:nvSpPr>
        <p:spPr>
          <a:xfrm>
            <a:off x="268376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76" name="Example thread 27 included"/>
          <p:cNvSpPr/>
          <p:nvPr/>
        </p:nvSpPr>
        <p:spPr>
          <a:xfrm>
            <a:off x="2814066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7" name="27"/>
          <p:cNvSpPr/>
          <p:nvPr/>
        </p:nvSpPr>
        <p:spPr>
          <a:xfrm>
            <a:off x="2814066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78" name="Example thread 28 included"/>
          <p:cNvSpPr/>
          <p:nvPr/>
        </p:nvSpPr>
        <p:spPr>
          <a:xfrm>
            <a:off x="2944368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79" name="28"/>
          <p:cNvSpPr/>
          <p:nvPr/>
        </p:nvSpPr>
        <p:spPr>
          <a:xfrm>
            <a:off x="2944368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80" name="Example thread 29 included"/>
          <p:cNvSpPr/>
          <p:nvPr/>
        </p:nvSpPr>
        <p:spPr>
          <a:xfrm>
            <a:off x="3074670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1" name="29"/>
          <p:cNvSpPr/>
          <p:nvPr/>
        </p:nvSpPr>
        <p:spPr>
          <a:xfrm>
            <a:off x="3074670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82" name="Example thread 30 included"/>
          <p:cNvSpPr/>
          <p:nvPr/>
        </p:nvSpPr>
        <p:spPr>
          <a:xfrm>
            <a:off x="3204972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3" name="30"/>
          <p:cNvSpPr/>
          <p:nvPr/>
        </p:nvSpPr>
        <p:spPr>
          <a:xfrm>
            <a:off x="3204972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84" name="Example thread 31 included"/>
          <p:cNvSpPr/>
          <p:nvPr/>
        </p:nvSpPr>
        <p:spPr>
          <a:xfrm>
            <a:off x="33352740" y="13578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85" name="31"/>
          <p:cNvSpPr/>
          <p:nvPr/>
        </p:nvSpPr>
        <p:spPr>
          <a:xfrm>
            <a:off x="33352740" y="13693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86" name="Example warp: 32 threads"/>
          <p:cNvSpPr/>
          <p:nvPr/>
        </p:nvSpPr>
        <p:spPr>
          <a:xfrm>
            <a:off x="13235940" y="14767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87" name="Partition 0, row 0, threads 0,1,2,3,4,5,6,7,8,9,10,11,12,13,14,15"/>
          <p:cNvSpPr/>
          <p:nvPr/>
        </p:nvSpPr>
        <p:spPr>
          <a:xfrm>
            <a:off x="13670280" y="14927580"/>
            <a:ext cx="203682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8" name="Partition 0, row 1, threads 16,17,18,19"/>
          <p:cNvSpPr/>
          <p:nvPr/>
        </p:nvSpPr>
        <p:spPr>
          <a:xfrm>
            <a:off x="13670280" y="157505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89" name="Example thread 0 included"/>
          <p:cNvSpPr/>
          <p:nvPr/>
        </p:nvSpPr>
        <p:spPr>
          <a:xfrm>
            <a:off x="138074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0" name="0"/>
          <p:cNvSpPr/>
          <p:nvPr/>
        </p:nvSpPr>
        <p:spPr>
          <a:xfrm>
            <a:off x="138074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91" name="Example thread 1 included"/>
          <p:cNvSpPr/>
          <p:nvPr/>
        </p:nvSpPr>
        <p:spPr>
          <a:xfrm>
            <a:off x="151104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2" name="1"/>
          <p:cNvSpPr/>
          <p:nvPr/>
        </p:nvSpPr>
        <p:spPr>
          <a:xfrm>
            <a:off x="151104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93" name="Example thread 2 included"/>
          <p:cNvSpPr/>
          <p:nvPr/>
        </p:nvSpPr>
        <p:spPr>
          <a:xfrm>
            <a:off x="164134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4" name="2"/>
          <p:cNvSpPr/>
          <p:nvPr/>
        </p:nvSpPr>
        <p:spPr>
          <a:xfrm>
            <a:off x="164134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95" name="Example thread 3 included"/>
          <p:cNvSpPr/>
          <p:nvPr/>
        </p:nvSpPr>
        <p:spPr>
          <a:xfrm>
            <a:off x="177165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6" name="3"/>
          <p:cNvSpPr/>
          <p:nvPr/>
        </p:nvSpPr>
        <p:spPr>
          <a:xfrm>
            <a:off x="177165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97" name="Example thread 4 included"/>
          <p:cNvSpPr/>
          <p:nvPr/>
        </p:nvSpPr>
        <p:spPr>
          <a:xfrm>
            <a:off x="190195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98" name="4"/>
          <p:cNvSpPr/>
          <p:nvPr/>
        </p:nvSpPr>
        <p:spPr>
          <a:xfrm>
            <a:off x="190195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99" name="Example thread 5 included"/>
          <p:cNvSpPr/>
          <p:nvPr/>
        </p:nvSpPr>
        <p:spPr>
          <a:xfrm>
            <a:off x="203225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0" name="5"/>
          <p:cNvSpPr/>
          <p:nvPr/>
        </p:nvSpPr>
        <p:spPr>
          <a:xfrm>
            <a:off x="203225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01" name="Example thread 6 included"/>
          <p:cNvSpPr/>
          <p:nvPr/>
        </p:nvSpPr>
        <p:spPr>
          <a:xfrm>
            <a:off x="216255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2" name="6"/>
          <p:cNvSpPr/>
          <p:nvPr/>
        </p:nvSpPr>
        <p:spPr>
          <a:xfrm>
            <a:off x="216255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03" name="Example thread 7 included"/>
          <p:cNvSpPr/>
          <p:nvPr/>
        </p:nvSpPr>
        <p:spPr>
          <a:xfrm>
            <a:off x="229285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4" name="7"/>
          <p:cNvSpPr/>
          <p:nvPr/>
        </p:nvSpPr>
        <p:spPr>
          <a:xfrm>
            <a:off x="229285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05" name="Example thread 8 included"/>
          <p:cNvSpPr/>
          <p:nvPr/>
        </p:nvSpPr>
        <p:spPr>
          <a:xfrm>
            <a:off x="242316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6" name="8"/>
          <p:cNvSpPr/>
          <p:nvPr/>
        </p:nvSpPr>
        <p:spPr>
          <a:xfrm>
            <a:off x="242316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07" name="Example thread 9 included"/>
          <p:cNvSpPr/>
          <p:nvPr/>
        </p:nvSpPr>
        <p:spPr>
          <a:xfrm>
            <a:off x="255346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08" name="9"/>
          <p:cNvSpPr/>
          <p:nvPr/>
        </p:nvSpPr>
        <p:spPr>
          <a:xfrm>
            <a:off x="255346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09" name="Example thread 10 included"/>
          <p:cNvSpPr/>
          <p:nvPr/>
        </p:nvSpPr>
        <p:spPr>
          <a:xfrm>
            <a:off x="268376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0" name="10"/>
          <p:cNvSpPr/>
          <p:nvPr/>
        </p:nvSpPr>
        <p:spPr>
          <a:xfrm>
            <a:off x="268376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11" name="Example thread 11 included"/>
          <p:cNvSpPr/>
          <p:nvPr/>
        </p:nvSpPr>
        <p:spPr>
          <a:xfrm>
            <a:off x="2814066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2" name="11"/>
          <p:cNvSpPr/>
          <p:nvPr/>
        </p:nvSpPr>
        <p:spPr>
          <a:xfrm>
            <a:off x="2814066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13" name="Example thread 12 included"/>
          <p:cNvSpPr/>
          <p:nvPr/>
        </p:nvSpPr>
        <p:spPr>
          <a:xfrm>
            <a:off x="2944368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4" name="12"/>
          <p:cNvSpPr/>
          <p:nvPr/>
        </p:nvSpPr>
        <p:spPr>
          <a:xfrm>
            <a:off x="2944368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15" name="Example thread 13 included"/>
          <p:cNvSpPr/>
          <p:nvPr/>
        </p:nvSpPr>
        <p:spPr>
          <a:xfrm>
            <a:off x="3074670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6" name="13"/>
          <p:cNvSpPr/>
          <p:nvPr/>
        </p:nvSpPr>
        <p:spPr>
          <a:xfrm>
            <a:off x="3074670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17" name="Example thread 14 included"/>
          <p:cNvSpPr/>
          <p:nvPr/>
        </p:nvSpPr>
        <p:spPr>
          <a:xfrm>
            <a:off x="3204972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18" name="14"/>
          <p:cNvSpPr/>
          <p:nvPr/>
        </p:nvSpPr>
        <p:spPr>
          <a:xfrm>
            <a:off x="3204972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19" name="Example thread 15 included"/>
          <p:cNvSpPr/>
          <p:nvPr/>
        </p:nvSpPr>
        <p:spPr>
          <a:xfrm>
            <a:off x="33352740" y="15041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0" name="15"/>
          <p:cNvSpPr/>
          <p:nvPr/>
        </p:nvSpPr>
        <p:spPr>
          <a:xfrm>
            <a:off x="33352740" y="15156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21" name="Example thread 16 included"/>
          <p:cNvSpPr/>
          <p:nvPr/>
        </p:nvSpPr>
        <p:spPr>
          <a:xfrm>
            <a:off x="1380744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2" name="16"/>
          <p:cNvSpPr/>
          <p:nvPr/>
        </p:nvSpPr>
        <p:spPr>
          <a:xfrm>
            <a:off x="138074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23" name="Example thread 17 included"/>
          <p:cNvSpPr/>
          <p:nvPr/>
        </p:nvSpPr>
        <p:spPr>
          <a:xfrm>
            <a:off x="1511046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4" name="17"/>
          <p:cNvSpPr/>
          <p:nvPr/>
        </p:nvSpPr>
        <p:spPr>
          <a:xfrm>
            <a:off x="151104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25" name="Example thread 18 included"/>
          <p:cNvSpPr/>
          <p:nvPr/>
        </p:nvSpPr>
        <p:spPr>
          <a:xfrm>
            <a:off x="1641348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6" name="18"/>
          <p:cNvSpPr/>
          <p:nvPr/>
        </p:nvSpPr>
        <p:spPr>
          <a:xfrm>
            <a:off x="164134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27" name="Example thread 19 included"/>
          <p:cNvSpPr/>
          <p:nvPr/>
        </p:nvSpPr>
        <p:spPr>
          <a:xfrm>
            <a:off x="17716500" y="15864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28" name="19"/>
          <p:cNvSpPr/>
          <p:nvPr/>
        </p:nvSpPr>
        <p:spPr>
          <a:xfrm>
            <a:off x="177165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29" name="Example thread 20 excluded"/>
          <p:cNvSpPr/>
          <p:nvPr/>
        </p:nvSpPr>
        <p:spPr>
          <a:xfrm>
            <a:off x="1901952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0" name="20"/>
          <p:cNvSpPr/>
          <p:nvPr/>
        </p:nvSpPr>
        <p:spPr>
          <a:xfrm>
            <a:off x="190195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131" name="Example thread 21 excluded"/>
          <p:cNvSpPr/>
          <p:nvPr/>
        </p:nvSpPr>
        <p:spPr>
          <a:xfrm>
            <a:off x="2032254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2" name="21"/>
          <p:cNvSpPr/>
          <p:nvPr/>
        </p:nvSpPr>
        <p:spPr>
          <a:xfrm>
            <a:off x="203225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133" name="Example thread 22 excluded"/>
          <p:cNvSpPr/>
          <p:nvPr/>
        </p:nvSpPr>
        <p:spPr>
          <a:xfrm>
            <a:off x="2162556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4" name="22"/>
          <p:cNvSpPr/>
          <p:nvPr/>
        </p:nvSpPr>
        <p:spPr>
          <a:xfrm>
            <a:off x="216255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135" name="Example thread 23 excluded"/>
          <p:cNvSpPr/>
          <p:nvPr/>
        </p:nvSpPr>
        <p:spPr>
          <a:xfrm>
            <a:off x="2292858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6" name="23"/>
          <p:cNvSpPr/>
          <p:nvPr/>
        </p:nvSpPr>
        <p:spPr>
          <a:xfrm>
            <a:off x="229285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137" name="Example thread 24 excluded"/>
          <p:cNvSpPr/>
          <p:nvPr/>
        </p:nvSpPr>
        <p:spPr>
          <a:xfrm>
            <a:off x="2423160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38" name="24"/>
          <p:cNvSpPr/>
          <p:nvPr/>
        </p:nvSpPr>
        <p:spPr>
          <a:xfrm>
            <a:off x="242316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139" name="Example thread 25 excluded"/>
          <p:cNvSpPr/>
          <p:nvPr/>
        </p:nvSpPr>
        <p:spPr>
          <a:xfrm>
            <a:off x="2553462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0" name="25"/>
          <p:cNvSpPr/>
          <p:nvPr/>
        </p:nvSpPr>
        <p:spPr>
          <a:xfrm>
            <a:off x="255346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141" name="Example thread 26 excluded"/>
          <p:cNvSpPr/>
          <p:nvPr/>
        </p:nvSpPr>
        <p:spPr>
          <a:xfrm>
            <a:off x="2683764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2" name="26"/>
          <p:cNvSpPr/>
          <p:nvPr/>
        </p:nvSpPr>
        <p:spPr>
          <a:xfrm>
            <a:off x="268376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143" name="Example thread 27 excluded"/>
          <p:cNvSpPr/>
          <p:nvPr/>
        </p:nvSpPr>
        <p:spPr>
          <a:xfrm>
            <a:off x="2814066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4" name="27"/>
          <p:cNvSpPr/>
          <p:nvPr/>
        </p:nvSpPr>
        <p:spPr>
          <a:xfrm>
            <a:off x="2814066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145" name="Example thread 28 excluded"/>
          <p:cNvSpPr/>
          <p:nvPr/>
        </p:nvSpPr>
        <p:spPr>
          <a:xfrm>
            <a:off x="2944368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6" name="28"/>
          <p:cNvSpPr/>
          <p:nvPr/>
        </p:nvSpPr>
        <p:spPr>
          <a:xfrm>
            <a:off x="2944368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147" name="Example thread 29 excluded"/>
          <p:cNvSpPr/>
          <p:nvPr/>
        </p:nvSpPr>
        <p:spPr>
          <a:xfrm>
            <a:off x="3074670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48" name="29"/>
          <p:cNvSpPr/>
          <p:nvPr/>
        </p:nvSpPr>
        <p:spPr>
          <a:xfrm>
            <a:off x="3074670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149" name="Example thread 30 excluded"/>
          <p:cNvSpPr/>
          <p:nvPr/>
        </p:nvSpPr>
        <p:spPr>
          <a:xfrm>
            <a:off x="3204972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0" name="30"/>
          <p:cNvSpPr/>
          <p:nvPr/>
        </p:nvSpPr>
        <p:spPr>
          <a:xfrm>
            <a:off x="3204972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151" name="Example thread 31 excluded"/>
          <p:cNvSpPr/>
          <p:nvPr/>
        </p:nvSpPr>
        <p:spPr>
          <a:xfrm>
            <a:off x="33352740" y="15864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152" name="31"/>
          <p:cNvSpPr/>
          <p:nvPr/>
        </p:nvSpPr>
        <p:spPr>
          <a:xfrm>
            <a:off x="33352740" y="15979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153" name="Example warp: 32 threads"/>
          <p:cNvSpPr/>
          <p:nvPr/>
        </p:nvSpPr>
        <p:spPr>
          <a:xfrm>
            <a:off x="13235940" y="17053560"/>
            <a:ext cx="21259800" cy="1920240"/>
          </a:xfrm>
          <a:prstGeom prst="roundRect">
            <a:avLst>
              <a:gd name="adj" fmla="val 6000"/>
            </a:avLst>
          </a:prstGeom>
          <a:solidFill>
            <a:schemeClr val="lt2"/>
          </a:solidFill>
          <a:ln w="29718">
            <a:solidFill>
              <a:schemeClr val="dk1">
                <a:tint val="30000"/>
              </a:schemeClr>
            </a:solidFill>
          </a:ln>
        </p:spPr>
      </p:sp>
      <p:sp>
        <p:nvSpPr>
          <p:cNvPr id="154" name="Partition 0, row 0, threads 0,1,2,3,4"/>
          <p:cNvSpPr/>
          <p:nvPr/>
        </p:nvSpPr>
        <p:spPr>
          <a:xfrm>
            <a:off x="136702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3"/>
            </a:solidFill>
          </a:ln>
        </p:spPr>
      </p:sp>
      <p:sp>
        <p:nvSpPr>
          <p:cNvPr id="155" name="Partition 1, row 0, threads 5,6,7,8,9"/>
          <p:cNvSpPr/>
          <p:nvPr/>
        </p:nvSpPr>
        <p:spPr>
          <a:xfrm>
            <a:off x="201853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4"/>
            </a:solidFill>
          </a:ln>
        </p:spPr>
      </p:sp>
      <p:sp>
        <p:nvSpPr>
          <p:cNvPr id="156" name="Partition 2, row 0, threads 10,11,12,13,14"/>
          <p:cNvSpPr/>
          <p:nvPr/>
        </p:nvSpPr>
        <p:spPr>
          <a:xfrm>
            <a:off x="26700480" y="17213580"/>
            <a:ext cx="603504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2"/>
            </a:solidFill>
          </a:ln>
        </p:spPr>
      </p:sp>
      <p:sp>
        <p:nvSpPr>
          <p:cNvPr id="157" name="Partition 3, row 0, threads 15"/>
          <p:cNvSpPr/>
          <p:nvPr/>
        </p:nvSpPr>
        <p:spPr>
          <a:xfrm>
            <a:off x="33215580" y="17213580"/>
            <a:ext cx="82296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158" name="Partition 3, row 1, threads 16,17,18,19"/>
          <p:cNvSpPr/>
          <p:nvPr/>
        </p:nvSpPr>
        <p:spPr>
          <a:xfrm>
            <a:off x="13670280" y="18036540"/>
            <a:ext cx="4732020" cy="777240"/>
          </a:xfrm>
          <a:prstGeom prst="roundRect">
            <a:avLst>
              <a:gd name="adj" fmla="val 6000"/>
            </a:avLst>
          </a:prstGeom>
          <a:noFill/>
          <a:ln w="50292">
            <a:solidFill>
              <a:schemeClr val="accent5"/>
            </a:solidFill>
          </a:ln>
        </p:spPr>
      </p:sp>
      <p:sp>
        <p:nvSpPr>
          <p:cNvPr id="159" name="Example thread 0 included"/>
          <p:cNvSpPr/>
          <p:nvPr/>
        </p:nvSpPr>
        <p:spPr>
          <a:xfrm>
            <a:off x="138074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0" name="0"/>
          <p:cNvSpPr/>
          <p:nvPr/>
        </p:nvSpPr>
        <p:spPr>
          <a:xfrm>
            <a:off x="138074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0</a:t>
            </a:r>
          </a:p>
        </p:txBody>
      </p:sp>
      <p:sp>
        <p:nvSpPr>
          <p:cNvPr id="161" name="Example thread 1 included"/>
          <p:cNvSpPr/>
          <p:nvPr/>
        </p:nvSpPr>
        <p:spPr>
          <a:xfrm>
            <a:off x="151104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2" name="1"/>
          <p:cNvSpPr/>
          <p:nvPr/>
        </p:nvSpPr>
        <p:spPr>
          <a:xfrm>
            <a:off x="151104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</a:t>
            </a:r>
          </a:p>
        </p:txBody>
      </p:sp>
      <p:sp>
        <p:nvSpPr>
          <p:cNvPr id="163" name="Example thread 2 included"/>
          <p:cNvSpPr/>
          <p:nvPr/>
        </p:nvSpPr>
        <p:spPr>
          <a:xfrm>
            <a:off x="164134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4" name="2"/>
          <p:cNvSpPr/>
          <p:nvPr/>
        </p:nvSpPr>
        <p:spPr>
          <a:xfrm>
            <a:off x="164134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2</a:t>
            </a:r>
          </a:p>
        </p:txBody>
      </p:sp>
      <p:sp>
        <p:nvSpPr>
          <p:cNvPr id="165" name="Example thread 3 included"/>
          <p:cNvSpPr/>
          <p:nvPr/>
        </p:nvSpPr>
        <p:spPr>
          <a:xfrm>
            <a:off x="177165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6" name="3"/>
          <p:cNvSpPr/>
          <p:nvPr/>
        </p:nvSpPr>
        <p:spPr>
          <a:xfrm>
            <a:off x="177165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3</a:t>
            </a:r>
          </a:p>
        </p:txBody>
      </p:sp>
      <p:sp>
        <p:nvSpPr>
          <p:cNvPr id="167" name="Example thread 4 included"/>
          <p:cNvSpPr/>
          <p:nvPr/>
        </p:nvSpPr>
        <p:spPr>
          <a:xfrm>
            <a:off x="190195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68" name="4"/>
          <p:cNvSpPr/>
          <p:nvPr/>
        </p:nvSpPr>
        <p:spPr>
          <a:xfrm>
            <a:off x="190195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4</a:t>
            </a:r>
          </a:p>
        </p:txBody>
      </p:sp>
      <p:sp>
        <p:nvSpPr>
          <p:cNvPr id="169" name="Example thread 5 included"/>
          <p:cNvSpPr/>
          <p:nvPr/>
        </p:nvSpPr>
        <p:spPr>
          <a:xfrm>
            <a:off x="203225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0" name="5"/>
          <p:cNvSpPr/>
          <p:nvPr/>
        </p:nvSpPr>
        <p:spPr>
          <a:xfrm>
            <a:off x="203225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5</a:t>
            </a:r>
          </a:p>
        </p:txBody>
      </p:sp>
      <p:sp>
        <p:nvSpPr>
          <p:cNvPr id="171" name="Example thread 6 included"/>
          <p:cNvSpPr/>
          <p:nvPr/>
        </p:nvSpPr>
        <p:spPr>
          <a:xfrm>
            <a:off x="216255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2" name="6"/>
          <p:cNvSpPr/>
          <p:nvPr/>
        </p:nvSpPr>
        <p:spPr>
          <a:xfrm>
            <a:off x="216255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6</a:t>
            </a:r>
          </a:p>
        </p:txBody>
      </p:sp>
      <p:sp>
        <p:nvSpPr>
          <p:cNvPr id="173" name="Example thread 7 included"/>
          <p:cNvSpPr/>
          <p:nvPr/>
        </p:nvSpPr>
        <p:spPr>
          <a:xfrm>
            <a:off x="229285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4" name="7"/>
          <p:cNvSpPr/>
          <p:nvPr/>
        </p:nvSpPr>
        <p:spPr>
          <a:xfrm>
            <a:off x="229285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7</a:t>
            </a:r>
          </a:p>
        </p:txBody>
      </p:sp>
      <p:sp>
        <p:nvSpPr>
          <p:cNvPr id="175" name="Example thread 8 included"/>
          <p:cNvSpPr/>
          <p:nvPr/>
        </p:nvSpPr>
        <p:spPr>
          <a:xfrm>
            <a:off x="242316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6" name="8"/>
          <p:cNvSpPr/>
          <p:nvPr/>
        </p:nvSpPr>
        <p:spPr>
          <a:xfrm>
            <a:off x="242316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8</a:t>
            </a:r>
          </a:p>
        </p:txBody>
      </p:sp>
      <p:sp>
        <p:nvSpPr>
          <p:cNvPr id="177" name="Example thread 9 included"/>
          <p:cNvSpPr/>
          <p:nvPr/>
        </p:nvSpPr>
        <p:spPr>
          <a:xfrm>
            <a:off x="255346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78" name="9"/>
          <p:cNvSpPr/>
          <p:nvPr/>
        </p:nvSpPr>
        <p:spPr>
          <a:xfrm>
            <a:off x="255346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9</a:t>
            </a:r>
          </a:p>
        </p:txBody>
      </p:sp>
      <p:sp>
        <p:nvSpPr>
          <p:cNvPr id="179" name="Example thread 10 included"/>
          <p:cNvSpPr/>
          <p:nvPr/>
        </p:nvSpPr>
        <p:spPr>
          <a:xfrm>
            <a:off x="268376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0" name="10"/>
          <p:cNvSpPr/>
          <p:nvPr/>
        </p:nvSpPr>
        <p:spPr>
          <a:xfrm>
            <a:off x="268376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10</a:t>
            </a:r>
          </a:p>
        </p:txBody>
      </p:sp>
      <p:sp>
        <p:nvSpPr>
          <p:cNvPr id="181" name="Example thread 11 included"/>
          <p:cNvSpPr/>
          <p:nvPr/>
        </p:nvSpPr>
        <p:spPr>
          <a:xfrm>
            <a:off x="2814066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2" name="11"/>
          <p:cNvSpPr/>
          <p:nvPr/>
        </p:nvSpPr>
        <p:spPr>
          <a:xfrm>
            <a:off x="2814066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11</a:t>
            </a:r>
          </a:p>
        </p:txBody>
      </p:sp>
      <p:sp>
        <p:nvSpPr>
          <p:cNvPr id="183" name="Example thread 12 included"/>
          <p:cNvSpPr/>
          <p:nvPr/>
        </p:nvSpPr>
        <p:spPr>
          <a:xfrm>
            <a:off x="2944368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4" name="12"/>
          <p:cNvSpPr/>
          <p:nvPr/>
        </p:nvSpPr>
        <p:spPr>
          <a:xfrm>
            <a:off x="2944368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12</a:t>
            </a:r>
          </a:p>
        </p:txBody>
      </p:sp>
      <p:sp>
        <p:nvSpPr>
          <p:cNvPr id="185" name="Example thread 13 included"/>
          <p:cNvSpPr/>
          <p:nvPr/>
        </p:nvSpPr>
        <p:spPr>
          <a:xfrm>
            <a:off x="3074670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6" name="13"/>
          <p:cNvSpPr/>
          <p:nvPr/>
        </p:nvSpPr>
        <p:spPr>
          <a:xfrm>
            <a:off x="3074670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13</a:t>
            </a:r>
          </a:p>
        </p:txBody>
      </p:sp>
      <p:sp>
        <p:nvSpPr>
          <p:cNvPr id="187" name="Example thread 14 included"/>
          <p:cNvSpPr/>
          <p:nvPr/>
        </p:nvSpPr>
        <p:spPr>
          <a:xfrm>
            <a:off x="3204972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88" name="14"/>
          <p:cNvSpPr/>
          <p:nvPr/>
        </p:nvSpPr>
        <p:spPr>
          <a:xfrm>
            <a:off x="3204972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14</a:t>
            </a:r>
          </a:p>
        </p:txBody>
      </p:sp>
      <p:sp>
        <p:nvSpPr>
          <p:cNvPr id="189" name="Example thread 15 included"/>
          <p:cNvSpPr/>
          <p:nvPr/>
        </p:nvSpPr>
        <p:spPr>
          <a:xfrm>
            <a:off x="33352740" y="1732788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0" name="15"/>
          <p:cNvSpPr/>
          <p:nvPr/>
        </p:nvSpPr>
        <p:spPr>
          <a:xfrm>
            <a:off x="33352740" y="1744218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15</a:t>
            </a:r>
          </a:p>
        </p:txBody>
      </p:sp>
      <p:sp>
        <p:nvSpPr>
          <p:cNvPr id="191" name="Example thread 16 included"/>
          <p:cNvSpPr/>
          <p:nvPr/>
        </p:nvSpPr>
        <p:spPr>
          <a:xfrm>
            <a:off x="1380744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2" name="16"/>
          <p:cNvSpPr/>
          <p:nvPr/>
        </p:nvSpPr>
        <p:spPr>
          <a:xfrm>
            <a:off x="138074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16</a:t>
            </a:r>
          </a:p>
        </p:txBody>
      </p:sp>
      <p:sp>
        <p:nvSpPr>
          <p:cNvPr id="193" name="Example thread 17 included"/>
          <p:cNvSpPr/>
          <p:nvPr/>
        </p:nvSpPr>
        <p:spPr>
          <a:xfrm>
            <a:off x="1511046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4" name="17"/>
          <p:cNvSpPr/>
          <p:nvPr/>
        </p:nvSpPr>
        <p:spPr>
          <a:xfrm>
            <a:off x="151104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17</a:t>
            </a:r>
          </a:p>
        </p:txBody>
      </p:sp>
      <p:sp>
        <p:nvSpPr>
          <p:cNvPr id="195" name="Example thread 18 included"/>
          <p:cNvSpPr/>
          <p:nvPr/>
        </p:nvSpPr>
        <p:spPr>
          <a:xfrm>
            <a:off x="1641348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6" name="18"/>
          <p:cNvSpPr/>
          <p:nvPr/>
        </p:nvSpPr>
        <p:spPr>
          <a:xfrm>
            <a:off x="164134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18</a:t>
            </a:r>
          </a:p>
        </p:txBody>
      </p:sp>
      <p:sp>
        <p:nvSpPr>
          <p:cNvPr id="197" name="Example thread 19 included"/>
          <p:cNvSpPr/>
          <p:nvPr/>
        </p:nvSpPr>
        <p:spPr>
          <a:xfrm>
            <a:off x="17716500" y="18150840"/>
            <a:ext cx="548640" cy="548640"/>
          </a:xfrm>
          <a:prstGeom prst="ellipse">
            <a:avLst/>
          </a:prstGeom>
          <a:solidFill>
            <a:schemeClr val="accent1"/>
          </a:solidFill>
          <a:ln w="18288">
            <a:solidFill>
              <a:schemeClr val="accent1">
                <a:shade val="65000"/>
              </a:schemeClr>
            </a:solidFill>
          </a:ln>
        </p:spPr>
      </p:sp>
      <p:sp>
        <p:nvSpPr>
          <p:cNvPr id="198" name="19"/>
          <p:cNvSpPr/>
          <p:nvPr/>
        </p:nvSpPr>
        <p:spPr>
          <a:xfrm>
            <a:off x="177165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lt1"/>
                </a:solidFill>
                <a:latin typeface="NVIDIA Sans"/>
              </a:rPr>
              <a:t xml:space="preserve">19</a:t>
            </a:r>
          </a:p>
        </p:txBody>
      </p:sp>
      <p:sp>
        <p:nvSpPr>
          <p:cNvPr id="199" name="Example thread 20 excluded"/>
          <p:cNvSpPr/>
          <p:nvPr/>
        </p:nvSpPr>
        <p:spPr>
          <a:xfrm>
            <a:off x="1901952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0" name="20"/>
          <p:cNvSpPr/>
          <p:nvPr/>
        </p:nvSpPr>
        <p:spPr>
          <a:xfrm>
            <a:off x="190195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20</a:t>
            </a:r>
          </a:p>
        </p:txBody>
      </p:sp>
      <p:sp>
        <p:nvSpPr>
          <p:cNvPr id="201" name="Example thread 21 excluded"/>
          <p:cNvSpPr/>
          <p:nvPr/>
        </p:nvSpPr>
        <p:spPr>
          <a:xfrm>
            <a:off x="2032254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2" name="21"/>
          <p:cNvSpPr/>
          <p:nvPr/>
        </p:nvSpPr>
        <p:spPr>
          <a:xfrm>
            <a:off x="203225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21</a:t>
            </a:r>
          </a:p>
        </p:txBody>
      </p:sp>
      <p:sp>
        <p:nvSpPr>
          <p:cNvPr id="203" name="Example thread 22 excluded"/>
          <p:cNvSpPr/>
          <p:nvPr/>
        </p:nvSpPr>
        <p:spPr>
          <a:xfrm>
            <a:off x="2162556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4" name="22"/>
          <p:cNvSpPr/>
          <p:nvPr/>
        </p:nvSpPr>
        <p:spPr>
          <a:xfrm>
            <a:off x="216255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22</a:t>
            </a:r>
          </a:p>
        </p:txBody>
      </p:sp>
      <p:sp>
        <p:nvSpPr>
          <p:cNvPr id="205" name="Example thread 23 excluded"/>
          <p:cNvSpPr/>
          <p:nvPr/>
        </p:nvSpPr>
        <p:spPr>
          <a:xfrm>
            <a:off x="2292858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6" name="23"/>
          <p:cNvSpPr/>
          <p:nvPr/>
        </p:nvSpPr>
        <p:spPr>
          <a:xfrm>
            <a:off x="229285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23</a:t>
            </a:r>
          </a:p>
        </p:txBody>
      </p:sp>
      <p:sp>
        <p:nvSpPr>
          <p:cNvPr id="207" name="Example thread 24 excluded"/>
          <p:cNvSpPr/>
          <p:nvPr/>
        </p:nvSpPr>
        <p:spPr>
          <a:xfrm>
            <a:off x="2423160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08" name="24"/>
          <p:cNvSpPr/>
          <p:nvPr/>
        </p:nvSpPr>
        <p:spPr>
          <a:xfrm>
            <a:off x="242316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24</a:t>
            </a:r>
          </a:p>
        </p:txBody>
      </p:sp>
      <p:sp>
        <p:nvSpPr>
          <p:cNvPr id="209" name="Example thread 25 excluded"/>
          <p:cNvSpPr/>
          <p:nvPr/>
        </p:nvSpPr>
        <p:spPr>
          <a:xfrm>
            <a:off x="2553462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0" name="25"/>
          <p:cNvSpPr/>
          <p:nvPr/>
        </p:nvSpPr>
        <p:spPr>
          <a:xfrm>
            <a:off x="255346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25</a:t>
            </a:r>
          </a:p>
        </p:txBody>
      </p:sp>
      <p:sp>
        <p:nvSpPr>
          <p:cNvPr id="211" name="Example thread 26 excluded"/>
          <p:cNvSpPr/>
          <p:nvPr/>
        </p:nvSpPr>
        <p:spPr>
          <a:xfrm>
            <a:off x="2683764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2" name="26"/>
          <p:cNvSpPr/>
          <p:nvPr/>
        </p:nvSpPr>
        <p:spPr>
          <a:xfrm>
            <a:off x="268376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26</a:t>
            </a:r>
          </a:p>
        </p:txBody>
      </p:sp>
      <p:sp>
        <p:nvSpPr>
          <p:cNvPr id="213" name="Example thread 27 excluded"/>
          <p:cNvSpPr/>
          <p:nvPr/>
        </p:nvSpPr>
        <p:spPr>
          <a:xfrm>
            <a:off x="2814066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4" name="27"/>
          <p:cNvSpPr/>
          <p:nvPr/>
        </p:nvSpPr>
        <p:spPr>
          <a:xfrm>
            <a:off x="2814066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27</a:t>
            </a:r>
          </a:p>
        </p:txBody>
      </p:sp>
      <p:sp>
        <p:nvSpPr>
          <p:cNvPr id="215" name="Example thread 28 excluded"/>
          <p:cNvSpPr/>
          <p:nvPr/>
        </p:nvSpPr>
        <p:spPr>
          <a:xfrm>
            <a:off x="2944368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6" name="28"/>
          <p:cNvSpPr/>
          <p:nvPr/>
        </p:nvSpPr>
        <p:spPr>
          <a:xfrm>
            <a:off x="2944368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28</a:t>
            </a:r>
          </a:p>
        </p:txBody>
      </p:sp>
      <p:sp>
        <p:nvSpPr>
          <p:cNvPr id="217" name="Example thread 29 excluded"/>
          <p:cNvSpPr/>
          <p:nvPr/>
        </p:nvSpPr>
        <p:spPr>
          <a:xfrm>
            <a:off x="3074670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18" name="29"/>
          <p:cNvSpPr/>
          <p:nvPr/>
        </p:nvSpPr>
        <p:spPr>
          <a:xfrm>
            <a:off x="3074670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29</a:t>
            </a:r>
          </a:p>
        </p:txBody>
      </p:sp>
      <p:sp>
        <p:nvSpPr>
          <p:cNvPr id="219" name="Example thread 30 excluded"/>
          <p:cNvSpPr/>
          <p:nvPr/>
        </p:nvSpPr>
        <p:spPr>
          <a:xfrm>
            <a:off x="3204972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20" name="30"/>
          <p:cNvSpPr/>
          <p:nvPr/>
        </p:nvSpPr>
        <p:spPr>
          <a:xfrm>
            <a:off x="3204972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221" name="Example thread 31 excluded"/>
          <p:cNvSpPr/>
          <p:nvPr/>
        </p:nvSpPr>
        <p:spPr>
          <a:xfrm>
            <a:off x="33352740" y="18150840"/>
            <a:ext cx="548640" cy="548640"/>
          </a:xfrm>
          <a:prstGeom prst="ellipse">
            <a:avLst/>
          </a:prstGeom>
          <a:solidFill>
            <a:schemeClr val="dk1">
              <a:tint val="18000"/>
            </a:schemeClr>
          </a:solidFill>
          <a:ln w="18288">
            <a:solidFill>
              <a:schemeClr val="dk1">
                <a:tint val="35000"/>
              </a:schemeClr>
            </a:solidFill>
          </a:ln>
        </p:spPr>
      </p:sp>
      <p:sp>
        <p:nvSpPr>
          <p:cNvPr id="222" name="31"/>
          <p:cNvSpPr/>
          <p:nvPr/>
        </p:nvSpPr>
        <p:spPr>
          <a:xfrm>
            <a:off x="33352740" y="18265140"/>
            <a:ext cx="548640" cy="4114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n-US" sz="180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223" name="Shape"/>
          <p:cNvSpPr/>
          <p:nvPr/>
        </p:nvSpPr>
        <p:spPr>
          <a:xfrm>
            <a:off x="23591520" y="14447520"/>
            <a:ext cx="548640" cy="2743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  <p:sp>
        <p:nvSpPr>
          <p:cNvPr id="224" name="Shape"/>
          <p:cNvSpPr/>
          <p:nvPr/>
        </p:nvSpPr>
        <p:spPr>
          <a:xfrm>
            <a:off x="23591520" y="16733520"/>
            <a:ext cx="548640" cy="274320"/>
          </a:xfrm>
          <a:prstGeom prst="downArrow">
            <a:avLst/>
          </a:prstGeom>
          <a:solidFill>
            <a:schemeClr val="accent6"/>
          </a:solidFill>
          <a:ln w="29718">
            <a:noFill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>
  <p:cSld name="Group Synchroniz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Group Synchronizers</a:t>
            </a:r>
          </a:p>
        </p:txBody>
      </p:sp>
      <p:sp>
        <p:nvSpPr>
          <p:cNvPr id="3" name="Create the synchronization mechanism for each subgroup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Create the synchronization mechanism for each subgroup</a:t>
            </a:r>
          </a:p>
        </p:txBody>
      </p:sp>
      <p:sp>
        <p:nvSpPr>
          <p:cNvPr id="4" name="3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30</a:t>
            </a:r>
          </a:p>
        </p:txBody>
      </p:sp>
      <p:sp>
        <p:nvSpPr>
          <p:cNvPr id="5" name="Determines how the subgroups are synchronized"/>
          <p:cNvSpPr/>
          <p:nvPr/>
        </p:nvSpPr>
        <p:spPr>
          <a:xfrm>
            <a:off x="1874520" y="4892040"/>
            <a:ext cx="323469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Determines how the subgroups are synchronized</a:t>
            </a:r>
          </a:p>
        </p:txBody>
      </p:sp>
      <p:sp>
        <p:nvSpPr>
          <p:cNvPr id="6" name="Needs to implement the `make_instance` method that returns the `/"/>
          <p:cNvSpPr/>
          <p:nvPr/>
        </p:nvSpPr>
        <p:spPr>
          <a:xfrm>
            <a:off x="1874520" y="6286500"/>
            <a:ext cx="32346900" cy="16230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Needs to implement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make_instance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method that returns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/*group-synchronizer-instance*/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type:</a:t>
            </a:r>
          </a:p>
        </p:txBody>
      </p:sp>
      <p:sp>
        <p:nvSpPr>
          <p:cNvPr id="7" name="Shape"/>
          <p:cNvSpPr/>
          <p:nvPr/>
        </p:nvSpPr>
        <p:spPr>
          <a:xfrm>
            <a:off x="1828800" y="8526780"/>
            <a:ext cx="32918400" cy="8001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331720" y="9098280"/>
            <a:ext cx="31912560" cy="667512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/*group-synchronizer*/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requires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          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make_instance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unit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mapping_result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/*group-synchronizer-instance*/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MappingResult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ParentGroup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hierarchy_type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Synchronizer support note" descr="Supplemental synchronizer support note"/>
          <p:cNvSpPr/>
          <p:nvPr/>
        </p:nvSpPr>
        <p:spPr>
          <a:xfrm>
            <a:off x="1874520" y="17373600"/>
            <a:ext cx="323469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Synchronizers need not support every combination of </a:t>
            </a:r>
            <a:r>
              <a:rPr lang="en-US" sz="3960" b="0">
                <a:solidFill>
                  <a:schemeClr val="accent6"/>
                </a:solidFill>
                <a:latin typeface="DejaVu Sans Mono"/>
              </a:rPr>
              <a:t xml:space="preserve">Unit</a:t>
            </a: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, </a:t>
            </a:r>
            <a:r>
              <a:rPr lang="en-US" sz="3960" b="0">
                <a:solidFill>
                  <a:schemeClr val="accent6"/>
                </a:solidFill>
                <a:latin typeface="DejaVu Sans Mono"/>
              </a:rPr>
              <a:t xml:space="preserve">ParentGroup</a:t>
            </a: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, and </a:t>
            </a:r>
            <a:r>
              <a:rPr lang="en-US" sz="3960" b="0">
                <a:solidFill>
                  <a:schemeClr val="accent6"/>
                </a:solidFill>
                <a:latin typeface="DejaVu Sans Mono"/>
              </a:rPr>
              <a:t xml:space="preserve">MappingResult</a:t>
            </a: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>
  <p:cSld name="Predefined Group Synchronizers — level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Consistent table shading"/>
          <p:cNvSpPr/>
          <p:nvPr/>
        </p:nvSpPr>
        <p:spPr>
          <a:xfrm>
            <a:off x="13235940" y="17556480"/>
            <a:ext cx="21259800" cy="8001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43" name="Consistent table shading"/>
          <p:cNvSpPr/>
          <p:nvPr/>
        </p:nvSpPr>
        <p:spPr>
          <a:xfrm>
            <a:off x="13235940" y="15956280"/>
            <a:ext cx="21259800" cy="8001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42" name="Consistent table shading"/>
          <p:cNvSpPr/>
          <p:nvPr/>
        </p:nvSpPr>
        <p:spPr>
          <a:xfrm>
            <a:off x="13235940" y="14356080"/>
            <a:ext cx="21259800" cy="8001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41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31</a:t>
            </a:r>
          </a:p>
        </p:txBody>
      </p:sp>
      <p:sp>
        <p:nvSpPr>
          <p:cNvPr id="5" name="Current synchronizer"/>
          <p:cNvSpPr/>
          <p:nvPr/>
        </p:nvSpPr>
        <p:spPr>
          <a:xfrm>
            <a:off x="1828800" y="505206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6" name="Shape"/>
          <p:cNvSpPr/>
          <p:nvPr/>
        </p:nvSpPr>
        <p:spPr>
          <a:xfrm>
            <a:off x="1828800" y="505206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7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level_synchronizer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8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9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Synchronizes all threads within the group's level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Synchronizes all threads within the group's level.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9966960"/>
            <a:ext cx="20345400" cy="9144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Level" descr="Supplemental synchronizer detail from repository docs and headers"/>
          <p:cNvSpPr/>
          <p:nvPr/>
        </p:nvSpPr>
        <p:spPr>
          <a:xfrm>
            <a:off x="13235940" y="13555980"/>
            <a:ext cx="36576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Level</a:t>
            </a:r>
          </a:p>
        </p:txBody>
      </p:sp>
      <p:sp>
        <p:nvSpPr>
          <p:cNvPr id="18" name="sync()" descr="Supplemental synchronizer detail from repository docs and headers"/>
          <p:cNvSpPr/>
          <p:nvPr/>
        </p:nvSpPr>
        <p:spPr>
          <a:xfrm>
            <a:off x="17259300" y="13555980"/>
            <a:ext cx="7543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9" name="sync_aligned()" descr="Supplemental synchronizer detail from repository docs and headers"/>
          <p:cNvSpPr/>
          <p:nvPr/>
        </p:nvSpPr>
        <p:spPr>
          <a:xfrm>
            <a:off x="25374600" y="13555980"/>
            <a:ext cx="89154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20" name="Shape"/>
          <p:cNvSpPr/>
          <p:nvPr/>
        </p:nvSpPr>
        <p:spPr>
          <a:xfrm>
            <a:off x="13235940" y="142189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1" name="Thread" descr="Supplemental synchronizer detail from repository docs and headers"/>
          <p:cNvSpPr/>
          <p:nvPr/>
        </p:nvSpPr>
        <p:spPr>
          <a:xfrm>
            <a:off x="13235940" y="144018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Thread</a:t>
            </a:r>
          </a:p>
        </p:txBody>
      </p:sp>
      <p:sp>
        <p:nvSpPr>
          <p:cNvPr id="22" name="No operation" descr="Supplemental synchronizer detail from repository docs and headers"/>
          <p:cNvSpPr/>
          <p:nvPr/>
        </p:nvSpPr>
        <p:spPr>
          <a:xfrm>
            <a:off x="17259300" y="144018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No operation</a:t>
            </a:r>
          </a:p>
        </p:txBody>
      </p:sp>
      <p:sp>
        <p:nvSpPr>
          <p:cNvPr id="23" name="No operation" descr="Supplemental synchronizer detail from repository docs and headers"/>
          <p:cNvSpPr/>
          <p:nvPr/>
        </p:nvSpPr>
        <p:spPr>
          <a:xfrm>
            <a:off x="25374600" y="144018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No operation</a:t>
            </a:r>
          </a:p>
        </p:txBody>
      </p:sp>
      <p:sp>
        <p:nvSpPr>
          <p:cNvPr id="24" name="Shape"/>
          <p:cNvSpPr/>
          <p:nvPr/>
        </p:nvSpPr>
        <p:spPr>
          <a:xfrm>
            <a:off x="13235940" y="150647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5" name="Warp" descr="Supplemental synchronizer detail from repository docs and headers"/>
          <p:cNvSpPr/>
          <p:nvPr/>
        </p:nvSpPr>
        <p:spPr>
          <a:xfrm>
            <a:off x="13235940" y="152019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Warp</a:t>
            </a:r>
          </a:p>
        </p:txBody>
      </p:sp>
      <p:sp>
        <p:nvSpPr>
          <p:cNvPr id="26" name="`__syncwarp()`" descr="Supplemental synchronizer detail from repository docs and headers"/>
          <p:cNvSpPr/>
          <p:nvPr/>
        </p:nvSpPr>
        <p:spPr>
          <a:xfrm>
            <a:off x="17259300" y="152019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7" name="`__syncwarp()`" descr="Supplemental synchronizer detail from repository docs and headers"/>
          <p:cNvSpPr/>
          <p:nvPr/>
        </p:nvSpPr>
        <p:spPr>
          <a:xfrm>
            <a:off x="25374600" y="152019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28" name="Shape"/>
          <p:cNvSpPr/>
          <p:nvPr/>
        </p:nvSpPr>
        <p:spPr>
          <a:xfrm>
            <a:off x="13235940" y="158648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9" name="Block" descr="Supplemental synchronizer detail from repository docs and headers"/>
          <p:cNvSpPr/>
          <p:nvPr/>
        </p:nvSpPr>
        <p:spPr>
          <a:xfrm>
            <a:off x="13235940" y="160020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</a:t>
            </a:r>
          </a:p>
        </p:txBody>
      </p:sp>
      <p:sp>
        <p:nvSpPr>
          <p:cNvPr id="30" name="`__barrier_sync(0)`" descr="Supplemental synchronizer detail from repository docs and headers"/>
          <p:cNvSpPr/>
          <p:nvPr/>
        </p:nvSpPr>
        <p:spPr>
          <a:xfrm>
            <a:off x="17259300" y="160020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__barrier_sync(0)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1" name="`__syncthreads()`" descr="Supplemental synchronizer detail from repository docs and headers"/>
          <p:cNvSpPr/>
          <p:nvPr/>
        </p:nvSpPr>
        <p:spPr>
          <a:xfrm>
            <a:off x="25374600" y="160020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__syncthreads()</a:t>
            </a: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/>
            </a:r>
          </a:p>
        </p:txBody>
      </p:sp>
      <p:sp>
        <p:nvSpPr>
          <p:cNvPr id="32" name="Shape"/>
          <p:cNvSpPr/>
          <p:nvPr/>
        </p:nvSpPr>
        <p:spPr>
          <a:xfrm>
            <a:off x="13235940" y="166649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3" name="Cluster" descr="Supplemental synchronizer detail from repository docs and headers"/>
          <p:cNvSpPr/>
          <p:nvPr/>
        </p:nvSpPr>
        <p:spPr>
          <a:xfrm>
            <a:off x="13235940" y="168021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Cluster</a:t>
            </a:r>
          </a:p>
        </p:txBody>
      </p:sp>
      <p:sp>
        <p:nvSpPr>
          <p:cNvPr id="34" name="Cluster arrive + wait" descr="Supplemental synchronizer detail from repository docs and headers"/>
          <p:cNvSpPr/>
          <p:nvPr/>
        </p:nvSpPr>
        <p:spPr>
          <a:xfrm>
            <a:off x="17259300" y="168021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Cluster arrive + wait</a:t>
            </a:r>
          </a:p>
        </p:txBody>
      </p:sp>
      <p:sp>
        <p:nvSpPr>
          <p:cNvPr id="35" name="Aligned arrive + wait" descr="Supplemental synchronizer detail from repository docs and headers"/>
          <p:cNvSpPr/>
          <p:nvPr/>
        </p:nvSpPr>
        <p:spPr>
          <a:xfrm>
            <a:off x="25374600" y="168021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Aligned arrive + wait</a:t>
            </a:r>
          </a:p>
        </p:txBody>
      </p:sp>
      <p:sp>
        <p:nvSpPr>
          <p:cNvPr id="36" name="Shape"/>
          <p:cNvSpPr/>
          <p:nvPr/>
        </p:nvSpPr>
        <p:spPr>
          <a:xfrm>
            <a:off x="13235940" y="1746504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37" name="Grid" descr="Supplemental synchronizer detail from repository docs and headers"/>
          <p:cNvSpPr/>
          <p:nvPr/>
        </p:nvSpPr>
        <p:spPr>
          <a:xfrm>
            <a:off x="13235940" y="17602200"/>
            <a:ext cx="36576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Grid</a:t>
            </a:r>
          </a:p>
        </p:txBody>
      </p:sp>
      <p:sp>
        <p:nvSpPr>
          <p:cNvPr id="38" name="Block + global + block barriers" descr="Supplemental synchronizer detail from repository docs and headers"/>
          <p:cNvSpPr/>
          <p:nvPr/>
        </p:nvSpPr>
        <p:spPr>
          <a:xfrm>
            <a:off x="17259300" y="17602200"/>
            <a:ext cx="75438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 + global + block barriers</a:t>
            </a:r>
          </a:p>
        </p:txBody>
      </p:sp>
      <p:sp>
        <p:nvSpPr>
          <p:cNvPr id="39" name="Block + global + block barriers" descr="Supplemental synchronizer detail from repository docs and headers"/>
          <p:cNvSpPr/>
          <p:nvPr/>
        </p:nvSpPr>
        <p:spPr>
          <a:xfrm>
            <a:off x="25374600" y="17602200"/>
            <a:ext cx="8915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NVIDIA Sans"/>
              </a:rPr>
              <a:t xml:space="preserve">Block + global + block barriers</a:t>
            </a:r>
          </a:p>
        </p:txBody>
      </p:sp>
      <p:sp>
        <p:nvSpPr>
          <p:cNvPr id="40" name="Grid synchronization requires a cooperative kernel launch." descr="Supplemental synchronizer detail from repository docs and headers"/>
          <p:cNvSpPr/>
          <p:nvPr/>
        </p:nvSpPr>
        <p:spPr>
          <a:xfrm>
            <a:off x="13235940" y="18608040"/>
            <a:ext cx="21259800" cy="6400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accent6"/>
                </a:solidFill>
                <a:latin typeface="NVIDIA Sans"/>
              </a:rPr>
              <a:t xml:space="preserve">Grid synchronization requires a cooperative kernel launch.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>
  <p:cSld name="Predefined Group Synchronizers — lane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nsistent table shading"/>
          <p:cNvSpPr/>
          <p:nvPr/>
        </p:nvSpPr>
        <p:spPr>
          <a:xfrm>
            <a:off x="13235940" y="14424660"/>
            <a:ext cx="21259800" cy="196596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24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32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Current synchronizer"/>
          <p:cNvSpPr/>
          <p:nvPr/>
        </p:nvSpPr>
        <p:spPr>
          <a:xfrm>
            <a:off x="1828800" y="795528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7" name="Shape"/>
          <p:cNvSpPr/>
          <p:nvPr/>
        </p:nvSpPr>
        <p:spPr>
          <a:xfrm>
            <a:off x="1828800" y="795528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lane_synchronizer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9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__syncwarp(mask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__syncwarp(mask)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9966960"/>
            <a:ext cx="20345400" cy="9144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__syncwarp(lane_mask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__syncwarp(lane_mask)</a:t>
            </a:r>
          </a:p>
        </p:txBody>
      </p:sp>
      <p:sp>
        <p:nvSpPr>
          <p:cNvPr id="21" name="__syncwarp(lane_mask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__syncwarp(lane_mask)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Uses the final mapping result’s lane mask.&#10;For groups of threads " descr="Supplemental synchronizer detail from repository docs and headers"/>
          <p:cNvSpPr/>
          <p:nvPr/>
        </p:nvSpPr>
        <p:spPr>
          <a:xfrm>
            <a:off x="13235940" y="16893540"/>
            <a:ext cx="212598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Uses the final mapping result’s lane mask.</a:t>
            </a:r>
          </a:p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accent6"/>
                </a:solidFill>
                <a:latin typeface="NVIDIA Sans"/>
              </a:rPr>
              <a:t xml:space="preserve">For groups of threads within a single warp.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>
  <p:cSld name="Predefined Group Synchronizers — interwarp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nsistent table shading"/>
          <p:cNvSpPr/>
          <p:nvPr/>
        </p:nvSpPr>
        <p:spPr>
          <a:xfrm>
            <a:off x="13235940" y="14424660"/>
            <a:ext cx="21259800" cy="196596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24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33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Current synchronizer"/>
          <p:cNvSpPr/>
          <p:nvPr/>
        </p:nvSpPr>
        <p:spPr>
          <a:xfrm>
            <a:off x="1828800" y="1085850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8" name="Shape"/>
          <p:cNvSpPr/>
          <p:nvPr/>
        </p:nvSpPr>
        <p:spPr>
          <a:xfrm>
            <a:off x="1828800" y="1085850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9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interwarp_synchronizer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__barrier_sync_count(barrier_id, nthreads)` for synchroniza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2514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Array of warp barrier IDs.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1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5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7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The constructor accepts any range of warp barrier IDs.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array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__barrier_sync_count(barrier_id, nthreads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</a:p>
        </p:txBody>
      </p:sp>
      <p:sp>
        <p:nvSpPr>
          <p:cNvPr id="21" name="__barrier_sync_count(barrier_id, nthreads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__barrier_sync_count(barrier_id, nthreads)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For warps within one block; both calls use the counted, unaligned" descr="Supplemental synchronizer detail from repository docs and headers"/>
          <p:cNvSpPr/>
          <p:nvPr/>
        </p:nvSpPr>
        <p:spPr>
          <a:xfrm>
            <a:off x="13235940" y="16893540"/>
            <a:ext cx="212598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For warps within one block; both calls use the counted, unaligned barrier.</a:t>
            </a:r>
          </a:p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Use unique barrier IDs 1–15, one per subgroup.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>
  <p:cSld name="Predefined Group Synchronizers — barrier_synchroniz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Consistent table shading"/>
          <p:cNvSpPr/>
          <p:nvPr/>
        </p:nvSpPr>
        <p:spPr>
          <a:xfrm>
            <a:off x="13235940" y="14424660"/>
            <a:ext cx="21259800" cy="196596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24" name="Consistent table shading"/>
          <p:cNvSpPr/>
          <p:nvPr/>
        </p:nvSpPr>
        <p:spPr>
          <a:xfrm>
            <a:off x="13235940" y="13327380"/>
            <a:ext cx="21259800" cy="100584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Predefined Group Synchronizer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Predefined Group Synchronizers</a:t>
            </a:r>
          </a:p>
        </p:txBody>
      </p:sp>
      <p:sp>
        <p:nvSpPr>
          <p:cNvPr id="3" name="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4" name="34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34</a:t>
            </a:r>
          </a:p>
        </p:txBody>
      </p:sp>
      <p:sp>
        <p:nvSpPr>
          <p:cNvPr id="5" name="`level_synchronizer`"/>
          <p:cNvSpPr/>
          <p:nvPr/>
        </p:nvSpPr>
        <p:spPr>
          <a:xfrm>
            <a:off x="2286000" y="557784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level_synchronizer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6" name="`lane_synchronizer`"/>
          <p:cNvSpPr/>
          <p:nvPr/>
        </p:nvSpPr>
        <p:spPr>
          <a:xfrm>
            <a:off x="2286000" y="848106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`interwarp_synchronizer`"/>
          <p:cNvSpPr/>
          <p:nvPr/>
        </p:nvSpPr>
        <p:spPr>
          <a:xfrm>
            <a:off x="2286000" y="1138428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interwarp_synchronizer</a:t>
            </a: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8" name="Current synchronizer"/>
          <p:cNvSpPr/>
          <p:nvPr/>
        </p:nvSpPr>
        <p:spPr>
          <a:xfrm>
            <a:off x="1828800" y="13761720"/>
            <a:ext cx="9829800" cy="1874520"/>
          </a:xfrm>
          <a:prstGeom prst="roundRect">
            <a:avLst>
              <a:gd name="adj" fmla="val 6000"/>
            </a:avLst>
          </a:prstGeom>
          <a:solidFill>
            <a:schemeClr val="accent1">
              <a:tint val="12000"/>
            </a:schemeClr>
          </a:solidFill>
          <a:ln w="29718">
            <a:solidFill>
              <a:schemeClr val="accent1"/>
            </a:solidFill>
          </a:ln>
        </p:spPr>
      </p:sp>
      <p:sp>
        <p:nvSpPr>
          <p:cNvPr id="9" name="Shape"/>
          <p:cNvSpPr/>
          <p:nvPr/>
        </p:nvSpPr>
        <p:spPr>
          <a:xfrm>
            <a:off x="1828800" y="13761720"/>
            <a:ext cx="114300" cy="187452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0" name="`barrier_synchronizer`"/>
          <p:cNvSpPr/>
          <p:nvPr/>
        </p:nvSpPr>
        <p:spPr>
          <a:xfrm>
            <a:off x="2286000" y="14287500"/>
            <a:ext cx="9029700" cy="9144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barrier_synchronizer</a:t>
            </a:r>
            <a:r>
              <a:rPr lang="en-US" sz="360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/>
            </a:r>
          </a:p>
        </p:txBody>
      </p:sp>
      <p:sp>
        <p:nvSpPr>
          <p:cNvPr id="11" name="Shape"/>
          <p:cNvSpPr/>
          <p:nvPr/>
        </p:nvSpPr>
        <p:spPr>
          <a:xfrm>
            <a:off x="12458700" y="5052060"/>
            <a:ext cx="22860" cy="1357884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Uses `cuda::barrier::arrive_and_wait()` for synchronization."/>
          <p:cNvSpPr/>
          <p:nvPr/>
        </p:nvSpPr>
        <p:spPr>
          <a:xfrm>
            <a:off x="13235940" y="5166360"/>
            <a:ext cx="21259800" cy="2194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Uses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cuda::barrier::arrive_and_wait()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for synchronization.</a:t>
            </a:r>
          </a:p>
        </p:txBody>
      </p:sp>
      <p:sp>
        <p:nvSpPr>
          <p:cNvPr id="13" name="CONSTRUCTION"/>
          <p:cNvSpPr/>
          <p:nvPr/>
        </p:nvSpPr>
        <p:spPr>
          <a:xfrm>
            <a:off x="13235940" y="75666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CONSTRUCTION</a:t>
            </a:r>
          </a:p>
        </p:txBody>
      </p:sp>
      <p:sp>
        <p:nvSpPr>
          <p:cNvPr id="14" name="Shape"/>
          <p:cNvSpPr/>
          <p:nvPr/>
        </p:nvSpPr>
        <p:spPr>
          <a:xfrm>
            <a:off x="13235940" y="8526780"/>
            <a:ext cx="21259800" cy="34290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5" name="Synchronizer construction example" descr="Supplemental synchronizer detail from repository docs and headers"/>
          <p:cNvSpPr/>
          <p:nvPr/>
        </p:nvSpPr>
        <p:spPr>
          <a:xfrm>
            <a:off x="13693140" y="8983980"/>
            <a:ext cx="20345400" cy="25146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Array of uninitialized block-scope barriers in shared memory.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__shared__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barrier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thread_scope_block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block_barriers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8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The constructor accepts a contiguous range of CUDA barriers.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barrier_synchronizer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block_barriers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16" name="SYNCHRONIZATION BEHAVIOUR"/>
          <p:cNvSpPr/>
          <p:nvPr/>
        </p:nvSpPr>
        <p:spPr>
          <a:xfrm>
            <a:off x="13235940" y="12595860"/>
            <a:ext cx="212598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1">
                <a:solidFill>
                  <a:schemeClr val="accent6"/>
                </a:solidFill>
                <a:latin typeface="NVIDIA Sans Medium"/>
              </a:rPr>
              <a:t xml:space="preserve">SYNCHRONIZATION BEHAVIOUR</a:t>
            </a:r>
          </a:p>
        </p:txBody>
      </p:sp>
      <p:sp>
        <p:nvSpPr>
          <p:cNvPr id="17" name="sync()" descr="Supplemental synchronizer detail from repository docs and headers"/>
          <p:cNvSpPr/>
          <p:nvPr/>
        </p:nvSpPr>
        <p:spPr>
          <a:xfrm>
            <a:off x="132359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sync()</a:t>
            </a:r>
          </a:p>
        </p:txBody>
      </p:sp>
      <p:sp>
        <p:nvSpPr>
          <p:cNvPr id="18" name="sync_aligned()" descr="Supplemental synchronizer detail from repository docs and headers"/>
          <p:cNvSpPr/>
          <p:nvPr/>
        </p:nvSpPr>
        <p:spPr>
          <a:xfrm>
            <a:off x="24094440" y="13555980"/>
            <a:ext cx="10401300" cy="685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0">
                <a:solidFill>
                  <a:schemeClr val="dk1"/>
                </a:solidFill>
                <a:latin typeface="DejaVu Sans Mono"/>
              </a:rPr>
              <a:t xml:space="preserve">sync_aligned()</a:t>
            </a:r>
          </a:p>
        </p:txBody>
      </p:sp>
      <p:sp>
        <p:nvSpPr>
          <p:cNvPr id="19" name="Synchronization table header rule"/>
          <p:cNvSpPr/>
          <p:nvPr/>
        </p:nvSpPr>
        <p:spPr>
          <a:xfrm>
            <a:off x="13235940" y="1440180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0" name="barrier.arrive_and_wait()" descr="Supplemental synchronizer detail from repository docs and headers"/>
          <p:cNvSpPr/>
          <p:nvPr/>
        </p:nvSpPr>
        <p:spPr>
          <a:xfrm>
            <a:off x="132359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</a:p>
        </p:txBody>
      </p:sp>
      <p:sp>
        <p:nvSpPr>
          <p:cNvPr id="21" name="barrier.arrive_and_wait()" descr="Supplemental synchronizer detail from repository docs and headers"/>
          <p:cNvSpPr/>
          <p:nvPr/>
        </p:nvSpPr>
        <p:spPr>
          <a:xfrm>
            <a:off x="24094440" y="14859000"/>
            <a:ext cx="10401300" cy="14859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barrier.arrive_and_wait()</a:t>
            </a:r>
          </a:p>
        </p:txBody>
      </p:sp>
      <p:sp>
        <p:nvSpPr>
          <p:cNvPr id="22" name="Synchronization table bottom rule"/>
          <p:cNvSpPr/>
          <p:nvPr/>
        </p:nvSpPr>
        <p:spPr>
          <a:xfrm>
            <a:off x="13235940" y="16390620"/>
            <a:ext cx="212598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3" name="Pass uninitialized barriers; one is assigned to each subgroup.&#10;Th" descr="Supplemental synchronizer detail from repository docs and headers"/>
          <p:cNvSpPr/>
          <p:nvPr/>
        </p:nvSpPr>
        <p:spPr>
          <a:xfrm>
            <a:off x="13235940" y="16893540"/>
            <a:ext cx="21259800" cy="1828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Pass uninitialized barriers; one is assigned to each subgroup.</a:t>
            </a:r>
          </a:p>
          <a:p>
            <a:pPr algn="l">
              <a:lnSpc>
                <a:spcPts val="3960"/>
              </a:lnSpc>
              <a:buNone/>
              <a:spcBef>
                <a:spcPts val="0"/>
              </a:spcBef>
              <a:spcAft>
                <a:spcPts val="0"/>
              </a:spcAft>
            </a:pPr>
            <a:r>
              <a:rPr lang="en-US" sz="3600" b="0">
                <a:solidFill>
                  <a:schemeClr val="accent6"/>
                </a:solidFill>
                <a:latin typeface="NVIDIA Sans"/>
              </a:rPr>
              <a:t xml:space="preserve">The barrier scope must cover the group’s upper boundary.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>
  <p:cSld name="Optional participation — What we had previously — Scenari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1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Scenario 1</a:t>
            </a:r>
          </a:p>
        </p:txBody>
      </p:sp>
      <p:sp>
        <p:nvSpPr>
          <p:cNvPr id="4" name="35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35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assert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is forced to be always exhaustive, 32 / 3 has remainder, thus assertion triggers.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never reached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>
  <p:cSld name="Optional participation — What we had previously — Scenari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2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Scenario 2</a:t>
            </a:r>
          </a:p>
        </p:txBody>
      </p:sp>
      <p:sp>
        <p:nvSpPr>
          <p:cNvPr id="4" name="36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36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assert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non-exhaustive, 32 / 3 has remainder, 2 threads get invalid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triggers assertion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>
  <p:cSld name="Optional participation — What we had previously — Scenari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Scenario 3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Scenario 3</a:t>
            </a:r>
          </a:p>
        </p:txBody>
      </p:sp>
      <p:sp>
        <p:nvSpPr>
          <p:cNvPr id="4" name="37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37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 to check if the thread is part of the current group.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assert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...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non-exhaustive, 32 / 3 has remainder, 2 threads get invalid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ok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is_part_of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>
  <p:cSld name="Optional participation — What we had previously — 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d previously · Conclusion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had previously · Conclusion</a:t>
            </a:r>
          </a:p>
        </p:txBody>
      </p:sp>
      <p:sp>
        <p:nvSpPr>
          <p:cNvPr id="4" name="38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38</a:t>
            </a:r>
          </a:p>
        </p:txBody>
      </p:sp>
      <p:sp>
        <p:nvSpPr>
          <p:cNvPr id="5" name="Exhaustivity is a property of the mapping."/>
          <p:cNvSpPr/>
          <p:nvPr/>
        </p:nvSpPr>
        <p:spPr>
          <a:xfrm>
            <a:off x="1874520" y="498348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property of the mapping.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7840980"/>
            <a:ext cx="15887700" cy="75438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Shape"/>
          <p:cNvSpPr/>
          <p:nvPr/>
        </p:nvSpPr>
        <p:spPr>
          <a:xfrm>
            <a:off x="1828800" y="784098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8" name="Repeated checks"/>
          <p:cNvSpPr/>
          <p:nvPr/>
        </p:nvSpPr>
        <p:spPr>
          <a:xfrm>
            <a:off x="2514600" y="8663940"/>
            <a:ext cx="14516100" cy="13487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Repeated checks</a:t>
            </a:r>
          </a:p>
        </p:txBody>
      </p:sp>
      <p:sp>
        <p:nvSpPr>
          <p:cNvPr id="9" name="You need to constantly check whether a group is valid"/>
          <p:cNvSpPr/>
          <p:nvPr/>
        </p:nvSpPr>
        <p:spPr>
          <a:xfrm>
            <a:off x="2514600" y="10904220"/>
            <a:ext cx="14516100" cy="3657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You need to constantly check whether a group is valid</a:t>
            </a:r>
          </a:p>
        </p:txBody>
      </p:sp>
      <p:sp>
        <p:nvSpPr>
          <p:cNvPr id="10" name="Shape"/>
          <p:cNvSpPr/>
          <p:nvPr/>
        </p:nvSpPr>
        <p:spPr>
          <a:xfrm>
            <a:off x="18859500" y="7840980"/>
            <a:ext cx="15887700" cy="75438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11" name="Shape"/>
          <p:cNvSpPr/>
          <p:nvPr/>
        </p:nvSpPr>
        <p:spPr>
          <a:xfrm>
            <a:off x="18859500" y="7840980"/>
            <a:ext cx="15887700" cy="9144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2" name="Invalid objects"/>
          <p:cNvSpPr/>
          <p:nvPr/>
        </p:nvSpPr>
        <p:spPr>
          <a:xfrm>
            <a:off x="19545300" y="8663940"/>
            <a:ext cx="14516100" cy="13487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Invalid objects</a:t>
            </a:r>
          </a:p>
        </p:txBody>
      </p:sp>
      <p:sp>
        <p:nvSpPr>
          <p:cNvPr id="13" name="It's easy to make a mistake, because you are left with an invalid"/>
          <p:cNvSpPr/>
          <p:nvPr/>
        </p:nvSpPr>
        <p:spPr>
          <a:xfrm>
            <a:off x="19545300" y="10904220"/>
            <a:ext cx="14516100" cy="36576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It's easy to make a mistake, because you are left with an invalid object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>
  <p:cSld name="Optional participation — What we have now — Factory AP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Factory API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Factory API</a:t>
            </a:r>
          </a:p>
        </p:txBody>
      </p:sp>
      <p:sp>
        <p:nvSpPr>
          <p:cNvPr id="4" name="39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39</a:t>
            </a:r>
          </a:p>
        </p:txBody>
      </p:sp>
      <p:sp>
        <p:nvSpPr>
          <p:cNvPr id="5" name="Exhaustivity is a construction parameter."/>
          <p:cNvSpPr/>
          <p:nvPr/>
        </p:nvSpPr>
        <p:spPr>
          <a:xfrm>
            <a:off x="1874520" y="4869180"/>
            <a:ext cx="32346900" cy="10744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Exhaustivity is a construction parameter.</a:t>
            </a:r>
          </a:p>
        </p:txBody>
      </p:sp>
      <p:sp>
        <p:nvSpPr>
          <p:cNvPr id="6" name=".. but for that we need a factory function, that returns `cuda::s"/>
          <p:cNvSpPr/>
          <p:nvPr/>
        </p:nvSpPr>
        <p:spPr>
          <a:xfrm>
            <a:off x="2560320" y="6240780"/>
            <a:ext cx="31661100" cy="14630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320" b="0" i="1">
                <a:solidFill>
                  <a:schemeClr val="accent6"/>
                </a:solidFill>
                <a:latin typeface="NVIDIA Sans"/>
              </a:rPr>
              <a:t xml:space="preserve">... but for that we need a factory function, that returns </a:t>
            </a:r>
            <a:r>
              <a:rPr lang="en-US" sz="4320" b="0" i="1">
                <a:solidFill>
                  <a:schemeClr val="accent6"/>
                </a:solidFill>
                <a:latin typeface="DejaVu Sans Mono"/>
              </a:rPr>
              <a:t xml:space="preserve">cuda::std::optional</a:t>
            </a:r>
            <a:r>
              <a:rPr lang="en-US" sz="4320" b="0" i="1">
                <a:solidFill>
                  <a:schemeClr val="accent6"/>
                </a:solidFill>
                <a:latin typeface="NVIDIA Sans"/>
              </a:rPr>
              <a:t xml:space="preserve"/>
            </a:r>
          </a:p>
        </p:txBody>
      </p:sp>
      <p:sp>
        <p:nvSpPr>
          <p:cNvPr id="7" name="Shape"/>
          <p:cNvSpPr/>
          <p:nvPr/>
        </p:nvSpPr>
        <p:spPr>
          <a:xfrm>
            <a:off x="1828800" y="8343900"/>
            <a:ext cx="21945600" cy="708660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8" name="Verbatim C++ snippet" descr="Verbatim fenced C++ snippet from slides.md"/>
          <p:cNvSpPr/>
          <p:nvPr/>
        </p:nvSpPr>
        <p:spPr>
          <a:xfrm>
            <a:off x="2286000" y="8846820"/>
            <a:ext cx="21031200" cy="60807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GroupTempl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nodiscard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__device__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args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noexcept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/*GroupTempl-instantiated-with-args*/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(1)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template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typename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GroupTempl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nodiscard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__device__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non_exhaustive_t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args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noexcept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-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std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optional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/*GroupTempl-instantiated-with-args*/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(2)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  <p:sp>
        <p:nvSpPr>
          <p:cNvPr id="9" name="1"/>
          <p:cNvSpPr/>
          <p:nvPr/>
        </p:nvSpPr>
        <p:spPr>
          <a:xfrm>
            <a:off x="24688800" y="87325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1</a:t>
            </a:r>
          </a:p>
        </p:txBody>
      </p:sp>
      <p:sp>
        <p:nvSpPr>
          <p:cNvPr id="10" name="Equivalent to `GroupTempl{args...}`."/>
          <p:cNvSpPr/>
          <p:nvPr/>
        </p:nvSpPr>
        <p:spPr>
          <a:xfrm>
            <a:off x="25808940" y="8732520"/>
            <a:ext cx="8938260" cy="2903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Equivalent to </a:t>
            </a:r>
            <a:r>
              <a:rPr lang="en-US" sz="4140" b="0">
                <a:solidFill>
                  <a:schemeClr val="dk1"/>
                </a:solidFill>
                <a:latin typeface="DejaVu Sans Mono"/>
              </a:rPr>
              <a:t xml:space="preserve">GroupTempl{args...}</a:t>
            </a: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.</a:t>
            </a:r>
          </a:p>
        </p:txBody>
      </p:sp>
      <p:sp>
        <p:nvSpPr>
          <p:cNvPr id="11" name="2"/>
          <p:cNvSpPr/>
          <p:nvPr/>
        </p:nvSpPr>
        <p:spPr>
          <a:xfrm>
            <a:off x="24688800" y="11818620"/>
            <a:ext cx="82296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1">
                <a:solidFill>
                  <a:schemeClr val="accent1">
                    <a:shade val="65000"/>
                  </a:schemeClr>
                </a:solidFill>
                <a:latin typeface="NVIDIA Sans Medium"/>
              </a:rPr>
              <a:t xml:space="preserve">2</a:t>
            </a:r>
          </a:p>
        </p:txBody>
      </p:sp>
      <p:sp>
        <p:nvSpPr>
          <p:cNvPr id="12" name="Does non-exhaustive mapping and optionally returns the initialize"/>
          <p:cNvSpPr/>
          <p:nvPr/>
        </p:nvSpPr>
        <p:spPr>
          <a:xfrm>
            <a:off x="25808940" y="11818620"/>
            <a:ext cx="8938260" cy="290322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140" b="0">
                <a:solidFill>
                  <a:schemeClr val="dk1"/>
                </a:solidFill>
                <a:latin typeface="NVIDIA Sans"/>
              </a:rPr>
              <a:t xml:space="preserve">Does non-exhaustive mapping and optionally returns the initialized group.</a:t>
            </a:r>
          </a:p>
        </p:txBody>
      </p:sp>
      <p:sp>
        <p:nvSpPr>
          <p:cNvPr id="13" name="Shape"/>
          <p:cNvSpPr/>
          <p:nvPr/>
        </p:nvSpPr>
        <p:spPr>
          <a:xfrm>
            <a:off x="1828800" y="16642080"/>
            <a:ext cx="32918400" cy="68580"/>
          </a:xfrm>
          <a:prstGeom prst="rect">
            <a:avLst/>
          </a:prstGeom>
          <a:solidFill>
            <a:schemeClr val="accent1"/>
          </a:solidFill>
          <a:ln w="29718">
            <a:noFill/>
          </a:ln>
        </p:spPr>
      </p:sp>
      <p:sp>
        <p:nvSpPr>
          <p:cNvPr id="14" name="As a consequence, a group object is never invalid."/>
          <p:cNvSpPr/>
          <p:nvPr/>
        </p:nvSpPr>
        <p:spPr>
          <a:xfrm>
            <a:off x="1874520" y="17487900"/>
            <a:ext cx="32346900" cy="11658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5400" b="1">
                <a:solidFill>
                  <a:schemeClr val="dk1"/>
                </a:solidFill>
                <a:latin typeface="NVIDIA Sans Medium"/>
              </a:rPr>
              <a:t xml:space="preserve">As a consequence, a group object is never invalid.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>
  <p:cSld name="Optional participation — What we have now — Scenario 1 works the same as befo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1 works the same as before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Scenario 1 works the same as before</a:t>
            </a:r>
          </a:p>
        </p:txBody>
      </p:sp>
      <p:sp>
        <p:nvSpPr>
          <p:cNvPr id="4" name="40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40</a:t>
            </a:r>
          </a:p>
        </p:txBody>
      </p:sp>
      <p:sp>
        <p:nvSpPr>
          <p:cNvPr id="5" name="Scenario 1 works the same as before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Scenario 1 works the same as before.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is forced to be always exhaustive, 32 / 3 has remainder, thus assertion triggers.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                       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never reached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>
  <p:cSld name="Optional participation — What we have now — Scenario 2 · Unchecked opti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2 · Unchecked optional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Scenario 2 · Unchecked optional</a:t>
            </a:r>
          </a:p>
        </p:txBody>
      </p:sp>
      <p:sp>
        <p:nvSpPr>
          <p:cNvPr id="4" name="41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41</a:t>
            </a:r>
          </a:p>
        </p:txBody>
      </p:sp>
      <p:sp>
        <p:nvSpPr>
          <p:cNvPr id="5" name="An empty optional is dereferenced before checking participation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An empty optional is dereferenced before checking participation.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can be non-exhaustive, 32 / 3 has remainder, 2 threads get empty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non_exhaustive tag can be removed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triggers assertion inside optional::operator*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>
  <p:cSld name="Optional participation — What we have now — Scenario 3 · Checked optio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ptional participation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Optional participation</a:t>
            </a:r>
          </a:p>
        </p:txBody>
      </p:sp>
      <p:sp>
        <p:nvSpPr>
          <p:cNvPr id="3" name="What we have now · Scenario 3 · Checked optional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What we have now · Scenario 3 · Checked optional</a:t>
            </a:r>
          </a:p>
        </p:txBody>
      </p:sp>
      <p:sp>
        <p:nvSpPr>
          <p:cNvPr id="4" name="42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42</a:t>
            </a:r>
          </a:p>
        </p:txBody>
      </p:sp>
      <p:sp>
        <p:nvSpPr>
          <p:cNvPr id="5" name="Check the optional before calling the cooperative algorithm."/>
          <p:cNvSpPr/>
          <p:nvPr/>
        </p:nvSpPr>
        <p:spPr>
          <a:xfrm>
            <a:off x="1874520" y="4846320"/>
            <a:ext cx="32346900" cy="105156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Check the optional before calling the cooperative algorithm.</a:t>
            </a:r>
          </a:p>
        </p:txBody>
      </p:sp>
      <p:sp>
        <p:nvSpPr>
          <p:cNvPr id="6" name="Shape"/>
          <p:cNvSpPr/>
          <p:nvPr/>
        </p:nvSpPr>
        <p:spPr>
          <a:xfrm>
            <a:off x="1828800" y="6492240"/>
            <a:ext cx="32918400" cy="1227582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7" name="Verbatim C++ snippet" descr="Verbatim fenced C++ snippet from slides.md"/>
          <p:cNvSpPr/>
          <p:nvPr/>
        </p:nvSpPr>
        <p:spPr>
          <a:xfrm>
            <a:off x="2331720" y="7018020"/>
            <a:ext cx="31912560" cy="1156716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We needn't to check for the group because it's always valid.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__global__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void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what_we_have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group_by can be non-exhaustive, 32 / 3 has remainder, 2 threads get empty g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=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&lt;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generic_group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&gt;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non_exhaustive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gpu_thread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this_warp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config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group_by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3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non_exhaustive tag can be removed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cudax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: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lane_synchronizer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6"/>
                </a:solidFill>
                <a:latin typeface="DejaVu Sans Mono"/>
              </a:rPr>
              <a:t xml:space="preserve">// ok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if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{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coop_algorithm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*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.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}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>
  <p:cSld name="Interoperability with CTK’s Cooperative Group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Consistent table shading"/>
          <p:cNvSpPr/>
          <p:nvPr/>
        </p:nvSpPr>
        <p:spPr>
          <a:xfrm>
            <a:off x="1828800" y="135102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5" name="Consistent table shading"/>
          <p:cNvSpPr/>
          <p:nvPr/>
        </p:nvSpPr>
        <p:spPr>
          <a:xfrm>
            <a:off x="1828800" y="114528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4" name="Consistent table shading"/>
          <p:cNvSpPr/>
          <p:nvPr/>
        </p:nvSpPr>
        <p:spPr>
          <a:xfrm>
            <a:off x="1828800" y="93954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3" name="Consistent table shading"/>
          <p:cNvSpPr/>
          <p:nvPr/>
        </p:nvSpPr>
        <p:spPr>
          <a:xfrm>
            <a:off x="1828800" y="7338060"/>
            <a:ext cx="32918400" cy="1028700"/>
          </a:xfrm>
          <a:prstGeom prst="rect">
            <a:avLst/>
          </a:prstGeom>
          <a:solidFill>
            <a:schemeClr val="lt2">
              <a:alpha val="45000"/>
            </a:schemeClr>
          </a:solidFill>
          <a:ln>
            <a:noFill/>
          </a:ln>
        </p:spPr>
      </p:sp>
      <p:sp>
        <p:nvSpPr>
          <p:cNvPr id="32" name="Consistent table shading"/>
          <p:cNvSpPr/>
          <p:nvPr/>
        </p:nvSpPr>
        <p:spPr>
          <a:xfrm>
            <a:off x="1828800" y="6240780"/>
            <a:ext cx="32918400" cy="10287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  <p:sp>
        <p:nvSpPr>
          <p:cNvPr id="2" name="Interoperability with CTK’s Cooperative Groups"/>
          <p:cNvSpPr/>
          <p:nvPr/>
        </p:nvSpPr>
        <p:spPr>
          <a:xfrm>
            <a:off x="1828800" y="1257300"/>
            <a:ext cx="32918400" cy="17145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8280" b="1">
                <a:solidFill>
                  <a:schemeClr val="dk1"/>
                </a:solidFill>
                <a:latin typeface="NVIDIA Sans Medium"/>
              </a:rPr>
              <a:t xml:space="preserve">Interoperability with CTK’s Cooperative Groups</a:t>
            </a:r>
          </a:p>
        </p:txBody>
      </p:sp>
      <p:sp>
        <p:nvSpPr>
          <p:cNvPr id="3" name="Equivalent groups through the factory API"/>
          <p:cNvSpPr/>
          <p:nvPr/>
        </p:nvSpPr>
        <p:spPr>
          <a:xfrm>
            <a:off x="1828800" y="3314700"/>
            <a:ext cx="32918400" cy="10287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accent6"/>
                </a:solidFill>
                <a:latin typeface="NVIDIA Sans"/>
              </a:rPr>
              <a:t xml:space="preserve">Equivalent groups through the factory API</a:t>
            </a:r>
          </a:p>
        </p:txBody>
      </p:sp>
      <p:sp>
        <p:nvSpPr>
          <p:cNvPr id="4" name="43"/>
          <p:cNvSpPr/>
          <p:nvPr/>
        </p:nvSpPr>
        <p:spPr>
          <a:xfrm>
            <a:off x="960120" y="19431000"/>
            <a:ext cx="1143000" cy="52578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160" b="0">
                <a:solidFill>
                  <a:schemeClr val="accent6"/>
                </a:solidFill>
                <a:latin typeface="NVIDIA Sans"/>
              </a:rPr>
              <a:t xml:space="preserve">43</a:t>
            </a:r>
          </a:p>
        </p:txBody>
      </p:sp>
      <p:sp>
        <p:nvSpPr>
          <p:cNvPr id="5" name="Every CTK's Cooperative Groups group has a CCCL equivalent."/>
          <p:cNvSpPr/>
          <p:nvPr/>
        </p:nvSpPr>
        <p:spPr>
          <a:xfrm>
            <a:off x="1874520" y="4892040"/>
            <a:ext cx="32346900" cy="10058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4680" b="0">
                <a:solidFill>
                  <a:schemeClr val="dk1"/>
                </a:solidFill>
                <a:latin typeface="NVIDIA Sans"/>
              </a:rPr>
              <a:t xml:space="preserve">Every CTK's Cooperative Groups group has a CCCL equivalent.</a:t>
            </a:r>
          </a:p>
        </p:txBody>
      </p:sp>
      <p:sp>
        <p:nvSpPr>
          <p:cNvPr id="6" name="CTK Cooperative Groups"/>
          <p:cNvSpPr/>
          <p:nvPr/>
        </p:nvSpPr>
        <p:spPr>
          <a:xfrm>
            <a:off x="2286000" y="6446520"/>
            <a:ext cx="144018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CTK Cooperative Groups</a:t>
            </a:r>
          </a:p>
        </p:txBody>
      </p:sp>
      <p:sp>
        <p:nvSpPr>
          <p:cNvPr id="7" name="CCCL Cooperative Groups"/>
          <p:cNvSpPr/>
          <p:nvPr/>
        </p:nvSpPr>
        <p:spPr>
          <a:xfrm>
            <a:off x="17716500" y="6446520"/>
            <a:ext cx="165735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240" b="1">
                <a:solidFill>
                  <a:schemeClr val="dk1"/>
                </a:solidFill>
                <a:latin typeface="NVIDIA Sans Medium"/>
              </a:rPr>
              <a:t xml:space="preserve">CCCL Cooperative Groups</a:t>
            </a:r>
          </a:p>
        </p:txBody>
      </p:sp>
      <p:sp>
        <p:nvSpPr>
          <p:cNvPr id="8" name="Shape"/>
          <p:cNvSpPr/>
          <p:nvPr/>
        </p:nvSpPr>
        <p:spPr>
          <a:xfrm>
            <a:off x="1828800" y="73380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9" name="thread_block" descr="Supplemental interoperability detail from repository make_group.cuh"/>
          <p:cNvSpPr/>
          <p:nvPr/>
        </p:nvSpPr>
        <p:spPr>
          <a:xfrm>
            <a:off x="2286000" y="75666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</a:t>
            </a:r>
          </a:p>
        </p:txBody>
      </p:sp>
      <p:sp>
        <p:nvSpPr>
          <p:cNvPr id="10" name="this_block" descr="Supplemental interoperability detail from repository make_group.cuh"/>
          <p:cNvSpPr/>
          <p:nvPr/>
        </p:nvSpPr>
        <p:spPr>
          <a:xfrm>
            <a:off x="17716500" y="75666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this_block</a:t>
            </a:r>
          </a:p>
        </p:txBody>
      </p:sp>
      <p:sp>
        <p:nvSpPr>
          <p:cNvPr id="11" name="Shape"/>
          <p:cNvSpPr/>
          <p:nvPr/>
        </p:nvSpPr>
        <p:spPr>
          <a:xfrm>
            <a:off x="1828800" y="83667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2" name="cluster_group" descr="Supplemental interoperability detail from repository make_group.cuh"/>
          <p:cNvSpPr/>
          <p:nvPr/>
        </p:nvSpPr>
        <p:spPr>
          <a:xfrm>
            <a:off x="2286000" y="85953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cluster_group</a:t>
            </a:r>
          </a:p>
        </p:txBody>
      </p:sp>
      <p:sp>
        <p:nvSpPr>
          <p:cNvPr id="13" name="this_cluster" descr="Supplemental interoperability detail from repository make_group.cuh"/>
          <p:cNvSpPr/>
          <p:nvPr/>
        </p:nvSpPr>
        <p:spPr>
          <a:xfrm>
            <a:off x="17716500" y="85953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this_cluster</a:t>
            </a:r>
          </a:p>
        </p:txBody>
      </p:sp>
      <p:sp>
        <p:nvSpPr>
          <p:cNvPr id="14" name="Shape"/>
          <p:cNvSpPr/>
          <p:nvPr/>
        </p:nvSpPr>
        <p:spPr>
          <a:xfrm>
            <a:off x="1828800" y="93954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5" name="grid_group" descr="Supplemental interoperability detail from repository make_group.cuh"/>
          <p:cNvSpPr/>
          <p:nvPr/>
        </p:nvSpPr>
        <p:spPr>
          <a:xfrm>
            <a:off x="2286000" y="96240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grid_group</a:t>
            </a:r>
          </a:p>
        </p:txBody>
      </p:sp>
      <p:sp>
        <p:nvSpPr>
          <p:cNvPr id="16" name="this_grid" descr="Supplemental interoperability detail from repository make_group.cuh"/>
          <p:cNvSpPr/>
          <p:nvPr/>
        </p:nvSpPr>
        <p:spPr>
          <a:xfrm>
            <a:off x="17716500" y="96240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this_grid</a:t>
            </a:r>
          </a:p>
        </p:txBody>
      </p:sp>
      <p:sp>
        <p:nvSpPr>
          <p:cNvPr id="17" name="Shape"/>
          <p:cNvSpPr/>
          <p:nvPr/>
        </p:nvSpPr>
        <p:spPr>
          <a:xfrm>
            <a:off x="1828800" y="104241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18" name="thread_block_tile&lt;1&gt; (standalone)" descr="Supplemental interoperability detail from repository make_group.cuh"/>
          <p:cNvSpPr/>
          <p:nvPr/>
        </p:nvSpPr>
        <p:spPr>
          <a:xfrm>
            <a:off x="2286000" y="106527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thread_block_tile&lt;1&gt; (standalone)</a:t>
            </a:r>
          </a:p>
        </p:txBody>
      </p:sp>
      <p:sp>
        <p:nvSpPr>
          <p:cNvPr id="19" name="this_thread" descr="Supplemental interoperability detail from repository make_group.cuh"/>
          <p:cNvSpPr/>
          <p:nvPr/>
        </p:nvSpPr>
        <p:spPr>
          <a:xfrm>
            <a:off x="17716500" y="106527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this_thread</a:t>
            </a:r>
          </a:p>
        </p:txBody>
      </p:sp>
      <p:sp>
        <p:nvSpPr>
          <p:cNvPr id="20" name="Shape"/>
          <p:cNvSpPr/>
          <p:nvPr/>
        </p:nvSpPr>
        <p:spPr>
          <a:xfrm>
            <a:off x="1828800" y="114528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1" name="thread_block_tile&lt;32&gt; (block parent)" descr="Supplemental interoperability detail from repository make_group.cuh"/>
          <p:cNvSpPr/>
          <p:nvPr/>
        </p:nvSpPr>
        <p:spPr>
          <a:xfrm>
            <a:off x="2286000" y="116814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thread_block_tile&lt;32&gt; (block parent)</a:t>
            </a:r>
          </a:p>
        </p:txBody>
      </p:sp>
      <p:sp>
        <p:nvSpPr>
          <p:cNvPr id="22" name="this_warp" descr="Supplemental interoperability detail from repository make_group.cuh"/>
          <p:cNvSpPr/>
          <p:nvPr/>
        </p:nvSpPr>
        <p:spPr>
          <a:xfrm>
            <a:off x="17716500" y="116814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this_warp</a:t>
            </a:r>
          </a:p>
        </p:txBody>
      </p:sp>
      <p:sp>
        <p:nvSpPr>
          <p:cNvPr id="23" name="Shape"/>
          <p:cNvSpPr/>
          <p:nvPr/>
        </p:nvSpPr>
        <p:spPr>
          <a:xfrm>
            <a:off x="1828800" y="124815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4" name="thread_block_tile&lt;Size&gt;, Size &lt; 32" descr="Supplemental interoperability detail from repository make_group.cuh"/>
          <p:cNvSpPr/>
          <p:nvPr/>
        </p:nvSpPr>
        <p:spPr>
          <a:xfrm>
            <a:off x="2286000" y="127101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thread_block_tile&lt;Size&gt;, Size &lt; 32</a:t>
            </a:r>
          </a:p>
        </p:txBody>
      </p:sp>
      <p:sp>
        <p:nvSpPr>
          <p:cNvPr id="25" name="generic_group + group_by&lt;Size&gt; + lane_synchronizer" descr="Supplemental interoperability detail from repository make_group.cuh"/>
          <p:cNvSpPr/>
          <p:nvPr/>
        </p:nvSpPr>
        <p:spPr>
          <a:xfrm>
            <a:off x="17716500" y="127101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generic_group + group_by&lt;Size&gt; + lane_synchronizer</a:t>
            </a:r>
          </a:p>
        </p:txBody>
      </p:sp>
      <p:sp>
        <p:nvSpPr>
          <p:cNvPr id="26" name="Shape"/>
          <p:cNvSpPr/>
          <p:nvPr/>
        </p:nvSpPr>
        <p:spPr>
          <a:xfrm>
            <a:off x="1828800" y="13510260"/>
            <a:ext cx="32918400" cy="22860"/>
          </a:xfrm>
          <a:prstGeom prst="rect">
            <a:avLst/>
          </a:prstGeom>
          <a:solidFill>
            <a:schemeClr val="dk1">
              <a:tint val="15000"/>
            </a:schemeClr>
          </a:solidFill>
          <a:ln w="29718">
            <a:noFill/>
          </a:ln>
        </p:spPr>
      </p:sp>
      <p:sp>
        <p:nvSpPr>
          <p:cNvPr id="27" name="coalesced_group" descr="Supplemental interoperability detail from repository make_group.cuh"/>
          <p:cNvSpPr/>
          <p:nvPr/>
        </p:nvSpPr>
        <p:spPr>
          <a:xfrm>
            <a:off x="2286000" y="13738860"/>
            <a:ext cx="146304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</a:t>
            </a:r>
          </a:p>
        </p:txBody>
      </p:sp>
      <p:sp>
        <p:nvSpPr>
          <p:cNvPr id="28" name="coalesced_group (untiled)" descr="Supplemental interoperability detail from repository make_group.cuh"/>
          <p:cNvSpPr/>
          <p:nvPr/>
        </p:nvSpPr>
        <p:spPr>
          <a:xfrm>
            <a:off x="17716500" y="13738860"/>
            <a:ext cx="16573500" cy="77724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2880" b="0">
                <a:solidFill>
                  <a:schemeClr val="dk1"/>
                </a:solidFill>
                <a:latin typeface="DejaVu Sans Mono"/>
              </a:rPr>
              <a:t xml:space="preserve">coalesced_group (untiled)</a:t>
            </a:r>
          </a:p>
        </p:txBody>
      </p:sp>
      <p:sp>
        <p:nvSpPr>
          <p:cNvPr id="29" name="We can just extend the `make_group` factory function:"/>
          <p:cNvSpPr/>
          <p:nvPr/>
        </p:nvSpPr>
        <p:spPr>
          <a:xfrm>
            <a:off x="1874520" y="16207740"/>
            <a:ext cx="32346900" cy="8001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We can just extend the </a:t>
            </a:r>
            <a:r>
              <a:rPr lang="en-US" sz="396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960" b="0">
                <a:solidFill>
                  <a:schemeClr val="dk1"/>
                </a:solidFill>
                <a:latin typeface="NVIDIA Sans"/>
              </a:rPr>
              <a:t xml:space="preserve"> factory function:</a:t>
            </a:r>
          </a:p>
        </p:txBody>
      </p:sp>
      <p:sp>
        <p:nvSpPr>
          <p:cNvPr id="30" name="Shape"/>
          <p:cNvSpPr/>
          <p:nvPr/>
        </p:nvSpPr>
        <p:spPr>
          <a:xfrm>
            <a:off x="1828800" y="17259300"/>
            <a:ext cx="32918400" cy="1737360"/>
          </a:xfrm>
          <a:prstGeom prst="rect">
            <a:avLst/>
          </a:prstGeom>
          <a:solidFill>
            <a:schemeClr val="lt2"/>
          </a:solidFill>
          <a:ln w="29718">
            <a:noFill/>
          </a:ln>
        </p:spPr>
      </p:sp>
      <p:sp>
        <p:nvSpPr>
          <p:cNvPr id="31" name="Verbatim C++ snippet" descr="Verbatim fenced C++ snippet from slides.md"/>
          <p:cNvSpPr/>
          <p:nvPr/>
        </p:nvSpPr>
        <p:spPr>
          <a:xfrm>
            <a:off x="2331720" y="17373600"/>
            <a:ext cx="31912560" cy="1600200"/>
          </a:xfrm>
          <a:prstGeom prst="rect">
            <a:avLst/>
          </a:prstGeom>
          <a:noFill/>
          <a:ln w="29718">
            <a:noFill/>
          </a:ln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[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nodiscard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]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__device__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make_group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(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cg_group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,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const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accent1">
                    <a:shade val="65000"/>
                  </a:schemeClr>
                </a:solidFill>
                <a:latin typeface="DejaVu Sans Mono"/>
              </a:rPr>
              <a:t xml:space="preserve">auto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&amp;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hierarchy_like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)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 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noexcept</a:t>
            </a:r>
            <a:r>
              <a:rPr lang="en-US" sz="3600" b="0">
                <a:solidFill>
                  <a:schemeClr val="dk1"/>
                </a:solidFill>
                <a:latin typeface="DejaVu Sans Mono"/>
              </a:rPr>
              <a:t xml:space="preserve">;</a:t>
            </a:r>
            <a:endParaRPr lang="en-US" sz="3600" b="0">
              <a:solidFill>
                <a:schemeClr val="dk1"/>
              </a:solidFill>
              <a:latin typeface="DejaVu Sans Mono"/>
            </a:endParaRPr>
          </a:p>
          <a:p>
            <a:pPr algn="l">
              <a:lnSpc>
                <a:spcPts val="3960"/>
              </a:lnSpc>
              <a:spcBef>
                <a:spcPts val="0"/>
              </a:spcBef>
              <a:spcAft>
                <a:spcPts val="0"/>
              </a:spcAft>
              <a:buNone/>
              <a:defRPr lang="en-US" sz="3600" b="0">
                <a:solidFill>
                  <a:schemeClr val="dk1"/>
                </a:solidFill>
                <a:latin typeface="DejaVu Sans Mono"/>
              </a:defRPr>
            </a:pPr>
            <a:endParaRPr lang="en-US" sz="3600" b="0">
              <a:solidFill>
                <a:schemeClr val="dk1"/>
              </a:solidFill>
              <a:latin typeface="DejaVu Sans Mono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>
  <p:cSld name="Thank you for your atten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 you&#10;for your attention"/>
          <p:cNvSpPr/>
          <p:nvPr/>
        </p:nvSpPr>
        <p:spPr>
          <a:xfrm>
            <a:off x="18059400" y="2537460"/>
            <a:ext cx="16687800" cy="5257800"/>
          </a:xfrm>
          <a:prstGeom prst="rect">
            <a:avLst/>
          </a:prstGeom>
          <a:noFill/>
          <a:ln w="29718"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Thank you</a:t>
            </a:r>
          </a:p>
          <a:p>
            <a:pPr algn="l">
              <a:lnSpc>
                <a:spcPct val="105000"/>
              </a:lnSpc>
              <a:buNone/>
            </a:pPr>
            <a:r>
              <a:rPr lang="en-US" sz="9720" b="1">
                <a:solidFill>
                  <a:schemeClr val="dk1"/>
                </a:solidFill>
                <a:latin typeface="NVIDIA Sans Medium"/>
              </a:rPr>
              <a:t xml:space="preserve">for your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VIDIA26_Corp Template_LIGHT_v2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4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NVIDIA_PPT_Light_External_v2.potx" id="{89D8623C-2635-485F-9CA6-5E5546024BA4}" vid="{EC5B26FE-8EF1-484B-8617-0D0B03B15F25}"/>
    </a:ext>
  </a:extLst>
</a:theme>
</file>

<file path=ppt/theme/theme2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26_v2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757575"/>
      </a:accent6>
      <a:hlink>
        <a:srgbClr val="757575"/>
      </a:hlink>
      <a:folHlink>
        <a:srgbClr val="757575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45EAE5F8329F47B840B6DEBAC2F43F" ma:contentTypeVersion="16" ma:contentTypeDescription="Create a new document." ma:contentTypeScope="" ma:versionID="d0eb01b3a3b2e78648b34a47f5027867">
  <xsd:schema xmlns:xsd="http://www.w3.org/2001/XMLSchema" xmlns:xs="http://www.w3.org/2001/XMLSchema" xmlns:p="http://schemas.microsoft.com/office/2006/metadata/properties" xmlns:ns1="http://schemas.microsoft.com/sharepoint/v3" xmlns:ns2="2a5b1eea-32a8-4673-8d38-de3226caeee3" xmlns:ns3="f65afe6d-7162-4df4-ae98-80745cab72d4" targetNamespace="http://schemas.microsoft.com/office/2006/metadata/properties" ma:root="true" ma:fieldsID="6c0263366e19895bf8b6afa923e0fde5" ns1:_="" ns2:_="" ns3:_="">
    <xsd:import namespace="http://schemas.microsoft.com/sharepoint/v3"/>
    <xsd:import namespace="2a5b1eea-32a8-4673-8d38-de3226caeee3"/>
    <xsd:import namespace="f65afe6d-7162-4df4-ae98-80745cab72d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5b1eea-32a8-4673-8d38-de3226caee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04b2a00-2846-4002-b30b-85ebaf4c01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afe6d-7162-4df4-ae98-80745cab72d4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a9d4e2c1-4547-4ca0-9568-b573cd0c84c4}" ma:internalName="TaxCatchAll" ma:showField="CatchAllData" ma:web="f65afe6d-7162-4df4-ae98-80745cab72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65afe6d-7162-4df4-ae98-80745cab72d4" xsi:nil="true"/>
    <PublishingExpirationDate xmlns="http://schemas.microsoft.com/sharepoint/v3" xsi:nil="true"/>
    <PublishingStartDate xmlns="http://schemas.microsoft.com/sharepoint/v3" xsi:nil="true"/>
    <lcf76f155ced4ddcb4097134ff3c332f xmlns="2a5b1eea-32a8-4673-8d38-de3226caeee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823F8982-1087-4E80-8BE6-2AA18FE0DD8A}"/>
</file>

<file path=customXml/itemProps2.xml><?xml version="1.0" encoding="utf-8"?>
<ds:datastoreItem xmlns:ds="http://schemas.openxmlformats.org/officeDocument/2006/customXml" ds:itemID="{236BE7EB-3103-4BD6-89FC-147281D24011}"/>
</file>

<file path=customXml/itemProps3.xml><?xml version="1.0" encoding="utf-8"?>
<ds:datastoreItem xmlns:ds="http://schemas.openxmlformats.org/officeDocument/2006/customXml" ds:itemID="{24018C0D-B231-48D3-BF16-B7FF90AABA23}"/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ns0:Properties xmlns:ns0="http://schemas.openxmlformats.org/officeDocument/2006/extended-properties">
  <ns0:Template/>
  <ns0:TotalTime>62</ns0:TotalTime>
  <ns0:Words>1883</ns0:Words>
  <ns0:Application>Microsoft Office PowerPoint</ns0:Application>
  <ns0:PresentationFormat>Custom</ns0:PresentationFormat>
  <ns0:Paragraphs>441</ns0:Paragraphs>
  <ns0:Slides>44</ns0:Slides>
  <ns0:Notes>6</ns0:Notes>
  <ns0:HiddenSlides>0</ns0:HiddenSlides>
  <ns0:MMClips>0</ns0:MMClips>
  <ns0:ScaleCrop>false</ns0:ScaleCrop>
  <ns0:Manager/>
  <ns0:Company/>
  <ns0:LinksUpToDate>false</ns0:LinksUpToDate>
  <ns0:SharedDoc>false</ns0:SharedDoc>
  <ns0:HyperlinkBase/>
  <ns0:HyperlinksChanged>false</ns0:HyperlinksChanged>
  <ns0:AppVersion>16.0000</ns0:AppVersion>
</ns0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CCCL Cooperative</dc:title>
  <dc:subject>Cooperative Groups and Cooperative Algorithms roadmap</dc:subject>
  <dc:creator>Ashley Piersons</dc:creator>
  <ns0:keywords/>
  <dc:description/>
  <ns0:lastModifiedBy>Ashley Piersons</ns0:lastModifiedBy>
  <ns0:revision>2</ns0:revision>
  <ns2:created xsi:type="dcterms:W3CDTF">2026-06-05T16:33:41Z</ns2:created>
  <ns2:modified xsi:type="dcterms:W3CDTF">2026-06-05T17:36:22Z</ns2:modified>
  <ns0:category/>
  <ns0:contentStatus/>
</ns0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0x010100A145EAE5F8329F47B840B6DEBAC2F43F</vt:lpwstr>
  </property>
</Properties>
</file>