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1"/>
  </p:sldMasterIdLst>
  <p:notesMasterIdLst>
    <p:notesMasterId r:id="rId60"/>
  </p:notesMasterIdLst>
  <p:handoutMasterIdLst>
    <p:handoutMasterId r:id="rId61"/>
  </p:handoutMasterIdLst>
  <p:sldIdLst>
    <p:sldId id="256" r:id="rId24"/>
    <p:sldId id="257" r:id="rId25"/>
    <p:sldId id="258" r:id="rId26"/>
    <p:sldId id="259" r:id="rId27"/>
    <p:sldId id="260" r:id="rId28"/>
    <p:sldId id="261" r:id="rId29"/>
    <p:sldId id="262" r:id="rId30"/>
    <p:sldId id="263" r:id="rId31"/>
    <p:sldId id="264" r:id="rId32"/>
    <p:sldId id="265" r:id="rId33"/>
    <p:sldId id="266" r:id="rId34"/>
    <p:sldId id="267" r:id="rId35"/>
    <p:sldId id="268" r:id="rId36"/>
    <p:sldId id="269" r:id="rId37"/>
    <p:sldId id="270" r:id="rId38"/>
    <p:sldId id="271" r:id="rId39"/>
    <p:sldId id="272" r:id="rId40"/>
    <p:sldId id="273" r:id="rId41"/>
    <p:sldId id="274" r:id="rId42"/>
    <p:sldId id="275" r:id="rId43"/>
    <p:sldId id="276" r:id="rId44"/>
    <p:sldId id="277" r:id="rId45"/>
    <p:sldId id="278" r:id="rId46"/>
    <p:sldId id="279" r:id="rId47"/>
    <p:sldId id="280" r:id="rId48"/>
    <p:sldId id="281" r:id="rId49"/>
    <p:sldId id="282" r:id="rId50"/>
    <p:sldId id="283" r:id="rId51"/>
    <p:sldId id="284" r:id="rId52"/>
    <p:sldId id="285" r:id="rId53"/>
    <p:sldId id="286" r:id="rId54"/>
    <p:sldId id="287" r:id="rId55"/>
    <p:sldId id="288" r:id="rId56"/>
    <p:sldId id="289" r:id="rId57"/>
    <p:sldId id="290" r:id="rId58"/>
    <p:sldId id="291" r:id="rId59"/>
    <p:sldId id="292" r:id="rId23"/>
    <p:sldId id="293" r:id="rId22"/>
    <p:sldId id="294" r:id="rId21"/>
    <p:sldId id="295" r:id="rId20"/>
  </p:sldIdLst>
  <p:sldSz cx="36576000" cy="20574000"/>
  <p:notesSz cx="6858000" cy="9144000"/>
  <p:embeddedFontLst>
    <p:embeddedFont>
      <p:font typeface="NVIDIA Sans" panose="020B0503020203020204" pitchFamily="34" charset="0"/>
      <p:regular r:id="rId62"/>
      <p:bold r:id="rId63"/>
      <p:italic r:id="rId64"/>
      <p:boldItalic r:id="rId65"/>
    </p:embeddedFont>
    <p:embeddedFont>
      <p:font typeface="NVIDIA Sans Medium" panose="020B0603020203020204" pitchFamily="34" charset="0"/>
      <p:regular r:id="rId66"/>
      <p:italic r:id="rId67"/>
    </p:embeddedFont>
    <p:embeddedFont>
      <p:font typeface="Roboto Mono" panose="00000009000000000000" pitchFamily="49" charset="0"/>
      <p:regular r:id="rId68"/>
      <p:bold r:id="rId69"/>
      <p:italic r:id="rId70"/>
      <p:boldItalic r:id="rId71"/>
    </p:embeddedFont>
    <p:embeddedFont>
      <p:font typeface="Roboto Mono Medium" panose="00000009000000000000" pitchFamily="49" charset="0"/>
      <p:regular r:id="rId72"/>
      <p:italic r:id="rId7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ont Verification / Writing Guide" id="{C06EF5EA-7F53-4771-854A-5DC833C71ECB}">
          <p14:sldIdLst>
            <p14:sldId id="317"/>
            <p14:sldId id="269"/>
          </p14:sldIdLst>
        </p14:section>
        <p14:section name="Section Dividers" id="{18A47A05-AF35-4309-A401-C5BCBAC389FA}">
          <p14:sldIdLst>
            <p14:sldId id="258"/>
            <p14:sldId id="299"/>
            <p14:sldId id="260"/>
            <p14:sldId id="261"/>
            <p14:sldId id="262"/>
            <p14:sldId id="277"/>
          </p14:sldIdLst>
        </p14:section>
        <p14:section name="Text Layouts" id="{C09D9F83-9A71-4CDB-998F-0FF3EA5A690D}">
          <p14:sldIdLst>
            <p14:sldId id="320"/>
            <p14:sldId id="268"/>
            <p14:sldId id="272"/>
            <p14:sldId id="337"/>
            <p14:sldId id="265"/>
            <p14:sldId id="267"/>
            <p14:sldId id="266"/>
            <p14:sldId id="278"/>
          </p14:sldIdLst>
        </p14:section>
        <p14:section name="Stacks / Charts / Tables / Stats" id="{5C53A25F-666D-46F5-B4CC-B0C43E7E8C77}">
          <p14:sldIdLst>
            <p14:sldId id="319"/>
            <p14:sldId id="279"/>
            <p14:sldId id="302"/>
            <p14:sldId id="303"/>
            <p14:sldId id="304"/>
            <p14:sldId id="305"/>
            <p14:sldId id="306"/>
            <p14:sldId id="307"/>
            <p14:sldId id="308"/>
            <p14:sldId id="316"/>
            <p14:sldId id="309"/>
            <p14:sldId id="310"/>
            <p14:sldId id="311"/>
            <p14:sldId id="300"/>
          </p14:sldIdLst>
        </p14:section>
        <p14:section name="Image Layouts" id="{D01D069D-F49B-4210-A358-71288B5C84C0}">
          <p14:sldIdLst>
            <p14:sldId id="280"/>
            <p14:sldId id="281"/>
            <p14:sldId id="282"/>
            <p14:sldId id="318"/>
            <p14:sldId id="283"/>
            <p14:sldId id="284"/>
            <p14:sldId id="285"/>
            <p14:sldId id="286"/>
            <p14:sldId id="287"/>
            <p14:sldId id="288"/>
            <p14:sldId id="289"/>
            <p14:sldId id="298"/>
            <p14:sldId id="290"/>
            <p14:sldId id="291"/>
            <p14:sldId id="292"/>
            <p14:sldId id="293"/>
            <p14:sldId id="294"/>
            <p14:sldId id="295"/>
            <p14:sldId id="296"/>
          </p14:sldIdLst>
        </p14:section>
        <p14:section name="Demos" id="{CBA3C869-0733-4B1F-867D-25617B66C2B3}">
          <p14:sldIdLst>
            <p14:sldId id="314"/>
            <p14:sldId id="339"/>
            <p14:sldId id="315"/>
          </p14:sldIdLst>
        </p14:section>
        <p14:section name="Timelines / Maps" id="{A876EF02-F329-4AF6-B68D-3EEC251F32ED}">
          <p14:sldIdLst>
            <p14:sldId id="273"/>
            <p14:sldId id="274"/>
            <p14:sldId id="275"/>
            <p14:sldId id="312"/>
            <p14:sldId id="313"/>
          </p14:sldIdLst>
        </p14:section>
        <p14:section name="Close" id="{A1B6F5CD-3046-4283-A85E-22A0D237C19B}">
          <p14:sldIdLst>
            <p14:sldId id="259"/>
          </p14:sldIdLst>
        </p14:section>
      </p14:sectionLst>
    </p:ext>
    <p:ext uri="{EFAFB233-063F-42B5-8137-9DF3F51BA10A}">
      <p15:sldGuideLst xmlns:p15="http://schemas.microsoft.com/office/powerpoint/2012/main">
        <p15:guide id="1" userDrawn="1">
          <p15:clr>
            <a:srgbClr val="E89EFF"/>
          </p15:clr>
        </p15:guide>
        <p15:guide id="2" pos="23040" userDrawn="1">
          <p15:clr>
            <a:srgbClr val="E89EFF"/>
          </p15:clr>
        </p15:guide>
        <p15:guide id="3" pos="576" userDrawn="1">
          <p15:clr>
            <a:srgbClr val="E89EFF"/>
          </p15:clr>
        </p15:guide>
        <p15:guide id="4" pos="22464" userDrawn="1">
          <p15:clr>
            <a:srgbClr val="E89EFF"/>
          </p15:clr>
        </p15:guide>
        <p15:guide id="5" orient="horz" userDrawn="1">
          <p15:clr>
            <a:srgbClr val="E89EFF"/>
          </p15:clr>
        </p15:guide>
        <p15:guide id="6" orient="horz" pos="12960" userDrawn="1">
          <p15:clr>
            <a:srgbClr val="E89EFF"/>
          </p15:clr>
        </p15:guide>
        <p15:guide id="7" orient="horz" pos="576" userDrawn="1">
          <p15:clr>
            <a:srgbClr val="E89EFF"/>
          </p15:clr>
        </p15:guide>
        <p15:guide id="8" orient="horz" pos="12384" userDrawn="1">
          <p15:clr>
            <a:srgbClr val="E89EFF"/>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2" autoAdjust="0"/>
    <p:restoredTop sz="92647" autoAdjust="0"/>
  </p:normalViewPr>
  <p:slideViewPr>
    <p:cSldViewPr snapToGrid="0" showGuides="1">
      <p:cViewPr varScale="1">
        <p:scale>
          <a:sx n="34" d="100"/>
          <a:sy n="34" d="100"/>
        </p:scale>
        <p:origin x="102" y="942"/>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0" Type="http://schemas.openxmlformats.org/officeDocument/2006/relationships/slide" Target="slides/slide40.xml"/><Relationship Id="rId21" Type="http://schemas.openxmlformats.org/officeDocument/2006/relationships/slide" Target="slides/slide39.xml"/><Relationship Id="rId22" Type="http://schemas.openxmlformats.org/officeDocument/2006/relationships/slide" Target="slides/slide38.xml"/><Relationship Id="rId23" Type="http://schemas.openxmlformats.org/officeDocument/2006/relationships/slide" Target="slides/slide37.xml"/><Relationship Id="rId24" Type="http://schemas.openxmlformats.org/officeDocument/2006/relationships/slide" Target="slides/slide1.xml"/><Relationship Id="rId25" Type="http://schemas.openxmlformats.org/officeDocument/2006/relationships/slide" Target="slides/slide2.xml"/><Relationship Id="rId26" Type="http://schemas.openxmlformats.org/officeDocument/2006/relationships/slide" Target="slides/slide3.xml"/><Relationship Id="rId27" Type="http://schemas.openxmlformats.org/officeDocument/2006/relationships/slide" Target="slides/slide4.xml"/><Relationship Id="rId28" Type="http://schemas.openxmlformats.org/officeDocument/2006/relationships/slide" Target="slides/slide5.xml"/><Relationship Id="rId29" Type="http://schemas.openxmlformats.org/officeDocument/2006/relationships/slide" Target="slides/slide6.xml"/><Relationship Id="rId30" Type="http://schemas.openxmlformats.org/officeDocument/2006/relationships/slide" Target="slides/slide7.xml"/><Relationship Id="rId31" Type="http://schemas.openxmlformats.org/officeDocument/2006/relationships/slide" Target="slides/slide8.xml"/><Relationship Id="rId32" Type="http://schemas.openxmlformats.org/officeDocument/2006/relationships/slide" Target="slides/slide9.xml"/><Relationship Id="rId33" Type="http://schemas.openxmlformats.org/officeDocument/2006/relationships/slide" Target="slides/slide10.xml"/><Relationship Id="rId34" Type="http://schemas.openxmlformats.org/officeDocument/2006/relationships/slide" Target="slides/slide11.xml"/><Relationship Id="rId35" Type="http://schemas.openxmlformats.org/officeDocument/2006/relationships/slide" Target="slides/slide12.xml"/><Relationship Id="rId36" Type="http://schemas.openxmlformats.org/officeDocument/2006/relationships/slide" Target="slides/slide13.xml"/><Relationship Id="rId37" Type="http://schemas.openxmlformats.org/officeDocument/2006/relationships/slide" Target="slides/slide14.xml"/><Relationship Id="rId38" Type="http://schemas.openxmlformats.org/officeDocument/2006/relationships/slide" Target="slides/slide15.xml"/><Relationship Id="rId39" Type="http://schemas.openxmlformats.org/officeDocument/2006/relationships/slide" Target="slides/slide16.xml"/><Relationship Id="rId40" Type="http://schemas.openxmlformats.org/officeDocument/2006/relationships/slide" Target="slides/slide17.xml"/><Relationship Id="rId41" Type="http://schemas.openxmlformats.org/officeDocument/2006/relationships/slide" Target="slides/slide18.xml"/><Relationship Id="rId42" Type="http://schemas.openxmlformats.org/officeDocument/2006/relationships/slide" Target="slides/slide19.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22.xml"/><Relationship Id="rId46" Type="http://schemas.openxmlformats.org/officeDocument/2006/relationships/slide" Target="slides/slide23.xml"/><Relationship Id="rId47" Type="http://schemas.openxmlformats.org/officeDocument/2006/relationships/slide" Target="slides/slide24.xml"/><Relationship Id="rId48" Type="http://schemas.openxmlformats.org/officeDocument/2006/relationships/slide" Target="slides/slide25.xml"/><Relationship Id="rId49" Type="http://schemas.openxmlformats.org/officeDocument/2006/relationships/slide" Target="slides/slide26.xml"/><Relationship Id="rId50" Type="http://schemas.openxmlformats.org/officeDocument/2006/relationships/slide" Target="slides/slide27.xml"/><Relationship Id="rId51" Type="http://schemas.openxmlformats.org/officeDocument/2006/relationships/slide" Target="slides/slide28.xml"/><Relationship Id="rId52" Type="http://schemas.openxmlformats.org/officeDocument/2006/relationships/slide" Target="slides/slide29.xml"/><Relationship Id="rId53" Type="http://schemas.openxmlformats.org/officeDocument/2006/relationships/slide" Target="slides/slide30.xml"/><Relationship Id="rId54" Type="http://schemas.openxmlformats.org/officeDocument/2006/relationships/slide" Target="slides/slide31.xml"/><Relationship Id="rId55" Type="http://schemas.openxmlformats.org/officeDocument/2006/relationships/slide" Target="slides/slide32.xml"/><Relationship Id="rId56" Type="http://schemas.openxmlformats.org/officeDocument/2006/relationships/slide" Target="slides/slide33.xml"/><Relationship Id="rId57" Type="http://schemas.openxmlformats.org/officeDocument/2006/relationships/slide" Target="slides/slide34.xml"/><Relationship Id="rId58" Type="http://schemas.openxmlformats.org/officeDocument/2006/relationships/slide" Target="slides/slide35.xml"/><Relationship Id="rId59" Type="http://schemas.openxmlformats.org/officeDocument/2006/relationships/slide" Target="slides/slide36.xml"/><Relationship Id="rId60" Type="http://schemas.openxmlformats.org/officeDocument/2006/relationships/notesMaster" Target="notesMasters/notesMaster1.xml"/><Relationship Id="rId61" Type="http://schemas.openxmlformats.org/officeDocument/2006/relationships/handoutMaster" Target="handoutMasters/handoutMaster1.xml"/><Relationship Id="rId62" Type="http://schemas.openxmlformats.org/officeDocument/2006/relationships/font" Target="fonts/font1.fntdata"/><Relationship Id="rId63" Type="http://schemas.openxmlformats.org/officeDocument/2006/relationships/font" Target="fonts/font2.fntdata"/><Relationship Id="rId64" Type="http://schemas.openxmlformats.org/officeDocument/2006/relationships/font" Target="fonts/font3.fntdata"/><Relationship Id="rId65" Type="http://schemas.openxmlformats.org/officeDocument/2006/relationships/font" Target="fonts/font4.fntdata"/><Relationship Id="rId66" Type="http://schemas.openxmlformats.org/officeDocument/2006/relationships/font" Target="fonts/font5.fntdata"/><Relationship Id="rId67" Type="http://schemas.openxmlformats.org/officeDocument/2006/relationships/font" Target="fonts/font6.fntdata"/><Relationship Id="rId68" Type="http://schemas.openxmlformats.org/officeDocument/2006/relationships/font" Target="fonts/font7.fntdata"/><Relationship Id="rId69" Type="http://schemas.openxmlformats.org/officeDocument/2006/relationships/font" Target="fonts/font8.fntdata"/><Relationship Id="rId70" Type="http://schemas.openxmlformats.org/officeDocument/2006/relationships/font" Target="fonts/font9.fntdata"/><Relationship Id="rId71" Type="http://schemas.openxmlformats.org/officeDocument/2006/relationships/font" Target="fonts/font10.fntdata"/><Relationship Id="rId72" Type="http://schemas.openxmlformats.org/officeDocument/2006/relationships/font" Target="fonts/font11.fntdata"/><Relationship Id="rId73" Type="http://schemas.openxmlformats.org/officeDocument/2006/relationships/font" Target="fonts/font12.fntdata"/><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 Id="rId78" Type="http://schemas.microsoft.com/office/2018/10/relationships/authors" Target="authors.xml"/><Relationship Id="rId79" Type="http://schemas.openxmlformats.org/officeDocument/2006/relationships/customXml" Target="../customXml/item1.xml"/><Relationship Id="rId80" Type="http://schemas.openxmlformats.org/officeDocument/2006/relationships/customXml" Target="../customXml/item2.xml"/><Relationship Id="rId81"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CCCL Cooperative: device-side APIs for organizing collaborating threads and, eventually, collective algorithms. This deck focuses on what the checked-in documentation describes. Intended audience: CUDA C++ developers familiar with blocks, warps and synchronization.</a:t>
            </a:r>
          </a:p>
          <a:p/>
          <a:p>
            <a:r>
              <a:t>Sources in this repository:</a:t>
            </a:r>
          </a:p>
          <a:p>
            <a:r>
              <a:t>docs/cudax/coop/index.rst</a:t>
            </a:r>
          </a:p>
          <a:p>
            <a:r>
              <a:t>https://github.com/NVIDIA/cccl/blob/51d94f7cc117fcfe01c1b94e2f4d5e38040263b0/docs/cudax/coop/index.rst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docs present a successor design to CTK Cooperative Groups and CUB collectives. The algorithms documentation is a placeholder under development; this deck does not claim complete algorithm coverage or production stability.</a:t>
            </a:r>
          </a:p>
          <a:p/>
          <a:p>
            <a:r>
              <a:t>Sources in this repository:</a:t>
            </a:r>
          </a:p>
          <a:p>
            <a:r>
              <a:t>docs/cudax/coop/index.rst</a:t>
            </a:r>
          </a:p>
          <a:p>
            <a:r>
              <a:t>https://github.com/NVIDIA/cccl/blob/51d94f7cc117fcfe01c1b94e2f4d5e38040263b0/docs/cudax/coop/index.rst</a:t>
            </a:r>
          </a:p>
          <a:p>
            <a:r>
              <a:t>docs/cudax/coop/algorithm/index.rst</a:t>
            </a:r>
          </a:p>
          <a:p>
            <a:r>
              <a:t>https://github.com/NVIDIA/cccl/blob/51d94f7cc117fcfe01c1b94e2f4d5e38040263b0/docs/cudax/coop/algorithm/index.rst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Carry more useful structure into device-side algorithms.</a:t>
            </a:r>
          </a:p>
          <a:p/>
          <a:p>
            <a:r>
              <a:t>Sources in this repository:</a:t>
            </a:r>
          </a:p>
          <a:p>
            <a:r>
              <a:t>docs/cudax/coop/index.rst</a:t>
            </a:r>
          </a:p>
          <a:p>
            <a:r>
              <a:t>https://github.com/NVIDIA/cccl/blob/51d94f7cc117fcfe01c1b94e2f4d5e38040263b0/docs/cudax/coop/index.rst</a:t>
            </a:r>
          </a:p>
          <a:p>
            <a:r>
              <a:t>docs/cudax/coop/group/index.rst</a:t>
            </a:r>
          </a:p>
          <a:p>
            <a:r>
              <a:t>https://github.com/NVIDIA/cccl/blob/51d94f7cc117fcfe01c1b94e2f4d5e38040263b0/docs/cudax/coop/group/index.rst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Adapted from group-definitions.svg. CCCL adds an explicit unit to the boundary-oriented group model. A group of warp units can expose both warp and thread queries. Dots below schematically represent threads; each box represents one warp.</a:t>
            </a:r>
          </a:p>
          <a:p/>
          <a:p>
            <a:r>
              <a:t>Sources in this repository:</a:t>
            </a:r>
          </a:p>
          <a:p>
            <a:r>
              <a:t>docs/cudax/coop/group/index.rst</a:t>
            </a:r>
          </a:p>
          <a:p>
            <a:r>
              <a:t>https://github.com/NVIDIA/cccl/blob/51d94f7cc117fcfe01c1b94e2f4d5e38040263b0/docs/cudax/coop/group/index.rst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docs compare a general 3D rank linearization with a known 1D launch. Static information can reduce arithmetic and register pressure, but the effect depends on code generation; no speedup is asserted.</a:t>
            </a:r>
          </a:p>
          <a:p/>
          <a:p>
            <a:r>
              <a:t>Sources in this repository:</a:t>
            </a:r>
          </a:p>
          <a:p>
            <a:r>
              <a:t>docs/cudax/coop/group/index.rst</a:t>
            </a:r>
          </a:p>
          <a:p>
            <a:r>
              <a:t>https://github.com/NVIDIA/cccl/blob/51d94f7cc117fcfe01c1b94e2f4d5e38040263b0/docs/cudax/coop/group/index.rst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static_count returns cuda::std::dynamic_extent when the count is not statically known. The excerpt assumes the function is instantiated with a group of statically known thread count. A group_view can help use static queries in constant expressions when an original function argument is a reference.</a:t>
            </a:r>
          </a:p>
          <a:p/>
          <a:p>
            <a:r>
              <a:t>Sources in this repository:</a:t>
            </a:r>
          </a:p>
          <a:p>
            <a:r>
              <a:t>docs/cudax/coop/group/index.rst</a:t>
            </a:r>
          </a:p>
          <a:p>
            <a:r>
              <a:t>https://github.com/NVIDIA/cccl/blob/51d94f7cc117fcfe01c1b94e2f4d5e38040263b0/docs/cudax/coop/group/index.rst</a:t>
            </a:r>
          </a:p>
          <a:p>
            <a:r>
              <a:t>docs/cudax/coop/group/group_view.rst</a:t>
            </a:r>
          </a:p>
          <a:p>
            <a:r>
              <a:t>https://github.com/NVIDIA/cccl/blob/51d94f7cc117fcfe01c1b94e2f4d5e38040263b0/docs/cudax/coop/group/group_view.rst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Adapted from group-design.svg. The design separates mappings from synchronizers, similarly to mdspan separating layout mappings from accessors.</a:t>
            </a:r>
          </a:p>
          <a:p/>
          <a:p>
            <a:r>
              <a:t>Sources in this repository:</a:t>
            </a:r>
          </a:p>
          <a:p>
            <a:r>
              <a:t>docs/cudax/coop/group/index.rst</a:t>
            </a:r>
          </a:p>
          <a:p>
            <a:r>
              <a:t>https://github.com/NVIDIA/cccl/blob/51d94f7cc117fcfe01c1b94e2f4d5e38040263b0/docs/cudax/coop/group/index.rst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Types describe structure; operations express coordination.</a:t>
            </a:r>
          </a:p>
          <a:p/>
          <a:p>
            <a:r>
              <a:t>Sources in this repository:</a:t>
            </a:r>
          </a:p>
          <a:p>
            <a:r>
              <a:t>docs/cudax/coop/group/index.rst</a:t>
            </a:r>
          </a:p>
          <a:p>
            <a:r>
              <a:t>https://github.com/NVIDIA/cccl/blob/51d94f7cc117fcfe01c1b94e2f4d5e38040263b0/docs/cudax/coop/group/index.rst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Adapted from group-queries.svg. With a group of three full warp units, warp ranks are 0..2 and thread ranks are 0..95. Sub-unit queries can query levels at or below the unit type.</a:t>
            </a:r>
          </a:p>
          <a:p/>
          <a:p>
            <a:r>
              <a:t>Sources in this repository:</a:t>
            </a:r>
          </a:p>
          <a:p>
            <a:r>
              <a:t>docs/cudax/coop/group/index.rst</a:t>
            </a:r>
          </a:p>
          <a:p>
            <a:r>
              <a:t>https://github.com/NVIDIA/cccl/blob/51d94f7cc117fcfe01c1b94e2f4d5e38040263b0/docs/cudax/coop/group/index.rst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query from left to right: unit → information → group.</a:t>
            </a:r>
          </a:p>
          <a:p/>
          <a:p>
            <a:r>
              <a:t>Sources in this repository:</a:t>
            </a:r>
          </a:p>
          <a:p>
            <a:r>
              <a:t>docs/cudax/coop/group/index.rst</a:t>
            </a:r>
          </a:p>
          <a:p>
            <a:r>
              <a:t>https://github.com/NVIDIA/cccl/blob/51d94f7cc117fcfe01c1b94e2f4d5e38040263b0/docs/cudax/coop/group/index.rst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Reverse the receiver when asking about the group itself.</a:t>
            </a:r>
          </a:p>
          <a:p/>
          <a:p>
            <a:r>
              <a:t>Sources in this repository:</a:t>
            </a:r>
          </a:p>
          <a:p>
            <a:r>
              <a:t>docs/cudax/coop/group/index.rst</a:t>
            </a:r>
          </a:p>
          <a:p>
            <a:r>
              <a:t>https://github.com/NVIDIA/cccl/blob/51d94f7cc117fcfe01c1b94e2f4d5e38040263b0/docs/cudax/coop/group/index.rst</a:t>
            </a:r>
          </a:p>
          <a:p>
            <a:r>
              <a:t>docs/cudax/coop/group/this_group.rst</a:t>
            </a:r>
          </a:p>
          <a:p>
            <a:r>
              <a:t>https://github.com/NVIDIA/cccl/blob/51d94f7cc117fcfe01c1b94e2f4d5e38040263b0/docs/cudax/coop/group/this_group.rst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this_thread, this_warp, this_block, this_cluster and this_grid contain one unit whose type equals their boundary level. They are contiguous and use level_synchronizer. The thread count of this_block is still the number of threads in the block because queries may target sub-units.</a:t>
            </a:r>
          </a:p>
          <a:p/>
          <a:p>
            <a:r>
              <a:t>Sources in this repository:</a:t>
            </a:r>
          </a:p>
          <a:p>
            <a:r>
              <a:t>docs/cudax/coop/group/this_group.rst</a:t>
            </a:r>
          </a:p>
          <a:p>
            <a:r>
              <a:t>https://github.com/NVIDIA/cccl/blob/51d94f7cc117fcfe01c1b94e2f4d5e38040263b0/docs/cudax/coop/group/this_group.rst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feature macro must be defined before any CCCL header. This excerpt omits device, stream and hierarchy includes for slide readability. Grid synchronization additionally requires cuda::cooperative_launch{} and a device supporting cooperative launch.</a:t>
            </a:r>
          </a:p>
          <a:p/>
          <a:p>
            <a:r>
              <a:t>Sources in this repository:</a:t>
            </a:r>
          </a:p>
          <a:p>
            <a:r>
              <a:t>docs/cudax/coop/group/this_group.rst</a:t>
            </a:r>
          </a:p>
          <a:p>
            <a:r>
              <a:t>https://github.com/NVIDIA/cccl/blob/51d94f7cc117fcfe01c1b94e2f4d5e38040263b0/docs/cudax/coop/group/this_group.rst</a:t>
            </a:r>
          </a:p>
          <a:p>
            <a:r>
              <a:t>docs/cudax/coop/index.rst</a:t>
            </a:r>
          </a:p>
          <a:p>
            <a:r>
              <a:t>https://github.com/NVIDIA/cccl/blob/51d94f7cc117fcfe01c1b94e2f4d5e38040263b0/docs/cudax/coop/index.rst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coalesced_group obtains membership from __activemask() when constructed. Membership can be non-contiguous. It is a snapshot of active lanes, not an expression of an arbitrary future predicate set. The group uses lane_synchronizer.</a:t>
            </a:r>
          </a:p>
          <a:p/>
          <a:p>
            <a:r>
              <a:t>Sources in this repository:</a:t>
            </a:r>
          </a:p>
          <a:p>
            <a:r>
              <a:t>docs/cudax/coop/group/coalesced_group.rst</a:t>
            </a:r>
          </a:p>
          <a:p>
            <a:r>
              <a:t>https://github.com/NVIDIA/cccl/blob/51d94f7cc117fcfe01c1b94e2f4d5e38040263b0/docs/cudax/coop/group/coalesced_group.rst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Ownership and synchronization independence drive the choice.</a:t>
            </a:r>
          </a:p>
          <a:p/>
          <a:p>
            <a:r>
              <a:t>Sources in this repository:</a:t>
            </a:r>
          </a:p>
          <a:p>
            <a:r>
              <a:t>docs/cudax/coop/group/index.rst</a:t>
            </a:r>
          </a:p>
          <a:p>
            <a:r>
              <a:t>https://github.com/NVIDIA/cccl/blob/51d94f7cc117fcfe01c1b94e2f4d5e38040263b0/docs/cudax/coop/group/index.rst</a:t>
            </a:r>
          </a:p>
          <a:p>
            <a:r>
              <a:t>docs/cudax/coop/group/generic_group.rst</a:t>
            </a:r>
          </a:p>
          <a:p>
            <a:r>
              <a:t>https://github.com/NVIDIA/cccl/blob/51d94f7cc117fcfe01c1b94e2f4d5e38040263b0/docs/cudax/coop/group/generic_group.rst</a:t>
            </a:r>
          </a:p>
          <a:p>
            <a:r>
              <a:t>docs/cudax/coop/group/virtual_group.rst</a:t>
            </a:r>
          </a:p>
          <a:p>
            <a:r>
              <a:t>https://github.com/NVIDIA/cccl/blob/51d94f7cc117fcfe01c1b94e2f4d5e38040263b0/docs/cudax/coop/group/virtual_group.rst</a:t>
            </a:r>
          </a:p>
          <a:p>
            <a:r>
              <a:t>docs/cudax/coop/group/group_view.rst</a:t>
            </a:r>
          </a:p>
          <a:p>
            <a:r>
              <a:t>https://github.com/NVIDIA/cccl/blob/51d94f7cc117fcfe01c1b94e2f4d5e38040263b0/docs/cudax/coop/group/group_view.rst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mapping assigns units to groups without choosing synchronization.</a:t>
            </a:r>
          </a:p>
          <a:p/>
          <a:p>
            <a:r>
              <a:t>Sources in this repository:</a:t>
            </a:r>
          </a:p>
          <a:p>
            <a:r>
              <a:t>docs/cudax/coop/group/mapping/index.rst</a:t>
            </a:r>
          </a:p>
          <a:p>
            <a:r>
              <a:t>https://github.com/NVIDIA/cccl/blob/51d94f7cc117fcfe01c1b94e2f4d5e38040263b0/docs/cudax/coop/group/mapping/index.rst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Queries, properties and lane masks travel together.</a:t>
            </a:r>
          </a:p>
          <a:p/>
          <a:p>
            <a:r>
              <a:t>Sources in this repository:</a:t>
            </a:r>
          </a:p>
          <a:p>
            <a:r>
              <a:t>docs/cudax/coop/group/mapping/index.rst</a:t>
            </a:r>
          </a:p>
          <a:p>
            <a:r>
              <a:t>https://github.com/NVIDIA/cccl/blob/51d94f7cc117fcfe01c1b94e2f4d5e38040263b0/docs/cudax/coop/group/mapping/index.rst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no-op mapping when generic code needs a mapping object.</a:t>
            </a:r>
          </a:p>
          <a:p/>
          <a:p>
            <a:r>
              <a:t>Sources in this repository:</a:t>
            </a:r>
          </a:p>
          <a:p>
            <a:r>
              <a:t>docs/cudax/coop/group/mapping/identity_mapping.rst</a:t>
            </a:r>
          </a:p>
          <a:p>
            <a:r>
              <a:t>https://github.com/NVIDIA/cccl/blob/51d94f7cc117fcfe01c1b94e2f4d5e38040263b0/docs/cudax/coop/group/mapping/identity_mapping.rst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 every incoming group into equally sized chunks.</a:t>
            </a:r>
          </a:p>
          <a:p/>
          <a:p>
            <a:r>
              <a:t>Sources in this repository:</a:t>
            </a:r>
          </a:p>
          <a:p>
            <a:r>
              <a:t>docs/cudax/coop/group/mapping/group_by.rst</a:t>
            </a:r>
          </a:p>
          <a:p>
            <a:r>
              <a:t>https://github.com/NVIDIA/cccl/blob/51d94f7cc117fcfe01c1b94e2f4d5e38040263b0/docs/cudax/coop/group/mapping/group_by.rst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documented exhaustive group_by precondition requires divisibility. Non-exhaustive mapping drops ranks that cannot form a full group. It does not implicitly create an incomplete tail group. Use current mapping syntax for non-exhaustive group_by and a membership query before group operations.</a:t>
            </a:r>
          </a:p>
          <a:p/>
          <a:p>
            <a:r>
              <a:t>Sources in this repository:</a:t>
            </a:r>
          </a:p>
          <a:p>
            <a:r>
              <a:t>docs/cudax/coop/group/mapping/group_by.rst</a:t>
            </a:r>
          </a:p>
          <a:p>
            <a:r>
              <a:t>https://github.com/NVIDIA/cccl/blob/51d94f7cc117fcfe01c1b94e2f4d5e38040263b0/docs/cudax/coop/group/mapping/group_by.rst</a:t>
            </a:r>
          </a:p>
          <a:p>
            <a:r>
              <a:t>docs/cudax/coop/group/index.rst</a:t>
            </a:r>
          </a:p>
          <a:p>
            <a:r>
              <a:t>https://github.com/NVIDIA/cccl/blob/51d94f7cc117fcfe01c1b94e2f4d5e38040263b0/docs/cudax/coop/group/index.rst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standalone group_as reference is unfinished in the documentation snapshot. This slide follows its concrete use in the generic_group and virtual_group examples: a range of unit counts assigns consecutive units to groups of those sizes.</a:t>
            </a:r>
          </a:p>
          <a:p/>
          <a:p>
            <a:r>
              <a:t>Sources in this repository:</a:t>
            </a:r>
          </a:p>
          <a:p>
            <a:r>
              <a:t>docs/cudax/coop/group/generic_group.rst</a:t>
            </a:r>
          </a:p>
          <a:p>
            <a:r>
              <a:t>https://github.com/NVIDIA/cccl/blob/51d94f7cc117fcfe01c1b94e2f4d5e38040263b0/docs/cudax/coop/group/generic_group.rst</a:t>
            </a:r>
          </a:p>
          <a:p>
            <a:r>
              <a:t>docs/cudax/coop/group/virtual_group.rst</a:t>
            </a:r>
          </a:p>
          <a:p>
            <a:r>
              <a:t>https://github.com/NVIDIA/cccl/blob/51d94f7cc117fcfe01c1b94e2f4d5e38040263b0/docs/cudax/coop/group/virtual_group.rst</a:t>
            </a:r>
          </a:p>
          <a:p>
            <a:r>
              <a:t>docs/cudax/coop/group/mapping/group_as.rst</a:t>
            </a:r>
          </a:p>
          <a:p>
            <a:r>
              <a:t>https://github.com/NVIDIA/cccl/blob/51d94f7cc117fcfe01c1b94e2f4d5e38040263b0/docs/cudax/coop/group/mapping/group_as.rst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first N units and preserve the group count.</a:t>
            </a:r>
          </a:p>
          <a:p/>
          <a:p>
            <a:r>
              <a:t>Sources in this repository:</a:t>
            </a:r>
          </a:p>
          <a:p>
            <a:r>
              <a:t>docs/cudax/coop/group/mapping/take.rst</a:t>
            </a:r>
          </a:p>
          <a:p>
            <a:r>
              <a:t>https://github.com/NVIDIA/cccl/blob/51d94f7cc117fcfe01c1b94e2f4d5e38040263b0/docs/cudax/coop/group/mapping/take.rst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warp-local mapping can form sparse groups.</a:t>
            </a:r>
          </a:p>
          <a:p/>
          <a:p>
            <a:r>
              <a:t>Sources in this repository:</a:t>
            </a:r>
          </a:p>
          <a:p>
            <a:r>
              <a:t>docs/cudax/coop/group/mapping/binary_partition.rst</a:t>
            </a:r>
          </a:p>
          <a:p>
            <a:r>
              <a:t>https://github.com/NVIDIA/cccl/blob/51d94f7cc117fcfe01c1b94e2f4d5e38040263b0/docs/cudax/coop/group/mapping/binary_partition.rst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Transform the previous result from left to right.</a:t>
            </a:r>
          </a:p>
          <a:p/>
          <a:p>
            <a:r>
              <a:t>Sources in this repository:</a:t>
            </a:r>
          </a:p>
          <a:p>
            <a:r>
              <a:t>docs/cudax/coop/group/mapping/composite_mapping.rst</a:t>
            </a:r>
          </a:p>
          <a:p>
            <a:r>
              <a:t>https://github.com/NVIDIA/cccl/blob/51d94f7cc117fcfe01c1b94e2f4d5e38040263b0/docs/cudax/coop/group/mapping/composite_mapping.rst</a:t>
            </a:r>
          </a:p>
          <a:p>
            <a:r>
              <a:t>docs/cudax/coop/group/mapping/index.rst</a:t>
            </a:r>
          </a:p>
          <a:p>
            <a:r>
              <a:t>https://github.com/NVIDIA/cccl/blob/51d94f7cc117fcfe01c1b94e2f4d5e38040263b0/docs/cudax/coop/group/mapping/index.rst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static guarantee must describe the physical final group.</a:t>
            </a:r>
          </a:p>
          <a:p/>
          <a:p>
            <a:r>
              <a:t>Sources in this repository:</a:t>
            </a:r>
          </a:p>
          <a:p>
            <a:r>
              <a:t>docs/cudax/coop/group/mapping/index.rst</a:t>
            </a:r>
          </a:p>
          <a:p>
            <a:r>
              <a:t>https://github.com/NVIDIA/cccl/blob/51d94f7cc117fcfe01c1b94e2f4d5e38040263b0/docs/cudax/coop/group/mapping/index.rst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membership can be paired with a suitable mechanism.</a:t>
            </a:r>
          </a:p>
          <a:p/>
          <a:p>
            <a:r>
              <a:t>Sources in this repository:</a:t>
            </a:r>
          </a:p>
          <a:p>
            <a:r>
              <a:t>docs/cudax/coop/group/synchronizer/index.rst</a:t>
            </a:r>
          </a:p>
          <a:p>
            <a:r>
              <a:t>https://github.com/NVIDIA/cccl/blob/51d94f7cc117fcfe01c1b94e2f4d5e38040263b0/docs/cudax/coop/group/synchronizer/index.rst</a:t>
            </a:r>
          </a:p>
          <a:p>
            <a:r>
              <a:t>docs/cudax/coop/group/index.rst</a:t>
            </a:r>
          </a:p>
          <a:p>
            <a:r>
              <a:t>https://github.com/NVIDIA/cccl/blob/51d94f7cc117fcfe01c1b94e2f4d5e38040263b0/docs/cudax/coop/group/index.rst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 boundary and resource scope constrain the choice.</a:t>
            </a:r>
          </a:p>
          <a:p/>
          <a:p>
            <a:r>
              <a:t>Sources in this repository:</a:t>
            </a:r>
          </a:p>
          <a:p>
            <a:r>
              <a:t>docs/cudax/coop/group/synchronizer/index.rst</a:t>
            </a:r>
          </a:p>
          <a:p>
            <a:r>
              <a:t>https://github.com/NVIDIA/cccl/blob/51d94f7cc117fcfe01c1b94e2f4d5e38040263b0/docs/cudax/coop/group/synchronizer/index.rst</a:t>
            </a:r>
          </a:p>
          <a:p>
            <a:r>
              <a:t>docs/cudax/coop/group/synchronizer/level_synchronizer.rst</a:t>
            </a:r>
          </a:p>
          <a:p>
            <a:r>
              <a:t>https://github.com/NVIDIA/cccl/blob/51d94f7cc117fcfe01c1b94e2f4d5e38040263b0/docs/cudax/coop/group/synchronizer/level_synchronizer.rst</a:t>
            </a:r>
          </a:p>
          <a:p>
            <a:r>
              <a:t>docs/cudax/coop/group/synchronizer/lane_synchronizer.rst</a:t>
            </a:r>
          </a:p>
          <a:p>
            <a:r>
              <a:t>https://github.com/NVIDIA/cccl/blob/51d94f7cc117fcfe01c1b94e2f4d5e38040263b0/docs/cudax/coop/group/synchronizer/lane_synchronizer.rst</a:t>
            </a:r>
          </a:p>
          <a:p>
            <a:r>
              <a:t>docs/cudax/coop/group/synchronizer/interwarp_synchronizer.rst</a:t>
            </a:r>
          </a:p>
          <a:p>
            <a:r>
              <a:t>https://github.com/NVIDIA/cccl/blob/51d94f7cc117fcfe01c1b94e2f4d5e38040263b0/docs/cudax/coop/group/synchronizer/interwarp_synchronizer.rst</a:t>
            </a:r>
          </a:p>
          <a:p>
            <a:r>
              <a:t>docs/cudax/coop/group/synchronizer/barrier_synchronizer.rst</a:t>
            </a:r>
          </a:p>
          <a:p>
            <a:r>
              <a:t>https://github.com/NVIDIA/cccl/blob/51d94f7cc117fcfe01c1b94e2f4d5e38040263b0/docs/cudax/coop/group/synchronizer/barrier_synchronizer.rst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Whole-level synchronization underlies this_{level} groups.</a:t>
            </a:r>
          </a:p>
          <a:p/>
          <a:p>
            <a:r>
              <a:t>Sources in this repository:</a:t>
            </a:r>
          </a:p>
          <a:p>
            <a:r>
              <a:t>docs/cudax/coop/group/synchronizer/level_synchronizer.rst</a:t>
            </a:r>
          </a:p>
          <a:p>
            <a:r>
              <a:t>https://github.com/NVIDIA/cccl/blob/51d94f7cc117fcfe01c1b94e2f4d5e38040263b0/docs/cudax/coop/group/synchronizer/level_synchronizer.rst</a:t>
            </a:r>
          </a:p>
          <a:p>
            <a:r>
              <a:t>docs/cudax/coop/group/this_group.rst</a:t>
            </a:r>
          </a:p>
          <a:p>
            <a:r>
              <a:t>https://github.com/NVIDIA/cccl/blob/51d94f7cc117fcfe01c1b94e2f4d5e38040263b0/docs/cudax/coop/group/this_group.rst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Synchronize selected threads within a single warp.</a:t>
            </a:r>
          </a:p>
          <a:p/>
          <a:p>
            <a:r>
              <a:t>Sources in this repository:</a:t>
            </a:r>
          </a:p>
          <a:p>
            <a:r>
              <a:t>docs/cudax/coop/group/synchronizer/lane_synchronizer.rst</a:t>
            </a:r>
          </a:p>
          <a:p>
            <a:r>
              <a:t>https://github.com/NVIDIA/cccl/blob/51d94f7cc117fcfe01c1b94e2f4d5e38040263b0/docs/cudax/coop/group/synchronizer/lane_synchronizer.rst</a:t>
            </a:r>
          </a:p>
          <a:p>
            <a:r>
              <a:t>docs/cudax/coop/group/coalesced_group.rst</a:t>
            </a:r>
          </a:p>
          <a:p>
            <a:r>
              <a:t>https://github.com/NVIDIA/cccl/blob/51d94f7cc117fcfe01c1b94e2f4d5e38040263b0/docs/cudax/coop/group/coalesced_group.rst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synchronizer allocates from the 16 built-in barrier IDs. IDs must be distinct and below 16. The docs recommend avoiding ID 0 because it is used by __syncthreads(). The finite hardware pool means the provided range must supply enough valid IDs for the groups being created.</a:t>
            </a:r>
          </a:p>
          <a:p/>
          <a:p>
            <a:r>
              <a:t>Sources in this repository:</a:t>
            </a:r>
          </a:p>
          <a:p>
            <a:r>
              <a:t>docs/cudax/coop/group/synchronizer/interwarp_synchronizer.rst</a:t>
            </a:r>
          </a:p>
          <a:p>
            <a:r>
              <a:t>https://github.com/NVIDIA/cccl/blob/51d94f7cc117fcfe01c1b94e2f4d5e38040263b0/docs/cudax/coop/group/synchronizer/interwarp_synchronizer.rst</a:t>
            </a:r>
          </a:p>
          <a:p>
            <a:r>
              <a:t>docs/cudax/coop/group/generic_group.rst</a:t>
            </a:r>
          </a:p>
          <a:p>
            <a:r>
              <a:t>https://github.com/NVIDIA/cccl/blob/51d94f7cc117fcfe01c1b94e2f4d5e38040263b0/docs/cudax/coop/group/generic_group.rst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 storage with scope sufficient for the group.</a:t>
            </a:r>
          </a:p>
          <a:p/>
          <a:p>
            <a:r>
              <a:t>Sources in this repository:</a:t>
            </a:r>
          </a:p>
          <a:p>
            <a:r>
              <a:t>docs/cudax/coop/group/synchronizer/barrier_synchronizer.rst</a:t>
            </a:r>
          </a:p>
          <a:p>
            <a:r>
              <a:t>https://github.com/NVIDIA/cccl/blob/51d94f7cc117fcfe01c1b94e2f4d5e38040263b0/docs/cudax/coop/group/synchronizer/barrier_synchronizer.rst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participating units execute the same synchronization statement.</a:t>
            </a:r>
          </a:p>
          <a:p/>
          <a:p>
            <a:r>
              <a:t>Sources in this repository:</a:t>
            </a:r>
          </a:p>
          <a:p>
            <a:r>
              <a:t>docs/cudax/coop/group/index.rst</a:t>
            </a:r>
          </a:p>
          <a:p>
            <a:r>
              <a:t>https://github.com/NVIDIA/cccl/blob/51d94f7cc117fcfe01c1b94e2f4d5e38040263b0/docs/cudax/coop/group/index.rst</a:t>
            </a:r>
          </a:p>
          <a:p>
            <a:r>
              <a:t>docs/cudax/coop/group/synchronizer/index.rst</a:t>
            </a:r>
          </a:p>
          <a:p>
            <a:r>
              <a:t>https://github.com/NVIDIA/cccl/blob/51d94f7cc117fcfe01c1b94e2f4d5e38040263b0/docs/cudax/coop/group/synchronizer/index.rst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construction combines unit, parent, mapping and synchronizer.</a:t>
            </a:r>
          </a:p>
          <a:p/>
          <a:p>
            <a:r>
              <a:t>Sources in this repository:</a:t>
            </a:r>
          </a:p>
          <a:p>
            <a:r>
              <a:t>docs/cudax/coop/group/generic_group.rst</a:t>
            </a:r>
          </a:p>
          <a:p>
            <a:r>
              <a:t>https://github.com/NVIDIA/cccl/blob/51d94f7cc117fcfe01c1b94e2f4d5e38040263b0/docs/cudax/coop/group/generic_group.rst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timeline follows the generic_group documentation example. Group A performs no explicit sync; B performs two sync calls; C performs sync and sync_aligned. Constructors are uniform in the parent. Resource initialization/deinitialization may also involve synchronization, so independence does not remove lifetime obligations.</a:t>
            </a:r>
          </a:p>
          <a:p/>
          <a:p>
            <a:r>
              <a:t>Sources in this repository:</a:t>
            </a:r>
          </a:p>
          <a:p>
            <a:r>
              <a:t>docs/cudax/coop/group/generic_group.rst</a:t>
            </a:r>
          </a:p>
          <a:p>
            <a:r>
              <a:t>https://github.com/NVIDIA/cccl/blob/51d94f7cc117fcfe01c1b94e2f4d5e38040263b0/docs/cudax/coop/group/generic_group.rst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Partition the work while sharing coordination resources.</a:t>
            </a:r>
          </a:p>
          <a:p/>
          <a:p>
            <a:r>
              <a:t>Sources in this repository:</a:t>
            </a:r>
          </a:p>
          <a:p>
            <a:r>
              <a:t>docs/cudax/coop/group/virtual_group.rst</a:t>
            </a:r>
          </a:p>
          <a:p>
            <a:r>
              <a:t>https://github.com/NVIDIA/cccl/blob/51d94f7cc117fcfe01c1b94e2f4d5e38040263b0/docs/cudax/coop/group/virtual_group.rst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virtual_group example allows different subgroup branches, but the number of synchronization points must match. Because synchronization uses the parent, all participants required by the parent synchronization must reach matching operations. This is a shared barrier obligation, not independent progress.</a:t>
            </a:r>
          </a:p>
          <a:p/>
          <a:p>
            <a:r>
              <a:t>Sources in this repository:</a:t>
            </a:r>
          </a:p>
          <a:p>
            <a:r>
              <a:t>docs/cudax/coop/group/virtual_group.rst</a:t>
            </a:r>
          </a:p>
          <a:p>
            <a:r>
              <a:t>https://github.com/NVIDIA/cccl/blob/51d94f7cc117fcfe01c1b94e2f4d5e38040263b0/docs/cudax/coop/group/virtual_group.rst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a view by value or query the same group using finer units.</a:t>
            </a:r>
          </a:p>
          <a:p/>
          <a:p>
            <a:r>
              <a:t>Sources in this repository:</a:t>
            </a:r>
          </a:p>
          <a:p>
            <a:r>
              <a:t>docs/cudax/coop/group/group_view.rst</a:t>
            </a:r>
          </a:p>
          <a:p>
            <a:r>
              <a:t>https://github.com/NVIDIA/cccl/blob/51d94f7cc117fcfe01c1b94e2f4d5e38040263b0/docs/cudax/coop/group/group_view.rst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high-level docs discuss an optional-returning make_group factory, but the current implementation uses mapping-level non-exhaustive tags and gpu_thread.is_part_of(group). This slide uses the implementation-compatible API rather than the stale optional factory description. Only participants may query rank or call synchronization. Group construction remains uniform for parent participants.</a:t>
            </a:r>
          </a:p>
          <a:p/>
          <a:p>
            <a:r>
              <a:t>Sources in this repository:</a:t>
            </a:r>
          </a:p>
          <a:p>
            <a:r>
              <a:t>docs/cudax/coop/group/mapping/group_by.rst</a:t>
            </a:r>
          </a:p>
          <a:p>
            <a:r>
              <a:t>https://github.com/NVIDIA/cccl/blob/51d94f7cc117fcfe01c1b94e2f4d5e38040263b0/docs/cudax/coop/group/mapping/group_by.rst</a:t>
            </a:r>
          </a:p>
          <a:p>
            <a:r>
              <a:t>docs/cudax/coop/group/synchronizer/index.rst</a:t>
            </a:r>
          </a:p>
          <a:p>
            <a:r>
              <a:t>https://github.com/NVIDIA/cccl/blob/51d94f7cc117fcfe01c1b94e2f4d5e38040263b0/docs/cudax/coop/group/synchronizer/index.rst</a:t>
            </a:r>
          </a:p>
          <a:p>
            <a:r>
              <a:t>docs/cudax/coop/group/index.rst</a:t>
            </a:r>
          </a:p>
          <a:p>
            <a:r>
              <a:t>https://github.com/NVIDIA/cccl/blob/51d94f7cc117fcfe01c1b94e2f4d5e38040263b0/docs/cudax/coop/group/index.rst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synchronization contract, then compose membership.</a:t>
            </a:r>
          </a:p>
          <a:p/>
          <a:p>
            <a:r>
              <a:t>Sources in this repository:</a:t>
            </a:r>
          </a:p>
          <a:p>
            <a:r>
              <a:t>docs/cudax/coop/group/index.rst</a:t>
            </a:r>
          </a:p>
          <a:p>
            <a:r>
              <a:t>https://github.com/NVIDIA/cccl/blob/51d94f7cc117fcfe01c1b94e2f4d5e38040263b0/docs/cudax/coop/group/index.rst</a:t>
            </a:r>
          </a:p>
          <a:p>
            <a:r>
              <a:t>docs/cudax/coop/group/generic_group.rst</a:t>
            </a:r>
          </a:p>
          <a:p>
            <a:r>
              <a:t>https://github.com/NVIDIA/cccl/blob/51d94f7cc117fcfe01c1b94e2f4d5e38040263b0/docs/cudax/coop/group/generic_group.rst</a:t>
            </a:r>
          </a:p>
          <a:p>
            <a:r>
              <a:t>docs/cudax/coop/group/virtual_group.rst</a:t>
            </a:r>
          </a:p>
          <a:p>
            <a:r>
              <a:t>https://github.com/NVIDIA/cccl/blob/51d94f7cc117fcfe01c1b94e2f4d5e38040263b0/docs/cudax/coop/group/virtual_group.rst</a:t>
            </a:r>
          </a:p>
          <a:p>
            <a:r>
              <a:t>docs/cudax/coop/group/group_view.rst</a:t>
            </a:r>
          </a:p>
          <a:p>
            <a:r>
              <a:t>https://github.com/NVIDIA/cccl/blob/51d94f7cc117fcfe01c1b94e2f4d5e38040263b0/docs/cudax/coop/group/group_view.rst</a:t>
            </a:r>
          </a:p>
          <a:p>
            <a:r>
              <a:t>docs/cudax/coop/group/coalesced_group.rst</a:t>
            </a:r>
          </a:p>
          <a:p>
            <a:r>
              <a:t>https://github.com/NVIDIA/cccl/blob/51d94f7cc117fcfe01c1b94e2f4d5e38040263b0/docs/cudax/coop/group/coalesced_group.rst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make hierarchy and unit structure explicit, preserve static information, choose mappings and synchronization independently, and respect participation, alignment and lifetime obligations. The checked-in algorithms reference is still under development. Useful follow-up reading is the group overview, mapping reference and synchronizer reference. Source paths and commit-pinned URLs are embedded throughout this deck.</a:t>
            </a:r>
          </a:p>
          <a:p/>
          <a:p>
            <a:r>
              <a:t>Sources in this repository:</a:t>
            </a:r>
          </a:p>
          <a:p>
            <a:r>
              <a:t>docs/cudax/coop/index.rst</a:t>
            </a:r>
          </a:p>
          <a:p>
            <a:r>
              <a:t>https://github.com/NVIDIA/cccl/blob/51d94f7cc117fcfe01c1b94e2f4d5e38040263b0/docs/cudax/coop/index.rst</a:t>
            </a:r>
          </a:p>
          <a:p>
            <a:r>
              <a:t>docs/cudax/coop/group/index.rst</a:t>
            </a:r>
          </a:p>
          <a:p>
            <a:r>
              <a:t>https://github.com/NVIDIA/cccl/blob/51d94f7cc117fcfe01c1b94e2f4d5e38040263b0/docs/cudax/coop/group/index.rst</a:t>
            </a:r>
          </a:p>
          <a:p>
            <a:r>
              <a:t>docs/cudax/coop/algorithm/index.rst</a:t>
            </a:r>
          </a:p>
          <a:p>
            <a:r>
              <a:t>https://github.com/NVIDIA/cccl/blob/51d94f7cc117fcfe01c1b94e2f4d5e38040263b0/docs/cudax/coop/algorithm/index.rst</a:t>
            </a:r>
          </a:p>
          <a:p/>
          <a:p>
            <a:r>
              <a:t>Repository snapshot: 51d94f7cc117fcfe01c1b94e2f4d5e38040263b0</a:t>
            </a:r>
          </a:p>
          <a:p>
            <a:r>
              <a:t>Code shown on slides is a focused excerpt; supporting includes and launch setup may be omitted. Experimental API subject to change.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en-US"/>
              <a:t>Click icon to add picture</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index.rst"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index.rst"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index.rst"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index.rst"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index.rst"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index.rst"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index.rst"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index.rst"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index.rst" TargetMode="Externa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index.rst"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this_group.rst"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this_group.rst" TargetMode="Externa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coalesced_group.rst"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index.rst" TargetMode="Externa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mapping/index.rst"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mapping/index.rst" TargetMode="Externa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mapping/identity_mapping.rst"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mapping/group_by.rst"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mapping/group_by.rst"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generic_group.rst"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mapping/take.rst" TargetMode="Externa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mapping/binary_partition.rst"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mapping/composite_mapping.rst" TargetMode="Externa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mapping/index.rst" TargetMode="Externa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synchronizer/index.rst" TargetMode="Externa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synchronizer/index.rst" TargetMode="Externa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synchronizer/level_synchronizer.rst" TargetMode="Externa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synchronizer/lane_synchronizer.rst" TargetMode="Externa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synchronizer/interwarp_synchronizer.rst" TargetMode="Externa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synchronizer/barrier_synchronizer.rst" TargetMode="Externa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index.rst" TargetMode="Externa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generic_group.rst" TargetMode="Externa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generic_group.rst" TargetMode="Externa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virtual_group.rst" TargetMode="Externa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virtual_group.rst" TargetMode="Externa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group_view.rst" TargetMode="Externa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mapping/group_by.rst" TargetMode="Externa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group/index.rst" TargetMode="Externa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github.com/NVIDIA/cccl/blob/51d94f7cc117fcfe01c1b94e2f4d5e38040263b0/docs/cudax/coop/index.rst" TargetMode="External"/><Relationship Id="rId3"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55648" y="6940296"/>
            <a:ext cx="17145000" cy="5212079"/>
          </a:xfrm>
          <a:prstGeom prst="rect">
            <a:avLst/>
          </a:prstGeom>
          <a:noFill/>
        </p:spPr>
        <p:txBody>
          <a:bodyPr wrap="square" lIns="0" rIns="0" tIns="0" bIns="0">
            <a:noAutofit/>
          </a:bodyPr>
          <a:lstStyle/>
          <a:p>
            <a:pPr algn="l">
              <a:lnSpc>
                <a:spcPct val="108000"/>
              </a:lnSpc>
              <a:spcAft>
                <a:spcPts val="2520"/>
              </a:spcAft>
              <a:defRPr sz="12600" b="0">
                <a:solidFill>
                  <a:srgbClr val="000000"/>
                </a:solidFill>
                <a:latin typeface="NVIDIA Sans Medium"/>
              </a:defRPr>
            </a:pPr>
            <a:r>
              <a:t>CCCL</a:t>
            </a:r>
          </a:p>
          <a:p>
            <a:pPr algn="l">
              <a:lnSpc>
                <a:spcPct val="108000"/>
              </a:lnSpc>
              <a:spcAft>
                <a:spcPts val="2520"/>
              </a:spcAft>
              <a:defRPr sz="12600" b="0">
                <a:solidFill>
                  <a:srgbClr val="000000"/>
                </a:solidFill>
                <a:latin typeface="NVIDIA Sans Medium"/>
              </a:defRPr>
            </a:pPr>
            <a:r>
              <a:t>Cooperative</a:t>
            </a:r>
          </a:p>
        </p:txBody>
      </p:sp>
      <p:sp>
        <p:nvSpPr>
          <p:cNvPr id="3" name="TextBox 2"/>
          <p:cNvSpPr txBox="1"/>
          <p:nvPr/>
        </p:nvSpPr>
        <p:spPr>
          <a:xfrm>
            <a:off x="1865376" y="12838176"/>
            <a:ext cx="15773400" cy="3017520"/>
          </a:xfrm>
          <a:prstGeom prst="rect">
            <a:avLst/>
          </a:prstGeom>
          <a:noFill/>
        </p:spPr>
        <p:txBody>
          <a:bodyPr wrap="square" lIns="0" rIns="0" tIns="0" bIns="0">
            <a:noAutofit/>
          </a:bodyPr>
          <a:lstStyle/>
          <a:p>
            <a:pPr algn="l">
              <a:lnSpc>
                <a:spcPct val="108000"/>
              </a:lnSpc>
              <a:spcAft>
                <a:spcPts val="1320"/>
              </a:spcAft>
              <a:defRPr sz="6600" b="0">
                <a:solidFill>
                  <a:srgbClr val="000000"/>
                </a:solidFill>
                <a:latin typeface="NVIDIA Sans"/>
              </a:defRPr>
            </a:pPr>
            <a:r>
              <a:t>Hierarchy-aware groups, mappings,</a:t>
            </a:r>
          </a:p>
          <a:p>
            <a:pPr algn="l">
              <a:lnSpc>
                <a:spcPct val="108000"/>
              </a:lnSpc>
              <a:spcAft>
                <a:spcPts val="1320"/>
              </a:spcAft>
              <a:defRPr sz="6600" b="0">
                <a:solidFill>
                  <a:srgbClr val="000000"/>
                </a:solidFill>
                <a:latin typeface="NVIDIA Sans"/>
              </a:defRPr>
            </a:pPr>
            <a:r>
              <a:t>and synchronization</a:t>
            </a:r>
          </a:p>
        </p:txBody>
      </p:sp>
      <p:sp>
        <p:nvSpPr>
          <p:cNvPr id="4" name="TextBox 3"/>
          <p:cNvSpPr txBox="1"/>
          <p:nvPr/>
        </p:nvSpPr>
        <p:spPr>
          <a:xfrm>
            <a:off x="1865376" y="17007840"/>
            <a:ext cx="15361919" cy="1097280"/>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CUDA C++ Developer Walkthrough</a:t>
            </a:r>
          </a:p>
        </p:txBody>
      </p:sp>
      <p:sp>
        <p:nvSpPr>
          <p:cNvPr id="5" name="TextBox 4"/>
          <p:cNvSpPr txBox="1"/>
          <p:nvPr/>
        </p:nvSpPr>
        <p:spPr>
          <a:xfrm>
            <a:off x="1865376" y="18214848"/>
            <a:ext cx="15636240" cy="960119"/>
          </a:xfrm>
          <a:prstGeom prst="rect">
            <a:avLst/>
          </a:prstGeom>
          <a:noFill/>
        </p:spPr>
        <p:txBody>
          <a:bodyPr wrap="square" lIns="0" rIns="0" tIns="0" bIns="0">
            <a:noAutofit/>
          </a:bodyPr>
          <a:lstStyle/>
          <a:p>
            <a:pPr algn="l">
              <a:lnSpc>
                <a:spcPct val="108000"/>
              </a:lnSpc>
              <a:spcAft>
                <a:spcPts val="660"/>
              </a:spcAft>
              <a:defRPr sz="3300" b="0">
                <a:solidFill>
                  <a:srgbClr val="757575"/>
                </a:solidFill>
                <a:latin typeface="NVIDIA Sans"/>
              </a:defRPr>
            </a:pPr>
            <a:r>
              <a:t>Based on docs/cudax/coop  |  Experimental API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A practical tour of the group model</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From the motivation to choosing the right group.</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02</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Introduction</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docs/cudax/coop/index.rst</a:t>
            </a:r>
          </a:p>
        </p:txBody>
      </p:sp>
      <p:sp>
        <p:nvSpPr>
          <p:cNvPr id="7" name="Rectangle 6"/>
          <p:cNvSpPr/>
          <p:nvPr/>
        </p:nvSpPr>
        <p:spPr>
          <a:xfrm>
            <a:off x="1783080" y="6446520"/>
            <a:ext cx="10533888" cy="98755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783080" y="6446520"/>
            <a:ext cx="10533888"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6584" y="7132320"/>
            <a:ext cx="9326880" cy="2331720"/>
          </a:xfrm>
          <a:prstGeom prst="rect">
            <a:avLst/>
          </a:prstGeom>
          <a:noFill/>
        </p:spPr>
        <p:txBody>
          <a:bodyPr wrap="square" lIns="0" rIns="0" tIns="0" bIns="0">
            <a:noAutofit/>
          </a:bodyPr>
          <a:lstStyle/>
          <a:p>
            <a:pPr algn="l">
              <a:lnSpc>
                <a:spcPct val="108000"/>
              </a:lnSpc>
              <a:spcAft>
                <a:spcPts val="1380"/>
              </a:spcAft>
              <a:defRPr sz="6900" b="1">
                <a:solidFill>
                  <a:srgbClr val="000000"/>
                </a:solidFill>
                <a:latin typeface="NVIDIA Sans Medium"/>
              </a:defRPr>
            </a:pPr>
            <a:r>
              <a:t>01  Model</a:t>
            </a:r>
          </a:p>
        </p:txBody>
      </p:sp>
      <p:sp>
        <p:nvSpPr>
          <p:cNvPr id="10" name="TextBox 9"/>
          <p:cNvSpPr txBox="1"/>
          <p:nvPr/>
        </p:nvSpPr>
        <p:spPr>
          <a:xfrm>
            <a:off x="2386584" y="9875520"/>
            <a:ext cx="9326880" cy="5980176"/>
          </a:xfrm>
          <a:prstGeom prst="rect">
            <a:avLst/>
          </a:prstGeom>
          <a:noFill/>
        </p:spPr>
        <p:txBody>
          <a:bodyPr wrap="square" lIns="0" rIns="0" tIns="0" bIns="0">
            <a:noAutofit/>
          </a:bodyPr>
          <a:lstStyle/>
          <a:p>
            <a:pPr algn="l">
              <a:lnSpc>
                <a:spcPct val="108000"/>
              </a:lnSpc>
              <a:spcAft>
                <a:spcPts val="1110"/>
              </a:spcAft>
              <a:defRPr sz="5550" b="0">
                <a:solidFill>
                  <a:srgbClr val="000000"/>
                </a:solidFill>
                <a:latin typeface="NVIDIA Sans"/>
              </a:defRPr>
            </a:pPr>
            <a:r>
              <a:t>Represent a group using its unit, boundary and hierarchy.</a:t>
            </a:r>
          </a:p>
        </p:txBody>
      </p:sp>
      <p:sp>
        <p:nvSpPr>
          <p:cNvPr id="11" name="Rectangle 10"/>
          <p:cNvSpPr/>
          <p:nvPr/>
        </p:nvSpPr>
        <p:spPr>
          <a:xfrm>
            <a:off x="12975336" y="6446520"/>
            <a:ext cx="10533888" cy="98755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975336" y="6446520"/>
            <a:ext cx="10533888"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78840" y="7132320"/>
            <a:ext cx="9326880" cy="2331720"/>
          </a:xfrm>
          <a:prstGeom prst="rect">
            <a:avLst/>
          </a:prstGeom>
          <a:noFill/>
        </p:spPr>
        <p:txBody>
          <a:bodyPr wrap="square" lIns="0" rIns="0" tIns="0" bIns="0">
            <a:noAutofit/>
          </a:bodyPr>
          <a:lstStyle/>
          <a:p>
            <a:pPr algn="l">
              <a:lnSpc>
                <a:spcPct val="108000"/>
              </a:lnSpc>
              <a:spcAft>
                <a:spcPts val="1380"/>
              </a:spcAft>
              <a:defRPr sz="6900" b="1">
                <a:solidFill>
                  <a:srgbClr val="000000"/>
                </a:solidFill>
                <a:latin typeface="NVIDIA Sans Medium"/>
              </a:defRPr>
            </a:pPr>
            <a:r>
              <a:t>02  Compose</a:t>
            </a:r>
          </a:p>
        </p:txBody>
      </p:sp>
      <p:sp>
        <p:nvSpPr>
          <p:cNvPr id="14" name="TextBox 13"/>
          <p:cNvSpPr txBox="1"/>
          <p:nvPr/>
        </p:nvSpPr>
        <p:spPr>
          <a:xfrm>
            <a:off x="13578840" y="9875520"/>
            <a:ext cx="9326880" cy="5980176"/>
          </a:xfrm>
          <a:prstGeom prst="rect">
            <a:avLst/>
          </a:prstGeom>
          <a:noFill/>
        </p:spPr>
        <p:txBody>
          <a:bodyPr wrap="square" lIns="0" rIns="0" tIns="0" bIns="0">
            <a:noAutofit/>
          </a:bodyPr>
          <a:lstStyle/>
          <a:p>
            <a:pPr algn="l">
              <a:lnSpc>
                <a:spcPct val="108000"/>
              </a:lnSpc>
              <a:spcAft>
                <a:spcPts val="1110"/>
              </a:spcAft>
              <a:defRPr sz="5550" b="0">
                <a:solidFill>
                  <a:srgbClr val="000000"/>
                </a:solidFill>
                <a:latin typeface="NVIDIA Sans"/>
              </a:defRPr>
            </a:pPr>
            <a:r>
              <a:t>Partition with mappings; choose synchronization separately.</a:t>
            </a:r>
          </a:p>
        </p:txBody>
      </p:sp>
      <p:sp>
        <p:nvSpPr>
          <p:cNvPr id="15" name="Rectangle 14"/>
          <p:cNvSpPr/>
          <p:nvPr/>
        </p:nvSpPr>
        <p:spPr>
          <a:xfrm>
            <a:off x="24167592" y="6446520"/>
            <a:ext cx="10533888" cy="98755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4167592" y="6446520"/>
            <a:ext cx="10533888"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771096" y="7132320"/>
            <a:ext cx="9326880" cy="2331720"/>
          </a:xfrm>
          <a:prstGeom prst="rect">
            <a:avLst/>
          </a:prstGeom>
          <a:noFill/>
        </p:spPr>
        <p:txBody>
          <a:bodyPr wrap="square" lIns="0" rIns="0" tIns="0" bIns="0">
            <a:noAutofit/>
          </a:bodyPr>
          <a:lstStyle/>
          <a:p>
            <a:pPr algn="l">
              <a:lnSpc>
                <a:spcPct val="108000"/>
              </a:lnSpc>
              <a:spcAft>
                <a:spcPts val="1380"/>
              </a:spcAft>
              <a:defRPr sz="6900" b="1">
                <a:solidFill>
                  <a:srgbClr val="000000"/>
                </a:solidFill>
                <a:latin typeface="NVIDIA Sans Medium"/>
              </a:defRPr>
            </a:pPr>
            <a:r>
              <a:t>03  Apply</a:t>
            </a:r>
          </a:p>
        </p:txBody>
      </p:sp>
      <p:sp>
        <p:nvSpPr>
          <p:cNvPr id="18" name="TextBox 17"/>
          <p:cNvSpPr txBox="1"/>
          <p:nvPr/>
        </p:nvSpPr>
        <p:spPr>
          <a:xfrm>
            <a:off x="24771096" y="9875520"/>
            <a:ext cx="9326880" cy="5980176"/>
          </a:xfrm>
          <a:prstGeom prst="rect">
            <a:avLst/>
          </a:prstGeom>
          <a:noFill/>
        </p:spPr>
        <p:txBody>
          <a:bodyPr wrap="square" lIns="0" rIns="0" tIns="0" bIns="0">
            <a:noAutofit/>
          </a:bodyPr>
          <a:lstStyle/>
          <a:p>
            <a:pPr algn="l">
              <a:lnSpc>
                <a:spcPct val="108000"/>
              </a:lnSpc>
              <a:spcAft>
                <a:spcPts val="1110"/>
              </a:spcAft>
              <a:defRPr sz="5550" b="0">
                <a:solidFill>
                  <a:srgbClr val="000000"/>
                </a:solidFill>
                <a:latin typeface="NVIDIA Sans"/>
              </a:defRPr>
            </a:pPr>
            <a:r>
              <a:t>Use independent groups, virtual groups and non-owning views.</a:t>
            </a:r>
          </a:p>
        </p:txBody>
      </p:sp>
      <p:sp>
        <p:nvSpPr>
          <p:cNvPr id="19" name="Rectangle 18"/>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Scope: the documented C++ API in cuda::experimental::coop; algorithms are under development.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Why redesign cooperative groups?</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Carry more useful structure into device-side algorithms.</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03</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Introduction</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docs/cudax/coop/index.rst</a:t>
            </a:r>
          </a:p>
        </p:txBody>
      </p:sp>
      <p:sp>
        <p:nvSpPr>
          <p:cNvPr id="7" name="Rectangle 6"/>
          <p:cNvSpPr/>
          <p:nvPr/>
        </p:nvSpPr>
        <p:spPr>
          <a:xfrm>
            <a:off x="1783080" y="6446520"/>
            <a:ext cx="10533888" cy="98755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783080" y="6446520"/>
            <a:ext cx="10533888"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6584" y="7132320"/>
            <a:ext cx="9326880" cy="2331720"/>
          </a:xfrm>
          <a:prstGeom prst="rect">
            <a:avLst/>
          </a:prstGeom>
          <a:noFill/>
        </p:spPr>
        <p:txBody>
          <a:bodyPr wrap="square" lIns="0" rIns="0" tIns="0" bIns="0">
            <a:noAutofit/>
          </a:bodyPr>
          <a:lstStyle/>
          <a:p>
            <a:pPr algn="l">
              <a:lnSpc>
                <a:spcPct val="108000"/>
              </a:lnSpc>
              <a:spcAft>
                <a:spcPts val="1380"/>
              </a:spcAft>
              <a:defRPr sz="6900" b="1">
                <a:solidFill>
                  <a:srgbClr val="000000"/>
                </a:solidFill>
                <a:latin typeface="NVIDIA Sans Medium"/>
              </a:defRPr>
            </a:pPr>
            <a:r>
              <a:t>More information</a:t>
            </a:r>
          </a:p>
        </p:txBody>
      </p:sp>
      <p:sp>
        <p:nvSpPr>
          <p:cNvPr id="10" name="TextBox 9"/>
          <p:cNvSpPr txBox="1"/>
          <p:nvPr/>
        </p:nvSpPr>
        <p:spPr>
          <a:xfrm>
            <a:off x="2386584" y="9875520"/>
            <a:ext cx="9326880" cy="5980176"/>
          </a:xfrm>
          <a:prstGeom prst="rect">
            <a:avLst/>
          </a:prstGeom>
          <a:noFill/>
        </p:spPr>
        <p:txBody>
          <a:bodyPr wrap="square" lIns="0" rIns="0" tIns="0" bIns="0">
            <a:noAutofit/>
          </a:bodyPr>
          <a:lstStyle/>
          <a:p>
            <a:pPr algn="l">
              <a:lnSpc>
                <a:spcPct val="108000"/>
              </a:lnSpc>
              <a:spcAft>
                <a:spcPts val="1110"/>
              </a:spcAft>
              <a:defRPr sz="5550" b="0">
                <a:solidFill>
                  <a:srgbClr val="000000"/>
                </a:solidFill>
                <a:latin typeface="NVIDIA Sans"/>
              </a:defRPr>
            </a:pPr>
            <a:r>
              <a:t>Expose whole warps and other hierarchy units as the building blocks of a group.</a:t>
            </a:r>
          </a:p>
        </p:txBody>
      </p:sp>
      <p:sp>
        <p:nvSpPr>
          <p:cNvPr id="11" name="Rectangle 10"/>
          <p:cNvSpPr/>
          <p:nvPr/>
        </p:nvSpPr>
        <p:spPr>
          <a:xfrm>
            <a:off x="12975336" y="6446520"/>
            <a:ext cx="10533888" cy="98755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975336" y="6446520"/>
            <a:ext cx="10533888"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78840" y="7132320"/>
            <a:ext cx="9326880" cy="2331720"/>
          </a:xfrm>
          <a:prstGeom prst="rect">
            <a:avLst/>
          </a:prstGeom>
          <a:noFill/>
        </p:spPr>
        <p:txBody>
          <a:bodyPr wrap="square" lIns="0" rIns="0" tIns="0" bIns="0">
            <a:noAutofit/>
          </a:bodyPr>
          <a:lstStyle/>
          <a:p>
            <a:pPr algn="l">
              <a:lnSpc>
                <a:spcPct val="108000"/>
              </a:lnSpc>
              <a:spcAft>
                <a:spcPts val="1380"/>
              </a:spcAft>
              <a:defRPr sz="6900" b="1">
                <a:solidFill>
                  <a:srgbClr val="000000"/>
                </a:solidFill>
                <a:latin typeface="NVIDIA Sans Medium"/>
              </a:defRPr>
            </a:pPr>
            <a:r>
              <a:t>More specialization</a:t>
            </a:r>
          </a:p>
        </p:txBody>
      </p:sp>
      <p:sp>
        <p:nvSpPr>
          <p:cNvPr id="14" name="TextBox 13"/>
          <p:cNvSpPr txBox="1"/>
          <p:nvPr/>
        </p:nvSpPr>
        <p:spPr>
          <a:xfrm>
            <a:off x="13578840" y="9875520"/>
            <a:ext cx="9326880" cy="5980176"/>
          </a:xfrm>
          <a:prstGeom prst="rect">
            <a:avLst/>
          </a:prstGeom>
          <a:noFill/>
        </p:spPr>
        <p:txBody>
          <a:bodyPr wrap="square" lIns="0" rIns="0" tIns="0" bIns="0">
            <a:noAutofit/>
          </a:bodyPr>
          <a:lstStyle/>
          <a:p>
            <a:pPr algn="l">
              <a:lnSpc>
                <a:spcPct val="108000"/>
              </a:lnSpc>
              <a:spcAft>
                <a:spcPts val="1110"/>
              </a:spcAft>
              <a:defRPr sz="5550" b="0">
                <a:solidFill>
                  <a:srgbClr val="000000"/>
                </a:solidFill>
                <a:latin typeface="NVIDIA Sans"/>
              </a:defRPr>
            </a:pPr>
            <a:r>
              <a:t>Preserve static launch information for rank queries and resource sizing.</a:t>
            </a:r>
          </a:p>
        </p:txBody>
      </p:sp>
      <p:sp>
        <p:nvSpPr>
          <p:cNvPr id="15" name="Rectangle 14"/>
          <p:cNvSpPr/>
          <p:nvPr/>
        </p:nvSpPr>
        <p:spPr>
          <a:xfrm>
            <a:off x="24167592" y="6446520"/>
            <a:ext cx="10533888" cy="98755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4167592" y="6446520"/>
            <a:ext cx="10533888"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771096" y="7132320"/>
            <a:ext cx="9326880" cy="2331720"/>
          </a:xfrm>
          <a:prstGeom prst="rect">
            <a:avLst/>
          </a:prstGeom>
          <a:noFill/>
        </p:spPr>
        <p:txBody>
          <a:bodyPr wrap="square" lIns="0" rIns="0" tIns="0" bIns="0">
            <a:noAutofit/>
          </a:bodyPr>
          <a:lstStyle/>
          <a:p>
            <a:pPr algn="l">
              <a:lnSpc>
                <a:spcPct val="108000"/>
              </a:lnSpc>
              <a:spcAft>
                <a:spcPts val="1380"/>
              </a:spcAft>
              <a:defRPr sz="6900" b="1">
                <a:solidFill>
                  <a:srgbClr val="000000"/>
                </a:solidFill>
                <a:latin typeface="NVIDIA Sans Medium"/>
              </a:defRPr>
            </a:pPr>
            <a:r>
              <a:t>More control</a:t>
            </a:r>
          </a:p>
        </p:txBody>
      </p:sp>
      <p:sp>
        <p:nvSpPr>
          <p:cNvPr id="18" name="TextBox 17"/>
          <p:cNvSpPr txBox="1"/>
          <p:nvPr/>
        </p:nvSpPr>
        <p:spPr>
          <a:xfrm>
            <a:off x="24771096" y="9875520"/>
            <a:ext cx="9326880" cy="5980176"/>
          </a:xfrm>
          <a:prstGeom prst="rect">
            <a:avLst/>
          </a:prstGeom>
          <a:noFill/>
        </p:spPr>
        <p:txBody>
          <a:bodyPr wrap="square" lIns="0" rIns="0" tIns="0" bIns="0">
            <a:noAutofit/>
          </a:bodyPr>
          <a:lstStyle/>
          <a:p>
            <a:pPr algn="l">
              <a:lnSpc>
                <a:spcPct val="108000"/>
              </a:lnSpc>
              <a:spcAft>
                <a:spcPts val="1110"/>
              </a:spcAft>
              <a:defRPr sz="5550" b="0">
                <a:solidFill>
                  <a:srgbClr val="000000"/>
                </a:solidFill>
                <a:latin typeface="NVIDIA Sans"/>
              </a:defRPr>
            </a:pPr>
            <a:r>
              <a:t>Choose how to partition and how to synchronize as independent decisions.</a:t>
            </a:r>
          </a:p>
        </p:txBody>
      </p:sp>
      <p:sp>
        <p:nvSpPr>
          <p:cNvPr id="19" name="Rectangle 18"/>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The goal is greater flexibility, performance and safety; this deck makes no benchmark claims.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A group has a unit and an upper boundary</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Example: three complete warps within one thread block.</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04</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Concepts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docs/cudax/coop/group/index.rst</a:t>
            </a:r>
          </a:p>
        </p:txBody>
      </p:sp>
      <p:sp>
        <p:nvSpPr>
          <p:cNvPr id="7" name="Rectangle 6"/>
          <p:cNvSpPr/>
          <p:nvPr/>
        </p:nvSpPr>
        <p:spPr>
          <a:xfrm>
            <a:off x="2606039" y="6858000"/>
            <a:ext cx="7543800" cy="6995159"/>
          </a:xfrm>
          <a:prstGeom prst="rect">
            <a:avLst/>
          </a:prstGeom>
          <a:solidFill>
            <a:srgbClr val="EEF5E2"/>
          </a:solidFill>
          <a:ln w="26669">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99815" y="7406640"/>
            <a:ext cx="6309359" cy="1097280"/>
          </a:xfrm>
          <a:prstGeom prst="rect">
            <a:avLst/>
          </a:prstGeom>
          <a:noFill/>
        </p:spPr>
        <p:txBody>
          <a:bodyPr wrap="square" lIns="0" rIns="0" tIns="0" bIns="0">
            <a:noAutofit/>
          </a:bodyPr>
          <a:lstStyle/>
          <a:p>
            <a:pPr algn="l">
              <a:lnSpc>
                <a:spcPct val="108000"/>
              </a:lnSpc>
              <a:spcAft>
                <a:spcPts val="1260"/>
              </a:spcAft>
              <a:defRPr sz="6300" b="1">
                <a:solidFill>
                  <a:srgbClr val="000000"/>
                </a:solidFill>
                <a:latin typeface="NVIDIA Sans"/>
              </a:defRPr>
            </a:pPr>
            <a:r>
              <a:t>Warp 0</a:t>
            </a:r>
          </a:p>
        </p:txBody>
      </p:sp>
      <p:sp>
        <p:nvSpPr>
          <p:cNvPr id="9" name="Oval 8"/>
          <p:cNvSpPr/>
          <p:nvPr/>
        </p:nvSpPr>
        <p:spPr>
          <a:xfrm>
            <a:off x="3209544"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991355"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73167"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554979"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36791"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18603"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900416"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682228"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209544"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991355"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773167"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554979"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36791"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18603"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00416"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682228"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209544"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991355"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773167"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554979"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36791"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118603"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00416"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682228"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209544"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991355"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773167"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554979"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36791"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118603"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900416"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82228"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945368" y="6858000"/>
            <a:ext cx="7543800" cy="6995159"/>
          </a:xfrm>
          <a:prstGeom prst="rect">
            <a:avLst/>
          </a:prstGeom>
          <a:solidFill>
            <a:srgbClr val="EEF5E2"/>
          </a:solidFill>
          <a:ln w="26669">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439144" y="7406640"/>
            <a:ext cx="6309359" cy="1097280"/>
          </a:xfrm>
          <a:prstGeom prst="rect">
            <a:avLst/>
          </a:prstGeom>
          <a:noFill/>
        </p:spPr>
        <p:txBody>
          <a:bodyPr wrap="square" lIns="0" rIns="0" tIns="0" bIns="0">
            <a:noAutofit/>
          </a:bodyPr>
          <a:lstStyle/>
          <a:p>
            <a:pPr algn="l">
              <a:lnSpc>
                <a:spcPct val="108000"/>
              </a:lnSpc>
              <a:spcAft>
                <a:spcPts val="1260"/>
              </a:spcAft>
              <a:defRPr sz="6300" b="1">
                <a:solidFill>
                  <a:srgbClr val="000000"/>
                </a:solidFill>
                <a:latin typeface="NVIDIA Sans"/>
              </a:defRPr>
            </a:pPr>
            <a:r>
              <a:t>Warp 1</a:t>
            </a:r>
          </a:p>
        </p:txBody>
      </p:sp>
      <p:sp>
        <p:nvSpPr>
          <p:cNvPr id="43" name="Oval 42"/>
          <p:cNvSpPr/>
          <p:nvPr/>
        </p:nvSpPr>
        <p:spPr>
          <a:xfrm>
            <a:off x="11548872"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2330684"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3112496"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3894307"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4676119"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5457932"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6239743"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7021556"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1548872"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2330684"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3112496"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3894307"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4676119"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5457932"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6239743"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7021556"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1548872"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2330684"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3112496"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3894307"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4676119"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5457932"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6239743"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7021556"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1548872"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2330684"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3112496"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3894307"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14676119"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5457932"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6239743"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7021556"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9284696" y="6858000"/>
            <a:ext cx="7543800" cy="6995159"/>
          </a:xfrm>
          <a:prstGeom prst="rect">
            <a:avLst/>
          </a:prstGeom>
          <a:solidFill>
            <a:srgbClr val="EEF5E2"/>
          </a:solidFill>
          <a:ln w="26669">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9778472" y="7406640"/>
            <a:ext cx="6309359" cy="1097280"/>
          </a:xfrm>
          <a:prstGeom prst="rect">
            <a:avLst/>
          </a:prstGeom>
          <a:noFill/>
        </p:spPr>
        <p:txBody>
          <a:bodyPr wrap="square" lIns="0" rIns="0" tIns="0" bIns="0">
            <a:noAutofit/>
          </a:bodyPr>
          <a:lstStyle/>
          <a:p>
            <a:pPr algn="l">
              <a:lnSpc>
                <a:spcPct val="108000"/>
              </a:lnSpc>
              <a:spcAft>
                <a:spcPts val="1260"/>
              </a:spcAft>
              <a:defRPr sz="6300" b="1">
                <a:solidFill>
                  <a:srgbClr val="000000"/>
                </a:solidFill>
                <a:latin typeface="NVIDIA Sans"/>
              </a:defRPr>
            </a:pPr>
            <a:r>
              <a:t>Warp 2</a:t>
            </a:r>
          </a:p>
        </p:txBody>
      </p:sp>
      <p:sp>
        <p:nvSpPr>
          <p:cNvPr id="77" name="Oval 76"/>
          <p:cNvSpPr/>
          <p:nvPr/>
        </p:nvSpPr>
        <p:spPr>
          <a:xfrm>
            <a:off x="19888200"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20670012"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21451824"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22233636"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23015448"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23797260"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4579072"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5360884" y="9079992"/>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9888200"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0670012"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21451824"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22233636"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23015448"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23797260"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24579072"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25360884" y="9875520"/>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9888200"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20670012"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21451824"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22233636"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23015448"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23797260"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24579072"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5360884" y="10671048"/>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19888200"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20670012"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21451824"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22233636"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23015448"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23797260"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24579072"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25360884" y="11466576"/>
            <a:ext cx="315468" cy="315468"/>
          </a:xfrm>
          <a:prstGeom prst="ellipse">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27624024" y="6858000"/>
            <a:ext cx="7543800" cy="6995159"/>
          </a:xfrm>
          <a:prstGeom prst="rect">
            <a:avLst/>
          </a:prstGeom>
          <a:solidFill>
            <a:srgbClr val="F7F7F7"/>
          </a:solidFill>
          <a:ln w="26669">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8117800" y="7406640"/>
            <a:ext cx="6309359" cy="1097280"/>
          </a:xfrm>
          <a:prstGeom prst="rect">
            <a:avLst/>
          </a:prstGeom>
          <a:noFill/>
        </p:spPr>
        <p:txBody>
          <a:bodyPr wrap="square" lIns="0" rIns="0" tIns="0" bIns="0">
            <a:noAutofit/>
          </a:bodyPr>
          <a:lstStyle/>
          <a:p>
            <a:pPr algn="l">
              <a:lnSpc>
                <a:spcPct val="108000"/>
              </a:lnSpc>
              <a:spcAft>
                <a:spcPts val="1260"/>
              </a:spcAft>
              <a:defRPr sz="6300" b="1">
                <a:solidFill>
                  <a:srgbClr val="000000"/>
                </a:solidFill>
                <a:latin typeface="NVIDIA Sans"/>
              </a:defRPr>
            </a:pPr>
            <a:r>
              <a:t>Warp 3</a:t>
            </a:r>
          </a:p>
        </p:txBody>
      </p:sp>
      <p:sp>
        <p:nvSpPr>
          <p:cNvPr id="111" name="Oval 110"/>
          <p:cNvSpPr/>
          <p:nvPr/>
        </p:nvSpPr>
        <p:spPr>
          <a:xfrm>
            <a:off x="28227528" y="9079992"/>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29009340" y="9079992"/>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29791152" y="9079992"/>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0572964" y="9079992"/>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31354776" y="9079992"/>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32136587" y="9079992"/>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32918400" y="9079992"/>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33700212" y="9079992"/>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28227528" y="9875520"/>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29009340" y="9875520"/>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29791152" y="9875520"/>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30572964" y="9875520"/>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31354776" y="9875520"/>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32136587" y="9875520"/>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32918400" y="9875520"/>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33700212" y="9875520"/>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28227528" y="10671048"/>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29009340" y="10671048"/>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29791152" y="10671048"/>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30572964" y="10671048"/>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31354776" y="10671048"/>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32136587" y="10671048"/>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32918400" y="10671048"/>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33700212" y="10671048"/>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28227528" y="11466576"/>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29009340" y="11466576"/>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29791152" y="11466576"/>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30572964" y="11466576"/>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31354776" y="11466576"/>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32136587" y="11466576"/>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32918400" y="11466576"/>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33700212" y="11466576"/>
            <a:ext cx="315468" cy="315468"/>
          </a:xfrm>
          <a:prstGeom prst="ellipse">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3" name="Connector 142"/>
          <p:cNvCxnSpPr/>
          <p:nvPr/>
        </p:nvCxnSpPr>
        <p:spPr>
          <a:xfrm>
            <a:off x="2606039" y="14813280"/>
            <a:ext cx="32506921" cy="0"/>
          </a:xfrm>
          <a:prstGeom prst="line">
            <a:avLst/>
          </a:prstGeom>
          <a:ln w="60960">
            <a:solidFill>
              <a:srgbClr val="0074DF"/>
            </a:solidFill>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2606039" y="15499080"/>
            <a:ext cx="10972800" cy="768096"/>
          </a:xfrm>
          <a:prstGeom prst="rect">
            <a:avLst/>
          </a:prstGeom>
          <a:noFill/>
        </p:spPr>
        <p:txBody>
          <a:bodyPr wrap="square" lIns="0" rIns="0" tIns="0" bIns="0">
            <a:noAutofit/>
          </a:bodyPr>
          <a:lstStyle/>
          <a:p>
            <a:pPr algn="l">
              <a:lnSpc>
                <a:spcPct val="108000"/>
              </a:lnSpc>
              <a:spcAft>
                <a:spcPts val="630"/>
              </a:spcAft>
              <a:defRPr sz="3150" b="1">
                <a:solidFill>
                  <a:srgbClr val="0074DF"/>
                </a:solidFill>
                <a:latin typeface="NVIDIA Sans"/>
              </a:defRPr>
            </a:pPr>
            <a:r>
              <a:t>BOUNDARY: ONE BLOCK</a:t>
            </a:r>
          </a:p>
        </p:txBody>
      </p:sp>
      <p:sp>
        <p:nvSpPr>
          <p:cNvPr id="145" name="Rectangle 144"/>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Unit = warp  ·  Members = 3 warps / 96 threads  ·  Boundary = block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Launch information can simplify queries</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A hierarchy-aware group can use the shape known to cuda::launch.</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05</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Concepts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docs/cudax/coop/group/index.rst</a:t>
            </a:r>
          </a:p>
        </p:txBody>
      </p:sp>
      <p:sp>
        <p:nvSpPr>
          <p:cNvPr id="7" name="TextBox 6"/>
          <p:cNvSpPr txBox="1"/>
          <p:nvPr/>
        </p:nvSpPr>
        <p:spPr>
          <a:xfrm>
            <a:off x="1920239" y="6254496"/>
            <a:ext cx="16459200" cy="768096"/>
          </a:xfrm>
          <a:prstGeom prst="rect">
            <a:avLst/>
          </a:prstGeom>
          <a:noFill/>
        </p:spPr>
        <p:txBody>
          <a:bodyPr wrap="square" lIns="0" rIns="0" tIns="0" bIns="0">
            <a:noAutofit/>
          </a:bodyPr>
          <a:lstStyle/>
          <a:p>
            <a:pPr algn="l">
              <a:lnSpc>
                <a:spcPct val="108000"/>
              </a:lnSpc>
              <a:spcAft>
                <a:spcPts val="630"/>
              </a:spcAft>
              <a:defRPr sz="3150" b="1">
                <a:solidFill>
                  <a:srgbClr val="76B900"/>
                </a:solidFill>
                <a:latin typeface="NVIDIA Sans"/>
              </a:defRPr>
            </a:pPr>
            <a:r>
              <a:t>GENERAL 3D LINEARIZATION</a:t>
            </a:r>
          </a:p>
        </p:txBody>
      </p:sp>
      <p:sp>
        <p:nvSpPr>
          <p:cNvPr id="8" name="Rectangle 7"/>
          <p:cNvSpPr/>
          <p:nvPr/>
        </p:nvSpPr>
        <p:spPr>
          <a:xfrm>
            <a:off x="1783080" y="7488936"/>
            <a:ext cx="32918400" cy="41148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14016" y="7982712"/>
            <a:ext cx="31656527" cy="3236976"/>
          </a:xfrm>
          <a:prstGeom prst="rect">
            <a:avLst/>
          </a:prstGeom>
          <a:noFill/>
        </p:spPr>
        <p:txBody>
          <a:bodyPr wrap="none" lIns="0" rIns="0" tIns="0" bIns="0">
            <a:noAutofit/>
          </a:bodyPr>
          <a:lstStyle/>
          <a:p>
            <a:pPr>
              <a:lnSpc>
                <a:spcPct val="112000"/>
              </a:lnSpc>
              <a:spcAft>
                <a:spcPts val="0"/>
              </a:spcAft>
            </a:pPr>
            <a:r>
              <a:rPr sz="5400">
                <a:solidFill>
                  <a:srgbClr val="0074DF"/>
                </a:solidFill>
                <a:latin typeface="DejaVu Sans Mono"/>
              </a:rPr>
              <a:t>const</a:t>
            </a:r>
            <a:r>
              <a:rPr sz="5400">
                <a:solidFill>
                  <a:srgbClr val="000000"/>
                </a:solidFill>
                <a:latin typeface="DejaVu Sans Mono"/>
              </a:rPr>
              <a:t> </a:t>
            </a:r>
            <a:r>
              <a:rPr sz="5400">
                <a:solidFill>
                  <a:srgbClr val="0074DF"/>
                </a:solidFill>
                <a:latin typeface="DejaVu Sans Mono"/>
              </a:rPr>
              <a:t>auto</a:t>
            </a:r>
            <a:r>
              <a:rPr sz="5400">
                <a:solidFill>
                  <a:srgbClr val="000000"/>
                </a:solidFill>
                <a:latin typeface="DejaVu Sans Mono"/>
              </a:rPr>
              <a:t> </a:t>
            </a:r>
            <a:r>
              <a:rPr sz="5400">
                <a:solidFill>
                  <a:srgbClr val="000000"/>
                </a:solidFill>
                <a:latin typeface="DejaVu Sans Mono"/>
              </a:rPr>
              <a:t>rank</a:t>
            </a:r>
            <a:r>
              <a:rPr sz="5400">
                <a:solidFill>
                  <a:srgbClr val="000000"/>
                </a:solidFill>
                <a:latin typeface="DejaVu Sans Mono"/>
              </a:rPr>
              <a:t> </a:t>
            </a:r>
            <a:r>
              <a:rPr sz="5400">
                <a:solidFill>
                  <a:srgbClr val="000000"/>
                </a:solidFill>
                <a:latin typeface="DejaVu Sans Mono"/>
              </a:rPr>
              <a:t>=</a:t>
            </a:r>
          </a:p>
          <a:p>
            <a:pPr>
              <a:lnSpc>
                <a:spcPct val="112000"/>
              </a:lnSpc>
              <a:spcAft>
                <a:spcPts val="0"/>
              </a:spcAft>
            </a:pPr>
            <a:r>
              <a:rPr sz="5400">
                <a:solidFill>
                  <a:srgbClr val="000000"/>
                </a:solidFill>
                <a:latin typeface="DejaVu Sans Mono"/>
              </a:rPr>
              <a:t>  </a:t>
            </a:r>
            <a:r>
              <a:rPr sz="5400">
                <a:solidFill>
                  <a:srgbClr val="000000"/>
                </a:solidFill>
                <a:latin typeface="DejaVu Sans Mono"/>
              </a:rPr>
              <a:t>(</a:t>
            </a:r>
            <a:r>
              <a:rPr sz="5400">
                <a:solidFill>
                  <a:srgbClr val="000000"/>
                </a:solidFill>
                <a:latin typeface="DejaVu Sans Mono"/>
              </a:rPr>
              <a:t>threadIdx</a:t>
            </a:r>
            <a:r>
              <a:rPr sz="5400">
                <a:solidFill>
                  <a:srgbClr val="000000"/>
                </a:solidFill>
                <a:latin typeface="DejaVu Sans Mono"/>
              </a:rPr>
              <a:t>.</a:t>
            </a:r>
            <a:r>
              <a:rPr sz="5400">
                <a:solidFill>
                  <a:srgbClr val="000000"/>
                </a:solidFill>
                <a:latin typeface="DejaVu Sans Mono"/>
              </a:rPr>
              <a:t>z</a:t>
            </a:r>
            <a:r>
              <a:rPr sz="5400">
                <a:solidFill>
                  <a:srgbClr val="000000"/>
                </a:solidFill>
                <a:latin typeface="DejaVu Sans Mono"/>
              </a:rPr>
              <a:t> </a:t>
            </a:r>
            <a:r>
              <a:rPr sz="5400">
                <a:solidFill>
                  <a:srgbClr val="000000"/>
                </a:solidFill>
                <a:latin typeface="DejaVu Sans Mono"/>
              </a:rPr>
              <a:t>*</a:t>
            </a:r>
            <a:r>
              <a:rPr sz="5400">
                <a:solidFill>
                  <a:srgbClr val="000000"/>
                </a:solidFill>
                <a:latin typeface="DejaVu Sans Mono"/>
              </a:rPr>
              <a:t> </a:t>
            </a:r>
            <a:r>
              <a:rPr sz="5400">
                <a:solidFill>
                  <a:srgbClr val="000000"/>
                </a:solidFill>
                <a:latin typeface="DejaVu Sans Mono"/>
              </a:rPr>
              <a:t>blockDim</a:t>
            </a:r>
            <a:r>
              <a:rPr sz="5400">
                <a:solidFill>
                  <a:srgbClr val="000000"/>
                </a:solidFill>
                <a:latin typeface="DejaVu Sans Mono"/>
              </a:rPr>
              <a:t>.</a:t>
            </a:r>
            <a:r>
              <a:rPr sz="5400">
                <a:solidFill>
                  <a:srgbClr val="000000"/>
                </a:solidFill>
                <a:latin typeface="DejaVu Sans Mono"/>
              </a:rPr>
              <a:t>y</a:t>
            </a:r>
            <a:r>
              <a:rPr sz="5400">
                <a:solidFill>
                  <a:srgbClr val="000000"/>
                </a:solidFill>
                <a:latin typeface="DejaVu Sans Mono"/>
              </a:rPr>
              <a:t> </a:t>
            </a:r>
            <a:r>
              <a:rPr sz="5400">
                <a:solidFill>
                  <a:srgbClr val="000000"/>
                </a:solidFill>
                <a:latin typeface="DejaVu Sans Mono"/>
              </a:rPr>
              <a:t>+</a:t>
            </a:r>
            <a:r>
              <a:rPr sz="5400">
                <a:solidFill>
                  <a:srgbClr val="000000"/>
                </a:solidFill>
                <a:latin typeface="DejaVu Sans Mono"/>
              </a:rPr>
              <a:t> </a:t>
            </a:r>
            <a:r>
              <a:rPr sz="5400">
                <a:solidFill>
                  <a:srgbClr val="000000"/>
                </a:solidFill>
                <a:latin typeface="DejaVu Sans Mono"/>
              </a:rPr>
              <a:t>threadIdx</a:t>
            </a:r>
            <a:r>
              <a:rPr sz="5400">
                <a:solidFill>
                  <a:srgbClr val="000000"/>
                </a:solidFill>
                <a:latin typeface="DejaVu Sans Mono"/>
              </a:rPr>
              <a:t>.</a:t>
            </a:r>
            <a:r>
              <a:rPr sz="5400">
                <a:solidFill>
                  <a:srgbClr val="000000"/>
                </a:solidFill>
                <a:latin typeface="DejaVu Sans Mono"/>
              </a:rPr>
              <a:t>y</a:t>
            </a:r>
            <a:r>
              <a:rPr sz="5400">
                <a:solidFill>
                  <a:srgbClr val="000000"/>
                </a:solidFill>
                <a:latin typeface="DejaVu Sans Mono"/>
              </a:rPr>
              <a:t>)</a:t>
            </a:r>
          </a:p>
          <a:p>
            <a:pPr>
              <a:lnSpc>
                <a:spcPct val="112000"/>
              </a:lnSpc>
              <a:spcAft>
                <a:spcPts val="0"/>
              </a:spcAft>
            </a:pPr>
            <a:r>
              <a:rPr sz="5400">
                <a:solidFill>
                  <a:srgbClr val="000000"/>
                </a:solidFill>
                <a:latin typeface="DejaVu Sans Mono"/>
              </a:rPr>
              <a:t>  </a:t>
            </a:r>
            <a:r>
              <a:rPr sz="5400">
                <a:solidFill>
                  <a:srgbClr val="000000"/>
                </a:solidFill>
                <a:latin typeface="DejaVu Sans Mono"/>
              </a:rPr>
              <a:t>*</a:t>
            </a:r>
            <a:r>
              <a:rPr sz="5400">
                <a:solidFill>
                  <a:srgbClr val="000000"/>
                </a:solidFill>
                <a:latin typeface="DejaVu Sans Mono"/>
              </a:rPr>
              <a:t> </a:t>
            </a:r>
            <a:r>
              <a:rPr sz="5400">
                <a:solidFill>
                  <a:srgbClr val="000000"/>
                </a:solidFill>
                <a:latin typeface="DejaVu Sans Mono"/>
              </a:rPr>
              <a:t>blockDim</a:t>
            </a:r>
            <a:r>
              <a:rPr sz="5400">
                <a:solidFill>
                  <a:srgbClr val="000000"/>
                </a:solidFill>
                <a:latin typeface="DejaVu Sans Mono"/>
              </a:rPr>
              <a:t>.</a:t>
            </a:r>
            <a:r>
              <a:rPr sz="5400">
                <a:solidFill>
                  <a:srgbClr val="000000"/>
                </a:solidFill>
                <a:latin typeface="DejaVu Sans Mono"/>
              </a:rPr>
              <a:t>x</a:t>
            </a:r>
            <a:r>
              <a:rPr sz="5400">
                <a:solidFill>
                  <a:srgbClr val="000000"/>
                </a:solidFill>
                <a:latin typeface="DejaVu Sans Mono"/>
              </a:rPr>
              <a:t> </a:t>
            </a:r>
            <a:r>
              <a:rPr sz="5400">
                <a:solidFill>
                  <a:srgbClr val="000000"/>
                </a:solidFill>
                <a:latin typeface="DejaVu Sans Mono"/>
              </a:rPr>
              <a:t>+</a:t>
            </a:r>
            <a:r>
              <a:rPr sz="5400">
                <a:solidFill>
                  <a:srgbClr val="000000"/>
                </a:solidFill>
                <a:latin typeface="DejaVu Sans Mono"/>
              </a:rPr>
              <a:t> </a:t>
            </a:r>
            <a:r>
              <a:rPr sz="5400">
                <a:solidFill>
                  <a:srgbClr val="000000"/>
                </a:solidFill>
                <a:latin typeface="DejaVu Sans Mono"/>
              </a:rPr>
              <a:t>threadIdx</a:t>
            </a:r>
            <a:r>
              <a:rPr sz="5400">
                <a:solidFill>
                  <a:srgbClr val="000000"/>
                </a:solidFill>
                <a:latin typeface="DejaVu Sans Mono"/>
              </a:rPr>
              <a:t>.</a:t>
            </a:r>
            <a:r>
              <a:rPr sz="5400">
                <a:solidFill>
                  <a:srgbClr val="000000"/>
                </a:solidFill>
                <a:latin typeface="DejaVu Sans Mono"/>
              </a:rPr>
              <a:t>x</a:t>
            </a:r>
            <a:r>
              <a:rPr sz="5400">
                <a:solidFill>
                  <a:srgbClr val="000000"/>
                </a:solidFill>
                <a:latin typeface="DejaVu Sans Mono"/>
              </a:rPr>
              <a:t>;</a:t>
            </a:r>
          </a:p>
          <a:p>
            <a:pPr>
              <a:lnSpc>
                <a:spcPct val="112000"/>
              </a:lnSpc>
              <a:spcAft>
                <a:spcPts val="0"/>
              </a:spcAft>
            </a:pPr>
          </a:p>
        </p:txBody>
      </p:sp>
      <p:sp>
        <p:nvSpPr>
          <p:cNvPr id="10" name="TextBox 9"/>
          <p:cNvSpPr txBox="1"/>
          <p:nvPr/>
        </p:nvSpPr>
        <p:spPr>
          <a:xfrm>
            <a:off x="1920239" y="12618719"/>
            <a:ext cx="16459200" cy="768096"/>
          </a:xfrm>
          <a:prstGeom prst="rect">
            <a:avLst/>
          </a:prstGeom>
          <a:noFill/>
        </p:spPr>
        <p:txBody>
          <a:bodyPr wrap="square" lIns="0" rIns="0" tIns="0" bIns="0">
            <a:noAutofit/>
          </a:bodyPr>
          <a:lstStyle/>
          <a:p>
            <a:pPr algn="l">
              <a:lnSpc>
                <a:spcPct val="108000"/>
              </a:lnSpc>
              <a:spcAft>
                <a:spcPts val="630"/>
              </a:spcAft>
              <a:defRPr sz="3150" b="1">
                <a:solidFill>
                  <a:srgbClr val="76B900"/>
                </a:solidFill>
                <a:latin typeface="NVIDIA Sans"/>
              </a:defRPr>
            </a:pPr>
            <a:r>
              <a:t>KNOWN 1D BLOCK</a:t>
            </a:r>
          </a:p>
        </p:txBody>
      </p:sp>
      <p:sp>
        <p:nvSpPr>
          <p:cNvPr id="11" name="Rectangle 10"/>
          <p:cNvSpPr/>
          <p:nvPr/>
        </p:nvSpPr>
        <p:spPr>
          <a:xfrm>
            <a:off x="1783080" y="13853159"/>
            <a:ext cx="32918400" cy="224942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14016" y="14346935"/>
            <a:ext cx="31656527" cy="1371599"/>
          </a:xfrm>
          <a:prstGeom prst="rect">
            <a:avLst/>
          </a:prstGeom>
          <a:noFill/>
        </p:spPr>
        <p:txBody>
          <a:bodyPr wrap="none" lIns="0" rIns="0" tIns="0" bIns="0">
            <a:noAutofit/>
          </a:bodyPr>
          <a:lstStyle/>
          <a:p>
            <a:pPr>
              <a:lnSpc>
                <a:spcPct val="112000"/>
              </a:lnSpc>
              <a:spcAft>
                <a:spcPts val="0"/>
              </a:spcAft>
            </a:pPr>
            <a:r>
              <a:rPr sz="6000">
                <a:solidFill>
                  <a:srgbClr val="0074DF"/>
                </a:solidFill>
                <a:latin typeface="DejaVu Sans Mono"/>
              </a:rPr>
              <a:t>const</a:t>
            </a:r>
            <a:r>
              <a:rPr sz="6000">
                <a:solidFill>
                  <a:srgbClr val="000000"/>
                </a:solidFill>
                <a:latin typeface="DejaVu Sans Mono"/>
              </a:rPr>
              <a:t> </a:t>
            </a:r>
            <a:r>
              <a:rPr sz="6000">
                <a:solidFill>
                  <a:srgbClr val="0074DF"/>
                </a:solidFill>
                <a:latin typeface="DejaVu Sans Mono"/>
              </a:rPr>
              <a:t>auto</a:t>
            </a:r>
            <a:r>
              <a:rPr sz="6000">
                <a:solidFill>
                  <a:srgbClr val="000000"/>
                </a:solidFill>
                <a:latin typeface="DejaVu Sans Mono"/>
              </a:rPr>
              <a:t> </a:t>
            </a:r>
            <a:r>
              <a:rPr sz="6000">
                <a:solidFill>
                  <a:srgbClr val="000000"/>
                </a:solidFill>
                <a:latin typeface="DejaVu Sans Mono"/>
              </a:rPr>
              <a:t>rank</a:t>
            </a:r>
            <a:r>
              <a:rPr sz="6000">
                <a:solidFill>
                  <a:srgbClr val="000000"/>
                </a:solidFill>
                <a:latin typeface="DejaVu Sans Mono"/>
              </a:rPr>
              <a:t> </a:t>
            </a:r>
            <a:r>
              <a:rPr sz="6000">
                <a:solidFill>
                  <a:srgbClr val="000000"/>
                </a:solidFill>
                <a:latin typeface="DejaVu Sans Mono"/>
              </a:rPr>
              <a:t>=</a:t>
            </a:r>
            <a:r>
              <a:rPr sz="6000">
                <a:solidFill>
                  <a:srgbClr val="000000"/>
                </a:solidFill>
                <a:latin typeface="DejaVu Sans Mono"/>
              </a:rPr>
              <a:t> </a:t>
            </a:r>
            <a:r>
              <a:rPr sz="6000">
                <a:solidFill>
                  <a:srgbClr val="000000"/>
                </a:solidFill>
                <a:latin typeface="DejaVu Sans Mono"/>
              </a:rPr>
              <a:t>threadIdx</a:t>
            </a:r>
            <a:r>
              <a:rPr sz="6000">
                <a:solidFill>
                  <a:srgbClr val="000000"/>
                </a:solidFill>
                <a:latin typeface="DejaVu Sans Mono"/>
              </a:rPr>
              <a:t>.</a:t>
            </a:r>
            <a:r>
              <a:rPr sz="6000">
                <a:solidFill>
                  <a:srgbClr val="000000"/>
                </a:solidFill>
                <a:latin typeface="DejaVu Sans Mono"/>
              </a:rPr>
              <a:t>x</a:t>
            </a:r>
            <a:r>
              <a:rPr sz="6000">
                <a:solidFill>
                  <a:srgbClr val="000000"/>
                </a:solidFill>
                <a:latin typeface="DejaVu Sans Mono"/>
              </a:rPr>
              <a:t>;</a:t>
            </a:r>
          </a:p>
          <a:p>
            <a:pPr>
              <a:lnSpc>
                <a:spcPct val="112000"/>
              </a:lnSpc>
              <a:spcAft>
                <a:spcPts val="0"/>
              </a:spcAft>
            </a:pPr>
          </a:p>
        </p:txBody>
      </p:sp>
      <p:sp>
        <p:nvSpPr>
          <p:cNvPr id="13" name="Rectangle 12"/>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Static hierarchy facts can reduce arithmetic and improve specialization opportunities.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Static group information sizes resources</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Ask the group for its compile-time extent.</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06</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Concepts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docs/cudax/coop/group/index.rst</a:t>
            </a:r>
          </a:p>
        </p:txBody>
      </p:sp>
      <p:sp>
        <p:nvSpPr>
          <p:cNvPr id="7" name="Rectangle 6"/>
          <p:cNvSpPr/>
          <p:nvPr/>
        </p:nvSpPr>
        <p:spPr>
          <a:xfrm>
            <a:off x="1783080" y="5897879"/>
            <a:ext cx="32918400" cy="5568696"/>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31656527" cy="4690871"/>
          </a:xfrm>
          <a:prstGeom prst="rect">
            <a:avLst/>
          </a:prstGeom>
          <a:noFill/>
        </p:spPr>
        <p:txBody>
          <a:bodyPr wrap="none" lIns="0" rIns="0" tIns="0" bIns="0">
            <a:noAutofit/>
          </a:bodyPr>
          <a:lstStyle/>
          <a:p>
            <a:pPr>
              <a:lnSpc>
                <a:spcPct val="112000"/>
              </a:lnSpc>
              <a:spcAft>
                <a:spcPts val="0"/>
              </a:spcAft>
            </a:pPr>
            <a:r>
              <a:rPr sz="5400">
                <a:solidFill>
                  <a:srgbClr val="0074DF"/>
                </a:solidFill>
                <a:latin typeface="DejaVu Sans Mono"/>
              </a:rPr>
              <a:t>const</a:t>
            </a:r>
            <a:r>
              <a:rPr sz="5400">
                <a:solidFill>
                  <a:srgbClr val="000000"/>
                </a:solidFill>
                <a:latin typeface="DejaVu Sans Mono"/>
              </a:rPr>
              <a:t> </a:t>
            </a:r>
            <a:r>
              <a:rPr sz="5400">
                <a:solidFill>
                  <a:srgbClr val="000000"/>
                </a:solidFill>
                <a:latin typeface="DejaVu Sans Mono"/>
              </a:rPr>
              <a:t>coop</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group_view</a:t>
            </a:r>
            <a:r>
              <a:rPr sz="5400">
                <a:solidFill>
                  <a:srgbClr val="000000"/>
                </a:solidFill>
                <a:latin typeface="DejaVu Sans Mono"/>
              </a:rPr>
              <a:t> </a:t>
            </a:r>
            <a:r>
              <a:rPr sz="5400">
                <a:solidFill>
                  <a:srgbClr val="000000"/>
                </a:solidFill>
                <a:latin typeface="DejaVu Sans Mono"/>
              </a:rPr>
              <a:t>view</a:t>
            </a:r>
            <a:r>
              <a:rPr sz="5400">
                <a:solidFill>
                  <a:srgbClr val="000000"/>
                </a:solidFill>
                <a:latin typeface="DejaVu Sans Mono"/>
              </a:rPr>
              <a:t>{</a:t>
            </a:r>
            <a:r>
              <a:rPr sz="5400">
                <a:solidFill>
                  <a:srgbClr val="000000"/>
                </a:solidFill>
                <a:latin typeface="DejaVu Sans Mono"/>
              </a:rPr>
              <a:t>group</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r>
              <a:rPr sz="5400">
                <a:solidFill>
                  <a:srgbClr val="0074DF"/>
                </a:solidFill>
                <a:latin typeface="DejaVu Sans Mono"/>
              </a:rPr>
              <a:t>constexpr</a:t>
            </a:r>
            <a:r>
              <a:rPr sz="5400">
                <a:solidFill>
                  <a:srgbClr val="000000"/>
                </a:solidFill>
                <a:latin typeface="DejaVu Sans Mono"/>
              </a:rPr>
              <a:t> </a:t>
            </a:r>
            <a:r>
              <a:rPr sz="5400">
                <a:solidFill>
                  <a:srgbClr val="0074DF"/>
                </a:solidFill>
                <a:latin typeface="DejaVu Sans Mono"/>
              </a:rPr>
              <a:t>auto</a:t>
            </a:r>
            <a:r>
              <a:rPr sz="5400">
                <a:solidFill>
                  <a:srgbClr val="000000"/>
                </a:solidFill>
                <a:latin typeface="DejaVu Sans Mono"/>
              </a:rPr>
              <a:t> </a:t>
            </a:r>
            <a:r>
              <a:rPr sz="5400">
                <a:solidFill>
                  <a:srgbClr val="000000"/>
                </a:solidFill>
                <a:latin typeface="DejaVu Sans Mono"/>
              </a:rPr>
              <a:t>n</a:t>
            </a:r>
            <a:r>
              <a:rPr sz="5400">
                <a:solidFill>
                  <a:srgbClr val="000000"/>
                </a:solidFill>
                <a:latin typeface="DejaVu Sans Mono"/>
              </a:rPr>
              <a:t> </a:t>
            </a:r>
            <a:r>
              <a:rPr sz="5400">
                <a:solidFill>
                  <a:srgbClr val="000000"/>
                </a:solidFill>
                <a:latin typeface="DejaVu Sans Mono"/>
              </a:rPr>
              <a:t>=</a:t>
            </a:r>
            <a:r>
              <a:rPr sz="5400">
                <a:solidFill>
                  <a:srgbClr val="000000"/>
                </a:solidFill>
                <a:latin typeface="DejaVu Sans Mono"/>
              </a:rPr>
              <a:t> </a:t>
            </a:r>
            <a:r>
              <a:rPr sz="5400">
                <a:solidFill>
                  <a:srgbClr val="000000"/>
                </a:solidFill>
                <a:latin typeface="DejaVu Sans Mono"/>
              </a:rPr>
              <a:t>cuda</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gpu_thread</a:t>
            </a:r>
            <a:r>
              <a:rPr sz="5400">
                <a:solidFill>
                  <a:srgbClr val="000000"/>
                </a:solidFill>
                <a:latin typeface="DejaVu Sans Mono"/>
              </a:rPr>
              <a:t>.</a:t>
            </a:r>
            <a:r>
              <a:rPr sz="5400">
                <a:solidFill>
                  <a:srgbClr val="000000"/>
                </a:solidFill>
                <a:latin typeface="DejaVu Sans Mono"/>
              </a:rPr>
              <a:t>static_count</a:t>
            </a:r>
            <a:r>
              <a:rPr sz="5400">
                <a:solidFill>
                  <a:srgbClr val="000000"/>
                </a:solidFill>
                <a:latin typeface="DejaVu Sans Mono"/>
              </a:rPr>
              <a:t>(</a:t>
            </a:r>
            <a:r>
              <a:rPr sz="5400">
                <a:solidFill>
                  <a:srgbClr val="000000"/>
                </a:solidFill>
                <a:latin typeface="DejaVu Sans Mono"/>
              </a:rPr>
              <a:t>view</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r>
              <a:rPr sz="5400">
                <a:solidFill>
                  <a:srgbClr val="0074DF"/>
                </a:solidFill>
                <a:latin typeface="DejaVu Sans Mono"/>
              </a:rPr>
              <a:t>static_assert</a:t>
            </a:r>
            <a:r>
              <a:rPr sz="5400">
                <a:solidFill>
                  <a:srgbClr val="000000"/>
                </a:solidFill>
                <a:latin typeface="DejaVu Sans Mono"/>
              </a:rPr>
              <a:t>(</a:t>
            </a:r>
            <a:r>
              <a:rPr sz="5400">
                <a:solidFill>
                  <a:srgbClr val="000000"/>
                </a:solidFill>
                <a:latin typeface="DejaVu Sans Mono"/>
              </a:rPr>
              <a:t>n</a:t>
            </a:r>
            <a:r>
              <a:rPr sz="5400">
                <a:solidFill>
                  <a:srgbClr val="000000"/>
                </a:solidFill>
                <a:latin typeface="DejaVu Sans Mono"/>
              </a:rPr>
              <a:t> </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 </a:t>
            </a:r>
            <a:r>
              <a:rPr sz="5400">
                <a:solidFill>
                  <a:srgbClr val="000000"/>
                </a:solidFill>
                <a:latin typeface="DejaVu Sans Mono"/>
              </a:rPr>
              <a:t>cuda</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std</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dynamic_extent</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r>
              <a:rPr sz="5400">
                <a:solidFill>
                  <a:srgbClr val="000000"/>
                </a:solidFill>
                <a:latin typeface="DejaVu Sans Mono"/>
              </a:rPr>
              <a:t>__shared__</a:t>
            </a:r>
            <a:r>
              <a:rPr sz="5400">
                <a:solidFill>
                  <a:srgbClr val="000000"/>
                </a:solidFill>
                <a:latin typeface="DejaVu Sans Mono"/>
              </a:rPr>
              <a:t> </a:t>
            </a:r>
            <a:r>
              <a:rPr sz="5400">
                <a:solidFill>
                  <a:srgbClr val="0074DF"/>
                </a:solidFill>
                <a:latin typeface="DejaVu Sans Mono"/>
              </a:rPr>
              <a:t>int</a:t>
            </a:r>
            <a:r>
              <a:rPr sz="5400">
                <a:solidFill>
                  <a:srgbClr val="000000"/>
                </a:solidFill>
                <a:latin typeface="DejaVu Sans Mono"/>
              </a:rPr>
              <a:t> </a:t>
            </a:r>
            <a:r>
              <a:rPr sz="5400">
                <a:solidFill>
                  <a:srgbClr val="000000"/>
                </a:solidFill>
                <a:latin typeface="DejaVu Sans Mono"/>
              </a:rPr>
              <a:t>scratch</a:t>
            </a:r>
            <a:r>
              <a:rPr sz="5400">
                <a:solidFill>
                  <a:srgbClr val="000000"/>
                </a:solidFill>
                <a:latin typeface="DejaVu Sans Mono"/>
              </a:rPr>
              <a:t>[</a:t>
            </a:r>
            <a:r>
              <a:rPr sz="5400">
                <a:solidFill>
                  <a:srgbClr val="000000"/>
                </a:solidFill>
                <a:latin typeface="DejaVu Sans Mono"/>
              </a:rPr>
              <a:t>n</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p>
        </p:txBody>
      </p:sp>
      <p:sp>
        <p:nvSpPr>
          <p:cNvPr id="9" name="Rectangle 8"/>
          <p:cNvSpPr/>
          <p:nvPr/>
        </p:nvSpPr>
        <p:spPr>
          <a:xfrm>
            <a:off x="1865376" y="13085064"/>
            <a:ext cx="178308" cy="1783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68880" y="12755880"/>
            <a:ext cx="31491935" cy="1783080"/>
          </a:xfrm>
          <a:prstGeom prst="rect">
            <a:avLst/>
          </a:prstGeom>
          <a:noFill/>
        </p:spPr>
        <p:txBody>
          <a:bodyPr wrap="square" lIns="0" rIns="0" tIns="0" bIns="0">
            <a:noAutofit/>
          </a:bodyPr>
          <a:lstStyle/>
          <a:p>
            <a:pPr algn="l">
              <a:lnSpc>
                <a:spcPct val="108000"/>
              </a:lnSpc>
              <a:spcAft>
                <a:spcPts val="1260"/>
              </a:spcAft>
              <a:defRPr sz="6300" b="0">
                <a:solidFill>
                  <a:srgbClr val="000000"/>
                </a:solidFill>
                <a:latin typeface="NVIDIA Sans"/>
              </a:defRPr>
            </a:pPr>
            <a:r>
              <a:t>Use static_count() when the type carries the extent.</a:t>
            </a:r>
          </a:p>
        </p:txBody>
      </p:sp>
      <p:sp>
        <p:nvSpPr>
          <p:cNvPr id="11" name="Rectangle 10"/>
          <p:cNvSpPr/>
          <p:nvPr/>
        </p:nvSpPr>
        <p:spPr>
          <a:xfrm>
            <a:off x="1865376" y="15142464"/>
            <a:ext cx="178308" cy="1783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68880" y="14813280"/>
            <a:ext cx="31491935" cy="1783080"/>
          </a:xfrm>
          <a:prstGeom prst="rect">
            <a:avLst/>
          </a:prstGeom>
          <a:noFill/>
        </p:spPr>
        <p:txBody>
          <a:bodyPr wrap="square" lIns="0" rIns="0" tIns="0" bIns="0">
            <a:noAutofit/>
          </a:bodyPr>
          <a:lstStyle/>
          <a:p>
            <a:pPr algn="l">
              <a:lnSpc>
                <a:spcPct val="108000"/>
              </a:lnSpc>
              <a:spcAft>
                <a:spcPts val="1260"/>
              </a:spcAft>
              <a:defRPr sz="6300" b="0">
                <a:solidFill>
                  <a:srgbClr val="000000"/>
                </a:solidFill>
                <a:latin typeface="NVIDIA Sans"/>
              </a:defRPr>
            </a:pPr>
            <a:r>
              <a:t>Handle dynamic_extent when only runtime dimensions exist.</a:t>
            </a:r>
          </a:p>
        </p:txBody>
      </p:sp>
      <p:sp>
        <p:nvSpPr>
          <p:cNvPr id="13" name="Rectangle 12"/>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The excerpt requires a statically known extent; a runtime count cannot size a static shared array.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Four independent design choices</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Define what belongs together and how it rendezvous.</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07</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Concepts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docs/cudax/coop/group/index.rst</a:t>
            </a:r>
          </a:p>
        </p:txBody>
      </p:sp>
      <p:sp>
        <p:nvSpPr>
          <p:cNvPr id="7" name="Rectangle 6"/>
          <p:cNvSpPr/>
          <p:nvPr/>
        </p:nvSpPr>
        <p:spPr>
          <a:xfrm>
            <a:off x="1783080" y="6446520"/>
            <a:ext cx="7735823" cy="10424159"/>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783080" y="6446520"/>
            <a:ext cx="7735823"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6584" y="7132320"/>
            <a:ext cx="6528816" cy="2331720"/>
          </a:xfrm>
          <a:prstGeom prst="rect">
            <a:avLst/>
          </a:prstGeom>
          <a:noFill/>
        </p:spPr>
        <p:txBody>
          <a:bodyPr wrap="square" lIns="0" rIns="0" tIns="0" bIns="0">
            <a:noAutofit/>
          </a:bodyPr>
          <a:lstStyle/>
          <a:p>
            <a:pPr algn="l">
              <a:lnSpc>
                <a:spcPct val="108000"/>
              </a:lnSpc>
              <a:spcAft>
                <a:spcPts val="1380"/>
              </a:spcAft>
              <a:defRPr sz="6900" b="1">
                <a:solidFill>
                  <a:srgbClr val="000000"/>
                </a:solidFill>
                <a:latin typeface="NVIDIA Sans Medium"/>
              </a:defRPr>
            </a:pPr>
            <a:r>
              <a:t>What?</a:t>
            </a:r>
          </a:p>
        </p:txBody>
      </p:sp>
      <p:sp>
        <p:nvSpPr>
          <p:cNvPr id="10" name="TextBox 9"/>
          <p:cNvSpPr txBox="1"/>
          <p:nvPr/>
        </p:nvSpPr>
        <p:spPr>
          <a:xfrm>
            <a:off x="2386584" y="9875520"/>
            <a:ext cx="6528816" cy="6528816"/>
          </a:xfrm>
          <a:prstGeom prst="rect">
            <a:avLst/>
          </a:prstGeom>
          <a:noFill/>
        </p:spPr>
        <p:txBody>
          <a:bodyPr wrap="square" lIns="0" rIns="0" tIns="0" bIns="0">
            <a:noAutofit/>
          </a:bodyPr>
          <a:lstStyle/>
          <a:p>
            <a:pPr algn="l">
              <a:lnSpc>
                <a:spcPct val="108000"/>
              </a:lnSpc>
              <a:spcAft>
                <a:spcPts val="1110"/>
              </a:spcAft>
              <a:defRPr sz="5550" b="0">
                <a:solidFill>
                  <a:srgbClr val="000000"/>
                </a:solidFill>
                <a:latin typeface="NVIDIA Sans"/>
              </a:defRPr>
            </a:pPr>
            <a:r>
              <a:t>Choose the unit: threads, warps, blocks or another hierarchy level.</a:t>
            </a:r>
          </a:p>
        </p:txBody>
      </p:sp>
      <p:sp>
        <p:nvSpPr>
          <p:cNvPr id="11" name="Rectangle 10"/>
          <p:cNvSpPr/>
          <p:nvPr/>
        </p:nvSpPr>
        <p:spPr>
          <a:xfrm>
            <a:off x="10177272" y="6446520"/>
            <a:ext cx="7735823" cy="10424159"/>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177272" y="6446520"/>
            <a:ext cx="7735823"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0776" y="7132320"/>
            <a:ext cx="6528816" cy="2331720"/>
          </a:xfrm>
          <a:prstGeom prst="rect">
            <a:avLst/>
          </a:prstGeom>
          <a:noFill/>
        </p:spPr>
        <p:txBody>
          <a:bodyPr wrap="square" lIns="0" rIns="0" tIns="0" bIns="0">
            <a:noAutofit/>
          </a:bodyPr>
          <a:lstStyle/>
          <a:p>
            <a:pPr algn="l">
              <a:lnSpc>
                <a:spcPct val="108000"/>
              </a:lnSpc>
              <a:spcAft>
                <a:spcPts val="1380"/>
              </a:spcAft>
              <a:defRPr sz="6900" b="1">
                <a:solidFill>
                  <a:srgbClr val="000000"/>
                </a:solidFill>
                <a:latin typeface="NVIDIA Sans Medium"/>
              </a:defRPr>
            </a:pPr>
            <a:r>
              <a:t>Where?</a:t>
            </a:r>
          </a:p>
        </p:txBody>
      </p:sp>
      <p:sp>
        <p:nvSpPr>
          <p:cNvPr id="14" name="TextBox 13"/>
          <p:cNvSpPr txBox="1"/>
          <p:nvPr/>
        </p:nvSpPr>
        <p:spPr>
          <a:xfrm>
            <a:off x="10780776" y="9875520"/>
            <a:ext cx="6528816" cy="6528816"/>
          </a:xfrm>
          <a:prstGeom prst="rect">
            <a:avLst/>
          </a:prstGeom>
          <a:noFill/>
        </p:spPr>
        <p:txBody>
          <a:bodyPr wrap="square" lIns="0" rIns="0" tIns="0" bIns="0">
            <a:noAutofit/>
          </a:bodyPr>
          <a:lstStyle/>
          <a:p>
            <a:pPr algn="l">
              <a:lnSpc>
                <a:spcPct val="108000"/>
              </a:lnSpc>
              <a:spcAft>
                <a:spcPts val="1110"/>
              </a:spcAft>
              <a:defRPr sz="5550" b="0">
                <a:solidFill>
                  <a:srgbClr val="000000"/>
                </a:solidFill>
                <a:latin typeface="NVIDIA Sans"/>
              </a:defRPr>
            </a:pPr>
            <a:r>
              <a:t>Choose the parent group and its upper boundary.</a:t>
            </a:r>
          </a:p>
        </p:txBody>
      </p:sp>
      <p:sp>
        <p:nvSpPr>
          <p:cNvPr id="15" name="Rectangle 14"/>
          <p:cNvSpPr/>
          <p:nvPr/>
        </p:nvSpPr>
        <p:spPr>
          <a:xfrm>
            <a:off x="18571464" y="6446520"/>
            <a:ext cx="7735823" cy="10424159"/>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571464" y="6446520"/>
            <a:ext cx="7735823"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174968" y="7132320"/>
            <a:ext cx="6528816" cy="2331720"/>
          </a:xfrm>
          <a:prstGeom prst="rect">
            <a:avLst/>
          </a:prstGeom>
          <a:noFill/>
        </p:spPr>
        <p:txBody>
          <a:bodyPr wrap="square" lIns="0" rIns="0" tIns="0" bIns="0">
            <a:noAutofit/>
          </a:bodyPr>
          <a:lstStyle/>
          <a:p>
            <a:pPr algn="l">
              <a:lnSpc>
                <a:spcPct val="108000"/>
              </a:lnSpc>
              <a:spcAft>
                <a:spcPts val="1380"/>
              </a:spcAft>
              <a:defRPr sz="6900" b="1">
                <a:solidFill>
                  <a:srgbClr val="000000"/>
                </a:solidFill>
                <a:latin typeface="NVIDIA Sans Medium"/>
              </a:defRPr>
            </a:pPr>
            <a:r>
              <a:t>How grouped?</a:t>
            </a:r>
          </a:p>
        </p:txBody>
      </p:sp>
      <p:sp>
        <p:nvSpPr>
          <p:cNvPr id="18" name="TextBox 17"/>
          <p:cNvSpPr txBox="1"/>
          <p:nvPr/>
        </p:nvSpPr>
        <p:spPr>
          <a:xfrm>
            <a:off x="19174968" y="9875520"/>
            <a:ext cx="6528816" cy="6528816"/>
          </a:xfrm>
          <a:prstGeom prst="rect">
            <a:avLst/>
          </a:prstGeom>
          <a:noFill/>
        </p:spPr>
        <p:txBody>
          <a:bodyPr wrap="square" lIns="0" rIns="0" tIns="0" bIns="0">
            <a:noAutofit/>
          </a:bodyPr>
          <a:lstStyle/>
          <a:p>
            <a:pPr algn="l">
              <a:lnSpc>
                <a:spcPct val="108000"/>
              </a:lnSpc>
              <a:spcAft>
                <a:spcPts val="1110"/>
              </a:spcAft>
              <a:defRPr sz="5550" b="0">
                <a:solidFill>
                  <a:srgbClr val="000000"/>
                </a:solidFill>
                <a:latin typeface="NVIDIA Sans"/>
              </a:defRPr>
            </a:pPr>
            <a:r>
              <a:t>Choose a mapping: fixed sizes, a size list or a predicate.</a:t>
            </a:r>
          </a:p>
        </p:txBody>
      </p:sp>
      <p:sp>
        <p:nvSpPr>
          <p:cNvPr id="19" name="Rectangle 18"/>
          <p:cNvSpPr/>
          <p:nvPr/>
        </p:nvSpPr>
        <p:spPr>
          <a:xfrm>
            <a:off x="26965656" y="6446520"/>
            <a:ext cx="7735823" cy="10424159"/>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6965656" y="6446520"/>
            <a:ext cx="7735823"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569160" y="7132320"/>
            <a:ext cx="6528816" cy="2331720"/>
          </a:xfrm>
          <a:prstGeom prst="rect">
            <a:avLst/>
          </a:prstGeom>
          <a:noFill/>
        </p:spPr>
        <p:txBody>
          <a:bodyPr wrap="square" lIns="0" rIns="0" tIns="0" bIns="0">
            <a:noAutofit/>
          </a:bodyPr>
          <a:lstStyle/>
          <a:p>
            <a:pPr algn="l">
              <a:lnSpc>
                <a:spcPct val="108000"/>
              </a:lnSpc>
              <a:spcAft>
                <a:spcPts val="1380"/>
              </a:spcAft>
              <a:defRPr sz="6900" b="1">
                <a:solidFill>
                  <a:srgbClr val="000000"/>
                </a:solidFill>
                <a:latin typeface="NVIDIA Sans Medium"/>
              </a:defRPr>
            </a:pPr>
            <a:r>
              <a:t>How synced?</a:t>
            </a:r>
          </a:p>
        </p:txBody>
      </p:sp>
      <p:sp>
        <p:nvSpPr>
          <p:cNvPr id="22" name="TextBox 21"/>
          <p:cNvSpPr txBox="1"/>
          <p:nvPr/>
        </p:nvSpPr>
        <p:spPr>
          <a:xfrm>
            <a:off x="27569160" y="9875520"/>
            <a:ext cx="6528816" cy="6528816"/>
          </a:xfrm>
          <a:prstGeom prst="rect">
            <a:avLst/>
          </a:prstGeom>
          <a:noFill/>
        </p:spPr>
        <p:txBody>
          <a:bodyPr wrap="square" lIns="0" rIns="0" tIns="0" bIns="0">
            <a:noAutofit/>
          </a:bodyPr>
          <a:lstStyle/>
          <a:p>
            <a:pPr algn="l">
              <a:lnSpc>
                <a:spcPct val="108000"/>
              </a:lnSpc>
              <a:spcAft>
                <a:spcPts val="1110"/>
              </a:spcAft>
              <a:defRPr sz="5550" b="0">
                <a:solidFill>
                  <a:srgbClr val="000000"/>
                </a:solidFill>
                <a:latin typeface="NVIDIA Sans"/>
              </a:defRPr>
            </a:pPr>
            <a:r>
              <a:t>Choose a synchronizer suited to the units and scope.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The group contract is deliberately small</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Types describe structure; operations express coordination.</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08</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Concepts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docs/cudax/coop/group/index.rst</a:t>
            </a:r>
          </a:p>
        </p:txBody>
      </p:sp>
      <p:sp>
        <p:nvSpPr>
          <p:cNvPr id="7" name="Rectangle 6"/>
          <p:cNvSpPr/>
          <p:nvPr/>
        </p:nvSpPr>
        <p:spPr>
          <a:xfrm>
            <a:off x="1783080" y="5897879"/>
            <a:ext cx="20025360" cy="94640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18763488" cy="8586216"/>
          </a:xfrm>
          <a:prstGeom prst="rect">
            <a:avLst/>
          </a:prstGeom>
          <a:noFill/>
        </p:spPr>
        <p:txBody>
          <a:bodyPr wrap="none" lIns="0" rIns="0" tIns="0" bIns="0">
            <a:noAutofit/>
          </a:bodyPr>
          <a:lstStyle/>
          <a:p>
            <a:pPr>
              <a:lnSpc>
                <a:spcPct val="112000"/>
              </a:lnSpc>
              <a:spcAft>
                <a:spcPts val="0"/>
              </a:spcAft>
            </a:pPr>
            <a:r>
              <a:rPr sz="5100">
                <a:solidFill>
                  <a:srgbClr val="0074DF"/>
                </a:solidFill>
                <a:latin typeface="DejaVu Sans Mono"/>
              </a:rPr>
              <a:t>using</a:t>
            </a:r>
            <a:r>
              <a:rPr sz="5100">
                <a:solidFill>
                  <a:srgbClr val="000000"/>
                </a:solidFill>
                <a:latin typeface="DejaVu Sans Mono"/>
              </a:rPr>
              <a:t> </a:t>
            </a:r>
            <a:r>
              <a:rPr sz="5100">
                <a:solidFill>
                  <a:srgbClr val="000000"/>
                </a:solidFill>
                <a:latin typeface="DejaVu Sans Mono"/>
              </a:rPr>
              <a:t>unit_type</a:t>
            </a:r>
            <a:r>
              <a:rPr sz="5100">
                <a:solidFill>
                  <a:srgbClr val="000000"/>
                </a:solidFill>
                <a:latin typeface="DejaVu Sans Mono"/>
              </a:rPr>
              <a:t>      </a:t>
            </a:r>
            <a:r>
              <a:rPr sz="5100">
                <a:solidFill>
                  <a:srgbClr val="000000"/>
                </a:solidFill>
                <a:latin typeface="DejaVu Sans Mono"/>
              </a:rPr>
              <a:t>=</a:t>
            </a:r>
            <a:r>
              <a:rPr sz="5100">
                <a:solidFill>
                  <a:srgbClr val="000000"/>
                </a:solidFill>
                <a:latin typeface="DejaVu Sans Mono"/>
              </a:rPr>
              <a:t> </a:t>
            </a:r>
            <a:r>
              <a:rPr sz="5100">
                <a:solidFill>
                  <a:srgbClr val="757575"/>
                </a:solidFill>
                <a:latin typeface="DejaVu Sans Mono"/>
              </a:rPr>
              <a:t>/* grouped unit */</a:t>
            </a:r>
            <a:r>
              <a:rPr sz="5100">
                <a:solidFill>
                  <a:srgbClr val="000000"/>
                </a:solidFill>
                <a:latin typeface="DejaVu Sans Mono"/>
              </a:rPr>
              <a:t>;</a:t>
            </a:r>
          </a:p>
          <a:p>
            <a:pPr>
              <a:lnSpc>
                <a:spcPct val="112000"/>
              </a:lnSpc>
              <a:spcAft>
                <a:spcPts val="0"/>
              </a:spcAft>
            </a:pPr>
            <a:r>
              <a:rPr sz="5100">
                <a:solidFill>
                  <a:srgbClr val="0074DF"/>
                </a:solidFill>
                <a:latin typeface="DejaVu Sans Mono"/>
              </a:rPr>
              <a:t>using</a:t>
            </a:r>
            <a:r>
              <a:rPr sz="5100">
                <a:solidFill>
                  <a:srgbClr val="000000"/>
                </a:solidFill>
                <a:latin typeface="DejaVu Sans Mono"/>
              </a:rPr>
              <a:t> </a:t>
            </a:r>
            <a:r>
              <a:rPr sz="5100">
                <a:solidFill>
                  <a:srgbClr val="000000"/>
                </a:solidFill>
                <a:latin typeface="DejaVu Sans Mono"/>
              </a:rPr>
              <a:t>level_type</a:t>
            </a:r>
            <a:r>
              <a:rPr sz="5100">
                <a:solidFill>
                  <a:srgbClr val="000000"/>
                </a:solidFill>
                <a:latin typeface="DejaVu Sans Mono"/>
              </a:rPr>
              <a:t>     </a:t>
            </a:r>
            <a:r>
              <a:rPr sz="5100">
                <a:solidFill>
                  <a:srgbClr val="000000"/>
                </a:solidFill>
                <a:latin typeface="DejaVu Sans Mono"/>
              </a:rPr>
              <a:t>=</a:t>
            </a:r>
            <a:r>
              <a:rPr sz="5100">
                <a:solidFill>
                  <a:srgbClr val="000000"/>
                </a:solidFill>
                <a:latin typeface="DejaVu Sans Mono"/>
              </a:rPr>
              <a:t> </a:t>
            </a:r>
            <a:r>
              <a:rPr sz="5100">
                <a:solidFill>
                  <a:srgbClr val="757575"/>
                </a:solidFill>
                <a:latin typeface="DejaVu Sans Mono"/>
              </a:rPr>
              <a:t>/* upper boundary */</a:t>
            </a:r>
            <a:r>
              <a:rPr sz="5100">
                <a:solidFill>
                  <a:srgbClr val="000000"/>
                </a:solidFill>
                <a:latin typeface="DejaVu Sans Mono"/>
              </a:rPr>
              <a:t>;</a:t>
            </a:r>
          </a:p>
          <a:p>
            <a:pPr>
              <a:lnSpc>
                <a:spcPct val="112000"/>
              </a:lnSpc>
              <a:spcAft>
                <a:spcPts val="0"/>
              </a:spcAft>
            </a:pPr>
            <a:r>
              <a:rPr sz="5100">
                <a:solidFill>
                  <a:srgbClr val="0074DF"/>
                </a:solidFill>
                <a:latin typeface="DejaVu Sans Mono"/>
              </a:rPr>
              <a:t>using</a:t>
            </a:r>
            <a:r>
              <a:rPr sz="5100">
                <a:solidFill>
                  <a:srgbClr val="000000"/>
                </a:solidFill>
                <a:latin typeface="DejaVu Sans Mono"/>
              </a:rPr>
              <a:t> </a:t>
            </a:r>
            <a:r>
              <a:rPr sz="5100">
                <a:solidFill>
                  <a:srgbClr val="000000"/>
                </a:solidFill>
                <a:latin typeface="DejaVu Sans Mono"/>
              </a:rPr>
              <a:t>hierarchy_type</a:t>
            </a:r>
            <a:r>
              <a:rPr sz="5100">
                <a:solidFill>
                  <a:srgbClr val="000000"/>
                </a:solidFill>
                <a:latin typeface="DejaVu Sans Mono"/>
              </a:rPr>
              <a:t> </a:t>
            </a:r>
            <a:r>
              <a:rPr sz="5100">
                <a:solidFill>
                  <a:srgbClr val="000000"/>
                </a:solidFill>
                <a:latin typeface="DejaVu Sans Mono"/>
              </a:rPr>
              <a:t>=</a:t>
            </a:r>
            <a:r>
              <a:rPr sz="5100">
                <a:solidFill>
                  <a:srgbClr val="000000"/>
                </a:solidFill>
                <a:latin typeface="DejaVu Sans Mono"/>
              </a:rPr>
              <a:t> </a:t>
            </a:r>
            <a:r>
              <a:rPr sz="5100">
                <a:solidFill>
                  <a:srgbClr val="757575"/>
                </a:solidFill>
                <a:latin typeface="DejaVu Sans Mono"/>
              </a:rPr>
              <a:t>/* launch hierarchy */</a:t>
            </a:r>
            <a:r>
              <a:rPr sz="5100">
                <a:solidFill>
                  <a:srgbClr val="000000"/>
                </a:solidFill>
                <a:latin typeface="DejaVu Sans Mono"/>
              </a:rPr>
              <a:t>;</a:t>
            </a:r>
          </a:p>
          <a:p>
            <a:pPr>
              <a:lnSpc>
                <a:spcPct val="112000"/>
              </a:lnSpc>
              <a:spcAft>
                <a:spcPts val="0"/>
              </a:spcAft>
            </a:pPr>
          </a:p>
          <a:p>
            <a:pPr>
              <a:lnSpc>
                <a:spcPct val="112000"/>
              </a:lnSpc>
              <a:spcAft>
                <a:spcPts val="0"/>
              </a:spcAft>
            </a:pPr>
            <a:r>
              <a:rPr sz="5100">
                <a:solidFill>
                  <a:srgbClr val="000000"/>
                </a:solidFill>
                <a:latin typeface="DejaVu Sans Mono"/>
              </a:rPr>
              <a:t>group</a:t>
            </a:r>
            <a:r>
              <a:rPr sz="5100">
                <a:solidFill>
                  <a:srgbClr val="000000"/>
                </a:solidFill>
                <a:latin typeface="DejaVu Sans Mono"/>
              </a:rPr>
              <a:t>.</a:t>
            </a:r>
            <a:r>
              <a:rPr sz="5100">
                <a:solidFill>
                  <a:srgbClr val="000000"/>
                </a:solidFill>
                <a:latin typeface="DejaVu Sans Mono"/>
              </a:rPr>
              <a:t>hierarchy</a:t>
            </a:r>
            <a:r>
              <a:rPr sz="5100">
                <a:solidFill>
                  <a:srgbClr val="000000"/>
                </a:solidFill>
                <a:latin typeface="DejaVu Sans Mono"/>
              </a:rPr>
              <a:t>(</a:t>
            </a:r>
            <a:r>
              <a:rPr sz="5100">
                <a:solidFill>
                  <a:srgbClr val="000000"/>
                </a:solidFill>
                <a:latin typeface="DejaVu Sans Mono"/>
              </a:rPr>
              <a:t>)</a:t>
            </a:r>
            <a:r>
              <a:rPr sz="5100">
                <a:solidFill>
                  <a:srgbClr val="000000"/>
                </a:solidFill>
                <a:latin typeface="DejaVu Sans Mono"/>
              </a:rPr>
              <a:t>;</a:t>
            </a:r>
          </a:p>
          <a:p>
            <a:pPr>
              <a:lnSpc>
                <a:spcPct val="112000"/>
              </a:lnSpc>
              <a:spcAft>
                <a:spcPts val="0"/>
              </a:spcAft>
            </a:pPr>
            <a:r>
              <a:rPr sz="5100">
                <a:solidFill>
                  <a:srgbClr val="000000"/>
                </a:solidFill>
                <a:latin typeface="DejaVu Sans Mono"/>
              </a:rPr>
              <a:t>group</a:t>
            </a:r>
            <a:r>
              <a:rPr sz="5100">
                <a:solidFill>
                  <a:srgbClr val="000000"/>
                </a:solidFill>
                <a:latin typeface="DejaVu Sans Mono"/>
              </a:rPr>
              <a:t>.</a:t>
            </a:r>
            <a:r>
              <a:rPr sz="5100">
                <a:solidFill>
                  <a:srgbClr val="000000"/>
                </a:solidFill>
                <a:latin typeface="DejaVu Sans Mono"/>
              </a:rPr>
              <a:t>sync</a:t>
            </a:r>
            <a:r>
              <a:rPr sz="5100">
                <a:solidFill>
                  <a:srgbClr val="000000"/>
                </a:solidFill>
                <a:latin typeface="DejaVu Sans Mono"/>
              </a:rPr>
              <a:t>(</a:t>
            </a:r>
            <a:r>
              <a:rPr sz="5100">
                <a:solidFill>
                  <a:srgbClr val="000000"/>
                </a:solidFill>
                <a:latin typeface="DejaVu Sans Mono"/>
              </a:rPr>
              <a:t>)</a:t>
            </a:r>
            <a:r>
              <a:rPr sz="5100">
                <a:solidFill>
                  <a:srgbClr val="000000"/>
                </a:solidFill>
                <a:latin typeface="DejaVu Sans Mono"/>
              </a:rPr>
              <a:t>;</a:t>
            </a:r>
          </a:p>
          <a:p>
            <a:pPr>
              <a:lnSpc>
                <a:spcPct val="112000"/>
              </a:lnSpc>
              <a:spcAft>
                <a:spcPts val="0"/>
              </a:spcAft>
            </a:pPr>
            <a:r>
              <a:rPr sz="5100">
                <a:solidFill>
                  <a:srgbClr val="000000"/>
                </a:solidFill>
                <a:latin typeface="DejaVu Sans Mono"/>
              </a:rPr>
              <a:t>group</a:t>
            </a:r>
            <a:r>
              <a:rPr sz="5100">
                <a:solidFill>
                  <a:srgbClr val="000000"/>
                </a:solidFill>
                <a:latin typeface="DejaVu Sans Mono"/>
              </a:rPr>
              <a:t>.</a:t>
            </a:r>
            <a:r>
              <a:rPr sz="5100">
                <a:solidFill>
                  <a:srgbClr val="000000"/>
                </a:solidFill>
                <a:latin typeface="DejaVu Sans Mono"/>
              </a:rPr>
              <a:t>sync_aligned</a:t>
            </a:r>
            <a:r>
              <a:rPr sz="5100">
                <a:solidFill>
                  <a:srgbClr val="000000"/>
                </a:solidFill>
                <a:latin typeface="DejaVu Sans Mono"/>
              </a:rPr>
              <a:t>(</a:t>
            </a:r>
            <a:r>
              <a:rPr sz="5100">
                <a:solidFill>
                  <a:srgbClr val="000000"/>
                </a:solidFill>
                <a:latin typeface="DejaVu Sans Mono"/>
              </a:rPr>
              <a:t>)</a:t>
            </a:r>
            <a:r>
              <a:rPr sz="5100">
                <a:solidFill>
                  <a:srgbClr val="000000"/>
                </a:solidFill>
                <a:latin typeface="DejaVu Sans Mono"/>
              </a:rPr>
              <a:t>;</a:t>
            </a:r>
          </a:p>
          <a:p>
            <a:pPr>
              <a:lnSpc>
                <a:spcPct val="112000"/>
              </a:lnSpc>
              <a:spcAft>
                <a:spcPts val="0"/>
              </a:spcAft>
            </a:pPr>
          </a:p>
        </p:txBody>
      </p:sp>
      <p:sp>
        <p:nvSpPr>
          <p:cNvPr id="9" name="TextBox 8"/>
          <p:cNvSpPr txBox="1"/>
          <p:nvPr/>
        </p:nvSpPr>
        <p:spPr>
          <a:xfrm>
            <a:off x="22768560" y="6638544"/>
            <a:ext cx="10972800" cy="1645919"/>
          </a:xfrm>
          <a:prstGeom prst="rect">
            <a:avLst/>
          </a:prstGeom>
          <a:noFill/>
        </p:spPr>
        <p:txBody>
          <a:bodyPr wrap="square" lIns="0" rIns="0" tIns="0" bIns="0">
            <a:noAutofit/>
          </a:bodyPr>
          <a:lstStyle/>
          <a:p>
            <a:pPr algn="l">
              <a:lnSpc>
                <a:spcPct val="108000"/>
              </a:lnSpc>
              <a:spcAft>
                <a:spcPts val="1320"/>
              </a:spcAft>
              <a:defRPr sz="6600" b="1">
                <a:solidFill>
                  <a:srgbClr val="000000"/>
                </a:solidFill>
                <a:latin typeface="NVIDIA Sans"/>
              </a:defRPr>
            </a:pPr>
            <a:r>
              <a:t>Compile-time properties</a:t>
            </a:r>
          </a:p>
        </p:txBody>
      </p:sp>
      <p:sp>
        <p:nvSpPr>
          <p:cNvPr id="10" name="TextBox 9"/>
          <p:cNvSpPr txBox="1"/>
          <p:nvPr/>
        </p:nvSpPr>
        <p:spPr>
          <a:xfrm>
            <a:off x="22768560" y="8915400"/>
            <a:ext cx="10972800" cy="4389120"/>
          </a:xfrm>
          <a:prstGeom prst="rect">
            <a:avLst/>
          </a:prstGeom>
          <a:noFill/>
        </p:spPr>
        <p:txBody>
          <a:bodyPr wrap="square" lIns="0" rIns="0" tIns="0" bIns="0">
            <a:noAutofit/>
          </a:bodyPr>
          <a:lstStyle/>
          <a:p>
            <a:pPr algn="l">
              <a:lnSpc>
                <a:spcPct val="108000"/>
              </a:lnSpc>
              <a:spcAft>
                <a:spcPts val="1020"/>
              </a:spcAft>
              <a:defRPr sz="5100" b="0">
                <a:solidFill>
                  <a:srgbClr val="000000"/>
                </a:solidFill>
                <a:latin typeface="DejaVu Sans Mono"/>
              </a:defRPr>
            </a:pPr>
            <a:r>
              <a:t>is_always_exhaustive()</a:t>
            </a:r>
          </a:p>
          <a:p>
            <a:pPr algn="l">
              <a:lnSpc>
                <a:spcPct val="108000"/>
              </a:lnSpc>
              <a:spcAft>
                <a:spcPts val="1020"/>
              </a:spcAft>
              <a:defRPr sz="5100" b="0">
                <a:solidFill>
                  <a:srgbClr val="000000"/>
                </a:solidFill>
                <a:latin typeface="DejaVu Sans Mono"/>
              </a:defRPr>
            </a:pPr>
          </a:p>
          <a:p>
            <a:pPr algn="l">
              <a:lnSpc>
                <a:spcPct val="108000"/>
              </a:lnSpc>
              <a:spcAft>
                <a:spcPts val="1020"/>
              </a:spcAft>
              <a:defRPr sz="5100" b="0">
                <a:solidFill>
                  <a:srgbClr val="000000"/>
                </a:solidFill>
                <a:latin typeface="DejaVu Sans Mono"/>
              </a:defRPr>
            </a:pPr>
            <a:r>
              <a:t>is_always_contiguous()</a:t>
            </a:r>
          </a:p>
        </p:txBody>
      </p:sp>
      <p:sp>
        <p:nvSpPr>
          <p:cNvPr id="11" name="Rectangle 10"/>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Properties are guarantees made by the type; false means the property is not guaranteed.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Query the right level of the group</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The same group can be addressed in threads or in warps.</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09</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Concepts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docs/cudax/coop/group/index.rst</a:t>
            </a:r>
          </a:p>
        </p:txBody>
      </p:sp>
      <p:sp>
        <p:nvSpPr>
          <p:cNvPr id="7" name="Rectangle 6"/>
          <p:cNvSpPr/>
          <p:nvPr/>
        </p:nvSpPr>
        <p:spPr>
          <a:xfrm>
            <a:off x="2606039" y="6858000"/>
            <a:ext cx="10204704" cy="6995159"/>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54679" y="7543800"/>
            <a:ext cx="8229600" cy="768096"/>
          </a:xfrm>
          <a:prstGeom prst="rect">
            <a:avLst/>
          </a:prstGeom>
          <a:noFill/>
        </p:spPr>
        <p:txBody>
          <a:bodyPr wrap="square" lIns="0" rIns="0" tIns="0" bIns="0">
            <a:noAutofit/>
          </a:bodyPr>
          <a:lstStyle/>
          <a:p>
            <a:pPr algn="l">
              <a:lnSpc>
                <a:spcPct val="108000"/>
              </a:lnSpc>
              <a:spcAft>
                <a:spcPts val="630"/>
              </a:spcAft>
              <a:defRPr sz="3150" b="1">
                <a:solidFill>
                  <a:srgbClr val="76B900"/>
                </a:solidFill>
                <a:latin typeface="NVIDIA Sans"/>
              </a:defRPr>
            </a:pPr>
            <a:r>
              <a:t>WARP RANK 0</a:t>
            </a:r>
          </a:p>
        </p:txBody>
      </p:sp>
      <p:sp>
        <p:nvSpPr>
          <p:cNvPr id="9" name="TextBox 8"/>
          <p:cNvSpPr txBox="1"/>
          <p:nvPr/>
        </p:nvSpPr>
        <p:spPr>
          <a:xfrm>
            <a:off x="3154679" y="9272016"/>
            <a:ext cx="9052559" cy="1645919"/>
          </a:xfrm>
          <a:prstGeom prst="rect">
            <a:avLst/>
          </a:prstGeom>
          <a:noFill/>
        </p:spPr>
        <p:txBody>
          <a:bodyPr wrap="square" lIns="0" rIns="0" tIns="0" bIns="0">
            <a:noAutofit/>
          </a:bodyPr>
          <a:lstStyle/>
          <a:p>
            <a:pPr algn="l">
              <a:lnSpc>
                <a:spcPct val="108000"/>
              </a:lnSpc>
              <a:spcAft>
                <a:spcPts val="1800"/>
              </a:spcAft>
              <a:defRPr sz="9000" b="1">
                <a:solidFill>
                  <a:srgbClr val="000000"/>
                </a:solidFill>
                <a:latin typeface="NVIDIA Sans"/>
              </a:defRPr>
            </a:pPr>
            <a:r>
              <a:t>0 … 31</a:t>
            </a:r>
          </a:p>
        </p:txBody>
      </p:sp>
      <p:sp>
        <p:nvSpPr>
          <p:cNvPr id="10" name="TextBox 9"/>
          <p:cNvSpPr txBox="1"/>
          <p:nvPr/>
        </p:nvSpPr>
        <p:spPr>
          <a:xfrm>
            <a:off x="3154679" y="11521440"/>
            <a:ext cx="9052559" cy="1097280"/>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thread ranks</a:t>
            </a:r>
          </a:p>
        </p:txBody>
      </p:sp>
      <p:sp>
        <p:nvSpPr>
          <p:cNvPr id="11" name="Rectangle 10"/>
          <p:cNvSpPr/>
          <p:nvPr/>
        </p:nvSpPr>
        <p:spPr>
          <a:xfrm>
            <a:off x="13661136" y="6858000"/>
            <a:ext cx="10204704" cy="6995159"/>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209776" y="7543800"/>
            <a:ext cx="8229600" cy="768096"/>
          </a:xfrm>
          <a:prstGeom prst="rect">
            <a:avLst/>
          </a:prstGeom>
          <a:noFill/>
        </p:spPr>
        <p:txBody>
          <a:bodyPr wrap="square" lIns="0" rIns="0" tIns="0" bIns="0">
            <a:noAutofit/>
          </a:bodyPr>
          <a:lstStyle/>
          <a:p>
            <a:pPr algn="l">
              <a:lnSpc>
                <a:spcPct val="108000"/>
              </a:lnSpc>
              <a:spcAft>
                <a:spcPts val="630"/>
              </a:spcAft>
              <a:defRPr sz="3150" b="1">
                <a:solidFill>
                  <a:srgbClr val="76B900"/>
                </a:solidFill>
                <a:latin typeface="NVIDIA Sans"/>
              </a:defRPr>
            </a:pPr>
            <a:r>
              <a:t>WARP RANK 1</a:t>
            </a:r>
          </a:p>
        </p:txBody>
      </p:sp>
      <p:sp>
        <p:nvSpPr>
          <p:cNvPr id="13" name="TextBox 12"/>
          <p:cNvSpPr txBox="1"/>
          <p:nvPr/>
        </p:nvSpPr>
        <p:spPr>
          <a:xfrm>
            <a:off x="14209776" y="9272016"/>
            <a:ext cx="9052559" cy="1645919"/>
          </a:xfrm>
          <a:prstGeom prst="rect">
            <a:avLst/>
          </a:prstGeom>
          <a:noFill/>
        </p:spPr>
        <p:txBody>
          <a:bodyPr wrap="square" lIns="0" rIns="0" tIns="0" bIns="0">
            <a:noAutofit/>
          </a:bodyPr>
          <a:lstStyle/>
          <a:p>
            <a:pPr algn="l">
              <a:lnSpc>
                <a:spcPct val="108000"/>
              </a:lnSpc>
              <a:spcAft>
                <a:spcPts val="1800"/>
              </a:spcAft>
              <a:defRPr sz="9000" b="1">
                <a:solidFill>
                  <a:srgbClr val="000000"/>
                </a:solidFill>
                <a:latin typeface="NVIDIA Sans"/>
              </a:defRPr>
            </a:pPr>
            <a:r>
              <a:t>32 … 63</a:t>
            </a:r>
          </a:p>
        </p:txBody>
      </p:sp>
      <p:sp>
        <p:nvSpPr>
          <p:cNvPr id="14" name="TextBox 13"/>
          <p:cNvSpPr txBox="1"/>
          <p:nvPr/>
        </p:nvSpPr>
        <p:spPr>
          <a:xfrm>
            <a:off x="14209776" y="11521440"/>
            <a:ext cx="9052559" cy="1097280"/>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thread ranks</a:t>
            </a:r>
          </a:p>
        </p:txBody>
      </p:sp>
      <p:sp>
        <p:nvSpPr>
          <p:cNvPr id="15" name="Rectangle 14"/>
          <p:cNvSpPr/>
          <p:nvPr/>
        </p:nvSpPr>
        <p:spPr>
          <a:xfrm>
            <a:off x="24716232" y="6858000"/>
            <a:ext cx="10204704" cy="6995159"/>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264871" y="7543800"/>
            <a:ext cx="8229600" cy="768096"/>
          </a:xfrm>
          <a:prstGeom prst="rect">
            <a:avLst/>
          </a:prstGeom>
          <a:noFill/>
        </p:spPr>
        <p:txBody>
          <a:bodyPr wrap="square" lIns="0" rIns="0" tIns="0" bIns="0">
            <a:noAutofit/>
          </a:bodyPr>
          <a:lstStyle/>
          <a:p>
            <a:pPr algn="l">
              <a:lnSpc>
                <a:spcPct val="108000"/>
              </a:lnSpc>
              <a:spcAft>
                <a:spcPts val="630"/>
              </a:spcAft>
              <a:defRPr sz="3150" b="1">
                <a:solidFill>
                  <a:srgbClr val="76B900"/>
                </a:solidFill>
                <a:latin typeface="NVIDIA Sans"/>
              </a:defRPr>
            </a:pPr>
            <a:r>
              <a:t>WARP RANK 2</a:t>
            </a:r>
          </a:p>
        </p:txBody>
      </p:sp>
      <p:sp>
        <p:nvSpPr>
          <p:cNvPr id="17" name="TextBox 16"/>
          <p:cNvSpPr txBox="1"/>
          <p:nvPr/>
        </p:nvSpPr>
        <p:spPr>
          <a:xfrm>
            <a:off x="25264871" y="9272016"/>
            <a:ext cx="9052559" cy="1645919"/>
          </a:xfrm>
          <a:prstGeom prst="rect">
            <a:avLst/>
          </a:prstGeom>
          <a:noFill/>
        </p:spPr>
        <p:txBody>
          <a:bodyPr wrap="square" lIns="0" rIns="0" tIns="0" bIns="0">
            <a:noAutofit/>
          </a:bodyPr>
          <a:lstStyle/>
          <a:p>
            <a:pPr algn="l">
              <a:lnSpc>
                <a:spcPct val="108000"/>
              </a:lnSpc>
              <a:spcAft>
                <a:spcPts val="1800"/>
              </a:spcAft>
              <a:defRPr sz="9000" b="1">
                <a:solidFill>
                  <a:srgbClr val="000000"/>
                </a:solidFill>
                <a:latin typeface="NVIDIA Sans"/>
              </a:defRPr>
            </a:pPr>
            <a:r>
              <a:t>64 … 95</a:t>
            </a:r>
          </a:p>
        </p:txBody>
      </p:sp>
      <p:sp>
        <p:nvSpPr>
          <p:cNvPr id="18" name="TextBox 17"/>
          <p:cNvSpPr txBox="1"/>
          <p:nvPr/>
        </p:nvSpPr>
        <p:spPr>
          <a:xfrm>
            <a:off x="25264871" y="11521440"/>
            <a:ext cx="9052559" cy="1097280"/>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thread ranks</a:t>
            </a:r>
          </a:p>
        </p:txBody>
      </p:sp>
      <p:sp>
        <p:nvSpPr>
          <p:cNvPr id="19" name="Rectangle 18"/>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cuda::warp.count(g) == 3  ·  cuda::gpu_thread.count(g) == 96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Sub-unit queries: units inside the group</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Read the query from left to right: unit → information → group.</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10</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Concepts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docs/cudax/coop/group/index.rst</a:t>
            </a:r>
          </a:p>
        </p:txBody>
      </p:sp>
      <p:sp>
        <p:nvSpPr>
          <p:cNvPr id="7" name="Rectangle 6"/>
          <p:cNvSpPr/>
          <p:nvPr/>
        </p:nvSpPr>
        <p:spPr>
          <a:xfrm>
            <a:off x="1783080" y="5897879"/>
            <a:ext cx="32918400" cy="8503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31656527" cy="7626096"/>
          </a:xfrm>
          <a:prstGeom prst="rect">
            <a:avLst/>
          </a:prstGeom>
          <a:noFill/>
        </p:spPr>
        <p:txBody>
          <a:bodyPr wrap="none" lIns="0" rIns="0" tIns="0" bIns="0">
            <a:noAutofit/>
          </a:bodyPr>
          <a:lstStyle/>
          <a:p>
            <a:pPr>
              <a:lnSpc>
                <a:spcPct val="112000"/>
              </a:lnSpc>
              <a:spcAft>
                <a:spcPts val="0"/>
              </a:spcAft>
            </a:pPr>
            <a:r>
              <a:rPr sz="5400">
                <a:solidFill>
                  <a:srgbClr val="000000"/>
                </a:solidFill>
                <a:latin typeface="DejaVu Sans Mono"/>
              </a:rPr>
              <a:t>cuda</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gpu_thread</a:t>
            </a:r>
            <a:r>
              <a:rPr sz="5400">
                <a:solidFill>
                  <a:srgbClr val="000000"/>
                </a:solidFill>
                <a:latin typeface="DejaVu Sans Mono"/>
              </a:rPr>
              <a:t>.</a:t>
            </a:r>
            <a:r>
              <a:rPr sz="5400">
                <a:solidFill>
                  <a:srgbClr val="000000"/>
                </a:solidFill>
                <a:latin typeface="DejaVu Sans Mono"/>
              </a:rPr>
              <a:t>rank</a:t>
            </a:r>
            <a:r>
              <a:rPr sz="5400">
                <a:solidFill>
                  <a:srgbClr val="000000"/>
                </a:solidFill>
                <a:latin typeface="DejaVu Sans Mono"/>
              </a:rPr>
              <a:t>(</a:t>
            </a:r>
            <a:r>
              <a:rPr sz="5400">
                <a:solidFill>
                  <a:srgbClr val="000000"/>
                </a:solidFill>
                <a:latin typeface="DejaVu Sans Mono"/>
              </a:rPr>
              <a:t>g</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r>
              <a:rPr sz="5400">
                <a:solidFill>
                  <a:srgbClr val="000000"/>
                </a:solidFill>
                <a:latin typeface="DejaVu Sans Mono"/>
              </a:rPr>
              <a:t>cuda</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gpu_thread</a:t>
            </a:r>
            <a:r>
              <a:rPr sz="5400">
                <a:solidFill>
                  <a:srgbClr val="000000"/>
                </a:solidFill>
                <a:latin typeface="DejaVu Sans Mono"/>
              </a:rPr>
              <a:t>.</a:t>
            </a:r>
            <a:r>
              <a:rPr sz="5400">
                <a:solidFill>
                  <a:srgbClr val="000000"/>
                </a:solidFill>
                <a:latin typeface="DejaVu Sans Mono"/>
              </a:rPr>
              <a:t>count</a:t>
            </a:r>
            <a:r>
              <a:rPr sz="5400">
                <a:solidFill>
                  <a:srgbClr val="000000"/>
                </a:solidFill>
                <a:latin typeface="DejaVu Sans Mono"/>
              </a:rPr>
              <a:t>(</a:t>
            </a:r>
            <a:r>
              <a:rPr sz="5400">
                <a:solidFill>
                  <a:srgbClr val="000000"/>
                </a:solidFill>
                <a:latin typeface="DejaVu Sans Mono"/>
              </a:rPr>
              <a:t>g</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r>
              <a:rPr sz="5400">
                <a:solidFill>
                  <a:srgbClr val="000000"/>
                </a:solidFill>
                <a:latin typeface="DejaVu Sans Mono"/>
              </a:rPr>
              <a:t>cuda</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gpu_thread</a:t>
            </a:r>
            <a:r>
              <a:rPr sz="5400">
                <a:solidFill>
                  <a:srgbClr val="000000"/>
                </a:solidFill>
                <a:latin typeface="DejaVu Sans Mono"/>
              </a:rPr>
              <a:t>.</a:t>
            </a:r>
            <a:r>
              <a:rPr sz="5400">
                <a:solidFill>
                  <a:srgbClr val="000000"/>
                </a:solidFill>
                <a:latin typeface="DejaVu Sans Mono"/>
              </a:rPr>
              <a:t>is_root_rank</a:t>
            </a:r>
            <a:r>
              <a:rPr sz="5400">
                <a:solidFill>
                  <a:srgbClr val="000000"/>
                </a:solidFill>
                <a:latin typeface="DejaVu Sans Mono"/>
              </a:rPr>
              <a:t>(</a:t>
            </a:r>
            <a:r>
              <a:rPr sz="5400">
                <a:solidFill>
                  <a:srgbClr val="000000"/>
                </a:solidFill>
                <a:latin typeface="DejaVu Sans Mono"/>
              </a:rPr>
              <a:t>g</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p>
          <a:p>
            <a:pPr>
              <a:lnSpc>
                <a:spcPct val="112000"/>
              </a:lnSpc>
              <a:spcAft>
                <a:spcPts val="0"/>
              </a:spcAft>
            </a:pPr>
            <a:r>
              <a:rPr sz="5400">
                <a:solidFill>
                  <a:srgbClr val="000000"/>
                </a:solidFill>
                <a:latin typeface="DejaVu Sans Mono"/>
              </a:rPr>
              <a:t>cuda</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warp</a:t>
            </a:r>
            <a:r>
              <a:rPr sz="5400">
                <a:solidFill>
                  <a:srgbClr val="000000"/>
                </a:solidFill>
                <a:latin typeface="DejaVu Sans Mono"/>
              </a:rPr>
              <a:t>.</a:t>
            </a:r>
            <a:r>
              <a:rPr sz="5400">
                <a:solidFill>
                  <a:srgbClr val="000000"/>
                </a:solidFill>
                <a:latin typeface="DejaVu Sans Mono"/>
              </a:rPr>
              <a:t>rank_as</a:t>
            </a:r>
            <a:r>
              <a:rPr sz="5400">
                <a:solidFill>
                  <a:srgbClr val="000000"/>
                </a:solidFill>
                <a:latin typeface="DejaVu Sans Mono"/>
              </a:rPr>
              <a:t>&lt;</a:t>
            </a:r>
            <a:r>
              <a:rPr sz="5400">
                <a:solidFill>
                  <a:srgbClr val="000000"/>
                </a:solidFill>
                <a:latin typeface="DejaVu Sans Mono"/>
              </a:rPr>
              <a:t>cuda</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std</a:t>
            </a:r>
            <a:r>
              <a:rPr sz="5400">
                <a:solidFill>
                  <a:srgbClr val="000000"/>
                </a:solidFill>
                <a:latin typeface="DejaVu Sans Mono"/>
              </a:rPr>
              <a:t>:</a:t>
            </a:r>
            <a:r>
              <a:rPr sz="5400">
                <a:solidFill>
                  <a:srgbClr val="000000"/>
                </a:solidFill>
                <a:latin typeface="DejaVu Sans Mono"/>
              </a:rPr>
              <a:t>:</a:t>
            </a:r>
            <a:r>
              <a:rPr sz="5400">
                <a:solidFill>
                  <a:srgbClr val="0074DF"/>
                </a:solidFill>
                <a:latin typeface="DejaVu Sans Mono"/>
              </a:rPr>
              <a:t>uint32_t</a:t>
            </a:r>
            <a:r>
              <a:rPr sz="5400">
                <a:solidFill>
                  <a:srgbClr val="000000"/>
                </a:solidFill>
                <a:latin typeface="DejaVu Sans Mono"/>
              </a:rPr>
              <a:t>&gt;</a:t>
            </a:r>
            <a:r>
              <a:rPr sz="5400">
                <a:solidFill>
                  <a:srgbClr val="000000"/>
                </a:solidFill>
                <a:latin typeface="DejaVu Sans Mono"/>
              </a:rPr>
              <a:t>(</a:t>
            </a:r>
            <a:r>
              <a:rPr sz="5400">
                <a:solidFill>
                  <a:srgbClr val="000000"/>
                </a:solidFill>
                <a:latin typeface="DejaVu Sans Mono"/>
              </a:rPr>
              <a:t>g</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r>
              <a:rPr sz="5400">
                <a:solidFill>
                  <a:srgbClr val="000000"/>
                </a:solidFill>
                <a:latin typeface="DejaVu Sans Mono"/>
              </a:rPr>
              <a:t>cuda</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warp</a:t>
            </a:r>
            <a:r>
              <a:rPr sz="5400">
                <a:solidFill>
                  <a:srgbClr val="000000"/>
                </a:solidFill>
                <a:latin typeface="DejaVu Sans Mono"/>
              </a:rPr>
              <a:t>.</a:t>
            </a:r>
            <a:r>
              <a:rPr sz="5400">
                <a:solidFill>
                  <a:srgbClr val="000000"/>
                </a:solidFill>
                <a:latin typeface="DejaVu Sans Mono"/>
              </a:rPr>
              <a:t>static_count</a:t>
            </a:r>
            <a:r>
              <a:rPr sz="5400">
                <a:solidFill>
                  <a:srgbClr val="000000"/>
                </a:solidFill>
                <a:latin typeface="DejaVu Sans Mono"/>
              </a:rPr>
              <a:t>(</a:t>
            </a:r>
            <a:r>
              <a:rPr sz="5400">
                <a:solidFill>
                  <a:srgbClr val="000000"/>
                </a:solidFill>
                <a:latin typeface="DejaVu Sans Mono"/>
              </a:rPr>
              <a:t>g</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p>
        </p:txBody>
      </p:sp>
      <p:sp>
        <p:nvSpPr>
          <p:cNvPr id="9" name="Rectangle 8"/>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Query unit must be the group unit or below it; rank is in [0, count).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Super-level queries: the group in its parent</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Reverse the receiver when asking about the group itself.</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11</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Concepts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docs/cudax/coop/group/index.rst</a:t>
            </a:r>
          </a:p>
        </p:txBody>
      </p:sp>
      <p:sp>
        <p:nvSpPr>
          <p:cNvPr id="7" name="Rectangle 6"/>
          <p:cNvSpPr/>
          <p:nvPr/>
        </p:nvSpPr>
        <p:spPr>
          <a:xfrm>
            <a:off x="1783080" y="5897879"/>
            <a:ext cx="32918400" cy="93268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31656527" cy="8449056"/>
          </a:xfrm>
          <a:prstGeom prst="rect">
            <a:avLst/>
          </a:prstGeom>
          <a:noFill/>
        </p:spPr>
        <p:txBody>
          <a:bodyPr wrap="none" lIns="0" rIns="0" tIns="0" bIns="0">
            <a:noAutofit/>
          </a:bodyPr>
          <a:lstStyle/>
          <a:p>
            <a:pPr>
              <a:lnSpc>
                <a:spcPct val="112000"/>
              </a:lnSpc>
              <a:spcAft>
                <a:spcPts val="0"/>
              </a:spcAft>
            </a:pPr>
            <a:r>
              <a:rPr sz="5400">
                <a:solidFill>
                  <a:srgbClr val="757575"/>
                </a:solidFill>
                <a:latin typeface="DejaVu Sans Mono"/>
              </a:rPr>
              <a:t>// A child group within its parent:</a:t>
            </a:r>
          </a:p>
          <a:p>
            <a:pPr>
              <a:lnSpc>
                <a:spcPct val="112000"/>
              </a:lnSpc>
              <a:spcAft>
                <a:spcPts val="0"/>
              </a:spcAft>
            </a:pPr>
            <a:r>
              <a:rPr sz="5400">
                <a:solidFill>
                  <a:srgbClr val="000000"/>
                </a:solidFill>
                <a:latin typeface="DejaVu Sans Mono"/>
              </a:rPr>
              <a:t>child</a:t>
            </a:r>
            <a:r>
              <a:rPr sz="5400">
                <a:solidFill>
                  <a:srgbClr val="000000"/>
                </a:solidFill>
                <a:latin typeface="DejaVu Sans Mono"/>
              </a:rPr>
              <a:t>.</a:t>
            </a:r>
            <a:r>
              <a:rPr sz="5400">
                <a:solidFill>
                  <a:srgbClr val="000000"/>
                </a:solidFill>
                <a:latin typeface="DejaVu Sans Mono"/>
              </a:rPr>
              <a:t>rank</a:t>
            </a:r>
            <a:r>
              <a:rPr sz="5400">
                <a:solidFill>
                  <a:srgbClr val="000000"/>
                </a:solidFill>
                <a:latin typeface="DejaVu Sans Mono"/>
              </a:rPr>
              <a:t>(</a:t>
            </a:r>
            <a:r>
              <a:rPr sz="5400">
                <a:solidFill>
                  <a:srgbClr val="000000"/>
                </a:solidFill>
                <a:latin typeface="DejaVu Sans Mono"/>
              </a:rPr>
              <a:t>parent</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r>
              <a:rPr sz="5400">
                <a:solidFill>
                  <a:srgbClr val="000000"/>
                </a:solidFill>
                <a:latin typeface="DejaVu Sans Mono"/>
              </a:rPr>
              <a:t>child</a:t>
            </a:r>
            <a:r>
              <a:rPr sz="5400">
                <a:solidFill>
                  <a:srgbClr val="000000"/>
                </a:solidFill>
                <a:latin typeface="DejaVu Sans Mono"/>
              </a:rPr>
              <a:t>.</a:t>
            </a:r>
            <a:r>
              <a:rPr sz="5400">
                <a:solidFill>
                  <a:srgbClr val="000000"/>
                </a:solidFill>
                <a:latin typeface="DejaVu Sans Mono"/>
              </a:rPr>
              <a:t>count</a:t>
            </a:r>
            <a:r>
              <a:rPr sz="5400">
                <a:solidFill>
                  <a:srgbClr val="000000"/>
                </a:solidFill>
                <a:latin typeface="DejaVu Sans Mono"/>
              </a:rPr>
              <a:t>(</a:t>
            </a:r>
            <a:r>
              <a:rPr sz="5400">
                <a:solidFill>
                  <a:srgbClr val="000000"/>
                </a:solidFill>
                <a:latin typeface="DejaVu Sans Mono"/>
              </a:rPr>
              <a:t>parent</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p>
          <a:p>
            <a:pPr>
              <a:lnSpc>
                <a:spcPct val="112000"/>
              </a:lnSpc>
              <a:spcAft>
                <a:spcPts val="0"/>
              </a:spcAft>
            </a:pPr>
            <a:r>
              <a:rPr sz="5400">
                <a:solidFill>
                  <a:srgbClr val="757575"/>
                </a:solidFill>
                <a:latin typeface="DejaVu Sans Mono"/>
              </a:rPr>
              <a:t>// An implicit group within a hierarchy level:</a:t>
            </a:r>
          </a:p>
          <a:p>
            <a:pPr>
              <a:lnSpc>
                <a:spcPct val="112000"/>
              </a:lnSpc>
              <a:spcAft>
                <a:spcPts val="0"/>
              </a:spcAft>
            </a:pPr>
            <a:r>
              <a:rPr sz="5400">
                <a:solidFill>
                  <a:srgbClr val="000000"/>
                </a:solidFill>
                <a:latin typeface="DejaVu Sans Mono"/>
              </a:rPr>
              <a:t>warp_group</a:t>
            </a:r>
            <a:r>
              <a:rPr sz="5400">
                <a:solidFill>
                  <a:srgbClr val="000000"/>
                </a:solidFill>
                <a:latin typeface="DejaVu Sans Mono"/>
              </a:rPr>
              <a:t>.</a:t>
            </a:r>
            <a:r>
              <a:rPr sz="5400">
                <a:solidFill>
                  <a:srgbClr val="000000"/>
                </a:solidFill>
                <a:latin typeface="DejaVu Sans Mono"/>
              </a:rPr>
              <a:t>rank</a:t>
            </a:r>
            <a:r>
              <a:rPr sz="5400">
                <a:solidFill>
                  <a:srgbClr val="000000"/>
                </a:solidFill>
                <a:latin typeface="DejaVu Sans Mono"/>
              </a:rPr>
              <a:t>(</a:t>
            </a:r>
            <a:r>
              <a:rPr sz="5400">
                <a:solidFill>
                  <a:srgbClr val="000000"/>
                </a:solidFill>
                <a:latin typeface="DejaVu Sans Mono"/>
              </a:rPr>
              <a:t>cuda</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block</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r>
              <a:rPr sz="5400">
                <a:solidFill>
                  <a:srgbClr val="000000"/>
                </a:solidFill>
                <a:latin typeface="DejaVu Sans Mono"/>
              </a:rPr>
              <a:t>warp_group</a:t>
            </a:r>
            <a:r>
              <a:rPr sz="5400">
                <a:solidFill>
                  <a:srgbClr val="000000"/>
                </a:solidFill>
                <a:latin typeface="DejaVu Sans Mono"/>
              </a:rPr>
              <a:t>.</a:t>
            </a:r>
            <a:r>
              <a:rPr sz="5400">
                <a:solidFill>
                  <a:srgbClr val="000000"/>
                </a:solidFill>
                <a:latin typeface="DejaVu Sans Mono"/>
              </a:rPr>
              <a:t>count</a:t>
            </a:r>
            <a:r>
              <a:rPr sz="5400">
                <a:solidFill>
                  <a:srgbClr val="000000"/>
                </a:solidFill>
                <a:latin typeface="DejaVu Sans Mono"/>
              </a:rPr>
              <a:t>(</a:t>
            </a:r>
            <a:r>
              <a:rPr sz="5400">
                <a:solidFill>
                  <a:srgbClr val="000000"/>
                </a:solidFill>
                <a:latin typeface="DejaVu Sans Mono"/>
              </a:rPr>
              <a:t>cuda</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block</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p>
        </p:txBody>
      </p:sp>
      <p:sp>
        <p:nvSpPr>
          <p:cNvPr id="9" name="Rectangle 8"/>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Implicit groups use a native hierarchy level; child groups use their parent group.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Start from this_{level} groups</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The implicit groups are the building blocks of the API.</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12</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Concepts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docs/cudax/coop/group/this_group.rst</a:t>
            </a:r>
          </a:p>
        </p:txBody>
      </p:sp>
      <p:sp>
        <p:nvSpPr>
          <p:cNvPr id="7" name="Rectangle 6"/>
          <p:cNvSpPr/>
          <p:nvPr/>
        </p:nvSpPr>
        <p:spPr>
          <a:xfrm>
            <a:off x="1783080" y="5897879"/>
            <a:ext cx="8366759" cy="1508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12264" y="6254496"/>
            <a:ext cx="7708392" cy="877824"/>
          </a:xfrm>
          <a:prstGeom prst="rect">
            <a:avLst/>
          </a:prstGeom>
          <a:noFill/>
        </p:spPr>
        <p:txBody>
          <a:bodyPr wrap="square" lIns="0" rIns="0" tIns="0" bIns="0">
            <a:noAutofit/>
          </a:bodyPr>
          <a:lstStyle/>
          <a:p>
            <a:pPr algn="l">
              <a:lnSpc>
                <a:spcPct val="108000"/>
              </a:lnSpc>
              <a:spcAft>
                <a:spcPts val="840"/>
              </a:spcAft>
              <a:defRPr sz="4200" b="1">
                <a:solidFill>
                  <a:srgbClr val="FFFFFF"/>
                </a:solidFill>
                <a:latin typeface="NVIDIA Sans"/>
              </a:defRPr>
            </a:pPr>
            <a:r>
              <a:t>Group</a:t>
            </a:r>
          </a:p>
        </p:txBody>
      </p:sp>
      <p:sp>
        <p:nvSpPr>
          <p:cNvPr id="9" name="Rectangle 8"/>
          <p:cNvSpPr/>
          <p:nvPr/>
        </p:nvSpPr>
        <p:spPr>
          <a:xfrm>
            <a:off x="10149840" y="5897879"/>
            <a:ext cx="7406640" cy="1508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79024" y="6254496"/>
            <a:ext cx="6748272" cy="877824"/>
          </a:xfrm>
          <a:prstGeom prst="rect">
            <a:avLst/>
          </a:prstGeom>
          <a:noFill/>
        </p:spPr>
        <p:txBody>
          <a:bodyPr wrap="square" lIns="0" rIns="0" tIns="0" bIns="0">
            <a:noAutofit/>
          </a:bodyPr>
          <a:lstStyle/>
          <a:p>
            <a:pPr algn="l">
              <a:lnSpc>
                <a:spcPct val="108000"/>
              </a:lnSpc>
              <a:spcAft>
                <a:spcPts val="840"/>
              </a:spcAft>
              <a:defRPr sz="4200" b="1">
                <a:solidFill>
                  <a:srgbClr val="FFFFFF"/>
                </a:solidFill>
                <a:latin typeface="NVIDIA Sans"/>
              </a:defRPr>
            </a:pPr>
            <a:r>
              <a:t>Unit = boundary</a:t>
            </a:r>
          </a:p>
        </p:txBody>
      </p:sp>
      <p:sp>
        <p:nvSpPr>
          <p:cNvPr id="11" name="Rectangle 10"/>
          <p:cNvSpPr/>
          <p:nvPr/>
        </p:nvSpPr>
        <p:spPr>
          <a:xfrm>
            <a:off x="17556480" y="5897879"/>
            <a:ext cx="17145000" cy="1508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885664" y="6254496"/>
            <a:ext cx="16486632" cy="877824"/>
          </a:xfrm>
          <a:prstGeom prst="rect">
            <a:avLst/>
          </a:prstGeom>
          <a:noFill/>
        </p:spPr>
        <p:txBody>
          <a:bodyPr wrap="square" lIns="0" rIns="0" tIns="0" bIns="0">
            <a:noAutofit/>
          </a:bodyPr>
          <a:lstStyle/>
          <a:p>
            <a:pPr algn="l">
              <a:lnSpc>
                <a:spcPct val="108000"/>
              </a:lnSpc>
              <a:spcAft>
                <a:spcPts val="840"/>
              </a:spcAft>
              <a:defRPr sz="4200" b="1">
                <a:solidFill>
                  <a:srgbClr val="FFFFFF"/>
                </a:solidFill>
                <a:latin typeface="NVIDIA Sans"/>
              </a:defRPr>
            </a:pPr>
            <a:r>
              <a:t>Useful query</a:t>
            </a:r>
          </a:p>
        </p:txBody>
      </p:sp>
      <p:sp>
        <p:nvSpPr>
          <p:cNvPr id="13" name="Rectangle 12"/>
          <p:cNvSpPr/>
          <p:nvPr/>
        </p:nvSpPr>
        <p:spPr>
          <a:xfrm>
            <a:off x="1783080" y="7406640"/>
            <a:ext cx="8366759" cy="17830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12264" y="7790688"/>
            <a:ext cx="7708392" cy="12893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this_thread</a:t>
            </a:r>
          </a:p>
        </p:txBody>
      </p:sp>
      <p:sp>
        <p:nvSpPr>
          <p:cNvPr id="15" name="Rectangle 14"/>
          <p:cNvSpPr/>
          <p:nvPr/>
        </p:nvSpPr>
        <p:spPr>
          <a:xfrm>
            <a:off x="10149840" y="7406640"/>
            <a:ext cx="7406640" cy="17830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79024" y="7790688"/>
            <a:ext cx="6748272" cy="12893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Thread</a:t>
            </a:r>
          </a:p>
        </p:txBody>
      </p:sp>
      <p:sp>
        <p:nvSpPr>
          <p:cNvPr id="17" name="Rectangle 16"/>
          <p:cNvSpPr/>
          <p:nvPr/>
        </p:nvSpPr>
        <p:spPr>
          <a:xfrm>
            <a:off x="17556480" y="7406640"/>
            <a:ext cx="17145000" cy="17830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885664" y="7790688"/>
            <a:ext cx="16486632" cy="12893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Thread rank in a larger level</a:t>
            </a:r>
          </a:p>
        </p:txBody>
      </p:sp>
      <p:sp>
        <p:nvSpPr>
          <p:cNvPr id="19" name="Rectangle 18"/>
          <p:cNvSpPr/>
          <p:nvPr/>
        </p:nvSpPr>
        <p:spPr>
          <a:xfrm>
            <a:off x="1783080" y="9189720"/>
            <a:ext cx="8366759"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12264" y="9573767"/>
            <a:ext cx="7708392" cy="12893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this_warp</a:t>
            </a:r>
          </a:p>
        </p:txBody>
      </p:sp>
      <p:sp>
        <p:nvSpPr>
          <p:cNvPr id="21" name="Rectangle 20"/>
          <p:cNvSpPr/>
          <p:nvPr/>
        </p:nvSpPr>
        <p:spPr>
          <a:xfrm>
            <a:off x="10149840" y="9189720"/>
            <a:ext cx="740664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79024" y="9573767"/>
            <a:ext cx="6748272" cy="12893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Warp</a:t>
            </a:r>
          </a:p>
        </p:txBody>
      </p:sp>
      <p:sp>
        <p:nvSpPr>
          <p:cNvPr id="23" name="Rectangle 22"/>
          <p:cNvSpPr/>
          <p:nvPr/>
        </p:nvSpPr>
        <p:spPr>
          <a:xfrm>
            <a:off x="17556480" y="9189720"/>
            <a:ext cx="1714500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885664" y="9573767"/>
            <a:ext cx="16486632" cy="12893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Thread rank inside this warp</a:t>
            </a:r>
          </a:p>
        </p:txBody>
      </p:sp>
      <p:sp>
        <p:nvSpPr>
          <p:cNvPr id="25" name="Rectangle 24"/>
          <p:cNvSpPr/>
          <p:nvPr/>
        </p:nvSpPr>
        <p:spPr>
          <a:xfrm>
            <a:off x="1783080" y="10972800"/>
            <a:ext cx="8366759" cy="17830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12264" y="11356847"/>
            <a:ext cx="7708392" cy="12893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this_block</a:t>
            </a:r>
          </a:p>
        </p:txBody>
      </p:sp>
      <p:sp>
        <p:nvSpPr>
          <p:cNvPr id="27" name="Rectangle 26"/>
          <p:cNvSpPr/>
          <p:nvPr/>
        </p:nvSpPr>
        <p:spPr>
          <a:xfrm>
            <a:off x="10149840" y="10972800"/>
            <a:ext cx="7406640" cy="17830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79024" y="11356847"/>
            <a:ext cx="6748272" cy="12893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Block</a:t>
            </a:r>
          </a:p>
        </p:txBody>
      </p:sp>
      <p:sp>
        <p:nvSpPr>
          <p:cNvPr id="29" name="Rectangle 28"/>
          <p:cNvSpPr/>
          <p:nvPr/>
        </p:nvSpPr>
        <p:spPr>
          <a:xfrm>
            <a:off x="17556480" y="10972800"/>
            <a:ext cx="17145000" cy="17830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7885664" y="11356847"/>
            <a:ext cx="16486632" cy="12893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Warps / threads inside this block</a:t>
            </a:r>
          </a:p>
        </p:txBody>
      </p:sp>
      <p:sp>
        <p:nvSpPr>
          <p:cNvPr id="31" name="Rectangle 30"/>
          <p:cNvSpPr/>
          <p:nvPr/>
        </p:nvSpPr>
        <p:spPr>
          <a:xfrm>
            <a:off x="1783080" y="12755880"/>
            <a:ext cx="8366759"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12264" y="13139928"/>
            <a:ext cx="7708392" cy="12893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this_cluster</a:t>
            </a:r>
          </a:p>
        </p:txBody>
      </p:sp>
      <p:sp>
        <p:nvSpPr>
          <p:cNvPr id="33" name="Rectangle 32"/>
          <p:cNvSpPr/>
          <p:nvPr/>
        </p:nvSpPr>
        <p:spPr>
          <a:xfrm>
            <a:off x="10149840" y="12755880"/>
            <a:ext cx="740664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79024" y="13139928"/>
            <a:ext cx="6748272" cy="12893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Cluster</a:t>
            </a:r>
          </a:p>
        </p:txBody>
      </p:sp>
      <p:sp>
        <p:nvSpPr>
          <p:cNvPr id="35" name="Rectangle 34"/>
          <p:cNvSpPr/>
          <p:nvPr/>
        </p:nvSpPr>
        <p:spPr>
          <a:xfrm>
            <a:off x="17556480" y="12755880"/>
            <a:ext cx="1714500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7885664" y="13139928"/>
            <a:ext cx="16486632" cy="12893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Blocks inside this cluster</a:t>
            </a:r>
          </a:p>
        </p:txBody>
      </p:sp>
      <p:sp>
        <p:nvSpPr>
          <p:cNvPr id="37" name="Rectangle 36"/>
          <p:cNvSpPr/>
          <p:nvPr/>
        </p:nvSpPr>
        <p:spPr>
          <a:xfrm>
            <a:off x="1783080" y="14538960"/>
            <a:ext cx="8366759" cy="17830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2264" y="14923008"/>
            <a:ext cx="7708392" cy="12893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this_grid</a:t>
            </a:r>
          </a:p>
        </p:txBody>
      </p:sp>
      <p:sp>
        <p:nvSpPr>
          <p:cNvPr id="39" name="Rectangle 38"/>
          <p:cNvSpPr/>
          <p:nvPr/>
        </p:nvSpPr>
        <p:spPr>
          <a:xfrm>
            <a:off x="10149840" y="14538960"/>
            <a:ext cx="7406640" cy="17830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479024" y="14923008"/>
            <a:ext cx="6748272" cy="12893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Grid</a:t>
            </a:r>
          </a:p>
        </p:txBody>
      </p:sp>
      <p:sp>
        <p:nvSpPr>
          <p:cNvPr id="41" name="Rectangle 40"/>
          <p:cNvSpPr/>
          <p:nvPr/>
        </p:nvSpPr>
        <p:spPr>
          <a:xfrm>
            <a:off x="17556480" y="14538960"/>
            <a:ext cx="17145000" cy="17830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7885664" y="14923008"/>
            <a:ext cx="16486632" cy="12893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Blocks / threads inside this grid</a:t>
            </a:r>
          </a:p>
        </p:txBody>
      </p:sp>
      <p:sp>
        <p:nvSpPr>
          <p:cNvPr id="43" name="Rectangle 42"/>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Construct from a hierarchy-like object, such as the configuration received by the kernel.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Connect the launch to the group</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The configuration carries hierarchy information into device code.</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13</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Concepts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docs/cudax/coop/group/this_group.rst</a:t>
            </a:r>
          </a:p>
        </p:txBody>
      </p:sp>
      <p:sp>
        <p:nvSpPr>
          <p:cNvPr id="7" name="Rectangle 6"/>
          <p:cNvSpPr/>
          <p:nvPr/>
        </p:nvSpPr>
        <p:spPr>
          <a:xfrm>
            <a:off x="1783080" y="5897879"/>
            <a:ext cx="32918400" cy="11247119"/>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31656527" cy="10369296"/>
          </a:xfrm>
          <a:prstGeom prst="rect">
            <a:avLst/>
          </a:prstGeom>
          <a:noFill/>
        </p:spPr>
        <p:txBody>
          <a:bodyPr wrap="none" lIns="0" rIns="0" tIns="0" bIns="0">
            <a:noAutofit/>
          </a:bodyPr>
          <a:lstStyle/>
          <a:p>
            <a:pPr>
              <a:lnSpc>
                <a:spcPct val="112000"/>
              </a:lnSpc>
              <a:spcAft>
                <a:spcPts val="0"/>
              </a:spcAft>
            </a:pPr>
            <a:r>
              <a:rPr sz="4050">
                <a:solidFill>
                  <a:srgbClr val="757575"/>
                </a:solidFill>
                <a:latin typeface="DejaVu Sans Mono"/>
              </a:rPr>
              <a:t>#</a:t>
            </a:r>
            <a:r>
              <a:rPr sz="4050">
                <a:solidFill>
                  <a:srgbClr val="757575"/>
                </a:solidFill>
                <a:latin typeface="DejaVu Sans Mono"/>
              </a:rPr>
              <a:t>define _CUDAX_ENABLE_GROUP_FEATURES_IN_LIBCUDACXX</a:t>
            </a:r>
          </a:p>
          <a:p>
            <a:pPr>
              <a:lnSpc>
                <a:spcPct val="112000"/>
              </a:lnSpc>
              <a:spcAft>
                <a:spcPts val="0"/>
              </a:spcAft>
            </a:pPr>
            <a:r>
              <a:rPr sz="4050">
                <a:solidFill>
                  <a:srgbClr val="757575"/>
                </a:solidFill>
                <a:latin typeface="DejaVu Sans Mono"/>
              </a:rPr>
              <a:t>#</a:t>
            </a:r>
            <a:r>
              <a:rPr sz="4050">
                <a:solidFill>
                  <a:srgbClr val="757575"/>
                </a:solidFill>
                <a:latin typeface="DejaVu Sans Mono"/>
              </a:rPr>
              <a:t>include</a:t>
            </a:r>
            <a:r>
              <a:rPr sz="4050">
                <a:solidFill>
                  <a:srgbClr val="000000"/>
                </a:solidFill>
                <a:latin typeface="DejaVu Sans Mono"/>
              </a:rPr>
              <a:t> </a:t>
            </a:r>
            <a:r>
              <a:rPr sz="4050">
                <a:solidFill>
                  <a:srgbClr val="757575"/>
                </a:solidFill>
                <a:latin typeface="DejaVu Sans Mono"/>
              </a:rPr>
              <a:t>&lt;cuda/experimental/coop/group&gt;</a:t>
            </a:r>
          </a:p>
          <a:p>
            <a:pPr>
              <a:lnSpc>
                <a:spcPct val="112000"/>
              </a:lnSpc>
              <a:spcAft>
                <a:spcPts val="0"/>
              </a:spcAft>
            </a:pPr>
            <a:r>
              <a:rPr sz="4050">
                <a:solidFill>
                  <a:srgbClr val="0074DF"/>
                </a:solidFill>
                <a:latin typeface="DejaVu Sans Mono"/>
              </a:rPr>
              <a:t>namespace</a:t>
            </a:r>
            <a:r>
              <a:rPr sz="4050">
                <a:solidFill>
                  <a:srgbClr val="000000"/>
                </a:solidFill>
                <a:latin typeface="DejaVu Sans Mono"/>
              </a:rPr>
              <a:t> </a:t>
            </a:r>
            <a:r>
              <a:rPr sz="4050">
                <a:solidFill>
                  <a:srgbClr val="000000"/>
                </a:solidFill>
                <a:latin typeface="DejaVu Sans Mono"/>
              </a:rPr>
              <a:t>coop</a:t>
            </a:r>
            <a:r>
              <a:rPr sz="4050">
                <a:solidFill>
                  <a:srgbClr val="000000"/>
                </a:solidFill>
                <a:latin typeface="DejaVu Sans Mono"/>
              </a:rPr>
              <a:t> </a:t>
            </a:r>
            <a:r>
              <a:rPr sz="4050">
                <a:solidFill>
                  <a:srgbClr val="000000"/>
                </a:solidFill>
                <a:latin typeface="DejaVu Sans Mono"/>
              </a:rPr>
              <a:t>=</a:t>
            </a:r>
            <a:r>
              <a:rPr sz="4050">
                <a:solidFill>
                  <a:srgbClr val="000000"/>
                </a:solidFill>
                <a:latin typeface="DejaVu Sans Mono"/>
              </a:rPr>
              <a:t> </a:t>
            </a:r>
            <a:r>
              <a:rPr sz="4050">
                <a:solidFill>
                  <a:srgbClr val="000000"/>
                </a:solidFill>
                <a:latin typeface="DejaVu Sans Mono"/>
              </a:rPr>
              <a:t>cuda</a:t>
            </a:r>
            <a:r>
              <a:rPr sz="4050">
                <a:solidFill>
                  <a:srgbClr val="000000"/>
                </a:solidFill>
                <a:latin typeface="DejaVu Sans Mono"/>
              </a:rPr>
              <a:t>:</a:t>
            </a:r>
            <a:r>
              <a:rPr sz="4050">
                <a:solidFill>
                  <a:srgbClr val="000000"/>
                </a:solidFill>
                <a:latin typeface="DejaVu Sans Mono"/>
              </a:rPr>
              <a:t>:</a:t>
            </a:r>
            <a:r>
              <a:rPr sz="4050">
                <a:solidFill>
                  <a:srgbClr val="000000"/>
                </a:solidFill>
                <a:latin typeface="DejaVu Sans Mono"/>
              </a:rPr>
              <a:t>experimental</a:t>
            </a:r>
            <a:r>
              <a:rPr sz="4050">
                <a:solidFill>
                  <a:srgbClr val="000000"/>
                </a:solidFill>
                <a:latin typeface="DejaVu Sans Mono"/>
              </a:rPr>
              <a:t>:</a:t>
            </a:r>
            <a:r>
              <a:rPr sz="4050">
                <a:solidFill>
                  <a:srgbClr val="000000"/>
                </a:solidFill>
                <a:latin typeface="DejaVu Sans Mono"/>
              </a:rPr>
              <a:t>:</a:t>
            </a:r>
            <a:r>
              <a:rPr sz="4050">
                <a:solidFill>
                  <a:srgbClr val="000000"/>
                </a:solidFill>
                <a:latin typeface="DejaVu Sans Mono"/>
              </a:rPr>
              <a:t>coop</a:t>
            </a:r>
            <a:r>
              <a:rPr sz="4050">
                <a:solidFill>
                  <a:srgbClr val="000000"/>
                </a:solidFill>
                <a:latin typeface="DejaVu Sans Mono"/>
              </a:rPr>
              <a:t>;</a:t>
            </a:r>
          </a:p>
          <a:p>
            <a:pPr>
              <a:lnSpc>
                <a:spcPct val="112000"/>
              </a:lnSpc>
              <a:spcAft>
                <a:spcPts val="0"/>
              </a:spcAft>
            </a:pPr>
          </a:p>
          <a:p>
            <a:pPr>
              <a:lnSpc>
                <a:spcPct val="112000"/>
              </a:lnSpc>
              <a:spcAft>
                <a:spcPts val="0"/>
              </a:spcAft>
            </a:pPr>
            <a:r>
              <a:rPr sz="4050">
                <a:solidFill>
                  <a:srgbClr val="0074DF"/>
                </a:solidFill>
                <a:latin typeface="DejaVu Sans Mono"/>
              </a:rPr>
              <a:t>struct</a:t>
            </a:r>
            <a:r>
              <a:rPr sz="4050">
                <a:solidFill>
                  <a:srgbClr val="000000"/>
                </a:solidFill>
                <a:latin typeface="DejaVu Sans Mono"/>
              </a:rPr>
              <a:t> </a:t>
            </a:r>
            <a:r>
              <a:rPr sz="4050">
                <a:solidFill>
                  <a:srgbClr val="000000"/>
                </a:solidFill>
                <a:latin typeface="DejaVu Sans Mono"/>
              </a:rPr>
              <a:t>Kernel</a:t>
            </a:r>
            <a:r>
              <a:rPr sz="4050">
                <a:solidFill>
                  <a:srgbClr val="000000"/>
                </a:solidFill>
                <a:latin typeface="DejaVu Sans Mono"/>
              </a:rPr>
              <a:t> </a:t>
            </a:r>
            <a:r>
              <a:rPr sz="4050">
                <a:solidFill>
                  <a:srgbClr val="000000"/>
                </a:solidFill>
                <a:latin typeface="DejaVu Sans Mono"/>
              </a:rPr>
              <a:t>{</a:t>
            </a:r>
          </a:p>
          <a:p>
            <a:pPr>
              <a:lnSpc>
                <a:spcPct val="112000"/>
              </a:lnSpc>
              <a:spcAft>
                <a:spcPts val="0"/>
              </a:spcAft>
            </a:pPr>
            <a:r>
              <a:rPr sz="4050">
                <a:solidFill>
                  <a:srgbClr val="000000"/>
                </a:solidFill>
                <a:latin typeface="DejaVu Sans Mono"/>
              </a:rPr>
              <a:t>  </a:t>
            </a:r>
            <a:r>
              <a:rPr sz="4050">
                <a:solidFill>
                  <a:srgbClr val="000000"/>
                </a:solidFill>
                <a:latin typeface="DejaVu Sans Mono"/>
              </a:rPr>
              <a:t>__device__</a:t>
            </a:r>
            <a:r>
              <a:rPr sz="4050">
                <a:solidFill>
                  <a:srgbClr val="000000"/>
                </a:solidFill>
                <a:latin typeface="DejaVu Sans Mono"/>
              </a:rPr>
              <a:t> </a:t>
            </a:r>
            <a:r>
              <a:rPr sz="4050">
                <a:solidFill>
                  <a:srgbClr val="0074DF"/>
                </a:solidFill>
                <a:latin typeface="DejaVu Sans Mono"/>
              </a:rPr>
              <a:t>void</a:t>
            </a:r>
            <a:r>
              <a:rPr sz="4050">
                <a:solidFill>
                  <a:srgbClr val="000000"/>
                </a:solidFill>
                <a:latin typeface="DejaVu Sans Mono"/>
              </a:rPr>
              <a:t> </a:t>
            </a:r>
            <a:r>
              <a:rPr sz="4050">
                <a:solidFill>
                  <a:srgbClr val="0074DF"/>
                </a:solidFill>
                <a:latin typeface="DejaVu Sans Mono"/>
              </a:rPr>
              <a:t>operator</a:t>
            </a:r>
            <a:r>
              <a:rPr sz="4050">
                <a:solidFill>
                  <a:srgbClr val="000000"/>
                </a:solidFill>
                <a:latin typeface="DejaVu Sans Mono"/>
              </a:rPr>
              <a:t>(</a:t>
            </a:r>
            <a:r>
              <a:rPr sz="4050">
                <a:solidFill>
                  <a:srgbClr val="000000"/>
                </a:solidFill>
                <a:latin typeface="DejaVu Sans Mono"/>
              </a:rPr>
              <a:t>)</a:t>
            </a:r>
            <a:r>
              <a:rPr sz="4050">
                <a:solidFill>
                  <a:srgbClr val="000000"/>
                </a:solidFill>
                <a:latin typeface="DejaVu Sans Mono"/>
              </a:rPr>
              <a:t>(</a:t>
            </a:r>
            <a:r>
              <a:rPr sz="4050">
                <a:solidFill>
                  <a:srgbClr val="0074DF"/>
                </a:solidFill>
                <a:latin typeface="DejaVu Sans Mono"/>
              </a:rPr>
              <a:t>auto</a:t>
            </a:r>
            <a:r>
              <a:rPr sz="4050">
                <a:solidFill>
                  <a:srgbClr val="000000"/>
                </a:solidFill>
                <a:latin typeface="DejaVu Sans Mono"/>
              </a:rPr>
              <a:t> </a:t>
            </a:r>
            <a:r>
              <a:rPr sz="4050">
                <a:solidFill>
                  <a:srgbClr val="000000"/>
                </a:solidFill>
                <a:latin typeface="DejaVu Sans Mono"/>
              </a:rPr>
              <a:t>config</a:t>
            </a:r>
            <a:r>
              <a:rPr sz="4050">
                <a:solidFill>
                  <a:srgbClr val="000000"/>
                </a:solidFill>
                <a:latin typeface="DejaVu Sans Mono"/>
              </a:rPr>
              <a:t>)</a:t>
            </a:r>
            <a:r>
              <a:rPr sz="4050">
                <a:solidFill>
                  <a:srgbClr val="000000"/>
                </a:solidFill>
                <a:latin typeface="DejaVu Sans Mono"/>
              </a:rPr>
              <a:t> </a:t>
            </a:r>
            <a:r>
              <a:rPr sz="4050">
                <a:solidFill>
                  <a:srgbClr val="0074DF"/>
                </a:solidFill>
                <a:latin typeface="DejaVu Sans Mono"/>
              </a:rPr>
              <a:t>const</a:t>
            </a:r>
            <a:r>
              <a:rPr sz="4050">
                <a:solidFill>
                  <a:srgbClr val="000000"/>
                </a:solidFill>
                <a:latin typeface="DejaVu Sans Mono"/>
              </a:rPr>
              <a:t> </a:t>
            </a:r>
            <a:r>
              <a:rPr sz="4050">
                <a:solidFill>
                  <a:srgbClr val="000000"/>
                </a:solidFill>
                <a:latin typeface="DejaVu Sans Mono"/>
              </a:rPr>
              <a:t>{</a:t>
            </a:r>
          </a:p>
          <a:p>
            <a:pPr>
              <a:lnSpc>
                <a:spcPct val="112000"/>
              </a:lnSpc>
              <a:spcAft>
                <a:spcPts val="0"/>
              </a:spcAft>
            </a:pPr>
            <a:r>
              <a:rPr sz="4050">
                <a:solidFill>
                  <a:srgbClr val="000000"/>
                </a:solidFill>
                <a:latin typeface="DejaVu Sans Mono"/>
              </a:rPr>
              <a:t>    </a:t>
            </a:r>
            <a:r>
              <a:rPr sz="4050">
                <a:solidFill>
                  <a:srgbClr val="000000"/>
                </a:solidFill>
                <a:latin typeface="DejaVu Sans Mono"/>
              </a:rPr>
              <a:t>coop</a:t>
            </a:r>
            <a:r>
              <a:rPr sz="4050">
                <a:solidFill>
                  <a:srgbClr val="000000"/>
                </a:solidFill>
                <a:latin typeface="DejaVu Sans Mono"/>
              </a:rPr>
              <a:t>:</a:t>
            </a:r>
            <a:r>
              <a:rPr sz="4050">
                <a:solidFill>
                  <a:srgbClr val="000000"/>
                </a:solidFill>
                <a:latin typeface="DejaVu Sans Mono"/>
              </a:rPr>
              <a:t>:</a:t>
            </a:r>
            <a:r>
              <a:rPr sz="4050">
                <a:solidFill>
                  <a:srgbClr val="000000"/>
                </a:solidFill>
                <a:latin typeface="DejaVu Sans Mono"/>
              </a:rPr>
              <a:t>this_block</a:t>
            </a:r>
            <a:r>
              <a:rPr sz="4050">
                <a:solidFill>
                  <a:srgbClr val="000000"/>
                </a:solidFill>
                <a:latin typeface="DejaVu Sans Mono"/>
              </a:rPr>
              <a:t> </a:t>
            </a:r>
            <a:r>
              <a:rPr sz="4050">
                <a:solidFill>
                  <a:srgbClr val="000000"/>
                </a:solidFill>
                <a:latin typeface="DejaVu Sans Mono"/>
              </a:rPr>
              <a:t>block</a:t>
            </a:r>
            <a:r>
              <a:rPr sz="4050">
                <a:solidFill>
                  <a:srgbClr val="000000"/>
                </a:solidFill>
                <a:latin typeface="DejaVu Sans Mono"/>
              </a:rPr>
              <a:t>{</a:t>
            </a:r>
            <a:r>
              <a:rPr sz="4050">
                <a:solidFill>
                  <a:srgbClr val="000000"/>
                </a:solidFill>
                <a:latin typeface="DejaVu Sans Mono"/>
              </a:rPr>
              <a:t>config</a:t>
            </a:r>
            <a:r>
              <a:rPr sz="4050">
                <a:solidFill>
                  <a:srgbClr val="000000"/>
                </a:solidFill>
                <a:latin typeface="DejaVu Sans Mono"/>
              </a:rPr>
              <a:t>}</a:t>
            </a:r>
            <a:r>
              <a:rPr sz="4050">
                <a:solidFill>
                  <a:srgbClr val="000000"/>
                </a:solidFill>
                <a:latin typeface="DejaVu Sans Mono"/>
              </a:rPr>
              <a:t>;</a:t>
            </a:r>
          </a:p>
          <a:p>
            <a:pPr>
              <a:lnSpc>
                <a:spcPct val="112000"/>
              </a:lnSpc>
              <a:spcAft>
                <a:spcPts val="0"/>
              </a:spcAft>
            </a:pPr>
            <a:r>
              <a:rPr sz="4050">
                <a:solidFill>
                  <a:srgbClr val="000000"/>
                </a:solidFill>
                <a:latin typeface="DejaVu Sans Mono"/>
              </a:rPr>
              <a:t>    </a:t>
            </a:r>
            <a:r>
              <a:rPr sz="4050">
                <a:solidFill>
                  <a:srgbClr val="000000"/>
                </a:solidFill>
                <a:latin typeface="DejaVu Sans Mono"/>
              </a:rPr>
              <a:t>block</a:t>
            </a:r>
            <a:r>
              <a:rPr sz="4050">
                <a:solidFill>
                  <a:srgbClr val="000000"/>
                </a:solidFill>
                <a:latin typeface="DejaVu Sans Mono"/>
              </a:rPr>
              <a:t>.</a:t>
            </a:r>
            <a:r>
              <a:rPr sz="4050">
                <a:solidFill>
                  <a:srgbClr val="000000"/>
                </a:solidFill>
                <a:latin typeface="DejaVu Sans Mono"/>
              </a:rPr>
              <a:t>sync</a:t>
            </a:r>
            <a:r>
              <a:rPr sz="4050">
                <a:solidFill>
                  <a:srgbClr val="000000"/>
                </a:solidFill>
                <a:latin typeface="DejaVu Sans Mono"/>
              </a:rPr>
              <a:t>(</a:t>
            </a:r>
            <a:r>
              <a:rPr sz="4050">
                <a:solidFill>
                  <a:srgbClr val="000000"/>
                </a:solidFill>
                <a:latin typeface="DejaVu Sans Mono"/>
              </a:rPr>
              <a:t>)</a:t>
            </a:r>
            <a:r>
              <a:rPr sz="4050">
                <a:solidFill>
                  <a:srgbClr val="000000"/>
                </a:solidFill>
                <a:latin typeface="DejaVu Sans Mono"/>
              </a:rPr>
              <a:t>;</a:t>
            </a:r>
          </a:p>
          <a:p>
            <a:pPr>
              <a:lnSpc>
                <a:spcPct val="112000"/>
              </a:lnSpc>
              <a:spcAft>
                <a:spcPts val="0"/>
              </a:spcAft>
            </a:pPr>
            <a:r>
              <a:rPr sz="4050">
                <a:solidFill>
                  <a:srgbClr val="000000"/>
                </a:solidFill>
                <a:latin typeface="DejaVu Sans Mono"/>
              </a:rPr>
              <a:t>  </a:t>
            </a:r>
            <a:r>
              <a:rPr sz="4050">
                <a:solidFill>
                  <a:srgbClr val="000000"/>
                </a:solidFill>
                <a:latin typeface="DejaVu Sans Mono"/>
              </a:rPr>
              <a:t>}</a:t>
            </a:r>
          </a:p>
          <a:p>
            <a:pPr>
              <a:lnSpc>
                <a:spcPct val="112000"/>
              </a:lnSpc>
              <a:spcAft>
                <a:spcPts val="0"/>
              </a:spcAft>
            </a:pPr>
            <a:r>
              <a:rPr sz="4050">
                <a:solidFill>
                  <a:srgbClr val="000000"/>
                </a:solidFill>
                <a:latin typeface="DejaVu Sans Mono"/>
              </a:rPr>
              <a:t>}</a:t>
            </a:r>
            <a:r>
              <a:rPr sz="4050">
                <a:solidFill>
                  <a:srgbClr val="000000"/>
                </a:solidFill>
                <a:latin typeface="DejaVu Sans Mono"/>
              </a:rPr>
              <a:t>;</a:t>
            </a:r>
          </a:p>
          <a:p>
            <a:pPr>
              <a:lnSpc>
                <a:spcPct val="112000"/>
              </a:lnSpc>
              <a:spcAft>
                <a:spcPts val="0"/>
              </a:spcAft>
            </a:pPr>
            <a:r>
              <a:rPr sz="4050">
                <a:solidFill>
                  <a:srgbClr val="0074DF"/>
                </a:solidFill>
                <a:latin typeface="DejaVu Sans Mono"/>
              </a:rPr>
              <a:t>auto</a:t>
            </a:r>
            <a:r>
              <a:rPr sz="4050">
                <a:solidFill>
                  <a:srgbClr val="000000"/>
                </a:solidFill>
                <a:latin typeface="DejaVu Sans Mono"/>
              </a:rPr>
              <a:t> </a:t>
            </a:r>
            <a:r>
              <a:rPr sz="4050">
                <a:solidFill>
                  <a:srgbClr val="000000"/>
                </a:solidFill>
                <a:latin typeface="DejaVu Sans Mono"/>
              </a:rPr>
              <a:t>config</a:t>
            </a:r>
            <a:r>
              <a:rPr sz="4050">
                <a:solidFill>
                  <a:srgbClr val="000000"/>
                </a:solidFill>
                <a:latin typeface="DejaVu Sans Mono"/>
              </a:rPr>
              <a:t> </a:t>
            </a:r>
            <a:r>
              <a:rPr sz="4050">
                <a:solidFill>
                  <a:srgbClr val="000000"/>
                </a:solidFill>
                <a:latin typeface="DejaVu Sans Mono"/>
              </a:rPr>
              <a:t>=</a:t>
            </a:r>
            <a:r>
              <a:rPr sz="4050">
                <a:solidFill>
                  <a:srgbClr val="000000"/>
                </a:solidFill>
                <a:latin typeface="DejaVu Sans Mono"/>
              </a:rPr>
              <a:t> </a:t>
            </a:r>
            <a:r>
              <a:rPr sz="4050">
                <a:solidFill>
                  <a:srgbClr val="000000"/>
                </a:solidFill>
                <a:latin typeface="DejaVu Sans Mono"/>
              </a:rPr>
              <a:t>cuda</a:t>
            </a:r>
            <a:r>
              <a:rPr sz="4050">
                <a:solidFill>
                  <a:srgbClr val="000000"/>
                </a:solidFill>
                <a:latin typeface="DejaVu Sans Mono"/>
              </a:rPr>
              <a:t>:</a:t>
            </a:r>
            <a:r>
              <a:rPr sz="4050">
                <a:solidFill>
                  <a:srgbClr val="000000"/>
                </a:solidFill>
                <a:latin typeface="DejaVu Sans Mono"/>
              </a:rPr>
              <a:t>:</a:t>
            </a:r>
            <a:r>
              <a:rPr sz="4050">
                <a:solidFill>
                  <a:srgbClr val="000000"/>
                </a:solidFill>
                <a:latin typeface="DejaVu Sans Mono"/>
              </a:rPr>
              <a:t>make_config</a:t>
            </a:r>
            <a:r>
              <a:rPr sz="4050">
                <a:solidFill>
                  <a:srgbClr val="000000"/>
                </a:solidFill>
                <a:latin typeface="DejaVu Sans Mono"/>
              </a:rPr>
              <a:t>(</a:t>
            </a:r>
          </a:p>
          <a:p>
            <a:pPr>
              <a:lnSpc>
                <a:spcPct val="112000"/>
              </a:lnSpc>
              <a:spcAft>
                <a:spcPts val="0"/>
              </a:spcAft>
            </a:pPr>
            <a:r>
              <a:rPr sz="4050">
                <a:solidFill>
                  <a:srgbClr val="000000"/>
                </a:solidFill>
                <a:latin typeface="DejaVu Sans Mono"/>
              </a:rPr>
              <a:t>  </a:t>
            </a:r>
            <a:r>
              <a:rPr sz="4050">
                <a:solidFill>
                  <a:srgbClr val="000000"/>
                </a:solidFill>
                <a:latin typeface="DejaVu Sans Mono"/>
              </a:rPr>
              <a:t>cuda</a:t>
            </a:r>
            <a:r>
              <a:rPr sz="4050">
                <a:solidFill>
                  <a:srgbClr val="000000"/>
                </a:solidFill>
                <a:latin typeface="DejaVu Sans Mono"/>
              </a:rPr>
              <a:t>:</a:t>
            </a:r>
            <a:r>
              <a:rPr sz="4050">
                <a:solidFill>
                  <a:srgbClr val="000000"/>
                </a:solidFill>
                <a:latin typeface="DejaVu Sans Mono"/>
              </a:rPr>
              <a:t>:</a:t>
            </a:r>
            <a:r>
              <a:rPr sz="4050">
                <a:solidFill>
                  <a:srgbClr val="000000"/>
                </a:solidFill>
                <a:latin typeface="DejaVu Sans Mono"/>
              </a:rPr>
              <a:t>grid_dims</a:t>
            </a:r>
            <a:r>
              <a:rPr sz="4050">
                <a:solidFill>
                  <a:srgbClr val="000000"/>
                </a:solidFill>
                <a:latin typeface="DejaVu Sans Mono"/>
              </a:rPr>
              <a:t>(</a:t>
            </a:r>
            <a:r>
              <a:rPr sz="4050">
                <a:solidFill>
                  <a:srgbClr val="000000"/>
                </a:solidFill>
                <a:latin typeface="DejaVu Sans Mono"/>
              </a:rPr>
              <a:t>1</a:t>
            </a:r>
            <a:r>
              <a:rPr sz="4050">
                <a:solidFill>
                  <a:srgbClr val="000000"/>
                </a:solidFill>
                <a:latin typeface="DejaVu Sans Mono"/>
              </a:rPr>
              <a:t>)</a:t>
            </a:r>
            <a:r>
              <a:rPr sz="4050">
                <a:solidFill>
                  <a:srgbClr val="000000"/>
                </a:solidFill>
                <a:latin typeface="DejaVu Sans Mono"/>
              </a:rPr>
              <a:t>,</a:t>
            </a:r>
            <a:r>
              <a:rPr sz="4050">
                <a:solidFill>
                  <a:srgbClr val="000000"/>
                </a:solidFill>
                <a:latin typeface="DejaVu Sans Mono"/>
              </a:rPr>
              <a:t> </a:t>
            </a:r>
            <a:r>
              <a:rPr sz="4050">
                <a:solidFill>
                  <a:srgbClr val="000000"/>
                </a:solidFill>
                <a:latin typeface="DejaVu Sans Mono"/>
              </a:rPr>
              <a:t>cuda</a:t>
            </a:r>
            <a:r>
              <a:rPr sz="4050">
                <a:solidFill>
                  <a:srgbClr val="000000"/>
                </a:solidFill>
                <a:latin typeface="DejaVu Sans Mono"/>
              </a:rPr>
              <a:t>:</a:t>
            </a:r>
            <a:r>
              <a:rPr sz="4050">
                <a:solidFill>
                  <a:srgbClr val="000000"/>
                </a:solidFill>
                <a:latin typeface="DejaVu Sans Mono"/>
              </a:rPr>
              <a:t>:</a:t>
            </a:r>
            <a:r>
              <a:rPr sz="4050">
                <a:solidFill>
                  <a:srgbClr val="000000"/>
                </a:solidFill>
                <a:latin typeface="DejaVu Sans Mono"/>
              </a:rPr>
              <a:t>block_dims</a:t>
            </a:r>
            <a:r>
              <a:rPr sz="4050">
                <a:solidFill>
                  <a:srgbClr val="000000"/>
                </a:solidFill>
                <a:latin typeface="DejaVu Sans Mono"/>
              </a:rPr>
              <a:t>&lt;</a:t>
            </a:r>
            <a:r>
              <a:rPr sz="4050">
                <a:solidFill>
                  <a:srgbClr val="000000"/>
                </a:solidFill>
                <a:latin typeface="DejaVu Sans Mono"/>
              </a:rPr>
              <a:t>192</a:t>
            </a:r>
            <a:r>
              <a:rPr sz="4050">
                <a:solidFill>
                  <a:srgbClr val="000000"/>
                </a:solidFill>
                <a:latin typeface="DejaVu Sans Mono"/>
              </a:rPr>
              <a:t>&gt;</a:t>
            </a:r>
            <a:r>
              <a:rPr sz="4050">
                <a:solidFill>
                  <a:srgbClr val="000000"/>
                </a:solidFill>
                <a:latin typeface="DejaVu Sans Mono"/>
              </a:rPr>
              <a:t>(</a:t>
            </a:r>
            <a:r>
              <a:rPr sz="4050">
                <a:solidFill>
                  <a:srgbClr val="000000"/>
                </a:solidFill>
                <a:latin typeface="DejaVu Sans Mono"/>
              </a:rPr>
              <a:t>)</a:t>
            </a:r>
            <a:r>
              <a:rPr sz="4050">
                <a:solidFill>
                  <a:srgbClr val="000000"/>
                </a:solidFill>
                <a:latin typeface="DejaVu Sans Mono"/>
              </a:rPr>
              <a:t>)</a:t>
            </a:r>
            <a:r>
              <a:rPr sz="4050">
                <a:solidFill>
                  <a:srgbClr val="000000"/>
                </a:solidFill>
                <a:latin typeface="DejaVu Sans Mono"/>
              </a:rPr>
              <a:t>;</a:t>
            </a:r>
          </a:p>
          <a:p>
            <a:pPr>
              <a:lnSpc>
                <a:spcPct val="112000"/>
              </a:lnSpc>
              <a:spcAft>
                <a:spcPts val="0"/>
              </a:spcAft>
            </a:pPr>
            <a:r>
              <a:rPr sz="4050">
                <a:solidFill>
                  <a:srgbClr val="000000"/>
                </a:solidFill>
                <a:latin typeface="DejaVu Sans Mono"/>
              </a:rPr>
              <a:t>cuda</a:t>
            </a:r>
            <a:r>
              <a:rPr sz="4050">
                <a:solidFill>
                  <a:srgbClr val="000000"/>
                </a:solidFill>
                <a:latin typeface="DejaVu Sans Mono"/>
              </a:rPr>
              <a:t>:</a:t>
            </a:r>
            <a:r>
              <a:rPr sz="4050">
                <a:solidFill>
                  <a:srgbClr val="000000"/>
                </a:solidFill>
                <a:latin typeface="DejaVu Sans Mono"/>
              </a:rPr>
              <a:t>:</a:t>
            </a:r>
            <a:r>
              <a:rPr sz="4050">
                <a:solidFill>
                  <a:srgbClr val="000000"/>
                </a:solidFill>
                <a:latin typeface="DejaVu Sans Mono"/>
              </a:rPr>
              <a:t>launch</a:t>
            </a:r>
            <a:r>
              <a:rPr sz="4050">
                <a:solidFill>
                  <a:srgbClr val="000000"/>
                </a:solidFill>
                <a:latin typeface="DejaVu Sans Mono"/>
              </a:rPr>
              <a:t>(</a:t>
            </a:r>
            <a:r>
              <a:rPr sz="4050">
                <a:solidFill>
                  <a:srgbClr val="000000"/>
                </a:solidFill>
                <a:latin typeface="DejaVu Sans Mono"/>
              </a:rPr>
              <a:t>stream</a:t>
            </a:r>
            <a:r>
              <a:rPr sz="4050">
                <a:solidFill>
                  <a:srgbClr val="000000"/>
                </a:solidFill>
                <a:latin typeface="DejaVu Sans Mono"/>
              </a:rPr>
              <a:t>,</a:t>
            </a:r>
            <a:r>
              <a:rPr sz="4050">
                <a:solidFill>
                  <a:srgbClr val="000000"/>
                </a:solidFill>
                <a:latin typeface="DejaVu Sans Mono"/>
              </a:rPr>
              <a:t> </a:t>
            </a:r>
            <a:r>
              <a:rPr sz="4050">
                <a:solidFill>
                  <a:srgbClr val="000000"/>
                </a:solidFill>
                <a:latin typeface="DejaVu Sans Mono"/>
              </a:rPr>
              <a:t>config</a:t>
            </a:r>
            <a:r>
              <a:rPr sz="4050">
                <a:solidFill>
                  <a:srgbClr val="000000"/>
                </a:solidFill>
                <a:latin typeface="DejaVu Sans Mono"/>
              </a:rPr>
              <a:t>,</a:t>
            </a:r>
            <a:r>
              <a:rPr sz="4050">
                <a:solidFill>
                  <a:srgbClr val="000000"/>
                </a:solidFill>
                <a:latin typeface="DejaVu Sans Mono"/>
              </a:rPr>
              <a:t> </a:t>
            </a:r>
            <a:r>
              <a:rPr sz="4050">
                <a:solidFill>
                  <a:srgbClr val="000000"/>
                </a:solidFill>
                <a:latin typeface="DejaVu Sans Mono"/>
              </a:rPr>
              <a:t>Kernel</a:t>
            </a:r>
            <a:r>
              <a:rPr sz="4050">
                <a:solidFill>
                  <a:srgbClr val="000000"/>
                </a:solidFill>
                <a:latin typeface="DejaVu Sans Mono"/>
              </a:rPr>
              <a:t>{</a:t>
            </a:r>
            <a:r>
              <a:rPr sz="4050">
                <a:solidFill>
                  <a:srgbClr val="000000"/>
                </a:solidFill>
                <a:latin typeface="DejaVu Sans Mono"/>
              </a:rPr>
              <a:t>}</a:t>
            </a:r>
            <a:r>
              <a:rPr sz="4050">
                <a:solidFill>
                  <a:srgbClr val="000000"/>
                </a:solidFill>
                <a:latin typeface="DejaVu Sans Mono"/>
              </a:rPr>
              <a:t>)</a:t>
            </a:r>
            <a:r>
              <a:rPr sz="4050">
                <a:solidFill>
                  <a:srgbClr val="000000"/>
                </a:solidFill>
                <a:latin typeface="DejaVu Sans Mono"/>
              </a:rPr>
              <a:t>;</a:t>
            </a:r>
          </a:p>
          <a:p>
            <a:pPr>
              <a:lnSpc>
                <a:spcPct val="112000"/>
              </a:lnSpc>
              <a:spcAft>
                <a:spcPts val="0"/>
              </a:spcAft>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coalesced_group captures active lanes</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Use it for opportunistic collaboration inside a warp.</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14</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Concepts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docs/cudax/coop/group/coalesced_group.rst</a:t>
            </a:r>
          </a:p>
        </p:txBody>
      </p:sp>
      <p:sp>
        <p:nvSpPr>
          <p:cNvPr id="7" name="Rectangle 6"/>
          <p:cNvSpPr/>
          <p:nvPr/>
        </p:nvSpPr>
        <p:spPr>
          <a:xfrm>
            <a:off x="1783080" y="5897879"/>
            <a:ext cx="32918400" cy="49377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31656527" cy="4059935"/>
          </a:xfrm>
          <a:prstGeom prst="rect">
            <a:avLst/>
          </a:prstGeom>
          <a:noFill/>
        </p:spPr>
        <p:txBody>
          <a:bodyPr wrap="none" lIns="0" rIns="0" tIns="0" bIns="0">
            <a:noAutofit/>
          </a:bodyPr>
          <a:lstStyle/>
          <a:p>
            <a:pPr>
              <a:lnSpc>
                <a:spcPct val="112000"/>
              </a:lnSpc>
              <a:spcAft>
                <a:spcPts val="0"/>
              </a:spcAft>
            </a:pPr>
            <a:r>
              <a:rPr sz="5400">
                <a:solidFill>
                  <a:srgbClr val="0074DF"/>
                </a:solidFill>
                <a:latin typeface="DejaVu Sans Mono"/>
              </a:rPr>
              <a:t>if</a:t>
            </a:r>
            <a:r>
              <a:rPr sz="5400">
                <a:solidFill>
                  <a:srgbClr val="000000"/>
                </a:solidFill>
                <a:latin typeface="DejaVu Sans Mono"/>
              </a:rPr>
              <a:t> </a:t>
            </a:r>
            <a:r>
              <a:rPr sz="5400">
                <a:solidFill>
                  <a:srgbClr val="000000"/>
                </a:solidFill>
                <a:latin typeface="DejaVu Sans Mono"/>
              </a:rPr>
              <a:t>(</a:t>
            </a:r>
            <a:r>
              <a:rPr sz="5400">
                <a:solidFill>
                  <a:srgbClr val="000000"/>
                </a:solidFill>
                <a:latin typeface="DejaVu Sans Mono"/>
              </a:rPr>
              <a:t>cuda</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gpu_thread</a:t>
            </a:r>
            <a:r>
              <a:rPr sz="5400">
                <a:solidFill>
                  <a:srgbClr val="000000"/>
                </a:solidFill>
                <a:latin typeface="DejaVu Sans Mono"/>
              </a:rPr>
              <a:t>.</a:t>
            </a:r>
            <a:r>
              <a:rPr sz="5400">
                <a:solidFill>
                  <a:srgbClr val="000000"/>
                </a:solidFill>
                <a:latin typeface="DejaVu Sans Mono"/>
              </a:rPr>
              <a:t>rank</a:t>
            </a:r>
            <a:r>
              <a:rPr sz="5400">
                <a:solidFill>
                  <a:srgbClr val="000000"/>
                </a:solidFill>
                <a:latin typeface="DejaVu Sans Mono"/>
              </a:rPr>
              <a:t>(</a:t>
            </a:r>
            <a:r>
              <a:rPr sz="5400">
                <a:solidFill>
                  <a:srgbClr val="000000"/>
                </a:solidFill>
                <a:latin typeface="DejaVu Sans Mono"/>
              </a:rPr>
              <a:t>warp</a:t>
            </a:r>
            <a:r>
              <a:rPr sz="5400">
                <a:solidFill>
                  <a:srgbClr val="000000"/>
                </a:solidFill>
                <a:latin typeface="DejaVu Sans Mono"/>
              </a:rPr>
              <a:t>)</a:t>
            </a:r>
            <a:r>
              <a:rPr sz="5400">
                <a:solidFill>
                  <a:srgbClr val="000000"/>
                </a:solidFill>
                <a:latin typeface="DejaVu Sans Mono"/>
              </a:rPr>
              <a:t> </a:t>
            </a:r>
            <a:r>
              <a:rPr sz="5400">
                <a:solidFill>
                  <a:srgbClr val="000000"/>
                </a:solidFill>
                <a:latin typeface="DejaVu Sans Mono"/>
              </a:rPr>
              <a:t>&lt;</a:t>
            </a:r>
            <a:r>
              <a:rPr sz="5400">
                <a:solidFill>
                  <a:srgbClr val="000000"/>
                </a:solidFill>
                <a:latin typeface="DejaVu Sans Mono"/>
              </a:rPr>
              <a:t> </a:t>
            </a:r>
            <a:r>
              <a:rPr sz="5400">
                <a:solidFill>
                  <a:srgbClr val="000000"/>
                </a:solidFill>
                <a:latin typeface="DejaVu Sans Mono"/>
              </a:rPr>
              <a:t>16</a:t>
            </a:r>
            <a:r>
              <a:rPr sz="5400">
                <a:solidFill>
                  <a:srgbClr val="000000"/>
                </a:solidFill>
                <a:latin typeface="DejaVu Sans Mono"/>
              </a:rPr>
              <a:t>)</a:t>
            </a:r>
            <a:r>
              <a:rPr sz="5400">
                <a:solidFill>
                  <a:srgbClr val="000000"/>
                </a:solidFill>
                <a:latin typeface="DejaVu Sans Mono"/>
              </a:rPr>
              <a:t> </a:t>
            </a:r>
            <a:r>
              <a:rPr sz="5400">
                <a:solidFill>
                  <a:srgbClr val="000000"/>
                </a:solidFill>
                <a:latin typeface="DejaVu Sans Mono"/>
              </a:rPr>
              <a:t>{</a:t>
            </a:r>
          </a:p>
          <a:p>
            <a:pPr>
              <a:lnSpc>
                <a:spcPct val="112000"/>
              </a:lnSpc>
              <a:spcAft>
                <a:spcPts val="0"/>
              </a:spcAft>
            </a:pPr>
            <a:r>
              <a:rPr sz="5400">
                <a:solidFill>
                  <a:srgbClr val="000000"/>
                </a:solidFill>
                <a:latin typeface="DejaVu Sans Mono"/>
              </a:rPr>
              <a:t>  </a:t>
            </a:r>
            <a:r>
              <a:rPr sz="5400">
                <a:solidFill>
                  <a:srgbClr val="000000"/>
                </a:solidFill>
                <a:latin typeface="DejaVu Sans Mono"/>
              </a:rPr>
              <a:t>coop</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coalesced_group</a:t>
            </a:r>
            <a:r>
              <a:rPr sz="5400">
                <a:solidFill>
                  <a:srgbClr val="000000"/>
                </a:solidFill>
                <a:latin typeface="DejaVu Sans Mono"/>
              </a:rPr>
              <a:t> </a:t>
            </a:r>
            <a:r>
              <a:rPr sz="5400">
                <a:solidFill>
                  <a:srgbClr val="000000"/>
                </a:solidFill>
                <a:latin typeface="DejaVu Sans Mono"/>
              </a:rPr>
              <a:t>active</a:t>
            </a:r>
            <a:r>
              <a:rPr sz="5400">
                <a:solidFill>
                  <a:srgbClr val="000000"/>
                </a:solidFill>
                <a:latin typeface="DejaVu Sans Mono"/>
              </a:rPr>
              <a:t>{</a:t>
            </a:r>
            <a:r>
              <a:rPr sz="5400">
                <a:solidFill>
                  <a:srgbClr val="000000"/>
                </a:solidFill>
                <a:latin typeface="DejaVu Sans Mono"/>
              </a:rPr>
              <a:t>config</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r>
              <a:rPr sz="5400">
                <a:solidFill>
                  <a:srgbClr val="000000"/>
                </a:solidFill>
                <a:latin typeface="DejaVu Sans Mono"/>
              </a:rPr>
              <a:t>  </a:t>
            </a:r>
            <a:r>
              <a:rPr sz="5400">
                <a:solidFill>
                  <a:srgbClr val="000000"/>
                </a:solidFill>
                <a:latin typeface="DejaVu Sans Mono"/>
              </a:rPr>
              <a:t>active</a:t>
            </a:r>
            <a:r>
              <a:rPr sz="5400">
                <a:solidFill>
                  <a:srgbClr val="000000"/>
                </a:solidFill>
                <a:latin typeface="DejaVu Sans Mono"/>
              </a:rPr>
              <a:t>.</a:t>
            </a:r>
            <a:r>
              <a:rPr sz="5400">
                <a:solidFill>
                  <a:srgbClr val="000000"/>
                </a:solidFill>
                <a:latin typeface="DejaVu Sans Mono"/>
              </a:rPr>
              <a:t>sync</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r>
              <a:rPr sz="5400">
                <a:solidFill>
                  <a:srgbClr val="000000"/>
                </a:solidFill>
                <a:latin typeface="DejaVu Sans Mono"/>
              </a:rPr>
              <a:t>}</a:t>
            </a:r>
          </a:p>
          <a:p>
            <a:pPr>
              <a:lnSpc>
                <a:spcPct val="112000"/>
              </a:lnSpc>
              <a:spcAft>
                <a:spcPts val="0"/>
              </a:spcAft>
            </a:pPr>
          </a:p>
        </p:txBody>
      </p:sp>
      <p:sp>
        <p:nvSpPr>
          <p:cNvPr id="9" name="Rectangle 8"/>
          <p:cNvSpPr/>
          <p:nvPr/>
        </p:nvSpPr>
        <p:spPr>
          <a:xfrm>
            <a:off x="3017520" y="1193291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1244041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0</a:t>
            </a:r>
          </a:p>
        </p:txBody>
      </p:sp>
      <p:sp>
        <p:nvSpPr>
          <p:cNvPr id="11" name="Rectangle 10"/>
          <p:cNvSpPr/>
          <p:nvPr/>
        </p:nvSpPr>
        <p:spPr>
          <a:xfrm>
            <a:off x="4937760" y="1193291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1244041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a:t>
            </a:r>
          </a:p>
        </p:txBody>
      </p:sp>
      <p:sp>
        <p:nvSpPr>
          <p:cNvPr id="13" name="Rectangle 12"/>
          <p:cNvSpPr/>
          <p:nvPr/>
        </p:nvSpPr>
        <p:spPr>
          <a:xfrm>
            <a:off x="6858000" y="1193291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1244041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2</a:t>
            </a:r>
          </a:p>
        </p:txBody>
      </p:sp>
      <p:sp>
        <p:nvSpPr>
          <p:cNvPr id="15" name="Rectangle 14"/>
          <p:cNvSpPr/>
          <p:nvPr/>
        </p:nvSpPr>
        <p:spPr>
          <a:xfrm>
            <a:off x="8778240" y="1193291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0" y="1244041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3</a:t>
            </a:r>
          </a:p>
        </p:txBody>
      </p:sp>
      <p:sp>
        <p:nvSpPr>
          <p:cNvPr id="17" name="Rectangle 16"/>
          <p:cNvSpPr/>
          <p:nvPr/>
        </p:nvSpPr>
        <p:spPr>
          <a:xfrm>
            <a:off x="10698480" y="1193291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98480" y="1244041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4</a:t>
            </a:r>
          </a:p>
        </p:txBody>
      </p:sp>
      <p:sp>
        <p:nvSpPr>
          <p:cNvPr id="19" name="Rectangle 18"/>
          <p:cNvSpPr/>
          <p:nvPr/>
        </p:nvSpPr>
        <p:spPr>
          <a:xfrm>
            <a:off x="12618720" y="1193291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618720" y="1244041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5</a:t>
            </a:r>
          </a:p>
        </p:txBody>
      </p:sp>
      <p:sp>
        <p:nvSpPr>
          <p:cNvPr id="21" name="Rectangle 20"/>
          <p:cNvSpPr/>
          <p:nvPr/>
        </p:nvSpPr>
        <p:spPr>
          <a:xfrm>
            <a:off x="14538960" y="1193291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538960" y="1244041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6</a:t>
            </a:r>
          </a:p>
        </p:txBody>
      </p:sp>
      <p:sp>
        <p:nvSpPr>
          <p:cNvPr id="23" name="Rectangle 22"/>
          <p:cNvSpPr/>
          <p:nvPr/>
        </p:nvSpPr>
        <p:spPr>
          <a:xfrm>
            <a:off x="16459200" y="1193291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459200" y="1244041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7</a:t>
            </a:r>
          </a:p>
        </p:txBody>
      </p:sp>
      <p:sp>
        <p:nvSpPr>
          <p:cNvPr id="25" name="Rectangle 24"/>
          <p:cNvSpPr/>
          <p:nvPr/>
        </p:nvSpPr>
        <p:spPr>
          <a:xfrm>
            <a:off x="18379440" y="1193291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379440" y="1244041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8</a:t>
            </a:r>
          </a:p>
        </p:txBody>
      </p:sp>
      <p:sp>
        <p:nvSpPr>
          <p:cNvPr id="27" name="Rectangle 26"/>
          <p:cNvSpPr/>
          <p:nvPr/>
        </p:nvSpPr>
        <p:spPr>
          <a:xfrm>
            <a:off x="20299680" y="1193291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0299680" y="1244041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9</a:t>
            </a:r>
          </a:p>
        </p:txBody>
      </p:sp>
      <p:sp>
        <p:nvSpPr>
          <p:cNvPr id="29" name="Rectangle 28"/>
          <p:cNvSpPr/>
          <p:nvPr/>
        </p:nvSpPr>
        <p:spPr>
          <a:xfrm>
            <a:off x="22219920" y="1193291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219920" y="1244041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10</a:t>
            </a:r>
          </a:p>
        </p:txBody>
      </p:sp>
      <p:sp>
        <p:nvSpPr>
          <p:cNvPr id="31" name="Rectangle 30"/>
          <p:cNvSpPr/>
          <p:nvPr/>
        </p:nvSpPr>
        <p:spPr>
          <a:xfrm>
            <a:off x="24140160" y="1193291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4140160" y="1244041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11</a:t>
            </a:r>
          </a:p>
        </p:txBody>
      </p:sp>
      <p:sp>
        <p:nvSpPr>
          <p:cNvPr id="33" name="Rectangle 32"/>
          <p:cNvSpPr/>
          <p:nvPr/>
        </p:nvSpPr>
        <p:spPr>
          <a:xfrm>
            <a:off x="26060400" y="1193291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060400" y="1244041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12</a:t>
            </a:r>
          </a:p>
        </p:txBody>
      </p:sp>
      <p:sp>
        <p:nvSpPr>
          <p:cNvPr id="35" name="Rectangle 34"/>
          <p:cNvSpPr/>
          <p:nvPr/>
        </p:nvSpPr>
        <p:spPr>
          <a:xfrm>
            <a:off x="27980639" y="1193291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980639" y="1244041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13</a:t>
            </a:r>
          </a:p>
        </p:txBody>
      </p:sp>
      <p:sp>
        <p:nvSpPr>
          <p:cNvPr id="37" name="Rectangle 36"/>
          <p:cNvSpPr/>
          <p:nvPr/>
        </p:nvSpPr>
        <p:spPr>
          <a:xfrm>
            <a:off x="29900879" y="1193291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900879" y="1244041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14</a:t>
            </a:r>
          </a:p>
        </p:txBody>
      </p:sp>
      <p:sp>
        <p:nvSpPr>
          <p:cNvPr id="39" name="Rectangle 38"/>
          <p:cNvSpPr/>
          <p:nvPr/>
        </p:nvSpPr>
        <p:spPr>
          <a:xfrm>
            <a:off x="31821119" y="1193291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821119" y="1244041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15</a:t>
            </a:r>
          </a:p>
        </p:txBody>
      </p:sp>
      <p:sp>
        <p:nvSpPr>
          <p:cNvPr id="41" name="Rectangle 40"/>
          <p:cNvSpPr/>
          <p:nvPr/>
        </p:nvSpPr>
        <p:spPr>
          <a:xfrm>
            <a:off x="3017520" y="1426464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017520" y="1477213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16</a:t>
            </a:r>
          </a:p>
        </p:txBody>
      </p:sp>
      <p:sp>
        <p:nvSpPr>
          <p:cNvPr id="43" name="Rectangle 42"/>
          <p:cNvSpPr/>
          <p:nvPr/>
        </p:nvSpPr>
        <p:spPr>
          <a:xfrm>
            <a:off x="4937760" y="1426464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1477213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17</a:t>
            </a:r>
          </a:p>
        </p:txBody>
      </p:sp>
      <p:sp>
        <p:nvSpPr>
          <p:cNvPr id="45" name="Rectangle 44"/>
          <p:cNvSpPr/>
          <p:nvPr/>
        </p:nvSpPr>
        <p:spPr>
          <a:xfrm>
            <a:off x="6858000" y="1426464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0" y="1477213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18</a:t>
            </a:r>
          </a:p>
        </p:txBody>
      </p:sp>
      <p:sp>
        <p:nvSpPr>
          <p:cNvPr id="47" name="Rectangle 46"/>
          <p:cNvSpPr/>
          <p:nvPr/>
        </p:nvSpPr>
        <p:spPr>
          <a:xfrm>
            <a:off x="8778240" y="1426464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778240" y="1477213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19</a:t>
            </a:r>
          </a:p>
        </p:txBody>
      </p:sp>
      <p:sp>
        <p:nvSpPr>
          <p:cNvPr id="49" name="Rectangle 48"/>
          <p:cNvSpPr/>
          <p:nvPr/>
        </p:nvSpPr>
        <p:spPr>
          <a:xfrm>
            <a:off x="10698480" y="1426464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698480" y="1477213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20</a:t>
            </a:r>
          </a:p>
        </p:txBody>
      </p:sp>
      <p:sp>
        <p:nvSpPr>
          <p:cNvPr id="51" name="Rectangle 50"/>
          <p:cNvSpPr/>
          <p:nvPr/>
        </p:nvSpPr>
        <p:spPr>
          <a:xfrm>
            <a:off x="12618720" y="1426464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618720" y="1477213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21</a:t>
            </a:r>
          </a:p>
        </p:txBody>
      </p:sp>
      <p:sp>
        <p:nvSpPr>
          <p:cNvPr id="53" name="Rectangle 52"/>
          <p:cNvSpPr/>
          <p:nvPr/>
        </p:nvSpPr>
        <p:spPr>
          <a:xfrm>
            <a:off x="14538960" y="1426464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4538960" y="1477213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22</a:t>
            </a:r>
          </a:p>
        </p:txBody>
      </p:sp>
      <p:sp>
        <p:nvSpPr>
          <p:cNvPr id="55" name="Rectangle 54"/>
          <p:cNvSpPr/>
          <p:nvPr/>
        </p:nvSpPr>
        <p:spPr>
          <a:xfrm>
            <a:off x="16459200" y="1426464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6459200" y="1477213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23</a:t>
            </a:r>
          </a:p>
        </p:txBody>
      </p:sp>
      <p:sp>
        <p:nvSpPr>
          <p:cNvPr id="57" name="Rectangle 56"/>
          <p:cNvSpPr/>
          <p:nvPr/>
        </p:nvSpPr>
        <p:spPr>
          <a:xfrm>
            <a:off x="18379440" y="1426464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8379440" y="1477213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24</a:t>
            </a:r>
          </a:p>
        </p:txBody>
      </p:sp>
      <p:sp>
        <p:nvSpPr>
          <p:cNvPr id="59" name="Rectangle 58"/>
          <p:cNvSpPr/>
          <p:nvPr/>
        </p:nvSpPr>
        <p:spPr>
          <a:xfrm>
            <a:off x="20299680" y="1426464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0299680" y="1477213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25</a:t>
            </a:r>
          </a:p>
        </p:txBody>
      </p:sp>
      <p:sp>
        <p:nvSpPr>
          <p:cNvPr id="61" name="Rectangle 60"/>
          <p:cNvSpPr/>
          <p:nvPr/>
        </p:nvSpPr>
        <p:spPr>
          <a:xfrm>
            <a:off x="22219920" y="1426464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2219920" y="1477213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26</a:t>
            </a:r>
          </a:p>
        </p:txBody>
      </p:sp>
      <p:sp>
        <p:nvSpPr>
          <p:cNvPr id="63" name="Rectangle 62"/>
          <p:cNvSpPr/>
          <p:nvPr/>
        </p:nvSpPr>
        <p:spPr>
          <a:xfrm>
            <a:off x="24140160" y="1426464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4140160" y="1477213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27</a:t>
            </a:r>
          </a:p>
        </p:txBody>
      </p:sp>
      <p:sp>
        <p:nvSpPr>
          <p:cNvPr id="65" name="Rectangle 64"/>
          <p:cNvSpPr/>
          <p:nvPr/>
        </p:nvSpPr>
        <p:spPr>
          <a:xfrm>
            <a:off x="26060400" y="1426464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6060400" y="1477213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28</a:t>
            </a:r>
          </a:p>
        </p:txBody>
      </p:sp>
      <p:sp>
        <p:nvSpPr>
          <p:cNvPr id="67" name="Rectangle 66"/>
          <p:cNvSpPr/>
          <p:nvPr/>
        </p:nvSpPr>
        <p:spPr>
          <a:xfrm>
            <a:off x="27980639" y="1426464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7980639" y="1477213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29</a:t>
            </a:r>
          </a:p>
        </p:txBody>
      </p:sp>
      <p:sp>
        <p:nvSpPr>
          <p:cNvPr id="69" name="Rectangle 68"/>
          <p:cNvSpPr/>
          <p:nvPr/>
        </p:nvSpPr>
        <p:spPr>
          <a:xfrm>
            <a:off x="29900879" y="1426464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9900879" y="1477213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30</a:t>
            </a:r>
          </a:p>
        </p:txBody>
      </p:sp>
      <p:sp>
        <p:nvSpPr>
          <p:cNvPr id="71" name="Rectangle 70"/>
          <p:cNvSpPr/>
          <p:nvPr/>
        </p:nvSpPr>
        <p:spPr>
          <a:xfrm>
            <a:off x="31821119" y="1426464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1821119" y="1477213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31</a:t>
            </a:r>
          </a:p>
        </p:txBody>
      </p:sp>
      <p:sp>
        <p:nvSpPr>
          <p:cNvPr id="73" name="Rectangle 72"/>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The current active set may be sparse; coalesced does not imply contiguous.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Choose among five group forms</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Ownership and synchronization independence drive the choice.</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15</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Concepts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docs/cudax/coop/group/index.rst</a:t>
            </a:r>
          </a:p>
        </p:txBody>
      </p:sp>
      <p:sp>
        <p:nvSpPr>
          <p:cNvPr id="7" name="Rectangle 6"/>
          <p:cNvSpPr/>
          <p:nvPr/>
        </p:nvSpPr>
        <p:spPr>
          <a:xfrm>
            <a:off x="1783080" y="5897879"/>
            <a:ext cx="8778240" cy="1508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12264" y="6254496"/>
            <a:ext cx="8119871" cy="877824"/>
          </a:xfrm>
          <a:prstGeom prst="rect">
            <a:avLst/>
          </a:prstGeom>
          <a:noFill/>
        </p:spPr>
        <p:txBody>
          <a:bodyPr wrap="square" lIns="0" rIns="0" tIns="0" bIns="0">
            <a:noAutofit/>
          </a:bodyPr>
          <a:lstStyle/>
          <a:p>
            <a:pPr algn="l">
              <a:lnSpc>
                <a:spcPct val="108000"/>
              </a:lnSpc>
              <a:spcAft>
                <a:spcPts val="840"/>
              </a:spcAft>
              <a:defRPr sz="4200" b="1">
                <a:solidFill>
                  <a:srgbClr val="FFFFFF"/>
                </a:solidFill>
                <a:latin typeface="NVIDIA Sans"/>
              </a:defRPr>
            </a:pPr>
            <a:r>
              <a:t>Group form</a:t>
            </a:r>
          </a:p>
        </p:txBody>
      </p:sp>
      <p:sp>
        <p:nvSpPr>
          <p:cNvPr id="9" name="Rectangle 8"/>
          <p:cNvSpPr/>
          <p:nvPr/>
        </p:nvSpPr>
        <p:spPr>
          <a:xfrm>
            <a:off x="10561320" y="5897879"/>
            <a:ext cx="12070080" cy="1508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890504" y="6254496"/>
            <a:ext cx="11411712" cy="877824"/>
          </a:xfrm>
          <a:prstGeom prst="rect">
            <a:avLst/>
          </a:prstGeom>
          <a:noFill/>
        </p:spPr>
        <p:txBody>
          <a:bodyPr wrap="square" lIns="0" rIns="0" tIns="0" bIns="0">
            <a:noAutofit/>
          </a:bodyPr>
          <a:lstStyle/>
          <a:p>
            <a:pPr algn="l">
              <a:lnSpc>
                <a:spcPct val="108000"/>
              </a:lnSpc>
              <a:spcAft>
                <a:spcPts val="840"/>
              </a:spcAft>
              <a:defRPr sz="4200" b="1">
                <a:solidFill>
                  <a:srgbClr val="FFFFFF"/>
                </a:solidFill>
                <a:latin typeface="NVIDIA Sans"/>
              </a:defRPr>
            </a:pPr>
            <a:r>
              <a:t>Membership</a:t>
            </a:r>
          </a:p>
        </p:txBody>
      </p:sp>
      <p:sp>
        <p:nvSpPr>
          <p:cNvPr id="11" name="Rectangle 10"/>
          <p:cNvSpPr/>
          <p:nvPr/>
        </p:nvSpPr>
        <p:spPr>
          <a:xfrm>
            <a:off x="22631400" y="5897879"/>
            <a:ext cx="12070080" cy="1508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960584" y="6254496"/>
            <a:ext cx="11411712" cy="877824"/>
          </a:xfrm>
          <a:prstGeom prst="rect">
            <a:avLst/>
          </a:prstGeom>
          <a:noFill/>
        </p:spPr>
        <p:txBody>
          <a:bodyPr wrap="square" lIns="0" rIns="0" tIns="0" bIns="0">
            <a:noAutofit/>
          </a:bodyPr>
          <a:lstStyle/>
          <a:p>
            <a:pPr algn="l">
              <a:lnSpc>
                <a:spcPct val="108000"/>
              </a:lnSpc>
              <a:spcAft>
                <a:spcPts val="840"/>
              </a:spcAft>
              <a:defRPr sz="4200" b="1">
                <a:solidFill>
                  <a:srgbClr val="FFFFFF"/>
                </a:solidFill>
                <a:latin typeface="NVIDIA Sans"/>
              </a:defRPr>
            </a:pPr>
            <a:r>
              <a:t>Synchronization</a:t>
            </a:r>
          </a:p>
        </p:txBody>
      </p:sp>
      <p:sp>
        <p:nvSpPr>
          <p:cNvPr id="13" name="Rectangle 12"/>
          <p:cNvSpPr/>
          <p:nvPr/>
        </p:nvSpPr>
        <p:spPr>
          <a:xfrm>
            <a:off x="1783080" y="7406640"/>
            <a:ext cx="8778240" cy="197510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12264" y="7790688"/>
            <a:ext cx="8119871" cy="1481328"/>
          </a:xfrm>
          <a:prstGeom prst="rect">
            <a:avLst/>
          </a:prstGeom>
          <a:noFill/>
        </p:spPr>
        <p:txBody>
          <a:bodyPr wrap="square" lIns="0" rIns="0" tIns="0" bIns="0">
            <a:noAutofit/>
          </a:bodyPr>
          <a:lstStyle/>
          <a:p>
            <a:pPr algn="l">
              <a:lnSpc>
                <a:spcPct val="108000"/>
              </a:lnSpc>
              <a:spcAft>
                <a:spcPts val="900"/>
              </a:spcAft>
              <a:defRPr sz="4500" b="0">
                <a:solidFill>
                  <a:srgbClr val="000000"/>
                </a:solidFill>
                <a:latin typeface="NVIDIA Sans"/>
              </a:defRPr>
            </a:pPr>
            <a:r>
              <a:t>this_{level}</a:t>
            </a:r>
          </a:p>
        </p:txBody>
      </p:sp>
      <p:sp>
        <p:nvSpPr>
          <p:cNvPr id="15" name="Rectangle 14"/>
          <p:cNvSpPr/>
          <p:nvPr/>
        </p:nvSpPr>
        <p:spPr>
          <a:xfrm>
            <a:off x="10561320" y="7406640"/>
            <a:ext cx="12070080" cy="197510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890504" y="7790688"/>
            <a:ext cx="11411712" cy="1481328"/>
          </a:xfrm>
          <a:prstGeom prst="rect">
            <a:avLst/>
          </a:prstGeom>
          <a:noFill/>
        </p:spPr>
        <p:txBody>
          <a:bodyPr wrap="square" lIns="0" rIns="0" tIns="0" bIns="0">
            <a:noAutofit/>
          </a:bodyPr>
          <a:lstStyle/>
          <a:p>
            <a:pPr algn="l">
              <a:lnSpc>
                <a:spcPct val="108000"/>
              </a:lnSpc>
              <a:spcAft>
                <a:spcPts val="900"/>
              </a:spcAft>
              <a:defRPr sz="4500" b="0">
                <a:solidFill>
                  <a:srgbClr val="000000"/>
                </a:solidFill>
                <a:latin typeface="NVIDIA Sans"/>
              </a:defRPr>
            </a:pPr>
            <a:r>
              <a:t>One implicit hierarchy unit</a:t>
            </a:r>
          </a:p>
        </p:txBody>
      </p:sp>
      <p:sp>
        <p:nvSpPr>
          <p:cNvPr id="17" name="Rectangle 16"/>
          <p:cNvSpPr/>
          <p:nvPr/>
        </p:nvSpPr>
        <p:spPr>
          <a:xfrm>
            <a:off x="22631400" y="7406640"/>
            <a:ext cx="12070080" cy="197510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960584" y="7790688"/>
            <a:ext cx="11411712" cy="1481328"/>
          </a:xfrm>
          <a:prstGeom prst="rect">
            <a:avLst/>
          </a:prstGeom>
          <a:noFill/>
        </p:spPr>
        <p:txBody>
          <a:bodyPr wrap="square" lIns="0" rIns="0" tIns="0" bIns="0">
            <a:noAutofit/>
          </a:bodyPr>
          <a:lstStyle/>
          <a:p>
            <a:pPr algn="l">
              <a:lnSpc>
                <a:spcPct val="108000"/>
              </a:lnSpc>
              <a:spcAft>
                <a:spcPts val="900"/>
              </a:spcAft>
              <a:defRPr sz="4500" b="0">
                <a:solidFill>
                  <a:srgbClr val="000000"/>
                </a:solidFill>
                <a:latin typeface="NVIDIA Sans"/>
              </a:defRPr>
            </a:pPr>
            <a:r>
              <a:t>Whole level</a:t>
            </a:r>
          </a:p>
        </p:txBody>
      </p:sp>
      <p:sp>
        <p:nvSpPr>
          <p:cNvPr id="19" name="Rectangle 18"/>
          <p:cNvSpPr/>
          <p:nvPr/>
        </p:nvSpPr>
        <p:spPr>
          <a:xfrm>
            <a:off x="1783080" y="9381744"/>
            <a:ext cx="8778240" cy="19751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12264" y="9765792"/>
            <a:ext cx="8119871" cy="1481328"/>
          </a:xfrm>
          <a:prstGeom prst="rect">
            <a:avLst/>
          </a:prstGeom>
          <a:noFill/>
        </p:spPr>
        <p:txBody>
          <a:bodyPr wrap="square" lIns="0" rIns="0" tIns="0" bIns="0">
            <a:noAutofit/>
          </a:bodyPr>
          <a:lstStyle/>
          <a:p>
            <a:pPr algn="l">
              <a:lnSpc>
                <a:spcPct val="108000"/>
              </a:lnSpc>
              <a:spcAft>
                <a:spcPts val="900"/>
              </a:spcAft>
              <a:defRPr sz="4500" b="0">
                <a:solidFill>
                  <a:srgbClr val="000000"/>
                </a:solidFill>
                <a:latin typeface="NVIDIA Sans"/>
              </a:defRPr>
            </a:pPr>
            <a:r>
              <a:t>coalesced_group</a:t>
            </a:r>
          </a:p>
        </p:txBody>
      </p:sp>
      <p:sp>
        <p:nvSpPr>
          <p:cNvPr id="21" name="Rectangle 20"/>
          <p:cNvSpPr/>
          <p:nvPr/>
        </p:nvSpPr>
        <p:spPr>
          <a:xfrm>
            <a:off x="10561320" y="9381744"/>
            <a:ext cx="12070080" cy="19751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890504" y="9765792"/>
            <a:ext cx="11411712" cy="1481328"/>
          </a:xfrm>
          <a:prstGeom prst="rect">
            <a:avLst/>
          </a:prstGeom>
          <a:noFill/>
        </p:spPr>
        <p:txBody>
          <a:bodyPr wrap="square" lIns="0" rIns="0" tIns="0" bIns="0">
            <a:noAutofit/>
          </a:bodyPr>
          <a:lstStyle/>
          <a:p>
            <a:pPr algn="l">
              <a:lnSpc>
                <a:spcPct val="108000"/>
              </a:lnSpc>
              <a:spcAft>
                <a:spcPts val="900"/>
              </a:spcAft>
              <a:defRPr sz="4500" b="0">
                <a:solidFill>
                  <a:srgbClr val="000000"/>
                </a:solidFill>
                <a:latin typeface="NVIDIA Sans"/>
              </a:defRPr>
            </a:pPr>
            <a:r>
              <a:t>Currently active warp threads</a:t>
            </a:r>
          </a:p>
        </p:txBody>
      </p:sp>
      <p:sp>
        <p:nvSpPr>
          <p:cNvPr id="23" name="Rectangle 22"/>
          <p:cNvSpPr/>
          <p:nvPr/>
        </p:nvSpPr>
        <p:spPr>
          <a:xfrm>
            <a:off x="22631400" y="9381744"/>
            <a:ext cx="12070080" cy="19751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960584" y="9765792"/>
            <a:ext cx="11411712" cy="1481328"/>
          </a:xfrm>
          <a:prstGeom prst="rect">
            <a:avLst/>
          </a:prstGeom>
          <a:noFill/>
        </p:spPr>
        <p:txBody>
          <a:bodyPr wrap="square" lIns="0" rIns="0" tIns="0" bIns="0">
            <a:noAutofit/>
          </a:bodyPr>
          <a:lstStyle/>
          <a:p>
            <a:pPr algn="l">
              <a:lnSpc>
                <a:spcPct val="108000"/>
              </a:lnSpc>
              <a:spcAft>
                <a:spcPts val="900"/>
              </a:spcAft>
              <a:defRPr sz="4500" b="0">
                <a:solidFill>
                  <a:srgbClr val="000000"/>
                </a:solidFill>
                <a:latin typeface="NVIDIA Sans"/>
              </a:defRPr>
            </a:pPr>
            <a:r>
              <a:t>Participating lane mask</a:t>
            </a:r>
          </a:p>
        </p:txBody>
      </p:sp>
      <p:sp>
        <p:nvSpPr>
          <p:cNvPr id="25" name="Rectangle 24"/>
          <p:cNvSpPr/>
          <p:nvPr/>
        </p:nvSpPr>
        <p:spPr>
          <a:xfrm>
            <a:off x="1783080" y="11356848"/>
            <a:ext cx="8778240" cy="197510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12264" y="11740895"/>
            <a:ext cx="8119871" cy="1481328"/>
          </a:xfrm>
          <a:prstGeom prst="rect">
            <a:avLst/>
          </a:prstGeom>
          <a:noFill/>
        </p:spPr>
        <p:txBody>
          <a:bodyPr wrap="square" lIns="0" rIns="0" tIns="0" bIns="0">
            <a:noAutofit/>
          </a:bodyPr>
          <a:lstStyle/>
          <a:p>
            <a:pPr algn="l">
              <a:lnSpc>
                <a:spcPct val="108000"/>
              </a:lnSpc>
              <a:spcAft>
                <a:spcPts val="900"/>
              </a:spcAft>
              <a:defRPr sz="4500" b="0">
                <a:solidFill>
                  <a:srgbClr val="000000"/>
                </a:solidFill>
                <a:latin typeface="NVIDIA Sans"/>
              </a:defRPr>
            </a:pPr>
            <a:r>
              <a:t>generic_group</a:t>
            </a:r>
          </a:p>
        </p:txBody>
      </p:sp>
      <p:sp>
        <p:nvSpPr>
          <p:cNvPr id="27" name="Rectangle 26"/>
          <p:cNvSpPr/>
          <p:nvPr/>
        </p:nvSpPr>
        <p:spPr>
          <a:xfrm>
            <a:off x="10561320" y="11356848"/>
            <a:ext cx="12070080" cy="197510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890504" y="11740895"/>
            <a:ext cx="11411712" cy="1481328"/>
          </a:xfrm>
          <a:prstGeom prst="rect">
            <a:avLst/>
          </a:prstGeom>
          <a:noFill/>
        </p:spPr>
        <p:txBody>
          <a:bodyPr wrap="square" lIns="0" rIns="0" tIns="0" bIns="0">
            <a:noAutofit/>
          </a:bodyPr>
          <a:lstStyle/>
          <a:p>
            <a:pPr algn="l">
              <a:lnSpc>
                <a:spcPct val="108000"/>
              </a:lnSpc>
              <a:spcAft>
                <a:spcPts val="900"/>
              </a:spcAft>
              <a:defRPr sz="4500" b="0">
                <a:solidFill>
                  <a:srgbClr val="000000"/>
                </a:solidFill>
                <a:latin typeface="NVIDIA Sans"/>
              </a:defRPr>
            </a:pPr>
            <a:r>
              <a:t>Mapping of a parent group</a:t>
            </a:r>
          </a:p>
        </p:txBody>
      </p:sp>
      <p:sp>
        <p:nvSpPr>
          <p:cNvPr id="29" name="Rectangle 28"/>
          <p:cNvSpPr/>
          <p:nvPr/>
        </p:nvSpPr>
        <p:spPr>
          <a:xfrm>
            <a:off x="22631400" y="11356848"/>
            <a:ext cx="12070080" cy="197510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960584" y="11740895"/>
            <a:ext cx="11411712" cy="1481328"/>
          </a:xfrm>
          <a:prstGeom prst="rect">
            <a:avLst/>
          </a:prstGeom>
          <a:noFill/>
        </p:spPr>
        <p:txBody>
          <a:bodyPr wrap="square" lIns="0" rIns="0" tIns="0" bIns="0">
            <a:noAutofit/>
          </a:bodyPr>
          <a:lstStyle/>
          <a:p>
            <a:pPr algn="l">
              <a:lnSpc>
                <a:spcPct val="108000"/>
              </a:lnSpc>
              <a:spcAft>
                <a:spcPts val="900"/>
              </a:spcAft>
              <a:defRPr sz="4500" b="0">
                <a:solidFill>
                  <a:srgbClr val="000000"/>
                </a:solidFill>
                <a:latin typeface="NVIDIA Sans"/>
              </a:defRPr>
            </a:pPr>
            <a:r>
              <a:t>Per-subgroup synchronizer</a:t>
            </a:r>
          </a:p>
        </p:txBody>
      </p:sp>
      <p:sp>
        <p:nvSpPr>
          <p:cNvPr id="31" name="Rectangle 30"/>
          <p:cNvSpPr/>
          <p:nvPr/>
        </p:nvSpPr>
        <p:spPr>
          <a:xfrm>
            <a:off x="1783080" y="13331952"/>
            <a:ext cx="8778240" cy="19751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12264" y="13716000"/>
            <a:ext cx="8119871" cy="1481328"/>
          </a:xfrm>
          <a:prstGeom prst="rect">
            <a:avLst/>
          </a:prstGeom>
          <a:noFill/>
        </p:spPr>
        <p:txBody>
          <a:bodyPr wrap="square" lIns="0" rIns="0" tIns="0" bIns="0">
            <a:noAutofit/>
          </a:bodyPr>
          <a:lstStyle/>
          <a:p>
            <a:pPr algn="l">
              <a:lnSpc>
                <a:spcPct val="108000"/>
              </a:lnSpc>
              <a:spcAft>
                <a:spcPts val="900"/>
              </a:spcAft>
              <a:defRPr sz="4500" b="0">
                <a:solidFill>
                  <a:srgbClr val="000000"/>
                </a:solidFill>
                <a:latin typeface="NVIDIA Sans"/>
              </a:defRPr>
            </a:pPr>
            <a:r>
              <a:t>virtual_group</a:t>
            </a:r>
          </a:p>
        </p:txBody>
      </p:sp>
      <p:sp>
        <p:nvSpPr>
          <p:cNvPr id="33" name="Rectangle 32"/>
          <p:cNvSpPr/>
          <p:nvPr/>
        </p:nvSpPr>
        <p:spPr>
          <a:xfrm>
            <a:off x="10561320" y="13331952"/>
            <a:ext cx="12070080" cy="19751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890504" y="13716000"/>
            <a:ext cx="11411712" cy="1481328"/>
          </a:xfrm>
          <a:prstGeom prst="rect">
            <a:avLst/>
          </a:prstGeom>
          <a:noFill/>
        </p:spPr>
        <p:txBody>
          <a:bodyPr wrap="square" lIns="0" rIns="0" tIns="0" bIns="0">
            <a:noAutofit/>
          </a:bodyPr>
          <a:lstStyle/>
          <a:p>
            <a:pPr algn="l">
              <a:lnSpc>
                <a:spcPct val="108000"/>
              </a:lnSpc>
              <a:spcAft>
                <a:spcPts val="900"/>
              </a:spcAft>
              <a:defRPr sz="4500" b="0">
                <a:solidFill>
                  <a:srgbClr val="000000"/>
                </a:solidFill>
                <a:latin typeface="NVIDIA Sans"/>
              </a:defRPr>
            </a:pPr>
            <a:r>
              <a:t>Mapping of a parent group</a:t>
            </a:r>
          </a:p>
        </p:txBody>
      </p:sp>
      <p:sp>
        <p:nvSpPr>
          <p:cNvPr id="35" name="Rectangle 34"/>
          <p:cNvSpPr/>
          <p:nvPr/>
        </p:nvSpPr>
        <p:spPr>
          <a:xfrm>
            <a:off x="22631400" y="13331952"/>
            <a:ext cx="12070080" cy="19751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2960584" y="13716000"/>
            <a:ext cx="11411712" cy="1481328"/>
          </a:xfrm>
          <a:prstGeom prst="rect">
            <a:avLst/>
          </a:prstGeom>
          <a:noFill/>
        </p:spPr>
        <p:txBody>
          <a:bodyPr wrap="square" lIns="0" rIns="0" tIns="0" bIns="0">
            <a:noAutofit/>
          </a:bodyPr>
          <a:lstStyle/>
          <a:p>
            <a:pPr algn="l">
              <a:lnSpc>
                <a:spcPct val="108000"/>
              </a:lnSpc>
              <a:spcAft>
                <a:spcPts val="900"/>
              </a:spcAft>
              <a:defRPr sz="4500" b="0">
                <a:solidFill>
                  <a:srgbClr val="000000"/>
                </a:solidFill>
                <a:latin typeface="NVIDIA Sans"/>
              </a:defRPr>
            </a:pPr>
            <a:r>
              <a:t>Parent synchronization</a:t>
            </a:r>
          </a:p>
        </p:txBody>
      </p:sp>
      <p:sp>
        <p:nvSpPr>
          <p:cNvPr id="37" name="Rectangle 36"/>
          <p:cNvSpPr/>
          <p:nvPr/>
        </p:nvSpPr>
        <p:spPr>
          <a:xfrm>
            <a:off x="1783080" y="15307056"/>
            <a:ext cx="8778240" cy="197510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2264" y="15691104"/>
            <a:ext cx="8119871" cy="1481328"/>
          </a:xfrm>
          <a:prstGeom prst="rect">
            <a:avLst/>
          </a:prstGeom>
          <a:noFill/>
        </p:spPr>
        <p:txBody>
          <a:bodyPr wrap="square" lIns="0" rIns="0" tIns="0" bIns="0">
            <a:noAutofit/>
          </a:bodyPr>
          <a:lstStyle/>
          <a:p>
            <a:pPr algn="l">
              <a:lnSpc>
                <a:spcPct val="108000"/>
              </a:lnSpc>
              <a:spcAft>
                <a:spcPts val="900"/>
              </a:spcAft>
              <a:defRPr sz="4500" b="0">
                <a:solidFill>
                  <a:srgbClr val="000000"/>
                </a:solidFill>
                <a:latin typeface="NVIDIA Sans"/>
              </a:defRPr>
            </a:pPr>
            <a:r>
              <a:t>group_view</a:t>
            </a:r>
          </a:p>
        </p:txBody>
      </p:sp>
      <p:sp>
        <p:nvSpPr>
          <p:cNvPr id="39" name="Rectangle 38"/>
          <p:cNvSpPr/>
          <p:nvPr/>
        </p:nvSpPr>
        <p:spPr>
          <a:xfrm>
            <a:off x="10561320" y="15307056"/>
            <a:ext cx="12070080" cy="197510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890504" y="15691104"/>
            <a:ext cx="11411712" cy="1481328"/>
          </a:xfrm>
          <a:prstGeom prst="rect">
            <a:avLst/>
          </a:prstGeom>
          <a:noFill/>
        </p:spPr>
        <p:txBody>
          <a:bodyPr wrap="square" lIns="0" rIns="0" tIns="0" bIns="0">
            <a:noAutofit/>
          </a:bodyPr>
          <a:lstStyle/>
          <a:p>
            <a:pPr algn="l">
              <a:lnSpc>
                <a:spcPct val="108000"/>
              </a:lnSpc>
              <a:spcAft>
                <a:spcPts val="900"/>
              </a:spcAft>
              <a:defRPr sz="4500" b="0">
                <a:solidFill>
                  <a:srgbClr val="000000"/>
                </a:solidFill>
                <a:latin typeface="NVIDIA Sans"/>
              </a:defRPr>
            </a:pPr>
            <a:r>
              <a:t>Non-owning view of a group</a:t>
            </a:r>
          </a:p>
        </p:txBody>
      </p:sp>
      <p:sp>
        <p:nvSpPr>
          <p:cNvPr id="41" name="Rectangle 40"/>
          <p:cNvSpPr/>
          <p:nvPr/>
        </p:nvSpPr>
        <p:spPr>
          <a:xfrm>
            <a:off x="22631400" y="15307056"/>
            <a:ext cx="12070080" cy="197510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2960584" y="15691104"/>
            <a:ext cx="11411712" cy="1481328"/>
          </a:xfrm>
          <a:prstGeom prst="rect">
            <a:avLst/>
          </a:prstGeom>
          <a:noFill/>
        </p:spPr>
        <p:txBody>
          <a:bodyPr wrap="square" lIns="0" rIns="0" tIns="0" bIns="0">
            <a:noAutofit/>
          </a:bodyPr>
          <a:lstStyle/>
          <a:p>
            <a:pPr algn="l">
              <a:lnSpc>
                <a:spcPct val="108000"/>
              </a:lnSpc>
              <a:spcAft>
                <a:spcPts val="900"/>
              </a:spcAft>
              <a:defRPr sz="4500" b="0">
                <a:solidFill>
                  <a:srgbClr val="000000"/>
                </a:solidFill>
                <a:latin typeface="NVIDIA Sans"/>
              </a:defRPr>
            </a:pPr>
            <a:r>
              <a:t>Viewed group synchronization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Mappings transform membership</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A mapping assigns units to groups without choosing synchronization.</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16</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Mappings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docs/cudax/coop/group/mapping/index.rst</a:t>
            </a:r>
          </a:p>
        </p:txBody>
      </p:sp>
      <p:sp>
        <p:nvSpPr>
          <p:cNvPr id="7" name="Rectangle 6"/>
          <p:cNvSpPr/>
          <p:nvPr/>
        </p:nvSpPr>
        <p:spPr>
          <a:xfrm>
            <a:off x="1783080" y="6446520"/>
            <a:ext cx="10533888" cy="98755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783080" y="6446520"/>
            <a:ext cx="10533888"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6584" y="7132320"/>
            <a:ext cx="9326880" cy="2331720"/>
          </a:xfrm>
          <a:prstGeom prst="rect">
            <a:avLst/>
          </a:prstGeom>
          <a:noFill/>
        </p:spPr>
        <p:txBody>
          <a:bodyPr wrap="square" lIns="0" rIns="0" tIns="0" bIns="0">
            <a:noAutofit/>
          </a:bodyPr>
          <a:lstStyle/>
          <a:p>
            <a:pPr algn="l">
              <a:lnSpc>
                <a:spcPct val="108000"/>
              </a:lnSpc>
              <a:spcAft>
                <a:spcPts val="1380"/>
              </a:spcAft>
              <a:defRPr sz="6900" b="1">
                <a:solidFill>
                  <a:srgbClr val="000000"/>
                </a:solidFill>
                <a:latin typeface="NVIDIA Sans Medium"/>
              </a:defRPr>
            </a:pPr>
            <a:r>
              <a:t>Input</a:t>
            </a:r>
          </a:p>
        </p:txBody>
      </p:sp>
      <p:sp>
        <p:nvSpPr>
          <p:cNvPr id="10" name="TextBox 9"/>
          <p:cNvSpPr txBox="1"/>
          <p:nvPr/>
        </p:nvSpPr>
        <p:spPr>
          <a:xfrm>
            <a:off x="2386584" y="9875520"/>
            <a:ext cx="9326880" cy="5980176"/>
          </a:xfrm>
          <a:prstGeom prst="rect">
            <a:avLst/>
          </a:prstGeom>
          <a:noFill/>
        </p:spPr>
        <p:txBody>
          <a:bodyPr wrap="square" lIns="0" rIns="0" tIns="0" bIns="0">
            <a:noAutofit/>
          </a:bodyPr>
          <a:lstStyle/>
          <a:p>
            <a:pPr algn="l">
              <a:lnSpc>
                <a:spcPct val="108000"/>
              </a:lnSpc>
              <a:spcAft>
                <a:spcPts val="1110"/>
              </a:spcAft>
              <a:defRPr sz="5550" b="0">
                <a:solidFill>
                  <a:srgbClr val="000000"/>
                </a:solidFill>
                <a:latin typeface="NVIDIA Sans"/>
              </a:defRPr>
            </a:pPr>
            <a:r>
              <a:t>One mapping result describes the parent for the requested unit.</a:t>
            </a:r>
          </a:p>
        </p:txBody>
      </p:sp>
      <p:sp>
        <p:nvSpPr>
          <p:cNvPr id="11" name="Rectangle 10"/>
          <p:cNvSpPr/>
          <p:nvPr/>
        </p:nvSpPr>
        <p:spPr>
          <a:xfrm>
            <a:off x="12975336" y="6446520"/>
            <a:ext cx="10533888" cy="98755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975336" y="6446520"/>
            <a:ext cx="10533888"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78840" y="7132320"/>
            <a:ext cx="9326880" cy="2331720"/>
          </a:xfrm>
          <a:prstGeom prst="rect">
            <a:avLst/>
          </a:prstGeom>
          <a:noFill/>
        </p:spPr>
        <p:txBody>
          <a:bodyPr wrap="square" lIns="0" rIns="0" tIns="0" bIns="0">
            <a:noAutofit/>
          </a:bodyPr>
          <a:lstStyle/>
          <a:p>
            <a:pPr algn="l">
              <a:lnSpc>
                <a:spcPct val="108000"/>
              </a:lnSpc>
              <a:spcAft>
                <a:spcPts val="1380"/>
              </a:spcAft>
              <a:defRPr sz="6900" b="1">
                <a:solidFill>
                  <a:srgbClr val="000000"/>
                </a:solidFill>
                <a:latin typeface="NVIDIA Sans Medium"/>
              </a:defRPr>
            </a:pPr>
            <a:r>
              <a:t>Transform</a:t>
            </a:r>
          </a:p>
        </p:txBody>
      </p:sp>
      <p:sp>
        <p:nvSpPr>
          <p:cNvPr id="14" name="TextBox 13"/>
          <p:cNvSpPr txBox="1"/>
          <p:nvPr/>
        </p:nvSpPr>
        <p:spPr>
          <a:xfrm>
            <a:off x="13578840" y="9875520"/>
            <a:ext cx="9326880" cy="5980176"/>
          </a:xfrm>
          <a:prstGeom prst="rect">
            <a:avLst/>
          </a:prstGeom>
          <a:noFill/>
        </p:spPr>
        <p:txBody>
          <a:bodyPr wrap="square" lIns="0" rIns="0" tIns="0" bIns="0">
            <a:noAutofit/>
          </a:bodyPr>
          <a:lstStyle/>
          <a:p>
            <a:pPr algn="l">
              <a:lnSpc>
                <a:spcPct val="108000"/>
              </a:lnSpc>
              <a:spcAft>
                <a:spcPts val="1110"/>
              </a:spcAft>
              <a:defRPr sz="5550" b="0">
                <a:solidFill>
                  <a:srgbClr val="000000"/>
                </a:solidFill>
                <a:latin typeface="NVIDIA Sans"/>
              </a:defRPr>
            </a:pPr>
            <a:r>
              <a:t>map() computes group rank, unit rank, counts and properties.</a:t>
            </a:r>
          </a:p>
        </p:txBody>
      </p:sp>
      <p:sp>
        <p:nvSpPr>
          <p:cNvPr id="15" name="Rectangle 14"/>
          <p:cNvSpPr/>
          <p:nvPr/>
        </p:nvSpPr>
        <p:spPr>
          <a:xfrm>
            <a:off x="24167592" y="6446520"/>
            <a:ext cx="10533888" cy="98755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4167592" y="6446520"/>
            <a:ext cx="10533888"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771096" y="7132320"/>
            <a:ext cx="9326880" cy="2331720"/>
          </a:xfrm>
          <a:prstGeom prst="rect">
            <a:avLst/>
          </a:prstGeom>
          <a:noFill/>
        </p:spPr>
        <p:txBody>
          <a:bodyPr wrap="square" lIns="0" rIns="0" tIns="0" bIns="0">
            <a:noAutofit/>
          </a:bodyPr>
          <a:lstStyle/>
          <a:p>
            <a:pPr algn="l">
              <a:lnSpc>
                <a:spcPct val="108000"/>
              </a:lnSpc>
              <a:spcAft>
                <a:spcPts val="1380"/>
              </a:spcAft>
              <a:defRPr sz="6900" b="1">
                <a:solidFill>
                  <a:srgbClr val="000000"/>
                </a:solidFill>
                <a:latin typeface="NVIDIA Sans Medium"/>
              </a:defRPr>
            </a:pPr>
            <a:r>
              <a:t>Output</a:t>
            </a:r>
          </a:p>
        </p:txBody>
      </p:sp>
      <p:sp>
        <p:nvSpPr>
          <p:cNvPr id="18" name="TextBox 17"/>
          <p:cNvSpPr txBox="1"/>
          <p:nvPr/>
        </p:nvSpPr>
        <p:spPr>
          <a:xfrm>
            <a:off x="24771096" y="9875520"/>
            <a:ext cx="9326880" cy="5980176"/>
          </a:xfrm>
          <a:prstGeom prst="rect">
            <a:avLst/>
          </a:prstGeom>
          <a:noFill/>
        </p:spPr>
        <p:txBody>
          <a:bodyPr wrap="square" lIns="0" rIns="0" tIns="0" bIns="0">
            <a:noAutofit/>
          </a:bodyPr>
          <a:lstStyle/>
          <a:p>
            <a:pPr algn="l">
              <a:lnSpc>
                <a:spcPct val="108000"/>
              </a:lnSpc>
              <a:spcAft>
                <a:spcPts val="1110"/>
              </a:spcAft>
              <a:defRPr sz="5550" b="0">
                <a:solidFill>
                  <a:srgbClr val="000000"/>
                </a:solidFill>
                <a:latin typeface="NVIDIA Sans"/>
              </a:defRPr>
            </a:pPr>
            <a:r>
              <a:t>The resulting membership initializes the new group.</a:t>
            </a:r>
          </a:p>
        </p:txBody>
      </p:sp>
      <p:sp>
        <p:nvSpPr>
          <p:cNvPr id="19" name="Rectangle 18"/>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For a unit larger than a thread, all threads in that unit must agree on assignment and participation.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A mapping result is the common currency</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Queries, properties and lane masks travel together.</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17</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Mappings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docs/cudax/coop/group/mapping/index.rst</a:t>
            </a:r>
          </a:p>
        </p:txBody>
      </p:sp>
      <p:sp>
        <p:nvSpPr>
          <p:cNvPr id="7" name="Rectangle 6"/>
          <p:cNvSpPr/>
          <p:nvPr/>
        </p:nvSpPr>
        <p:spPr>
          <a:xfrm>
            <a:off x="1783080" y="5897879"/>
            <a:ext cx="9601200" cy="1508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12264" y="6254496"/>
            <a:ext cx="8942832" cy="877824"/>
          </a:xfrm>
          <a:prstGeom prst="rect">
            <a:avLst/>
          </a:prstGeom>
          <a:noFill/>
        </p:spPr>
        <p:txBody>
          <a:bodyPr wrap="square" lIns="0" rIns="0" tIns="0" bIns="0">
            <a:noAutofit/>
          </a:bodyPr>
          <a:lstStyle/>
          <a:p>
            <a:pPr algn="l">
              <a:lnSpc>
                <a:spcPct val="108000"/>
              </a:lnSpc>
              <a:spcAft>
                <a:spcPts val="840"/>
              </a:spcAft>
              <a:defRPr sz="4200" b="1">
                <a:solidFill>
                  <a:srgbClr val="FFFFFF"/>
                </a:solidFill>
                <a:latin typeface="NVIDIA Sans"/>
              </a:defRPr>
            </a:pPr>
            <a:r>
              <a:t>Information</a:t>
            </a:r>
          </a:p>
        </p:txBody>
      </p:sp>
      <p:sp>
        <p:nvSpPr>
          <p:cNvPr id="9" name="Rectangle 8"/>
          <p:cNvSpPr/>
          <p:nvPr/>
        </p:nvSpPr>
        <p:spPr>
          <a:xfrm>
            <a:off x="11384280" y="5897879"/>
            <a:ext cx="23317200" cy="1508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13464" y="6254496"/>
            <a:ext cx="22658832" cy="877824"/>
          </a:xfrm>
          <a:prstGeom prst="rect">
            <a:avLst/>
          </a:prstGeom>
          <a:noFill/>
        </p:spPr>
        <p:txBody>
          <a:bodyPr wrap="square" lIns="0" rIns="0" tIns="0" bIns="0">
            <a:noAutofit/>
          </a:bodyPr>
          <a:lstStyle/>
          <a:p>
            <a:pPr algn="l">
              <a:lnSpc>
                <a:spcPct val="108000"/>
              </a:lnSpc>
              <a:spcAft>
                <a:spcPts val="840"/>
              </a:spcAft>
              <a:defRPr sz="4200" b="1">
                <a:solidFill>
                  <a:srgbClr val="FFFFFF"/>
                </a:solidFill>
                <a:latin typeface="NVIDIA Sans"/>
              </a:defRPr>
            </a:pPr>
            <a:r>
              <a:t>Representative fields</a:t>
            </a:r>
          </a:p>
        </p:txBody>
      </p:sp>
      <p:sp>
        <p:nvSpPr>
          <p:cNvPr id="11" name="Rectangle 10"/>
          <p:cNvSpPr/>
          <p:nvPr/>
        </p:nvSpPr>
        <p:spPr>
          <a:xfrm>
            <a:off x="1783080" y="7406640"/>
            <a:ext cx="9601200" cy="181051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12264" y="7790688"/>
            <a:ext cx="8942832" cy="1316736"/>
          </a:xfrm>
          <a:prstGeom prst="rect">
            <a:avLst/>
          </a:prstGeom>
          <a:noFill/>
        </p:spPr>
        <p:txBody>
          <a:bodyPr wrap="square" lIns="0" rIns="0" tIns="0" bIns="0">
            <a:noAutofit/>
          </a:bodyPr>
          <a:lstStyle/>
          <a:p>
            <a:pPr algn="l">
              <a:lnSpc>
                <a:spcPct val="108000"/>
              </a:lnSpc>
              <a:spcAft>
                <a:spcPts val="930"/>
              </a:spcAft>
              <a:defRPr sz="4650" b="0">
                <a:solidFill>
                  <a:srgbClr val="000000"/>
                </a:solidFill>
                <a:latin typeface="NVIDIA Sans"/>
              </a:defRPr>
            </a:pPr>
            <a:r>
              <a:t>Group in its parent</a:t>
            </a:r>
          </a:p>
        </p:txBody>
      </p:sp>
      <p:sp>
        <p:nvSpPr>
          <p:cNvPr id="13" name="Rectangle 12"/>
          <p:cNvSpPr/>
          <p:nvPr/>
        </p:nvSpPr>
        <p:spPr>
          <a:xfrm>
            <a:off x="11384280" y="7406640"/>
            <a:ext cx="23317200" cy="181051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713464" y="7790688"/>
            <a:ext cx="22658832" cy="1316736"/>
          </a:xfrm>
          <a:prstGeom prst="rect">
            <a:avLst/>
          </a:prstGeom>
          <a:noFill/>
        </p:spPr>
        <p:txBody>
          <a:bodyPr wrap="square" lIns="0" rIns="0" tIns="0" bIns="0">
            <a:noAutofit/>
          </a:bodyPr>
          <a:lstStyle/>
          <a:p>
            <a:pPr algn="l">
              <a:lnSpc>
                <a:spcPct val="108000"/>
              </a:lnSpc>
              <a:spcAft>
                <a:spcPts val="930"/>
              </a:spcAft>
              <a:defRPr sz="4650" b="0">
                <a:solidFill>
                  <a:srgbClr val="000000"/>
                </a:solidFill>
                <a:latin typeface="NVIDIA Sans"/>
              </a:defRPr>
            </a:pPr>
            <a:r>
              <a:t>static_group_count(), group_count(), group_rank()</a:t>
            </a:r>
          </a:p>
        </p:txBody>
      </p:sp>
      <p:sp>
        <p:nvSpPr>
          <p:cNvPr id="15" name="Rectangle 14"/>
          <p:cNvSpPr/>
          <p:nvPr/>
        </p:nvSpPr>
        <p:spPr>
          <a:xfrm>
            <a:off x="1783080" y="9217152"/>
            <a:ext cx="9601200" cy="1810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12264" y="9601200"/>
            <a:ext cx="8942832" cy="1316736"/>
          </a:xfrm>
          <a:prstGeom prst="rect">
            <a:avLst/>
          </a:prstGeom>
          <a:noFill/>
        </p:spPr>
        <p:txBody>
          <a:bodyPr wrap="square" lIns="0" rIns="0" tIns="0" bIns="0">
            <a:noAutofit/>
          </a:bodyPr>
          <a:lstStyle/>
          <a:p>
            <a:pPr algn="l">
              <a:lnSpc>
                <a:spcPct val="108000"/>
              </a:lnSpc>
              <a:spcAft>
                <a:spcPts val="930"/>
              </a:spcAft>
              <a:defRPr sz="4650" b="0">
                <a:solidFill>
                  <a:srgbClr val="000000"/>
                </a:solidFill>
                <a:latin typeface="NVIDIA Sans"/>
              </a:defRPr>
            </a:pPr>
            <a:r>
              <a:t>Unit in its group</a:t>
            </a:r>
          </a:p>
        </p:txBody>
      </p:sp>
      <p:sp>
        <p:nvSpPr>
          <p:cNvPr id="17" name="Rectangle 16"/>
          <p:cNvSpPr/>
          <p:nvPr/>
        </p:nvSpPr>
        <p:spPr>
          <a:xfrm>
            <a:off x="11384280" y="9217152"/>
            <a:ext cx="23317200" cy="1810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713464" y="9601200"/>
            <a:ext cx="22658832" cy="1316736"/>
          </a:xfrm>
          <a:prstGeom prst="rect">
            <a:avLst/>
          </a:prstGeom>
          <a:noFill/>
        </p:spPr>
        <p:txBody>
          <a:bodyPr wrap="square" lIns="0" rIns="0" tIns="0" bIns="0">
            <a:noAutofit/>
          </a:bodyPr>
          <a:lstStyle/>
          <a:p>
            <a:pPr algn="l">
              <a:lnSpc>
                <a:spcPct val="108000"/>
              </a:lnSpc>
              <a:spcAft>
                <a:spcPts val="930"/>
              </a:spcAft>
              <a:defRPr sz="4650" b="0">
                <a:solidFill>
                  <a:srgbClr val="000000"/>
                </a:solidFill>
                <a:latin typeface="NVIDIA Sans"/>
              </a:defRPr>
            </a:pPr>
            <a:r>
              <a:t>static_unit_count(), unit_count(), unit_rank()</a:t>
            </a:r>
          </a:p>
        </p:txBody>
      </p:sp>
      <p:sp>
        <p:nvSpPr>
          <p:cNvPr id="19" name="Rectangle 18"/>
          <p:cNvSpPr/>
          <p:nvPr/>
        </p:nvSpPr>
        <p:spPr>
          <a:xfrm>
            <a:off x="1783080" y="11027664"/>
            <a:ext cx="9601200" cy="181051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12264" y="11411712"/>
            <a:ext cx="8942832" cy="1316736"/>
          </a:xfrm>
          <a:prstGeom prst="rect">
            <a:avLst/>
          </a:prstGeom>
          <a:noFill/>
        </p:spPr>
        <p:txBody>
          <a:bodyPr wrap="square" lIns="0" rIns="0" tIns="0" bIns="0">
            <a:noAutofit/>
          </a:bodyPr>
          <a:lstStyle/>
          <a:p>
            <a:pPr algn="l">
              <a:lnSpc>
                <a:spcPct val="108000"/>
              </a:lnSpc>
              <a:spcAft>
                <a:spcPts val="930"/>
              </a:spcAft>
              <a:defRPr sz="4650" b="0">
                <a:solidFill>
                  <a:srgbClr val="000000"/>
                </a:solidFill>
                <a:latin typeface="NVIDIA Sans"/>
              </a:defRPr>
            </a:pPr>
            <a:r>
              <a:t>Type guarantees</a:t>
            </a:r>
          </a:p>
        </p:txBody>
      </p:sp>
      <p:sp>
        <p:nvSpPr>
          <p:cNvPr id="21" name="Rectangle 20"/>
          <p:cNvSpPr/>
          <p:nvPr/>
        </p:nvSpPr>
        <p:spPr>
          <a:xfrm>
            <a:off x="11384280" y="11027664"/>
            <a:ext cx="23317200" cy="181051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713464" y="11411712"/>
            <a:ext cx="22658832" cy="1316736"/>
          </a:xfrm>
          <a:prstGeom prst="rect">
            <a:avLst/>
          </a:prstGeom>
          <a:noFill/>
        </p:spPr>
        <p:txBody>
          <a:bodyPr wrap="square" lIns="0" rIns="0" tIns="0" bIns="0">
            <a:noAutofit/>
          </a:bodyPr>
          <a:lstStyle/>
          <a:p>
            <a:pPr algn="l">
              <a:lnSpc>
                <a:spcPct val="108000"/>
              </a:lnSpc>
              <a:spcAft>
                <a:spcPts val="930"/>
              </a:spcAft>
              <a:defRPr sz="4650" b="0">
                <a:solidFill>
                  <a:srgbClr val="000000"/>
                </a:solidFill>
                <a:latin typeface="NVIDIA Sans"/>
              </a:defRPr>
            </a:pPr>
            <a:r>
              <a:t>is_always_exhaustive(), is_always_contiguous()</a:t>
            </a:r>
          </a:p>
        </p:txBody>
      </p:sp>
      <p:sp>
        <p:nvSpPr>
          <p:cNvPr id="23" name="Rectangle 22"/>
          <p:cNvSpPr/>
          <p:nvPr/>
        </p:nvSpPr>
        <p:spPr>
          <a:xfrm>
            <a:off x="1783080" y="12838176"/>
            <a:ext cx="9601200" cy="1810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12264" y="13222224"/>
            <a:ext cx="8942832" cy="1316736"/>
          </a:xfrm>
          <a:prstGeom prst="rect">
            <a:avLst/>
          </a:prstGeom>
          <a:noFill/>
        </p:spPr>
        <p:txBody>
          <a:bodyPr wrap="square" lIns="0" rIns="0" tIns="0" bIns="0">
            <a:noAutofit/>
          </a:bodyPr>
          <a:lstStyle/>
          <a:p>
            <a:pPr algn="l">
              <a:lnSpc>
                <a:spcPct val="108000"/>
              </a:lnSpc>
              <a:spcAft>
                <a:spcPts val="930"/>
              </a:spcAft>
              <a:defRPr sz="4650" b="0">
                <a:solidFill>
                  <a:srgbClr val="000000"/>
                </a:solidFill>
                <a:latin typeface="NVIDIA Sans"/>
              </a:defRPr>
            </a:pPr>
            <a:r>
              <a:t>Participation</a:t>
            </a:r>
          </a:p>
        </p:txBody>
      </p:sp>
      <p:sp>
        <p:nvSpPr>
          <p:cNvPr id="25" name="Rectangle 24"/>
          <p:cNvSpPr/>
          <p:nvPr/>
        </p:nvSpPr>
        <p:spPr>
          <a:xfrm>
            <a:off x="11384280" y="12838176"/>
            <a:ext cx="23317200" cy="1810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713464" y="13222224"/>
            <a:ext cx="22658832" cy="1316736"/>
          </a:xfrm>
          <a:prstGeom prst="rect">
            <a:avLst/>
          </a:prstGeom>
          <a:noFill/>
        </p:spPr>
        <p:txBody>
          <a:bodyPr wrap="square" lIns="0" rIns="0" tIns="0" bIns="0">
            <a:noAutofit/>
          </a:bodyPr>
          <a:lstStyle/>
          <a:p>
            <a:pPr algn="l">
              <a:lnSpc>
                <a:spcPct val="108000"/>
              </a:lnSpc>
              <a:spcAft>
                <a:spcPts val="930"/>
              </a:spcAft>
              <a:defRPr sz="4650" b="0">
                <a:solidFill>
                  <a:srgbClr val="000000"/>
                </a:solidFill>
                <a:latin typeface="NVIDIA Sans"/>
              </a:defRPr>
            </a:pPr>
            <a:r>
              <a:t>is_valid()</a:t>
            </a:r>
          </a:p>
        </p:txBody>
      </p:sp>
      <p:sp>
        <p:nvSpPr>
          <p:cNvPr id="27" name="Rectangle 26"/>
          <p:cNvSpPr/>
          <p:nvPr/>
        </p:nvSpPr>
        <p:spPr>
          <a:xfrm>
            <a:off x="1783080" y="14648688"/>
            <a:ext cx="9601200" cy="181051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12264" y="15032736"/>
            <a:ext cx="8942832" cy="1316736"/>
          </a:xfrm>
          <a:prstGeom prst="rect">
            <a:avLst/>
          </a:prstGeom>
          <a:noFill/>
        </p:spPr>
        <p:txBody>
          <a:bodyPr wrap="square" lIns="0" rIns="0" tIns="0" bIns="0">
            <a:noAutofit/>
          </a:bodyPr>
          <a:lstStyle/>
          <a:p>
            <a:pPr algn="l">
              <a:lnSpc>
                <a:spcPct val="108000"/>
              </a:lnSpc>
              <a:spcAft>
                <a:spcPts val="930"/>
              </a:spcAft>
              <a:defRPr sz="4650" b="0">
                <a:solidFill>
                  <a:srgbClr val="000000"/>
                </a:solidFill>
                <a:latin typeface="NVIDIA Sans"/>
              </a:defRPr>
            </a:pPr>
            <a:r>
              <a:t>Warp membership</a:t>
            </a:r>
          </a:p>
        </p:txBody>
      </p:sp>
      <p:sp>
        <p:nvSpPr>
          <p:cNvPr id="29" name="Rectangle 28"/>
          <p:cNvSpPr/>
          <p:nvPr/>
        </p:nvSpPr>
        <p:spPr>
          <a:xfrm>
            <a:off x="11384280" y="14648688"/>
            <a:ext cx="23317200" cy="181051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713464" y="15032736"/>
            <a:ext cx="22658832" cy="1316736"/>
          </a:xfrm>
          <a:prstGeom prst="rect">
            <a:avLst/>
          </a:prstGeom>
          <a:noFill/>
        </p:spPr>
        <p:txBody>
          <a:bodyPr wrap="square" lIns="0" rIns="0" tIns="0" bIns="0">
            <a:noAutofit/>
          </a:bodyPr>
          <a:lstStyle/>
          <a:p>
            <a:pPr algn="l">
              <a:lnSpc>
                <a:spcPct val="108000"/>
              </a:lnSpc>
              <a:spcAft>
                <a:spcPts val="930"/>
              </a:spcAft>
              <a:defRPr sz="4650" b="0">
                <a:solidFill>
                  <a:srgbClr val="000000"/>
                </a:solidFill>
                <a:latin typeface="NVIDIA Sans"/>
              </a:defRPr>
            </a:pPr>
            <a:r>
              <a:t>lane_mask()</a:t>
            </a:r>
          </a:p>
        </p:txBody>
      </p:sp>
      <p:sp>
        <p:nvSpPr>
          <p:cNvPr id="31" name="Rectangle 30"/>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If is_valid() is false, other non-static mapping-result queries are undefined behavior.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identity_mapping preserves the partition</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Use a no-op mapping when generic code needs a mapping object.</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18</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Mappings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docs/cudax/coop/group/mapping/identity_mapping.rst</a:t>
            </a:r>
          </a:p>
        </p:txBody>
      </p:sp>
      <p:sp>
        <p:nvSpPr>
          <p:cNvPr id="7" name="Rectangle 6"/>
          <p:cNvSpPr/>
          <p:nvPr/>
        </p:nvSpPr>
        <p:spPr>
          <a:xfrm>
            <a:off x="1783080" y="5897879"/>
            <a:ext cx="32918400" cy="24688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31656527" cy="1591056"/>
          </a:xfrm>
          <a:prstGeom prst="rect">
            <a:avLst/>
          </a:prstGeom>
          <a:noFill/>
        </p:spPr>
        <p:txBody>
          <a:bodyPr wrap="none" lIns="0" rIns="0" tIns="0" bIns="0">
            <a:noAutofit/>
          </a:bodyPr>
          <a:lstStyle/>
          <a:p>
            <a:pPr>
              <a:lnSpc>
                <a:spcPct val="112000"/>
              </a:lnSpc>
              <a:spcAft>
                <a:spcPts val="0"/>
              </a:spcAft>
            </a:pPr>
            <a:r>
              <a:rPr sz="6300">
                <a:solidFill>
                  <a:srgbClr val="000000"/>
                </a:solidFill>
                <a:latin typeface="DejaVu Sans Mono"/>
              </a:rPr>
              <a:t>coop</a:t>
            </a:r>
            <a:r>
              <a:rPr sz="6300">
                <a:solidFill>
                  <a:srgbClr val="000000"/>
                </a:solidFill>
                <a:latin typeface="DejaVu Sans Mono"/>
              </a:rPr>
              <a:t>:</a:t>
            </a:r>
            <a:r>
              <a:rPr sz="6300">
                <a:solidFill>
                  <a:srgbClr val="000000"/>
                </a:solidFill>
                <a:latin typeface="DejaVu Sans Mono"/>
              </a:rPr>
              <a:t>:</a:t>
            </a:r>
            <a:r>
              <a:rPr sz="6300">
                <a:solidFill>
                  <a:srgbClr val="000000"/>
                </a:solidFill>
                <a:latin typeface="DejaVu Sans Mono"/>
              </a:rPr>
              <a:t>identity_mapping</a:t>
            </a:r>
            <a:r>
              <a:rPr sz="6300">
                <a:solidFill>
                  <a:srgbClr val="000000"/>
                </a:solidFill>
                <a:latin typeface="DejaVu Sans Mono"/>
              </a:rPr>
              <a:t> </a:t>
            </a:r>
            <a:r>
              <a:rPr sz="6300">
                <a:solidFill>
                  <a:srgbClr val="000000"/>
                </a:solidFill>
                <a:latin typeface="DejaVu Sans Mono"/>
              </a:rPr>
              <a:t>mapping</a:t>
            </a:r>
            <a:r>
              <a:rPr sz="6300">
                <a:solidFill>
                  <a:srgbClr val="000000"/>
                </a:solidFill>
                <a:latin typeface="DejaVu Sans Mono"/>
              </a:rPr>
              <a:t>{</a:t>
            </a:r>
            <a:r>
              <a:rPr sz="6300">
                <a:solidFill>
                  <a:srgbClr val="000000"/>
                </a:solidFill>
                <a:latin typeface="DejaVu Sans Mono"/>
              </a:rPr>
              <a:t>}</a:t>
            </a:r>
            <a:r>
              <a:rPr sz="6300">
                <a:solidFill>
                  <a:srgbClr val="000000"/>
                </a:solidFill>
                <a:latin typeface="DejaVu Sans Mono"/>
              </a:rPr>
              <a:t>;</a:t>
            </a:r>
          </a:p>
          <a:p>
            <a:pPr>
              <a:lnSpc>
                <a:spcPct val="112000"/>
              </a:lnSpc>
              <a:spcAft>
                <a:spcPts val="0"/>
              </a:spcAft>
            </a:pPr>
          </a:p>
        </p:txBody>
      </p:sp>
      <p:sp>
        <p:nvSpPr>
          <p:cNvPr id="9" name="Rectangle 8"/>
          <p:cNvSpPr/>
          <p:nvPr/>
        </p:nvSpPr>
        <p:spPr>
          <a:xfrm>
            <a:off x="7543800" y="102870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07944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0</a:t>
            </a:r>
          </a:p>
        </p:txBody>
      </p:sp>
      <p:sp>
        <p:nvSpPr>
          <p:cNvPr id="11" name="Rectangle 10"/>
          <p:cNvSpPr/>
          <p:nvPr/>
        </p:nvSpPr>
        <p:spPr>
          <a:xfrm>
            <a:off x="9464040" y="102870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64040" y="107944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a:t>
            </a:r>
          </a:p>
        </p:txBody>
      </p:sp>
      <p:sp>
        <p:nvSpPr>
          <p:cNvPr id="13" name="Rectangle 12"/>
          <p:cNvSpPr/>
          <p:nvPr/>
        </p:nvSpPr>
        <p:spPr>
          <a:xfrm>
            <a:off x="11384280" y="102870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384280" y="107944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2</a:t>
            </a:r>
          </a:p>
        </p:txBody>
      </p:sp>
      <p:sp>
        <p:nvSpPr>
          <p:cNvPr id="15" name="Rectangle 14"/>
          <p:cNvSpPr/>
          <p:nvPr/>
        </p:nvSpPr>
        <p:spPr>
          <a:xfrm>
            <a:off x="13304520" y="102870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304520" y="107944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3</a:t>
            </a:r>
          </a:p>
        </p:txBody>
      </p:sp>
      <p:sp>
        <p:nvSpPr>
          <p:cNvPr id="17" name="Rectangle 16"/>
          <p:cNvSpPr/>
          <p:nvPr/>
        </p:nvSpPr>
        <p:spPr>
          <a:xfrm>
            <a:off x="15224760" y="102870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24760" y="107944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4</a:t>
            </a:r>
          </a:p>
        </p:txBody>
      </p:sp>
      <p:sp>
        <p:nvSpPr>
          <p:cNvPr id="19" name="Rectangle 18"/>
          <p:cNvSpPr/>
          <p:nvPr/>
        </p:nvSpPr>
        <p:spPr>
          <a:xfrm>
            <a:off x="17145000" y="102870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145000" y="107944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5</a:t>
            </a:r>
          </a:p>
        </p:txBody>
      </p:sp>
      <p:sp>
        <p:nvSpPr>
          <p:cNvPr id="21" name="Rectangle 20"/>
          <p:cNvSpPr/>
          <p:nvPr/>
        </p:nvSpPr>
        <p:spPr>
          <a:xfrm>
            <a:off x="19065240" y="102870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65240" y="107944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6</a:t>
            </a:r>
          </a:p>
        </p:txBody>
      </p:sp>
      <p:sp>
        <p:nvSpPr>
          <p:cNvPr id="23" name="Rectangle 22"/>
          <p:cNvSpPr/>
          <p:nvPr/>
        </p:nvSpPr>
        <p:spPr>
          <a:xfrm>
            <a:off x="20985480" y="102870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985480" y="107944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7</a:t>
            </a:r>
          </a:p>
        </p:txBody>
      </p:sp>
      <p:sp>
        <p:nvSpPr>
          <p:cNvPr id="25" name="TextBox 24"/>
          <p:cNvSpPr txBox="1"/>
          <p:nvPr/>
        </p:nvSpPr>
        <p:spPr>
          <a:xfrm>
            <a:off x="2468880" y="13853159"/>
            <a:ext cx="31546800" cy="1920239"/>
          </a:xfrm>
          <a:prstGeom prst="rect">
            <a:avLst/>
          </a:prstGeom>
          <a:noFill/>
        </p:spPr>
        <p:txBody>
          <a:bodyPr wrap="square" lIns="0" rIns="0" tIns="0" bIns="0">
            <a:noAutofit/>
          </a:bodyPr>
          <a:lstStyle/>
          <a:p>
            <a:pPr algn="ctr">
              <a:lnSpc>
                <a:spcPct val="108000"/>
              </a:lnSpc>
              <a:spcAft>
                <a:spcPts val="1680"/>
              </a:spcAft>
              <a:defRPr sz="8400" b="1">
                <a:solidFill>
                  <a:srgbClr val="000000"/>
                </a:solidFill>
                <a:latin typeface="NVIDIA Sans"/>
              </a:defRPr>
            </a:pPr>
            <a:r>
              <a:t>Same values. Same type. Same properties.</a:t>
            </a:r>
          </a:p>
        </p:txBody>
      </p:sp>
      <p:sp>
        <p:nvSpPr>
          <p:cNvPr id="26" name="Rectangle 25"/>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It preserves the previous mapping result instead of introducing another partition.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group_by creates fixed-size groups</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Split every incoming group into equally sized chunks.</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19</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Mappings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docs/cudax/coop/group/mapping/group_by.rst</a:t>
            </a:r>
          </a:p>
        </p:txBody>
      </p:sp>
      <p:sp>
        <p:nvSpPr>
          <p:cNvPr id="7" name="Rectangle 6"/>
          <p:cNvSpPr/>
          <p:nvPr/>
        </p:nvSpPr>
        <p:spPr>
          <a:xfrm>
            <a:off x="1783080" y="5897879"/>
            <a:ext cx="32918400" cy="3291839"/>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31656527" cy="2414015"/>
          </a:xfrm>
          <a:prstGeom prst="rect">
            <a:avLst/>
          </a:prstGeom>
          <a:noFill/>
        </p:spPr>
        <p:txBody>
          <a:bodyPr wrap="none" lIns="0" rIns="0" tIns="0" bIns="0">
            <a:noAutofit/>
          </a:bodyPr>
          <a:lstStyle/>
          <a:p>
            <a:pPr>
              <a:lnSpc>
                <a:spcPct val="112000"/>
              </a:lnSpc>
              <a:spcAft>
                <a:spcPts val="0"/>
              </a:spcAft>
            </a:pPr>
            <a:r>
              <a:rPr sz="5700">
                <a:solidFill>
                  <a:srgbClr val="000000"/>
                </a:solidFill>
                <a:latin typeface="DejaVu Sans Mono"/>
              </a:rPr>
              <a:t>coop</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group_by</a:t>
            </a:r>
            <a:r>
              <a:rPr sz="5700">
                <a:solidFill>
                  <a:srgbClr val="000000"/>
                </a:solidFill>
                <a:latin typeface="DejaVu Sans Mono"/>
              </a:rPr>
              <a:t> </a:t>
            </a:r>
            <a:r>
              <a:rPr sz="5700">
                <a:solidFill>
                  <a:srgbClr val="000000"/>
                </a:solidFill>
                <a:latin typeface="DejaVu Sans Mono"/>
              </a:rPr>
              <a:t>dynamic_size</a:t>
            </a:r>
            <a:r>
              <a:rPr sz="5700">
                <a:solidFill>
                  <a:srgbClr val="000000"/>
                </a:solidFill>
                <a:latin typeface="DejaVu Sans Mono"/>
              </a:rPr>
              <a:t>{</a:t>
            </a:r>
            <a:r>
              <a:rPr sz="5700">
                <a:solidFill>
                  <a:srgbClr val="000000"/>
                </a:solidFill>
                <a:latin typeface="DejaVu Sans Mono"/>
              </a:rPr>
              <a:t>4</a:t>
            </a:r>
            <a:r>
              <a:rPr sz="5700">
                <a:solidFill>
                  <a:srgbClr val="000000"/>
                </a:solidFill>
                <a:latin typeface="DejaVu Sans Mono"/>
              </a:rPr>
              <a:t>}</a:t>
            </a:r>
            <a:r>
              <a:rPr sz="5700">
                <a:solidFill>
                  <a:srgbClr val="000000"/>
                </a:solidFill>
                <a:latin typeface="DejaVu Sans Mono"/>
              </a:rPr>
              <a:t>;</a:t>
            </a:r>
          </a:p>
          <a:p>
            <a:pPr>
              <a:lnSpc>
                <a:spcPct val="112000"/>
              </a:lnSpc>
              <a:spcAft>
                <a:spcPts val="0"/>
              </a:spcAft>
            </a:pPr>
            <a:r>
              <a:rPr sz="5700">
                <a:solidFill>
                  <a:srgbClr val="000000"/>
                </a:solidFill>
                <a:latin typeface="DejaVu Sans Mono"/>
              </a:rPr>
              <a:t>coop</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group_by</a:t>
            </a:r>
            <a:r>
              <a:rPr sz="5700">
                <a:solidFill>
                  <a:srgbClr val="000000"/>
                </a:solidFill>
                <a:latin typeface="DejaVu Sans Mono"/>
              </a:rPr>
              <a:t> </a:t>
            </a:r>
            <a:r>
              <a:rPr sz="5700">
                <a:solidFill>
                  <a:srgbClr val="000000"/>
                </a:solidFill>
                <a:latin typeface="DejaVu Sans Mono"/>
              </a:rPr>
              <a:t>static_size</a:t>
            </a:r>
            <a:r>
              <a:rPr sz="5700">
                <a:solidFill>
                  <a:srgbClr val="000000"/>
                </a:solidFill>
                <a:latin typeface="DejaVu Sans Mono"/>
              </a:rPr>
              <a:t>{</a:t>
            </a:r>
            <a:r>
              <a:rPr sz="5700">
                <a:solidFill>
                  <a:srgbClr val="000000"/>
                </a:solidFill>
                <a:latin typeface="DejaVu Sans Mono"/>
              </a:rPr>
              <a:t>cuda</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std</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cw</a:t>
            </a:r>
            <a:r>
              <a:rPr sz="5700">
                <a:solidFill>
                  <a:srgbClr val="000000"/>
                </a:solidFill>
                <a:latin typeface="DejaVu Sans Mono"/>
              </a:rPr>
              <a:t>&lt;</a:t>
            </a:r>
            <a:r>
              <a:rPr sz="5700">
                <a:solidFill>
                  <a:srgbClr val="000000"/>
                </a:solidFill>
                <a:latin typeface="DejaVu Sans Mono"/>
              </a:rPr>
              <a:t>4</a:t>
            </a:r>
            <a:r>
              <a:rPr sz="5700">
                <a:solidFill>
                  <a:srgbClr val="000000"/>
                </a:solidFill>
                <a:latin typeface="DejaVu Sans Mono"/>
              </a:rPr>
              <a:t>&gt;</a:t>
            </a:r>
            <a:r>
              <a:rPr sz="5700">
                <a:solidFill>
                  <a:srgbClr val="000000"/>
                </a:solidFill>
                <a:latin typeface="DejaVu Sans Mono"/>
              </a:rPr>
              <a:t>}</a:t>
            </a:r>
            <a:r>
              <a:rPr sz="5700">
                <a:solidFill>
                  <a:srgbClr val="000000"/>
                </a:solidFill>
                <a:latin typeface="DejaVu Sans Mono"/>
              </a:rPr>
              <a:t>;</a:t>
            </a:r>
          </a:p>
          <a:p>
            <a:pPr>
              <a:lnSpc>
                <a:spcPct val="112000"/>
              </a:lnSpc>
              <a:spcAft>
                <a:spcPts val="0"/>
              </a:spcAft>
            </a:pPr>
          </a:p>
        </p:txBody>
      </p:sp>
      <p:sp>
        <p:nvSpPr>
          <p:cNvPr id="9" name="Rectangle 8"/>
          <p:cNvSpPr/>
          <p:nvPr/>
        </p:nvSpPr>
        <p:spPr>
          <a:xfrm>
            <a:off x="5074920" y="116586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21660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0</a:t>
            </a:r>
          </a:p>
        </p:txBody>
      </p:sp>
      <p:sp>
        <p:nvSpPr>
          <p:cNvPr id="11" name="Rectangle 10"/>
          <p:cNvSpPr/>
          <p:nvPr/>
        </p:nvSpPr>
        <p:spPr>
          <a:xfrm>
            <a:off x="6995159" y="116586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59" y="121660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a:t>
            </a:r>
          </a:p>
        </p:txBody>
      </p:sp>
      <p:sp>
        <p:nvSpPr>
          <p:cNvPr id="13" name="Rectangle 12"/>
          <p:cNvSpPr/>
          <p:nvPr/>
        </p:nvSpPr>
        <p:spPr>
          <a:xfrm>
            <a:off x="8915400" y="116586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121660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2</a:t>
            </a:r>
          </a:p>
        </p:txBody>
      </p:sp>
      <p:sp>
        <p:nvSpPr>
          <p:cNvPr id="15" name="Rectangle 14"/>
          <p:cNvSpPr/>
          <p:nvPr/>
        </p:nvSpPr>
        <p:spPr>
          <a:xfrm>
            <a:off x="10835640" y="116586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835640" y="121660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3</a:t>
            </a:r>
          </a:p>
        </p:txBody>
      </p:sp>
      <p:sp>
        <p:nvSpPr>
          <p:cNvPr id="17" name="Rectangle 16"/>
          <p:cNvSpPr/>
          <p:nvPr/>
        </p:nvSpPr>
        <p:spPr>
          <a:xfrm>
            <a:off x="12755880" y="11658600"/>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755880" y="121660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4</a:t>
            </a:r>
          </a:p>
        </p:txBody>
      </p:sp>
      <p:sp>
        <p:nvSpPr>
          <p:cNvPr id="19" name="Rectangle 18"/>
          <p:cNvSpPr/>
          <p:nvPr/>
        </p:nvSpPr>
        <p:spPr>
          <a:xfrm>
            <a:off x="14676120" y="11658600"/>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676120" y="121660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5</a:t>
            </a:r>
          </a:p>
        </p:txBody>
      </p:sp>
      <p:sp>
        <p:nvSpPr>
          <p:cNvPr id="21" name="Rectangle 20"/>
          <p:cNvSpPr/>
          <p:nvPr/>
        </p:nvSpPr>
        <p:spPr>
          <a:xfrm>
            <a:off x="16596360" y="11658600"/>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596360" y="121660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6</a:t>
            </a:r>
          </a:p>
        </p:txBody>
      </p:sp>
      <p:sp>
        <p:nvSpPr>
          <p:cNvPr id="23" name="Rectangle 22"/>
          <p:cNvSpPr/>
          <p:nvPr/>
        </p:nvSpPr>
        <p:spPr>
          <a:xfrm>
            <a:off x="18516600" y="11658600"/>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516600" y="121660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7</a:t>
            </a:r>
          </a:p>
        </p:txBody>
      </p:sp>
      <p:sp>
        <p:nvSpPr>
          <p:cNvPr id="25" name="Rectangle 24"/>
          <p:cNvSpPr/>
          <p:nvPr/>
        </p:nvSpPr>
        <p:spPr>
          <a:xfrm>
            <a:off x="20436840" y="11658600"/>
            <a:ext cx="1728216" cy="1728216"/>
          </a:xfrm>
          <a:prstGeom prst="rect">
            <a:avLst/>
          </a:prstGeom>
          <a:solidFill>
            <a:srgbClr val="007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436840" y="121660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8</a:t>
            </a:r>
          </a:p>
        </p:txBody>
      </p:sp>
      <p:sp>
        <p:nvSpPr>
          <p:cNvPr id="27" name="Rectangle 26"/>
          <p:cNvSpPr/>
          <p:nvPr/>
        </p:nvSpPr>
        <p:spPr>
          <a:xfrm>
            <a:off x="22357080" y="11658600"/>
            <a:ext cx="1728216" cy="1728216"/>
          </a:xfrm>
          <a:prstGeom prst="rect">
            <a:avLst/>
          </a:prstGeom>
          <a:solidFill>
            <a:srgbClr val="007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357080" y="121660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9</a:t>
            </a:r>
          </a:p>
        </p:txBody>
      </p:sp>
      <p:sp>
        <p:nvSpPr>
          <p:cNvPr id="29" name="Rectangle 28"/>
          <p:cNvSpPr/>
          <p:nvPr/>
        </p:nvSpPr>
        <p:spPr>
          <a:xfrm>
            <a:off x="24277319" y="11658600"/>
            <a:ext cx="1728216" cy="1728216"/>
          </a:xfrm>
          <a:prstGeom prst="rect">
            <a:avLst/>
          </a:prstGeom>
          <a:solidFill>
            <a:srgbClr val="007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277319" y="121660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10</a:t>
            </a:r>
          </a:p>
        </p:txBody>
      </p:sp>
      <p:sp>
        <p:nvSpPr>
          <p:cNvPr id="31" name="Rectangle 30"/>
          <p:cNvSpPr/>
          <p:nvPr/>
        </p:nvSpPr>
        <p:spPr>
          <a:xfrm>
            <a:off x="26197560" y="11658600"/>
            <a:ext cx="1728216" cy="1728216"/>
          </a:xfrm>
          <a:prstGeom prst="rect">
            <a:avLst/>
          </a:prstGeom>
          <a:solidFill>
            <a:srgbClr val="007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6197560" y="121660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11</a:t>
            </a:r>
          </a:p>
        </p:txBody>
      </p:sp>
      <p:sp>
        <p:nvSpPr>
          <p:cNvPr id="33" name="TextBox 32"/>
          <p:cNvSpPr txBox="1"/>
          <p:nvPr/>
        </p:nvSpPr>
        <p:spPr>
          <a:xfrm>
            <a:off x="5623559" y="14127480"/>
            <a:ext cx="6858000" cy="1371600"/>
          </a:xfrm>
          <a:prstGeom prst="rect">
            <a:avLst/>
          </a:prstGeom>
          <a:noFill/>
        </p:spPr>
        <p:txBody>
          <a:bodyPr wrap="square" lIns="0" rIns="0" tIns="0" bIns="0">
            <a:noAutofit/>
          </a:bodyPr>
          <a:lstStyle/>
          <a:p>
            <a:pPr algn="l">
              <a:lnSpc>
                <a:spcPct val="108000"/>
              </a:lnSpc>
              <a:spcAft>
                <a:spcPts val="1260"/>
              </a:spcAft>
              <a:defRPr sz="6300" b="0">
                <a:solidFill>
                  <a:srgbClr val="000000"/>
                </a:solidFill>
                <a:latin typeface="NVIDIA Sans"/>
              </a:defRPr>
            </a:pPr>
            <a:r>
              <a:t>Group 0</a:t>
            </a:r>
          </a:p>
        </p:txBody>
      </p:sp>
      <p:sp>
        <p:nvSpPr>
          <p:cNvPr id="34" name="TextBox 33"/>
          <p:cNvSpPr txBox="1"/>
          <p:nvPr/>
        </p:nvSpPr>
        <p:spPr>
          <a:xfrm>
            <a:off x="13304519" y="14127480"/>
            <a:ext cx="6858000" cy="1371600"/>
          </a:xfrm>
          <a:prstGeom prst="rect">
            <a:avLst/>
          </a:prstGeom>
          <a:noFill/>
        </p:spPr>
        <p:txBody>
          <a:bodyPr wrap="square" lIns="0" rIns="0" tIns="0" bIns="0">
            <a:noAutofit/>
          </a:bodyPr>
          <a:lstStyle/>
          <a:p>
            <a:pPr algn="l">
              <a:lnSpc>
                <a:spcPct val="108000"/>
              </a:lnSpc>
              <a:spcAft>
                <a:spcPts val="1260"/>
              </a:spcAft>
              <a:defRPr sz="6300" b="0">
                <a:solidFill>
                  <a:srgbClr val="000000"/>
                </a:solidFill>
                <a:latin typeface="NVIDIA Sans"/>
              </a:defRPr>
            </a:pPr>
            <a:r>
              <a:t>Group 1</a:t>
            </a:r>
          </a:p>
        </p:txBody>
      </p:sp>
      <p:sp>
        <p:nvSpPr>
          <p:cNvPr id="35" name="TextBox 34"/>
          <p:cNvSpPr txBox="1"/>
          <p:nvPr/>
        </p:nvSpPr>
        <p:spPr>
          <a:xfrm>
            <a:off x="20985480" y="14127480"/>
            <a:ext cx="6858000" cy="1371600"/>
          </a:xfrm>
          <a:prstGeom prst="rect">
            <a:avLst/>
          </a:prstGeom>
          <a:noFill/>
        </p:spPr>
        <p:txBody>
          <a:bodyPr wrap="square" lIns="0" rIns="0" tIns="0" bIns="0">
            <a:noAutofit/>
          </a:bodyPr>
          <a:lstStyle/>
          <a:p>
            <a:pPr algn="l">
              <a:lnSpc>
                <a:spcPct val="108000"/>
              </a:lnSpc>
              <a:spcAft>
                <a:spcPts val="1260"/>
              </a:spcAft>
              <a:defRPr sz="6300" b="0">
                <a:solidFill>
                  <a:srgbClr val="000000"/>
                </a:solidFill>
                <a:latin typeface="NVIDIA Sans"/>
              </a:defRPr>
            </a:pPr>
            <a:r>
              <a:t>Group 2</a:t>
            </a:r>
          </a:p>
        </p:txBody>
      </p:sp>
      <p:sp>
        <p:nvSpPr>
          <p:cNvPr id="36" name="Rectangle 35"/>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An integral-constant-like size preserves the group size as compile-time information.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Handle tails explicitly</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Ten units cannot form exhaustive groups of four.</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20</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Mappings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docs/cudax/coop/group/mapping/group_by.rst</a:t>
            </a:r>
          </a:p>
        </p:txBody>
      </p:sp>
      <p:sp>
        <p:nvSpPr>
          <p:cNvPr id="7" name="Rectangle 6"/>
          <p:cNvSpPr/>
          <p:nvPr/>
        </p:nvSpPr>
        <p:spPr>
          <a:xfrm>
            <a:off x="5486400" y="768095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0" y="818845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0</a:t>
            </a:r>
          </a:p>
        </p:txBody>
      </p:sp>
      <p:sp>
        <p:nvSpPr>
          <p:cNvPr id="9" name="Rectangle 8"/>
          <p:cNvSpPr/>
          <p:nvPr/>
        </p:nvSpPr>
        <p:spPr>
          <a:xfrm>
            <a:off x="7406640" y="768095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0" y="818845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a:t>
            </a:r>
          </a:p>
        </p:txBody>
      </p:sp>
      <p:sp>
        <p:nvSpPr>
          <p:cNvPr id="11" name="Rectangle 10"/>
          <p:cNvSpPr/>
          <p:nvPr/>
        </p:nvSpPr>
        <p:spPr>
          <a:xfrm>
            <a:off x="9326880" y="768095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0" y="818845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2</a:t>
            </a:r>
          </a:p>
        </p:txBody>
      </p:sp>
      <p:sp>
        <p:nvSpPr>
          <p:cNvPr id="13" name="Rectangle 12"/>
          <p:cNvSpPr/>
          <p:nvPr/>
        </p:nvSpPr>
        <p:spPr>
          <a:xfrm>
            <a:off x="11247120" y="768095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247120" y="818845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3</a:t>
            </a:r>
          </a:p>
        </p:txBody>
      </p:sp>
      <p:sp>
        <p:nvSpPr>
          <p:cNvPr id="15" name="Rectangle 14"/>
          <p:cNvSpPr/>
          <p:nvPr/>
        </p:nvSpPr>
        <p:spPr>
          <a:xfrm>
            <a:off x="13167360" y="7680959"/>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167360" y="818845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4</a:t>
            </a:r>
          </a:p>
        </p:txBody>
      </p:sp>
      <p:sp>
        <p:nvSpPr>
          <p:cNvPr id="17" name="Rectangle 16"/>
          <p:cNvSpPr/>
          <p:nvPr/>
        </p:nvSpPr>
        <p:spPr>
          <a:xfrm>
            <a:off x="15087600" y="7680959"/>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087600" y="818845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5</a:t>
            </a:r>
          </a:p>
        </p:txBody>
      </p:sp>
      <p:sp>
        <p:nvSpPr>
          <p:cNvPr id="19" name="Rectangle 18"/>
          <p:cNvSpPr/>
          <p:nvPr/>
        </p:nvSpPr>
        <p:spPr>
          <a:xfrm>
            <a:off x="17007840" y="7680959"/>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007840" y="818845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6</a:t>
            </a:r>
          </a:p>
        </p:txBody>
      </p:sp>
      <p:sp>
        <p:nvSpPr>
          <p:cNvPr id="21" name="Rectangle 20"/>
          <p:cNvSpPr/>
          <p:nvPr/>
        </p:nvSpPr>
        <p:spPr>
          <a:xfrm>
            <a:off x="18928080" y="7680959"/>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928080" y="818845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7</a:t>
            </a:r>
          </a:p>
        </p:txBody>
      </p:sp>
      <p:sp>
        <p:nvSpPr>
          <p:cNvPr id="23" name="Rectangle 22"/>
          <p:cNvSpPr/>
          <p:nvPr/>
        </p:nvSpPr>
        <p:spPr>
          <a:xfrm>
            <a:off x="20848320" y="7680959"/>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848320" y="818845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8</a:t>
            </a:r>
          </a:p>
        </p:txBody>
      </p:sp>
      <p:sp>
        <p:nvSpPr>
          <p:cNvPr id="25" name="Rectangle 24"/>
          <p:cNvSpPr/>
          <p:nvPr/>
        </p:nvSpPr>
        <p:spPr>
          <a:xfrm>
            <a:off x="22768560" y="7680959"/>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768560" y="818845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9</a:t>
            </a:r>
          </a:p>
        </p:txBody>
      </p:sp>
      <p:sp>
        <p:nvSpPr>
          <p:cNvPr id="27" name="Rectangle 26"/>
          <p:cNvSpPr/>
          <p:nvPr/>
        </p:nvSpPr>
        <p:spPr>
          <a:xfrm>
            <a:off x="1783080" y="11109959"/>
            <a:ext cx="16130016" cy="54864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783080" y="11109959"/>
            <a:ext cx="16130016"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86584" y="11795759"/>
            <a:ext cx="14923008" cy="1508760"/>
          </a:xfrm>
          <a:prstGeom prst="rect">
            <a:avLst/>
          </a:prstGeom>
          <a:noFill/>
        </p:spPr>
        <p:txBody>
          <a:bodyPr wrap="square" lIns="0" rIns="0" tIns="0" bIns="0">
            <a:noAutofit/>
          </a:bodyPr>
          <a:lstStyle/>
          <a:p>
            <a:pPr algn="l">
              <a:lnSpc>
                <a:spcPct val="108000"/>
              </a:lnSpc>
              <a:spcAft>
                <a:spcPts val="1260"/>
              </a:spcAft>
              <a:defRPr sz="6300" b="1">
                <a:solidFill>
                  <a:srgbClr val="000000"/>
                </a:solidFill>
                <a:latin typeface="NVIDIA Sans Medium"/>
              </a:defRPr>
            </a:pPr>
            <a:r>
              <a:t>Exhaustive</a:t>
            </a:r>
          </a:p>
        </p:txBody>
      </p:sp>
      <p:sp>
        <p:nvSpPr>
          <p:cNvPr id="30" name="TextBox 29"/>
          <p:cNvSpPr txBox="1"/>
          <p:nvPr/>
        </p:nvSpPr>
        <p:spPr>
          <a:xfrm>
            <a:off x="2386584" y="13441680"/>
            <a:ext cx="14923008" cy="2743200"/>
          </a:xfrm>
          <a:prstGeom prst="rect">
            <a:avLst/>
          </a:prstGeom>
          <a:noFill/>
        </p:spPr>
        <p:txBody>
          <a:bodyPr wrap="square" lIns="0" rIns="0" tIns="0" bIns="0">
            <a:noAutofit/>
          </a:bodyPr>
          <a:lstStyle/>
          <a:p>
            <a:pPr algn="l">
              <a:lnSpc>
                <a:spcPct val="108000"/>
              </a:lnSpc>
              <a:spcAft>
                <a:spcPts val="1080"/>
              </a:spcAft>
              <a:defRPr sz="5400" b="0">
                <a:solidFill>
                  <a:srgbClr val="000000"/>
                </a:solidFill>
                <a:latin typeface="NVIDIA Sans"/>
              </a:defRPr>
            </a:pPr>
            <a:r>
              <a:t>Requires an exact division. A remainder violates the mapping precondition.</a:t>
            </a:r>
          </a:p>
        </p:txBody>
      </p:sp>
      <p:sp>
        <p:nvSpPr>
          <p:cNvPr id="31" name="Rectangle 30"/>
          <p:cNvSpPr/>
          <p:nvPr/>
        </p:nvSpPr>
        <p:spPr>
          <a:xfrm>
            <a:off x="18571464" y="11109959"/>
            <a:ext cx="16130016" cy="54864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8571464" y="11109959"/>
            <a:ext cx="16130016"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174968" y="11795759"/>
            <a:ext cx="14923008" cy="1508760"/>
          </a:xfrm>
          <a:prstGeom prst="rect">
            <a:avLst/>
          </a:prstGeom>
          <a:noFill/>
        </p:spPr>
        <p:txBody>
          <a:bodyPr wrap="square" lIns="0" rIns="0" tIns="0" bIns="0">
            <a:noAutofit/>
          </a:bodyPr>
          <a:lstStyle/>
          <a:p>
            <a:pPr algn="l">
              <a:lnSpc>
                <a:spcPct val="108000"/>
              </a:lnSpc>
              <a:spcAft>
                <a:spcPts val="1260"/>
              </a:spcAft>
              <a:defRPr sz="6300" b="1">
                <a:solidFill>
                  <a:srgbClr val="000000"/>
                </a:solidFill>
                <a:latin typeface="NVIDIA Sans Medium"/>
              </a:defRPr>
            </a:pPr>
            <a:r>
              <a:t>Non-exhaustive</a:t>
            </a:r>
          </a:p>
        </p:txBody>
      </p:sp>
      <p:sp>
        <p:nvSpPr>
          <p:cNvPr id="34" name="TextBox 33"/>
          <p:cNvSpPr txBox="1"/>
          <p:nvPr/>
        </p:nvSpPr>
        <p:spPr>
          <a:xfrm>
            <a:off x="19174968" y="13441680"/>
            <a:ext cx="14923008" cy="2743200"/>
          </a:xfrm>
          <a:prstGeom prst="rect">
            <a:avLst/>
          </a:prstGeom>
          <a:noFill/>
        </p:spPr>
        <p:txBody>
          <a:bodyPr wrap="square" lIns="0" rIns="0" tIns="0" bIns="0">
            <a:noAutofit/>
          </a:bodyPr>
          <a:lstStyle/>
          <a:p>
            <a:pPr algn="l">
              <a:lnSpc>
                <a:spcPct val="108000"/>
              </a:lnSpc>
              <a:spcAft>
                <a:spcPts val="1080"/>
              </a:spcAft>
              <a:defRPr sz="5400" b="0">
                <a:solidFill>
                  <a:srgbClr val="000000"/>
                </a:solidFill>
                <a:latin typeface="NVIDIA Sans"/>
              </a:defRPr>
            </a:pPr>
            <a:r>
              <a:t>Creates two full groups. The two trailing units do not participate.</a:t>
            </a:r>
          </a:p>
        </p:txBody>
      </p:sp>
      <p:sp>
        <p:nvSpPr>
          <p:cNvPr id="35" name="Rectangle 34"/>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A non-exhaustive mapping excludes the tail; it does not create a smaller final group.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group_as assigns different group sizes</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Give six warps to three roles: 2 + 3 + 1.</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21</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Mappings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docs/cudax/coop/group/generic_group.rst</a:t>
            </a:r>
          </a:p>
        </p:txBody>
      </p:sp>
      <p:sp>
        <p:nvSpPr>
          <p:cNvPr id="7" name="Rectangle 6"/>
          <p:cNvSpPr/>
          <p:nvPr/>
        </p:nvSpPr>
        <p:spPr>
          <a:xfrm>
            <a:off x="1783080" y="5897879"/>
            <a:ext cx="32918400" cy="3291839"/>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31656527" cy="2414015"/>
          </a:xfrm>
          <a:prstGeom prst="rect">
            <a:avLst/>
          </a:prstGeom>
          <a:noFill/>
        </p:spPr>
        <p:txBody>
          <a:bodyPr wrap="none" lIns="0" rIns="0" tIns="0" bIns="0">
            <a:noAutofit/>
          </a:bodyPr>
          <a:lstStyle/>
          <a:p>
            <a:pPr>
              <a:lnSpc>
                <a:spcPct val="112000"/>
              </a:lnSpc>
              <a:spcAft>
                <a:spcPts val="0"/>
              </a:spcAft>
            </a:pPr>
            <a:r>
              <a:rPr sz="5700">
                <a:solidFill>
                  <a:srgbClr val="0074DF"/>
                </a:solidFill>
                <a:latin typeface="DejaVu Sans Mono"/>
              </a:rPr>
              <a:t>const</a:t>
            </a:r>
            <a:r>
              <a:rPr sz="5700">
                <a:solidFill>
                  <a:srgbClr val="000000"/>
                </a:solidFill>
                <a:latin typeface="DejaVu Sans Mono"/>
              </a:rPr>
              <a:t> </a:t>
            </a:r>
            <a:r>
              <a:rPr sz="5700">
                <a:solidFill>
                  <a:srgbClr val="000000"/>
                </a:solidFill>
                <a:latin typeface="DejaVu Sans Mono"/>
              </a:rPr>
              <a:t>cuda</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std</a:t>
            </a:r>
            <a:r>
              <a:rPr sz="5700">
                <a:solidFill>
                  <a:srgbClr val="000000"/>
                </a:solidFill>
                <a:latin typeface="DejaVu Sans Mono"/>
              </a:rPr>
              <a:t>:</a:t>
            </a:r>
            <a:r>
              <a:rPr sz="5700">
                <a:solidFill>
                  <a:srgbClr val="000000"/>
                </a:solidFill>
                <a:latin typeface="DejaVu Sans Mono"/>
              </a:rPr>
              <a:t>:</a:t>
            </a:r>
            <a:r>
              <a:rPr sz="5700">
                <a:solidFill>
                  <a:srgbClr val="0074DF"/>
                </a:solidFill>
                <a:latin typeface="DejaVu Sans Mono"/>
              </a:rPr>
              <a:t>uint32_t</a:t>
            </a:r>
            <a:r>
              <a:rPr sz="5700">
                <a:solidFill>
                  <a:srgbClr val="000000"/>
                </a:solidFill>
                <a:latin typeface="DejaVu Sans Mono"/>
              </a:rPr>
              <a:t> </a:t>
            </a:r>
            <a:r>
              <a:rPr sz="5700">
                <a:solidFill>
                  <a:srgbClr val="000000"/>
                </a:solidFill>
                <a:latin typeface="DejaVu Sans Mono"/>
              </a:rPr>
              <a:t>sizes</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2</a:t>
            </a:r>
            <a:r>
              <a:rPr sz="5700">
                <a:solidFill>
                  <a:srgbClr val="000000"/>
                </a:solidFill>
                <a:latin typeface="DejaVu Sans Mono"/>
              </a:rPr>
              <a:t>,</a:t>
            </a:r>
            <a:r>
              <a:rPr sz="5700">
                <a:solidFill>
                  <a:srgbClr val="000000"/>
                </a:solidFill>
                <a:latin typeface="DejaVu Sans Mono"/>
              </a:rPr>
              <a:t> </a:t>
            </a:r>
            <a:r>
              <a:rPr sz="5700">
                <a:solidFill>
                  <a:srgbClr val="000000"/>
                </a:solidFill>
                <a:latin typeface="DejaVu Sans Mono"/>
              </a:rPr>
              <a:t>3</a:t>
            </a:r>
            <a:r>
              <a:rPr sz="5700">
                <a:solidFill>
                  <a:srgbClr val="000000"/>
                </a:solidFill>
                <a:latin typeface="DejaVu Sans Mono"/>
              </a:rPr>
              <a:t>,</a:t>
            </a:r>
            <a:r>
              <a:rPr sz="5700">
                <a:solidFill>
                  <a:srgbClr val="000000"/>
                </a:solidFill>
                <a:latin typeface="DejaVu Sans Mono"/>
              </a:rPr>
              <a:t> </a:t>
            </a:r>
            <a:r>
              <a:rPr sz="5700">
                <a:solidFill>
                  <a:srgbClr val="000000"/>
                </a:solidFill>
                <a:latin typeface="DejaVu Sans Mono"/>
              </a:rPr>
              <a:t>1</a:t>
            </a:r>
            <a:r>
              <a:rPr sz="5700">
                <a:solidFill>
                  <a:srgbClr val="000000"/>
                </a:solidFill>
                <a:latin typeface="DejaVu Sans Mono"/>
              </a:rPr>
              <a:t>}</a:t>
            </a:r>
            <a:r>
              <a:rPr sz="5700">
                <a:solidFill>
                  <a:srgbClr val="000000"/>
                </a:solidFill>
                <a:latin typeface="DejaVu Sans Mono"/>
              </a:rPr>
              <a:t>;</a:t>
            </a:r>
          </a:p>
          <a:p>
            <a:pPr>
              <a:lnSpc>
                <a:spcPct val="112000"/>
              </a:lnSpc>
              <a:spcAft>
                <a:spcPts val="0"/>
              </a:spcAft>
            </a:pPr>
            <a:r>
              <a:rPr sz="5700">
                <a:solidFill>
                  <a:srgbClr val="0074DF"/>
                </a:solidFill>
                <a:latin typeface="DejaVu Sans Mono"/>
              </a:rPr>
              <a:t>auto</a:t>
            </a:r>
            <a:r>
              <a:rPr sz="5700">
                <a:solidFill>
                  <a:srgbClr val="000000"/>
                </a:solidFill>
                <a:latin typeface="DejaVu Sans Mono"/>
              </a:rPr>
              <a:t> </a:t>
            </a:r>
            <a:r>
              <a:rPr sz="5700">
                <a:solidFill>
                  <a:srgbClr val="000000"/>
                </a:solidFill>
                <a:latin typeface="DejaVu Sans Mono"/>
              </a:rPr>
              <a:t>mapping</a:t>
            </a:r>
            <a:r>
              <a:rPr sz="5700">
                <a:solidFill>
                  <a:srgbClr val="000000"/>
                </a:solidFill>
                <a:latin typeface="DejaVu Sans Mono"/>
              </a:rPr>
              <a:t> </a:t>
            </a:r>
            <a:r>
              <a:rPr sz="5700">
                <a:solidFill>
                  <a:srgbClr val="000000"/>
                </a:solidFill>
                <a:latin typeface="DejaVu Sans Mono"/>
              </a:rPr>
              <a:t>=</a:t>
            </a:r>
            <a:r>
              <a:rPr sz="5700">
                <a:solidFill>
                  <a:srgbClr val="000000"/>
                </a:solidFill>
                <a:latin typeface="DejaVu Sans Mono"/>
              </a:rPr>
              <a:t> </a:t>
            </a:r>
            <a:r>
              <a:rPr sz="5700">
                <a:solidFill>
                  <a:srgbClr val="000000"/>
                </a:solidFill>
                <a:latin typeface="DejaVu Sans Mono"/>
              </a:rPr>
              <a:t>coop</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group_as</a:t>
            </a:r>
            <a:r>
              <a:rPr sz="5700">
                <a:solidFill>
                  <a:srgbClr val="000000"/>
                </a:solidFill>
                <a:latin typeface="DejaVu Sans Mono"/>
              </a:rPr>
              <a:t>{</a:t>
            </a:r>
            <a:r>
              <a:rPr sz="5700">
                <a:solidFill>
                  <a:srgbClr val="000000"/>
                </a:solidFill>
                <a:latin typeface="DejaVu Sans Mono"/>
              </a:rPr>
              <a:t>sizes</a:t>
            </a:r>
            <a:r>
              <a:rPr sz="5700">
                <a:solidFill>
                  <a:srgbClr val="000000"/>
                </a:solidFill>
                <a:latin typeface="DejaVu Sans Mono"/>
              </a:rPr>
              <a:t>}</a:t>
            </a:r>
            <a:r>
              <a:rPr sz="5700">
                <a:solidFill>
                  <a:srgbClr val="000000"/>
                </a:solidFill>
                <a:latin typeface="DejaVu Sans Mono"/>
              </a:rPr>
              <a:t>;</a:t>
            </a:r>
          </a:p>
          <a:p>
            <a:pPr>
              <a:lnSpc>
                <a:spcPct val="112000"/>
              </a:lnSpc>
              <a:spcAft>
                <a:spcPts val="0"/>
              </a:spcAft>
            </a:pPr>
          </a:p>
        </p:txBody>
      </p:sp>
      <p:sp>
        <p:nvSpPr>
          <p:cNvPr id="9" name="Rectangle 8"/>
          <p:cNvSpPr/>
          <p:nvPr/>
        </p:nvSpPr>
        <p:spPr>
          <a:xfrm>
            <a:off x="3291839" y="11109959"/>
            <a:ext cx="4389120" cy="20574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39" y="11713463"/>
            <a:ext cx="4389120" cy="960119"/>
          </a:xfrm>
          <a:prstGeom prst="rect">
            <a:avLst/>
          </a:prstGeom>
          <a:noFill/>
        </p:spPr>
        <p:txBody>
          <a:bodyPr wrap="square" lIns="0" rIns="0" tIns="0" bIns="0">
            <a:noAutofit/>
          </a:bodyPr>
          <a:lstStyle/>
          <a:p>
            <a:pPr algn="ctr">
              <a:lnSpc>
                <a:spcPct val="108000"/>
              </a:lnSpc>
              <a:spcAft>
                <a:spcPts val="1080"/>
              </a:spcAft>
              <a:defRPr sz="5400" b="1">
                <a:solidFill>
                  <a:srgbClr val="FFFFFF"/>
                </a:solidFill>
                <a:latin typeface="NVIDIA Sans"/>
              </a:defRPr>
            </a:pPr>
            <a:r>
              <a:t>Warp 0</a:t>
            </a:r>
          </a:p>
        </p:txBody>
      </p:sp>
      <p:sp>
        <p:nvSpPr>
          <p:cNvPr id="11" name="Rectangle 10"/>
          <p:cNvSpPr/>
          <p:nvPr/>
        </p:nvSpPr>
        <p:spPr>
          <a:xfrm>
            <a:off x="8284464" y="11109959"/>
            <a:ext cx="4389120" cy="20574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4464" y="11713463"/>
            <a:ext cx="4389120" cy="960119"/>
          </a:xfrm>
          <a:prstGeom prst="rect">
            <a:avLst/>
          </a:prstGeom>
          <a:noFill/>
        </p:spPr>
        <p:txBody>
          <a:bodyPr wrap="square" lIns="0" rIns="0" tIns="0" bIns="0">
            <a:noAutofit/>
          </a:bodyPr>
          <a:lstStyle/>
          <a:p>
            <a:pPr algn="ctr">
              <a:lnSpc>
                <a:spcPct val="108000"/>
              </a:lnSpc>
              <a:spcAft>
                <a:spcPts val="1080"/>
              </a:spcAft>
              <a:defRPr sz="5400" b="1">
                <a:solidFill>
                  <a:srgbClr val="FFFFFF"/>
                </a:solidFill>
                <a:latin typeface="NVIDIA Sans"/>
              </a:defRPr>
            </a:pPr>
            <a:r>
              <a:t>Warp 1</a:t>
            </a:r>
          </a:p>
        </p:txBody>
      </p:sp>
      <p:sp>
        <p:nvSpPr>
          <p:cNvPr id="13" name="Rectangle 12"/>
          <p:cNvSpPr/>
          <p:nvPr/>
        </p:nvSpPr>
        <p:spPr>
          <a:xfrm>
            <a:off x="13277088" y="11109959"/>
            <a:ext cx="4389120" cy="2057400"/>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77088" y="11713463"/>
            <a:ext cx="4389120" cy="960119"/>
          </a:xfrm>
          <a:prstGeom prst="rect">
            <a:avLst/>
          </a:prstGeom>
          <a:noFill/>
        </p:spPr>
        <p:txBody>
          <a:bodyPr wrap="square" lIns="0" rIns="0" tIns="0" bIns="0">
            <a:noAutofit/>
          </a:bodyPr>
          <a:lstStyle/>
          <a:p>
            <a:pPr algn="ctr">
              <a:lnSpc>
                <a:spcPct val="108000"/>
              </a:lnSpc>
              <a:spcAft>
                <a:spcPts val="1080"/>
              </a:spcAft>
              <a:defRPr sz="5400" b="1">
                <a:solidFill>
                  <a:srgbClr val="FFFFFF"/>
                </a:solidFill>
                <a:latin typeface="NVIDIA Sans"/>
              </a:defRPr>
            </a:pPr>
            <a:r>
              <a:t>Warp 2</a:t>
            </a:r>
          </a:p>
        </p:txBody>
      </p:sp>
      <p:sp>
        <p:nvSpPr>
          <p:cNvPr id="15" name="Rectangle 14"/>
          <p:cNvSpPr/>
          <p:nvPr/>
        </p:nvSpPr>
        <p:spPr>
          <a:xfrm>
            <a:off x="18269712" y="11109959"/>
            <a:ext cx="4389120" cy="2057400"/>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269712" y="11713463"/>
            <a:ext cx="4389120" cy="960119"/>
          </a:xfrm>
          <a:prstGeom prst="rect">
            <a:avLst/>
          </a:prstGeom>
          <a:noFill/>
        </p:spPr>
        <p:txBody>
          <a:bodyPr wrap="square" lIns="0" rIns="0" tIns="0" bIns="0">
            <a:noAutofit/>
          </a:bodyPr>
          <a:lstStyle/>
          <a:p>
            <a:pPr algn="ctr">
              <a:lnSpc>
                <a:spcPct val="108000"/>
              </a:lnSpc>
              <a:spcAft>
                <a:spcPts val="1080"/>
              </a:spcAft>
              <a:defRPr sz="5400" b="1">
                <a:solidFill>
                  <a:srgbClr val="FFFFFF"/>
                </a:solidFill>
                <a:latin typeface="NVIDIA Sans"/>
              </a:defRPr>
            </a:pPr>
            <a:r>
              <a:t>Warp 3</a:t>
            </a:r>
          </a:p>
        </p:txBody>
      </p:sp>
      <p:sp>
        <p:nvSpPr>
          <p:cNvPr id="17" name="Rectangle 16"/>
          <p:cNvSpPr/>
          <p:nvPr/>
        </p:nvSpPr>
        <p:spPr>
          <a:xfrm>
            <a:off x="23262336" y="11109959"/>
            <a:ext cx="4389120" cy="2057400"/>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262336" y="11713463"/>
            <a:ext cx="4389120" cy="960119"/>
          </a:xfrm>
          <a:prstGeom prst="rect">
            <a:avLst/>
          </a:prstGeom>
          <a:noFill/>
        </p:spPr>
        <p:txBody>
          <a:bodyPr wrap="square" lIns="0" rIns="0" tIns="0" bIns="0">
            <a:noAutofit/>
          </a:bodyPr>
          <a:lstStyle/>
          <a:p>
            <a:pPr algn="ctr">
              <a:lnSpc>
                <a:spcPct val="108000"/>
              </a:lnSpc>
              <a:spcAft>
                <a:spcPts val="1080"/>
              </a:spcAft>
              <a:defRPr sz="5400" b="1">
                <a:solidFill>
                  <a:srgbClr val="FFFFFF"/>
                </a:solidFill>
                <a:latin typeface="NVIDIA Sans"/>
              </a:defRPr>
            </a:pPr>
            <a:r>
              <a:t>Warp 4</a:t>
            </a:r>
          </a:p>
        </p:txBody>
      </p:sp>
      <p:sp>
        <p:nvSpPr>
          <p:cNvPr id="19" name="Rectangle 18"/>
          <p:cNvSpPr/>
          <p:nvPr/>
        </p:nvSpPr>
        <p:spPr>
          <a:xfrm>
            <a:off x="28254960" y="11109959"/>
            <a:ext cx="4389120" cy="2057400"/>
          </a:xfrm>
          <a:prstGeom prst="rect">
            <a:avLst/>
          </a:prstGeom>
          <a:solidFill>
            <a:srgbClr val="007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254960" y="11713463"/>
            <a:ext cx="4389120" cy="960119"/>
          </a:xfrm>
          <a:prstGeom prst="rect">
            <a:avLst/>
          </a:prstGeom>
          <a:noFill/>
        </p:spPr>
        <p:txBody>
          <a:bodyPr wrap="square" lIns="0" rIns="0" tIns="0" bIns="0">
            <a:noAutofit/>
          </a:bodyPr>
          <a:lstStyle/>
          <a:p>
            <a:pPr algn="ctr">
              <a:lnSpc>
                <a:spcPct val="108000"/>
              </a:lnSpc>
              <a:spcAft>
                <a:spcPts val="1080"/>
              </a:spcAft>
              <a:defRPr sz="5400" b="1">
                <a:solidFill>
                  <a:srgbClr val="FFFFFF"/>
                </a:solidFill>
                <a:latin typeface="NVIDIA Sans"/>
              </a:defRPr>
            </a:pPr>
            <a:r>
              <a:t>Warp 5</a:t>
            </a:r>
          </a:p>
        </p:txBody>
      </p:sp>
      <p:sp>
        <p:nvSpPr>
          <p:cNvPr id="21" name="TextBox 20"/>
          <p:cNvSpPr txBox="1"/>
          <p:nvPr/>
        </p:nvSpPr>
        <p:spPr>
          <a:xfrm>
            <a:off x="3291839" y="14319504"/>
            <a:ext cx="9381744" cy="1645919"/>
          </a:xfrm>
          <a:prstGeom prst="rect">
            <a:avLst/>
          </a:prstGeom>
          <a:noFill/>
        </p:spPr>
        <p:txBody>
          <a:bodyPr wrap="square" lIns="0" rIns="0" tIns="0" bIns="0">
            <a:noAutofit/>
          </a:bodyPr>
          <a:lstStyle/>
          <a:p>
            <a:pPr algn="ctr">
              <a:lnSpc>
                <a:spcPct val="108000"/>
              </a:lnSpc>
              <a:spcAft>
                <a:spcPts val="1380"/>
              </a:spcAft>
              <a:defRPr sz="6900" b="1">
                <a:solidFill>
                  <a:srgbClr val="76B900"/>
                </a:solidFill>
                <a:latin typeface="NVIDIA Sans"/>
              </a:defRPr>
            </a:pPr>
            <a:r>
              <a:t>A: 2 warps</a:t>
            </a:r>
          </a:p>
        </p:txBody>
      </p:sp>
      <p:sp>
        <p:nvSpPr>
          <p:cNvPr id="22" name="TextBox 21"/>
          <p:cNvSpPr txBox="1"/>
          <p:nvPr/>
        </p:nvSpPr>
        <p:spPr>
          <a:xfrm>
            <a:off x="13277088" y="14319504"/>
            <a:ext cx="14374368" cy="1645919"/>
          </a:xfrm>
          <a:prstGeom prst="rect">
            <a:avLst/>
          </a:prstGeom>
          <a:noFill/>
        </p:spPr>
        <p:txBody>
          <a:bodyPr wrap="square" lIns="0" rIns="0" tIns="0" bIns="0">
            <a:noAutofit/>
          </a:bodyPr>
          <a:lstStyle/>
          <a:p>
            <a:pPr algn="ctr">
              <a:lnSpc>
                <a:spcPct val="108000"/>
              </a:lnSpc>
              <a:spcAft>
                <a:spcPts val="1380"/>
              </a:spcAft>
              <a:defRPr sz="6900" b="1">
                <a:solidFill>
                  <a:srgbClr val="1DBBA4"/>
                </a:solidFill>
                <a:latin typeface="NVIDIA Sans"/>
              </a:defRPr>
            </a:pPr>
            <a:r>
              <a:t>B: 3 warps</a:t>
            </a:r>
          </a:p>
        </p:txBody>
      </p:sp>
      <p:sp>
        <p:nvSpPr>
          <p:cNvPr id="23" name="TextBox 22"/>
          <p:cNvSpPr txBox="1"/>
          <p:nvPr/>
        </p:nvSpPr>
        <p:spPr>
          <a:xfrm>
            <a:off x="28254960" y="14319504"/>
            <a:ext cx="4389120" cy="1645919"/>
          </a:xfrm>
          <a:prstGeom prst="rect">
            <a:avLst/>
          </a:prstGeom>
          <a:noFill/>
        </p:spPr>
        <p:txBody>
          <a:bodyPr wrap="square" lIns="0" rIns="0" tIns="0" bIns="0">
            <a:noAutofit/>
          </a:bodyPr>
          <a:lstStyle/>
          <a:p>
            <a:pPr algn="ctr">
              <a:lnSpc>
                <a:spcPct val="108000"/>
              </a:lnSpc>
              <a:spcAft>
                <a:spcPts val="1080"/>
              </a:spcAft>
              <a:defRPr sz="5400" b="1">
                <a:solidFill>
                  <a:srgbClr val="0074DF"/>
                </a:solidFill>
                <a:latin typeface="NVIDIA Sans"/>
              </a:defRPr>
            </a:pPr>
            <a:r>
              <a:t>C: 1 warp</a:t>
            </a:r>
          </a:p>
        </p:txBody>
      </p:sp>
      <p:sp>
        <p:nvSpPr>
          <p:cNvPr id="24" name="Rectangle 23"/>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The documented example launches 192 threads: six full warps.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take selects a prefix of each group</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Keep the first N units and preserve the group count.</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22</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Mappings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docs/cudax/coop/group/mapping/take.rst</a:t>
            </a:r>
          </a:p>
        </p:txBody>
      </p:sp>
      <p:sp>
        <p:nvSpPr>
          <p:cNvPr id="7" name="Rectangle 6"/>
          <p:cNvSpPr/>
          <p:nvPr/>
        </p:nvSpPr>
        <p:spPr>
          <a:xfrm>
            <a:off x="1783080" y="5897879"/>
            <a:ext cx="32918400" cy="3291839"/>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31656527" cy="2414015"/>
          </a:xfrm>
          <a:prstGeom prst="rect">
            <a:avLst/>
          </a:prstGeom>
          <a:noFill/>
        </p:spPr>
        <p:txBody>
          <a:bodyPr wrap="none" lIns="0" rIns="0" tIns="0" bIns="0">
            <a:noAutofit/>
          </a:bodyPr>
          <a:lstStyle/>
          <a:p>
            <a:pPr>
              <a:lnSpc>
                <a:spcPct val="112000"/>
              </a:lnSpc>
              <a:spcAft>
                <a:spcPts val="0"/>
              </a:spcAft>
            </a:pPr>
            <a:r>
              <a:rPr sz="5700">
                <a:solidFill>
                  <a:srgbClr val="000000"/>
                </a:solidFill>
                <a:latin typeface="DejaVu Sans Mono"/>
              </a:rPr>
              <a:t>coop</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take</a:t>
            </a:r>
            <a:r>
              <a:rPr sz="5700">
                <a:solidFill>
                  <a:srgbClr val="000000"/>
                </a:solidFill>
                <a:latin typeface="DejaVu Sans Mono"/>
              </a:rPr>
              <a:t> </a:t>
            </a:r>
            <a:r>
              <a:rPr sz="5700">
                <a:solidFill>
                  <a:srgbClr val="000000"/>
                </a:solidFill>
                <a:latin typeface="DejaVu Sans Mono"/>
              </a:rPr>
              <a:t>first_three</a:t>
            </a:r>
            <a:r>
              <a:rPr sz="5700">
                <a:solidFill>
                  <a:srgbClr val="000000"/>
                </a:solidFill>
                <a:latin typeface="DejaVu Sans Mono"/>
              </a:rPr>
              <a:t>{</a:t>
            </a:r>
            <a:r>
              <a:rPr sz="5700">
                <a:solidFill>
                  <a:srgbClr val="000000"/>
                </a:solidFill>
                <a:latin typeface="DejaVu Sans Mono"/>
              </a:rPr>
              <a:t>3</a:t>
            </a:r>
            <a:r>
              <a:rPr sz="5700">
                <a:solidFill>
                  <a:srgbClr val="000000"/>
                </a:solidFill>
                <a:latin typeface="DejaVu Sans Mono"/>
              </a:rPr>
              <a:t>}</a:t>
            </a:r>
            <a:r>
              <a:rPr sz="5700">
                <a:solidFill>
                  <a:srgbClr val="000000"/>
                </a:solidFill>
                <a:latin typeface="DejaVu Sans Mono"/>
              </a:rPr>
              <a:t>;</a:t>
            </a:r>
          </a:p>
          <a:p>
            <a:pPr>
              <a:lnSpc>
                <a:spcPct val="112000"/>
              </a:lnSpc>
              <a:spcAft>
                <a:spcPts val="0"/>
              </a:spcAft>
            </a:pPr>
            <a:r>
              <a:rPr sz="5700">
                <a:solidFill>
                  <a:srgbClr val="000000"/>
                </a:solidFill>
                <a:latin typeface="DejaVu Sans Mono"/>
              </a:rPr>
              <a:t>coop</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take</a:t>
            </a:r>
            <a:r>
              <a:rPr sz="5700">
                <a:solidFill>
                  <a:srgbClr val="000000"/>
                </a:solidFill>
                <a:latin typeface="DejaVu Sans Mono"/>
              </a:rPr>
              <a:t> </a:t>
            </a:r>
            <a:r>
              <a:rPr sz="5700">
                <a:solidFill>
                  <a:srgbClr val="000000"/>
                </a:solidFill>
                <a:latin typeface="DejaVu Sans Mono"/>
              </a:rPr>
              <a:t>static_three</a:t>
            </a:r>
            <a:r>
              <a:rPr sz="5700">
                <a:solidFill>
                  <a:srgbClr val="000000"/>
                </a:solidFill>
                <a:latin typeface="DejaVu Sans Mono"/>
              </a:rPr>
              <a:t>{</a:t>
            </a:r>
            <a:r>
              <a:rPr sz="5700">
                <a:solidFill>
                  <a:srgbClr val="000000"/>
                </a:solidFill>
                <a:latin typeface="DejaVu Sans Mono"/>
              </a:rPr>
              <a:t>cuda</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std</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cw</a:t>
            </a:r>
            <a:r>
              <a:rPr sz="5700">
                <a:solidFill>
                  <a:srgbClr val="000000"/>
                </a:solidFill>
                <a:latin typeface="DejaVu Sans Mono"/>
              </a:rPr>
              <a:t>&lt;</a:t>
            </a:r>
            <a:r>
              <a:rPr sz="5700">
                <a:solidFill>
                  <a:srgbClr val="000000"/>
                </a:solidFill>
                <a:latin typeface="DejaVu Sans Mono"/>
              </a:rPr>
              <a:t>3</a:t>
            </a:r>
            <a:r>
              <a:rPr sz="5700">
                <a:solidFill>
                  <a:srgbClr val="000000"/>
                </a:solidFill>
                <a:latin typeface="DejaVu Sans Mono"/>
              </a:rPr>
              <a:t>&gt;</a:t>
            </a:r>
            <a:r>
              <a:rPr sz="5700">
                <a:solidFill>
                  <a:srgbClr val="000000"/>
                </a:solidFill>
                <a:latin typeface="DejaVu Sans Mono"/>
              </a:rPr>
              <a:t>}</a:t>
            </a:r>
            <a:r>
              <a:rPr sz="5700">
                <a:solidFill>
                  <a:srgbClr val="000000"/>
                </a:solidFill>
                <a:latin typeface="DejaVu Sans Mono"/>
              </a:rPr>
              <a:t>;</a:t>
            </a:r>
          </a:p>
          <a:p>
            <a:pPr>
              <a:lnSpc>
                <a:spcPct val="112000"/>
              </a:lnSpc>
              <a:spcAft>
                <a:spcPts val="0"/>
              </a:spcAft>
            </a:pPr>
          </a:p>
        </p:txBody>
      </p:sp>
      <p:sp>
        <p:nvSpPr>
          <p:cNvPr id="9" name="Rectangle 8"/>
          <p:cNvSpPr/>
          <p:nvPr/>
        </p:nvSpPr>
        <p:spPr>
          <a:xfrm>
            <a:off x="8503920" y="109728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114802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0</a:t>
            </a:r>
          </a:p>
        </p:txBody>
      </p:sp>
      <p:sp>
        <p:nvSpPr>
          <p:cNvPr id="11" name="Rectangle 10"/>
          <p:cNvSpPr/>
          <p:nvPr/>
        </p:nvSpPr>
        <p:spPr>
          <a:xfrm>
            <a:off x="10424159" y="109728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59" y="114802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a:t>
            </a:r>
          </a:p>
        </p:txBody>
      </p:sp>
      <p:sp>
        <p:nvSpPr>
          <p:cNvPr id="13" name="Rectangle 12"/>
          <p:cNvSpPr/>
          <p:nvPr/>
        </p:nvSpPr>
        <p:spPr>
          <a:xfrm>
            <a:off x="12344400" y="109728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0" y="114802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2</a:t>
            </a:r>
          </a:p>
        </p:txBody>
      </p:sp>
      <p:sp>
        <p:nvSpPr>
          <p:cNvPr id="15" name="Rectangle 14"/>
          <p:cNvSpPr/>
          <p:nvPr/>
        </p:nvSpPr>
        <p:spPr>
          <a:xfrm>
            <a:off x="14264640" y="1097280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264640" y="114802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3</a:t>
            </a:r>
          </a:p>
        </p:txBody>
      </p:sp>
      <p:sp>
        <p:nvSpPr>
          <p:cNvPr id="17" name="Rectangle 16"/>
          <p:cNvSpPr/>
          <p:nvPr/>
        </p:nvSpPr>
        <p:spPr>
          <a:xfrm>
            <a:off x="16184880" y="1097280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184880" y="114802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4</a:t>
            </a:r>
          </a:p>
        </p:txBody>
      </p:sp>
      <p:sp>
        <p:nvSpPr>
          <p:cNvPr id="19" name="Rectangle 18"/>
          <p:cNvSpPr/>
          <p:nvPr/>
        </p:nvSpPr>
        <p:spPr>
          <a:xfrm>
            <a:off x="18105120" y="1097280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105120" y="114802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5</a:t>
            </a:r>
          </a:p>
        </p:txBody>
      </p:sp>
      <p:sp>
        <p:nvSpPr>
          <p:cNvPr id="21" name="Rectangle 20"/>
          <p:cNvSpPr/>
          <p:nvPr/>
        </p:nvSpPr>
        <p:spPr>
          <a:xfrm>
            <a:off x="20025360" y="1097280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025360" y="114802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6</a:t>
            </a:r>
          </a:p>
        </p:txBody>
      </p:sp>
      <p:sp>
        <p:nvSpPr>
          <p:cNvPr id="23" name="Rectangle 22"/>
          <p:cNvSpPr/>
          <p:nvPr/>
        </p:nvSpPr>
        <p:spPr>
          <a:xfrm>
            <a:off x="21945600" y="1097280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0" y="114802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7</a:t>
            </a:r>
          </a:p>
        </p:txBody>
      </p:sp>
      <p:sp>
        <p:nvSpPr>
          <p:cNvPr id="25" name="Rectangle 24"/>
          <p:cNvSpPr/>
          <p:nvPr/>
        </p:nvSpPr>
        <p:spPr>
          <a:xfrm>
            <a:off x="1865376" y="14319504"/>
            <a:ext cx="178308" cy="1783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68880" y="13990319"/>
            <a:ext cx="31491935" cy="1371600"/>
          </a:xfrm>
          <a:prstGeom prst="rect">
            <a:avLst/>
          </a:prstGeom>
          <a:noFill/>
        </p:spPr>
        <p:txBody>
          <a:bodyPr wrap="square" lIns="0" rIns="0" tIns="0" bIns="0">
            <a:noAutofit/>
          </a:bodyPr>
          <a:lstStyle/>
          <a:p>
            <a:pPr algn="l">
              <a:lnSpc>
                <a:spcPct val="108000"/>
              </a:lnSpc>
              <a:spcAft>
                <a:spcPts val="1200"/>
              </a:spcAft>
              <a:defRPr sz="6000" b="0">
                <a:solidFill>
                  <a:srgbClr val="000000"/>
                </a:solidFill>
                <a:latin typeface="NVIDIA Sans"/>
              </a:defRPr>
            </a:pPr>
            <a:r>
              <a:t>Contiguity is preserved when the input was contiguous.</a:t>
            </a:r>
          </a:p>
        </p:txBody>
      </p:sp>
      <p:sp>
        <p:nvSpPr>
          <p:cNvPr id="27" name="Rectangle 26"/>
          <p:cNvSpPr/>
          <p:nvPr/>
        </p:nvSpPr>
        <p:spPr>
          <a:xfrm>
            <a:off x="1865376" y="15965423"/>
            <a:ext cx="178308" cy="1783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468880" y="15636239"/>
            <a:ext cx="31491935" cy="1371600"/>
          </a:xfrm>
          <a:prstGeom prst="rect">
            <a:avLst/>
          </a:prstGeom>
          <a:noFill/>
        </p:spPr>
        <p:txBody>
          <a:bodyPr wrap="square" lIns="0" rIns="0" tIns="0" bIns="0">
            <a:noAutofit/>
          </a:bodyPr>
          <a:lstStyle/>
          <a:p>
            <a:pPr algn="l">
              <a:lnSpc>
                <a:spcPct val="108000"/>
              </a:lnSpc>
              <a:spcAft>
                <a:spcPts val="1200"/>
              </a:spcAft>
              <a:defRPr sz="6000" b="0">
                <a:solidFill>
                  <a:srgbClr val="000000"/>
                </a:solidFill>
                <a:latin typeface="NVIDIA Sans"/>
              </a:defRPr>
            </a:pPr>
            <a:r>
              <a:t>Participation is generally non-exhaustive.</a:t>
            </a:r>
          </a:p>
        </p:txBody>
      </p:sp>
      <p:sp>
        <p:nvSpPr>
          <p:cNvPr id="29" name="Rectangle 28"/>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Exhaustiveness is guaranteed only when the selected count statically equals the input count.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binary_partition splits on a predicate</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A warp-local mapping can form sparse groups.</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23</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Mappings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docs/cudax/coop/group/mapping/binary_partition.rst</a:t>
            </a:r>
          </a:p>
        </p:txBody>
      </p:sp>
      <p:sp>
        <p:nvSpPr>
          <p:cNvPr id="7" name="Rectangle 6"/>
          <p:cNvSpPr/>
          <p:nvPr/>
        </p:nvSpPr>
        <p:spPr>
          <a:xfrm>
            <a:off x="1783080" y="5897879"/>
            <a:ext cx="32918400" cy="554126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31656527" cy="4663440"/>
          </a:xfrm>
          <a:prstGeom prst="rect">
            <a:avLst/>
          </a:prstGeom>
          <a:noFill/>
        </p:spPr>
        <p:txBody>
          <a:bodyPr wrap="none" lIns="0" rIns="0" tIns="0" bIns="0">
            <a:noAutofit/>
          </a:bodyPr>
          <a:lstStyle/>
          <a:p>
            <a:pPr>
              <a:lnSpc>
                <a:spcPct val="112000"/>
              </a:lnSpc>
              <a:spcAft>
                <a:spcPts val="0"/>
              </a:spcAft>
            </a:pPr>
            <a:r>
              <a:rPr sz="5250">
                <a:solidFill>
                  <a:srgbClr val="0074DF"/>
                </a:solidFill>
                <a:latin typeface="DejaVu Sans Mono"/>
              </a:rPr>
              <a:t>auto</a:t>
            </a:r>
            <a:r>
              <a:rPr sz="5250">
                <a:solidFill>
                  <a:srgbClr val="000000"/>
                </a:solidFill>
                <a:latin typeface="DejaVu Sans Mono"/>
              </a:rPr>
              <a:t> </a:t>
            </a:r>
            <a:r>
              <a:rPr sz="5250">
                <a:solidFill>
                  <a:srgbClr val="000000"/>
                </a:solidFill>
                <a:latin typeface="DejaVu Sans Mono"/>
              </a:rPr>
              <a:t>mapping</a:t>
            </a:r>
            <a:r>
              <a:rPr sz="5250">
                <a:solidFill>
                  <a:srgbClr val="000000"/>
                </a:solidFill>
                <a:latin typeface="DejaVu Sans Mono"/>
              </a:rPr>
              <a:t> </a:t>
            </a:r>
            <a:r>
              <a:rPr sz="5250">
                <a:solidFill>
                  <a:srgbClr val="000000"/>
                </a:solidFill>
                <a:latin typeface="DejaVu Sans Mono"/>
              </a:rPr>
              <a:t>=</a:t>
            </a:r>
            <a:r>
              <a:rPr sz="5250">
                <a:solidFill>
                  <a:srgbClr val="000000"/>
                </a:solidFill>
                <a:latin typeface="DejaVu Sans Mono"/>
              </a:rPr>
              <a:t> </a:t>
            </a:r>
            <a:r>
              <a:rPr sz="5250">
                <a:solidFill>
                  <a:srgbClr val="000000"/>
                </a:solidFill>
                <a:latin typeface="DejaVu Sans Mono"/>
              </a:rPr>
              <a:t>coop</a:t>
            </a:r>
            <a:r>
              <a:rPr sz="5250">
                <a:solidFill>
                  <a:srgbClr val="000000"/>
                </a:solidFill>
                <a:latin typeface="DejaVu Sans Mono"/>
              </a:rPr>
              <a:t>:</a:t>
            </a:r>
            <a:r>
              <a:rPr sz="5250">
                <a:solidFill>
                  <a:srgbClr val="000000"/>
                </a:solidFill>
                <a:latin typeface="DejaVu Sans Mono"/>
              </a:rPr>
              <a:t>:</a:t>
            </a:r>
            <a:r>
              <a:rPr sz="5250">
                <a:solidFill>
                  <a:srgbClr val="000000"/>
                </a:solidFill>
                <a:latin typeface="DejaVu Sans Mono"/>
              </a:rPr>
              <a:t>binary_partition</a:t>
            </a:r>
            <a:r>
              <a:rPr sz="5250">
                <a:solidFill>
                  <a:srgbClr val="000000"/>
                </a:solidFill>
                <a:latin typeface="DejaVu Sans Mono"/>
              </a:rPr>
              <a:t>{</a:t>
            </a:r>
          </a:p>
          <a:p>
            <a:pPr>
              <a:lnSpc>
                <a:spcPct val="112000"/>
              </a:lnSpc>
              <a:spcAft>
                <a:spcPts val="0"/>
              </a:spcAft>
            </a:pPr>
            <a:r>
              <a:rPr sz="5250">
                <a:solidFill>
                  <a:srgbClr val="000000"/>
                </a:solidFill>
                <a:latin typeface="DejaVu Sans Mono"/>
              </a:rPr>
              <a:t>  </a:t>
            </a:r>
            <a:r>
              <a:rPr sz="5250">
                <a:solidFill>
                  <a:srgbClr val="000000"/>
                </a:solidFill>
                <a:latin typeface="DejaVu Sans Mono"/>
              </a:rPr>
              <a:t>[</a:t>
            </a:r>
            <a:r>
              <a:rPr sz="5250">
                <a:solidFill>
                  <a:srgbClr val="000000"/>
                </a:solidFill>
                <a:latin typeface="DejaVu Sans Mono"/>
              </a:rPr>
              <a:t>]</a:t>
            </a:r>
            <a:r>
              <a:rPr sz="5250">
                <a:solidFill>
                  <a:srgbClr val="000000"/>
                </a:solidFill>
                <a:latin typeface="DejaVu Sans Mono"/>
              </a:rPr>
              <a:t>(</a:t>
            </a:r>
            <a:r>
              <a:rPr sz="5250">
                <a:solidFill>
                  <a:srgbClr val="0074DF"/>
                </a:solidFill>
                <a:latin typeface="DejaVu Sans Mono"/>
              </a:rPr>
              <a:t>const</a:t>
            </a:r>
            <a:r>
              <a:rPr sz="5250">
                <a:solidFill>
                  <a:srgbClr val="000000"/>
                </a:solidFill>
                <a:latin typeface="DejaVu Sans Mono"/>
              </a:rPr>
              <a:t> </a:t>
            </a:r>
            <a:r>
              <a:rPr sz="5250">
                <a:solidFill>
                  <a:srgbClr val="0074DF"/>
                </a:solidFill>
                <a:latin typeface="DejaVu Sans Mono"/>
              </a:rPr>
              <a:t>auto</a:t>
            </a:r>
            <a:r>
              <a:rPr sz="5250">
                <a:solidFill>
                  <a:srgbClr val="000000"/>
                </a:solidFill>
                <a:latin typeface="DejaVu Sans Mono"/>
              </a:rPr>
              <a:t>&amp;</a:t>
            </a:r>
            <a:r>
              <a:rPr sz="5250">
                <a:solidFill>
                  <a:srgbClr val="000000"/>
                </a:solidFill>
                <a:latin typeface="DejaVu Sans Mono"/>
              </a:rPr>
              <a:t> </a:t>
            </a:r>
            <a:r>
              <a:rPr sz="5250">
                <a:solidFill>
                  <a:srgbClr val="000000"/>
                </a:solidFill>
                <a:latin typeface="DejaVu Sans Mono"/>
              </a:rPr>
              <a:t>previous</a:t>
            </a:r>
            <a:r>
              <a:rPr sz="5250">
                <a:solidFill>
                  <a:srgbClr val="000000"/>
                </a:solidFill>
                <a:latin typeface="DejaVu Sans Mono"/>
              </a:rPr>
              <a:t>)</a:t>
            </a:r>
            <a:r>
              <a:rPr sz="5250">
                <a:solidFill>
                  <a:srgbClr val="000000"/>
                </a:solidFill>
                <a:latin typeface="DejaVu Sans Mono"/>
              </a:rPr>
              <a:t> </a:t>
            </a:r>
            <a:r>
              <a:rPr sz="5250">
                <a:solidFill>
                  <a:srgbClr val="000000"/>
                </a:solidFill>
                <a:latin typeface="DejaVu Sans Mono"/>
              </a:rPr>
              <a:t>{</a:t>
            </a:r>
          </a:p>
          <a:p>
            <a:pPr>
              <a:lnSpc>
                <a:spcPct val="112000"/>
              </a:lnSpc>
              <a:spcAft>
                <a:spcPts val="0"/>
              </a:spcAft>
            </a:pPr>
            <a:r>
              <a:rPr sz="5250">
                <a:solidFill>
                  <a:srgbClr val="000000"/>
                </a:solidFill>
                <a:latin typeface="DejaVu Sans Mono"/>
              </a:rPr>
              <a:t>    </a:t>
            </a:r>
            <a:r>
              <a:rPr sz="5250">
                <a:solidFill>
                  <a:srgbClr val="0074DF"/>
                </a:solidFill>
                <a:latin typeface="DejaVu Sans Mono"/>
              </a:rPr>
              <a:t>return</a:t>
            </a:r>
            <a:r>
              <a:rPr sz="5250">
                <a:solidFill>
                  <a:srgbClr val="000000"/>
                </a:solidFill>
                <a:latin typeface="DejaVu Sans Mono"/>
              </a:rPr>
              <a:t> </a:t>
            </a:r>
            <a:r>
              <a:rPr sz="5250">
                <a:solidFill>
                  <a:srgbClr val="000000"/>
                </a:solidFill>
                <a:latin typeface="DejaVu Sans Mono"/>
              </a:rPr>
              <a:t>previous</a:t>
            </a:r>
            <a:r>
              <a:rPr sz="5250">
                <a:solidFill>
                  <a:srgbClr val="000000"/>
                </a:solidFill>
                <a:latin typeface="DejaVu Sans Mono"/>
              </a:rPr>
              <a:t>.</a:t>
            </a:r>
            <a:r>
              <a:rPr sz="5250">
                <a:solidFill>
                  <a:srgbClr val="000000"/>
                </a:solidFill>
                <a:latin typeface="DejaVu Sans Mono"/>
              </a:rPr>
              <a:t>unit_rank</a:t>
            </a:r>
            <a:r>
              <a:rPr sz="5250">
                <a:solidFill>
                  <a:srgbClr val="000000"/>
                </a:solidFill>
                <a:latin typeface="DejaVu Sans Mono"/>
              </a:rPr>
              <a:t>(</a:t>
            </a:r>
            <a:r>
              <a:rPr sz="5250">
                <a:solidFill>
                  <a:srgbClr val="000000"/>
                </a:solidFill>
                <a:latin typeface="DejaVu Sans Mono"/>
              </a:rPr>
              <a:t>)</a:t>
            </a:r>
            <a:r>
              <a:rPr sz="5250">
                <a:solidFill>
                  <a:srgbClr val="000000"/>
                </a:solidFill>
                <a:latin typeface="DejaVu Sans Mono"/>
              </a:rPr>
              <a:t> </a:t>
            </a:r>
            <a:r>
              <a:rPr sz="5250">
                <a:solidFill>
                  <a:srgbClr val="000000"/>
                </a:solidFill>
                <a:latin typeface="DejaVu Sans Mono"/>
              </a:rPr>
              <a:t>%</a:t>
            </a:r>
            <a:r>
              <a:rPr sz="5250">
                <a:solidFill>
                  <a:srgbClr val="000000"/>
                </a:solidFill>
                <a:latin typeface="DejaVu Sans Mono"/>
              </a:rPr>
              <a:t> </a:t>
            </a:r>
            <a:r>
              <a:rPr sz="5250">
                <a:solidFill>
                  <a:srgbClr val="000000"/>
                </a:solidFill>
                <a:latin typeface="DejaVu Sans Mono"/>
              </a:rPr>
              <a:t>2</a:t>
            </a:r>
            <a:r>
              <a:rPr sz="5250">
                <a:solidFill>
                  <a:srgbClr val="000000"/>
                </a:solidFill>
                <a:latin typeface="DejaVu Sans Mono"/>
              </a:rPr>
              <a:t> </a:t>
            </a:r>
            <a:r>
              <a:rPr sz="5250">
                <a:solidFill>
                  <a:srgbClr val="000000"/>
                </a:solidFill>
                <a:latin typeface="DejaVu Sans Mono"/>
              </a:rPr>
              <a:t>=</a:t>
            </a:r>
            <a:r>
              <a:rPr sz="5250">
                <a:solidFill>
                  <a:srgbClr val="000000"/>
                </a:solidFill>
                <a:latin typeface="DejaVu Sans Mono"/>
              </a:rPr>
              <a:t>=</a:t>
            </a:r>
            <a:r>
              <a:rPr sz="5250">
                <a:solidFill>
                  <a:srgbClr val="000000"/>
                </a:solidFill>
                <a:latin typeface="DejaVu Sans Mono"/>
              </a:rPr>
              <a:t> </a:t>
            </a:r>
            <a:r>
              <a:rPr sz="5250">
                <a:solidFill>
                  <a:srgbClr val="000000"/>
                </a:solidFill>
                <a:latin typeface="DejaVu Sans Mono"/>
              </a:rPr>
              <a:t>1</a:t>
            </a:r>
            <a:r>
              <a:rPr sz="5250">
                <a:solidFill>
                  <a:srgbClr val="000000"/>
                </a:solidFill>
                <a:latin typeface="DejaVu Sans Mono"/>
              </a:rPr>
              <a:t>;</a:t>
            </a:r>
          </a:p>
          <a:p>
            <a:pPr>
              <a:lnSpc>
                <a:spcPct val="112000"/>
              </a:lnSpc>
              <a:spcAft>
                <a:spcPts val="0"/>
              </a:spcAft>
            </a:pPr>
            <a:r>
              <a:rPr sz="5250">
                <a:solidFill>
                  <a:srgbClr val="000000"/>
                </a:solidFill>
                <a:latin typeface="DejaVu Sans Mono"/>
              </a:rPr>
              <a:t>  </a:t>
            </a:r>
            <a:r>
              <a:rPr sz="5250">
                <a:solidFill>
                  <a:srgbClr val="000000"/>
                </a:solidFill>
                <a:latin typeface="DejaVu Sans Mono"/>
              </a:rPr>
              <a:t>}</a:t>
            </a:r>
          </a:p>
          <a:p>
            <a:pPr>
              <a:lnSpc>
                <a:spcPct val="112000"/>
              </a:lnSpc>
              <a:spcAft>
                <a:spcPts val="0"/>
              </a:spcAft>
            </a:pPr>
            <a:r>
              <a:rPr sz="5250">
                <a:solidFill>
                  <a:srgbClr val="000000"/>
                </a:solidFill>
                <a:latin typeface="DejaVu Sans Mono"/>
              </a:rPr>
              <a:t>}</a:t>
            </a:r>
            <a:r>
              <a:rPr sz="5250">
                <a:solidFill>
                  <a:srgbClr val="000000"/>
                </a:solidFill>
                <a:latin typeface="DejaVu Sans Mono"/>
              </a:rPr>
              <a:t>;</a:t>
            </a:r>
          </a:p>
          <a:p>
            <a:pPr>
              <a:lnSpc>
                <a:spcPct val="112000"/>
              </a:lnSpc>
              <a:spcAft>
                <a:spcPts val="0"/>
              </a:spcAft>
            </a:pPr>
          </a:p>
        </p:txBody>
      </p:sp>
      <p:sp>
        <p:nvSpPr>
          <p:cNvPr id="9" name="Rectangle 8"/>
          <p:cNvSpPr/>
          <p:nvPr/>
        </p:nvSpPr>
        <p:spPr>
          <a:xfrm>
            <a:off x="5074920" y="130302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35376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0</a:t>
            </a:r>
          </a:p>
        </p:txBody>
      </p:sp>
      <p:sp>
        <p:nvSpPr>
          <p:cNvPr id="11" name="Rectangle 10"/>
          <p:cNvSpPr/>
          <p:nvPr/>
        </p:nvSpPr>
        <p:spPr>
          <a:xfrm>
            <a:off x="6995159" y="13030200"/>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59" y="135376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a:t>
            </a:r>
          </a:p>
        </p:txBody>
      </p:sp>
      <p:sp>
        <p:nvSpPr>
          <p:cNvPr id="13" name="Rectangle 12"/>
          <p:cNvSpPr/>
          <p:nvPr/>
        </p:nvSpPr>
        <p:spPr>
          <a:xfrm>
            <a:off x="8915400" y="130302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135376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2</a:t>
            </a:r>
          </a:p>
        </p:txBody>
      </p:sp>
      <p:sp>
        <p:nvSpPr>
          <p:cNvPr id="15" name="Rectangle 14"/>
          <p:cNvSpPr/>
          <p:nvPr/>
        </p:nvSpPr>
        <p:spPr>
          <a:xfrm>
            <a:off x="10835640" y="13030200"/>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835640" y="135376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3</a:t>
            </a:r>
          </a:p>
        </p:txBody>
      </p:sp>
      <p:sp>
        <p:nvSpPr>
          <p:cNvPr id="17" name="Rectangle 16"/>
          <p:cNvSpPr/>
          <p:nvPr/>
        </p:nvSpPr>
        <p:spPr>
          <a:xfrm>
            <a:off x="12755880" y="130302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755880" y="135376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4</a:t>
            </a:r>
          </a:p>
        </p:txBody>
      </p:sp>
      <p:sp>
        <p:nvSpPr>
          <p:cNvPr id="19" name="Rectangle 18"/>
          <p:cNvSpPr/>
          <p:nvPr/>
        </p:nvSpPr>
        <p:spPr>
          <a:xfrm>
            <a:off x="14676120" y="13030200"/>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676120" y="135376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5</a:t>
            </a:r>
          </a:p>
        </p:txBody>
      </p:sp>
      <p:sp>
        <p:nvSpPr>
          <p:cNvPr id="21" name="Rectangle 20"/>
          <p:cNvSpPr/>
          <p:nvPr/>
        </p:nvSpPr>
        <p:spPr>
          <a:xfrm>
            <a:off x="16596360" y="130302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596360" y="135376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6</a:t>
            </a:r>
          </a:p>
        </p:txBody>
      </p:sp>
      <p:sp>
        <p:nvSpPr>
          <p:cNvPr id="23" name="Rectangle 22"/>
          <p:cNvSpPr/>
          <p:nvPr/>
        </p:nvSpPr>
        <p:spPr>
          <a:xfrm>
            <a:off x="18516600" y="13030200"/>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516600" y="135376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7</a:t>
            </a:r>
          </a:p>
        </p:txBody>
      </p:sp>
      <p:sp>
        <p:nvSpPr>
          <p:cNvPr id="25" name="Rectangle 24"/>
          <p:cNvSpPr/>
          <p:nvPr/>
        </p:nvSpPr>
        <p:spPr>
          <a:xfrm>
            <a:off x="20436840" y="130302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436840" y="135376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8</a:t>
            </a:r>
          </a:p>
        </p:txBody>
      </p:sp>
      <p:sp>
        <p:nvSpPr>
          <p:cNvPr id="27" name="Rectangle 26"/>
          <p:cNvSpPr/>
          <p:nvPr/>
        </p:nvSpPr>
        <p:spPr>
          <a:xfrm>
            <a:off x="22357080" y="13030200"/>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357080" y="135376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9</a:t>
            </a:r>
          </a:p>
        </p:txBody>
      </p:sp>
      <p:sp>
        <p:nvSpPr>
          <p:cNvPr id="29" name="Rectangle 28"/>
          <p:cNvSpPr/>
          <p:nvPr/>
        </p:nvSpPr>
        <p:spPr>
          <a:xfrm>
            <a:off x="24277319" y="1303020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277319" y="135376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10</a:t>
            </a:r>
          </a:p>
        </p:txBody>
      </p:sp>
      <p:sp>
        <p:nvSpPr>
          <p:cNvPr id="31" name="Rectangle 30"/>
          <p:cNvSpPr/>
          <p:nvPr/>
        </p:nvSpPr>
        <p:spPr>
          <a:xfrm>
            <a:off x="26197560" y="13030200"/>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6197560" y="1353769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11</a:t>
            </a:r>
          </a:p>
        </p:txBody>
      </p:sp>
      <p:sp>
        <p:nvSpPr>
          <p:cNvPr id="33" name="Rectangle 32"/>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Currently limited to threads within a warp; exhaustive, with no contiguity guarantee.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Compose mappings with the pipe operator</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Transform the previous result from left to right.</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24</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Mappings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docs/cudax/coop/group/mapping/composite_mapping.rst</a:t>
            </a:r>
          </a:p>
        </p:txBody>
      </p:sp>
      <p:sp>
        <p:nvSpPr>
          <p:cNvPr id="7" name="Rectangle 6"/>
          <p:cNvSpPr/>
          <p:nvPr/>
        </p:nvSpPr>
        <p:spPr>
          <a:xfrm>
            <a:off x="1783080" y="5897879"/>
            <a:ext cx="32918400" cy="24688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31656527" cy="1591056"/>
          </a:xfrm>
          <a:prstGeom prst="rect">
            <a:avLst/>
          </a:prstGeom>
          <a:noFill/>
        </p:spPr>
        <p:txBody>
          <a:bodyPr wrap="none" lIns="0" rIns="0" tIns="0" bIns="0">
            <a:noAutofit/>
          </a:bodyPr>
          <a:lstStyle/>
          <a:p>
            <a:pPr>
              <a:lnSpc>
                <a:spcPct val="112000"/>
              </a:lnSpc>
              <a:spcAft>
                <a:spcPts val="0"/>
              </a:spcAft>
            </a:pPr>
            <a:r>
              <a:rPr sz="6000">
                <a:solidFill>
                  <a:srgbClr val="0074DF"/>
                </a:solidFill>
                <a:latin typeface="DejaVu Sans Mono"/>
              </a:rPr>
              <a:t>auto</a:t>
            </a:r>
            <a:r>
              <a:rPr sz="6000">
                <a:solidFill>
                  <a:srgbClr val="000000"/>
                </a:solidFill>
                <a:latin typeface="DejaVu Sans Mono"/>
              </a:rPr>
              <a:t> </a:t>
            </a:r>
            <a:r>
              <a:rPr sz="6000">
                <a:solidFill>
                  <a:srgbClr val="000000"/>
                </a:solidFill>
                <a:latin typeface="DejaVu Sans Mono"/>
              </a:rPr>
              <a:t>mapping</a:t>
            </a:r>
            <a:r>
              <a:rPr sz="6000">
                <a:solidFill>
                  <a:srgbClr val="000000"/>
                </a:solidFill>
                <a:latin typeface="DejaVu Sans Mono"/>
              </a:rPr>
              <a:t> </a:t>
            </a:r>
            <a:r>
              <a:rPr sz="6000">
                <a:solidFill>
                  <a:srgbClr val="000000"/>
                </a:solidFill>
                <a:latin typeface="DejaVu Sans Mono"/>
              </a:rPr>
              <a:t>=</a:t>
            </a:r>
            <a:r>
              <a:rPr sz="6000">
                <a:solidFill>
                  <a:srgbClr val="000000"/>
                </a:solidFill>
                <a:latin typeface="DejaVu Sans Mono"/>
              </a:rPr>
              <a:t> </a:t>
            </a:r>
            <a:r>
              <a:rPr sz="6000">
                <a:solidFill>
                  <a:srgbClr val="000000"/>
                </a:solidFill>
                <a:latin typeface="DejaVu Sans Mono"/>
              </a:rPr>
              <a:t>coop</a:t>
            </a:r>
            <a:r>
              <a:rPr sz="6000">
                <a:solidFill>
                  <a:srgbClr val="000000"/>
                </a:solidFill>
                <a:latin typeface="DejaVu Sans Mono"/>
              </a:rPr>
              <a:t>:</a:t>
            </a:r>
            <a:r>
              <a:rPr sz="6000">
                <a:solidFill>
                  <a:srgbClr val="000000"/>
                </a:solidFill>
                <a:latin typeface="DejaVu Sans Mono"/>
              </a:rPr>
              <a:t>:</a:t>
            </a:r>
            <a:r>
              <a:rPr sz="6000">
                <a:solidFill>
                  <a:srgbClr val="000000"/>
                </a:solidFill>
                <a:latin typeface="DejaVu Sans Mono"/>
              </a:rPr>
              <a:t>group_by</a:t>
            </a:r>
            <a:r>
              <a:rPr sz="6000">
                <a:solidFill>
                  <a:srgbClr val="000000"/>
                </a:solidFill>
                <a:latin typeface="DejaVu Sans Mono"/>
              </a:rPr>
              <a:t>{</a:t>
            </a:r>
            <a:r>
              <a:rPr sz="6000">
                <a:solidFill>
                  <a:srgbClr val="000000"/>
                </a:solidFill>
                <a:latin typeface="DejaVu Sans Mono"/>
              </a:rPr>
              <a:t>4</a:t>
            </a:r>
            <a:r>
              <a:rPr sz="6000">
                <a:solidFill>
                  <a:srgbClr val="000000"/>
                </a:solidFill>
                <a:latin typeface="DejaVu Sans Mono"/>
              </a:rPr>
              <a:t>}</a:t>
            </a:r>
            <a:r>
              <a:rPr sz="6000">
                <a:solidFill>
                  <a:srgbClr val="000000"/>
                </a:solidFill>
                <a:latin typeface="DejaVu Sans Mono"/>
              </a:rPr>
              <a:t> </a:t>
            </a:r>
            <a:r>
              <a:rPr sz="6000">
                <a:solidFill>
                  <a:srgbClr val="000000"/>
                </a:solidFill>
                <a:latin typeface="DejaVu Sans Mono"/>
              </a:rPr>
              <a:t>|</a:t>
            </a:r>
            <a:r>
              <a:rPr sz="6000">
                <a:solidFill>
                  <a:srgbClr val="000000"/>
                </a:solidFill>
                <a:latin typeface="DejaVu Sans Mono"/>
              </a:rPr>
              <a:t> </a:t>
            </a:r>
            <a:r>
              <a:rPr sz="6000">
                <a:solidFill>
                  <a:srgbClr val="000000"/>
                </a:solidFill>
                <a:latin typeface="DejaVu Sans Mono"/>
              </a:rPr>
              <a:t>coop</a:t>
            </a:r>
            <a:r>
              <a:rPr sz="6000">
                <a:solidFill>
                  <a:srgbClr val="000000"/>
                </a:solidFill>
                <a:latin typeface="DejaVu Sans Mono"/>
              </a:rPr>
              <a:t>:</a:t>
            </a:r>
            <a:r>
              <a:rPr sz="6000">
                <a:solidFill>
                  <a:srgbClr val="000000"/>
                </a:solidFill>
                <a:latin typeface="DejaVu Sans Mono"/>
              </a:rPr>
              <a:t>:</a:t>
            </a:r>
            <a:r>
              <a:rPr sz="6000">
                <a:solidFill>
                  <a:srgbClr val="000000"/>
                </a:solidFill>
                <a:latin typeface="DejaVu Sans Mono"/>
              </a:rPr>
              <a:t>take</a:t>
            </a:r>
            <a:r>
              <a:rPr sz="6000">
                <a:solidFill>
                  <a:srgbClr val="000000"/>
                </a:solidFill>
                <a:latin typeface="DejaVu Sans Mono"/>
              </a:rPr>
              <a:t>{</a:t>
            </a:r>
            <a:r>
              <a:rPr sz="6000">
                <a:solidFill>
                  <a:srgbClr val="000000"/>
                </a:solidFill>
                <a:latin typeface="DejaVu Sans Mono"/>
              </a:rPr>
              <a:t>3</a:t>
            </a:r>
            <a:r>
              <a:rPr sz="6000">
                <a:solidFill>
                  <a:srgbClr val="000000"/>
                </a:solidFill>
                <a:latin typeface="DejaVu Sans Mono"/>
              </a:rPr>
              <a:t>}</a:t>
            </a:r>
            <a:r>
              <a:rPr sz="6000">
                <a:solidFill>
                  <a:srgbClr val="000000"/>
                </a:solidFill>
                <a:latin typeface="DejaVu Sans Mono"/>
              </a:rPr>
              <a:t>;</a:t>
            </a:r>
          </a:p>
          <a:p>
            <a:pPr>
              <a:lnSpc>
                <a:spcPct val="112000"/>
              </a:lnSpc>
              <a:spcAft>
                <a:spcPts val="0"/>
              </a:spcAft>
            </a:pPr>
          </a:p>
        </p:txBody>
      </p:sp>
      <p:sp>
        <p:nvSpPr>
          <p:cNvPr id="9" name="TextBox 8"/>
          <p:cNvSpPr txBox="1"/>
          <p:nvPr/>
        </p:nvSpPr>
        <p:spPr>
          <a:xfrm>
            <a:off x="2194560" y="9326880"/>
            <a:ext cx="13716000" cy="768096"/>
          </a:xfrm>
          <a:prstGeom prst="rect">
            <a:avLst/>
          </a:prstGeom>
          <a:noFill/>
        </p:spPr>
        <p:txBody>
          <a:bodyPr wrap="square" lIns="0" rIns="0" tIns="0" bIns="0">
            <a:noAutofit/>
          </a:bodyPr>
          <a:lstStyle/>
          <a:p>
            <a:pPr algn="l">
              <a:lnSpc>
                <a:spcPct val="108000"/>
              </a:lnSpc>
              <a:spcAft>
                <a:spcPts val="630"/>
              </a:spcAft>
              <a:defRPr sz="3150" b="1">
                <a:solidFill>
                  <a:srgbClr val="76B900"/>
                </a:solidFill>
                <a:latin typeface="NVIDIA Sans"/>
              </a:defRPr>
            </a:pPr>
            <a:r>
              <a:t>FIRST: GROUP BY FOUR</a:t>
            </a:r>
          </a:p>
        </p:txBody>
      </p:sp>
      <p:sp>
        <p:nvSpPr>
          <p:cNvPr id="10" name="Rectangle 9"/>
          <p:cNvSpPr/>
          <p:nvPr/>
        </p:nvSpPr>
        <p:spPr>
          <a:xfrm>
            <a:off x="5074920" y="10780776"/>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74920" y="11288268"/>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0</a:t>
            </a:r>
          </a:p>
        </p:txBody>
      </p:sp>
      <p:sp>
        <p:nvSpPr>
          <p:cNvPr id="12" name="Rectangle 11"/>
          <p:cNvSpPr/>
          <p:nvPr/>
        </p:nvSpPr>
        <p:spPr>
          <a:xfrm>
            <a:off x="6995159" y="10780776"/>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59" y="11288268"/>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a:t>
            </a:r>
          </a:p>
        </p:txBody>
      </p:sp>
      <p:sp>
        <p:nvSpPr>
          <p:cNvPr id="14" name="Rectangle 13"/>
          <p:cNvSpPr/>
          <p:nvPr/>
        </p:nvSpPr>
        <p:spPr>
          <a:xfrm>
            <a:off x="8915400" y="10780776"/>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11288268"/>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2</a:t>
            </a:r>
          </a:p>
        </p:txBody>
      </p:sp>
      <p:sp>
        <p:nvSpPr>
          <p:cNvPr id="16" name="Rectangle 15"/>
          <p:cNvSpPr/>
          <p:nvPr/>
        </p:nvSpPr>
        <p:spPr>
          <a:xfrm>
            <a:off x="10835640" y="10780776"/>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835640" y="11288268"/>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3</a:t>
            </a:r>
          </a:p>
        </p:txBody>
      </p:sp>
      <p:sp>
        <p:nvSpPr>
          <p:cNvPr id="18" name="Rectangle 17"/>
          <p:cNvSpPr/>
          <p:nvPr/>
        </p:nvSpPr>
        <p:spPr>
          <a:xfrm>
            <a:off x="12755880" y="10780776"/>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755880" y="11288268"/>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4</a:t>
            </a:r>
          </a:p>
        </p:txBody>
      </p:sp>
      <p:sp>
        <p:nvSpPr>
          <p:cNvPr id="20" name="Rectangle 19"/>
          <p:cNvSpPr/>
          <p:nvPr/>
        </p:nvSpPr>
        <p:spPr>
          <a:xfrm>
            <a:off x="14676120" y="10780776"/>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76120" y="11288268"/>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5</a:t>
            </a:r>
          </a:p>
        </p:txBody>
      </p:sp>
      <p:sp>
        <p:nvSpPr>
          <p:cNvPr id="22" name="Rectangle 21"/>
          <p:cNvSpPr/>
          <p:nvPr/>
        </p:nvSpPr>
        <p:spPr>
          <a:xfrm>
            <a:off x="16596360" y="10780776"/>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596360" y="11288268"/>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6</a:t>
            </a:r>
          </a:p>
        </p:txBody>
      </p:sp>
      <p:sp>
        <p:nvSpPr>
          <p:cNvPr id="24" name="Rectangle 23"/>
          <p:cNvSpPr/>
          <p:nvPr/>
        </p:nvSpPr>
        <p:spPr>
          <a:xfrm>
            <a:off x="18516600" y="10780776"/>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516600" y="11288268"/>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7</a:t>
            </a:r>
          </a:p>
        </p:txBody>
      </p:sp>
      <p:sp>
        <p:nvSpPr>
          <p:cNvPr id="26" name="Rectangle 25"/>
          <p:cNvSpPr/>
          <p:nvPr/>
        </p:nvSpPr>
        <p:spPr>
          <a:xfrm>
            <a:off x="20436840" y="10780776"/>
            <a:ext cx="1728216" cy="1728216"/>
          </a:xfrm>
          <a:prstGeom prst="rect">
            <a:avLst/>
          </a:prstGeom>
          <a:solidFill>
            <a:srgbClr val="007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436840" y="11288268"/>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8</a:t>
            </a:r>
          </a:p>
        </p:txBody>
      </p:sp>
      <p:sp>
        <p:nvSpPr>
          <p:cNvPr id="28" name="Rectangle 27"/>
          <p:cNvSpPr/>
          <p:nvPr/>
        </p:nvSpPr>
        <p:spPr>
          <a:xfrm>
            <a:off x="22357080" y="10780776"/>
            <a:ext cx="1728216" cy="1728216"/>
          </a:xfrm>
          <a:prstGeom prst="rect">
            <a:avLst/>
          </a:prstGeom>
          <a:solidFill>
            <a:srgbClr val="007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357080" y="11288268"/>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9</a:t>
            </a:r>
          </a:p>
        </p:txBody>
      </p:sp>
      <p:sp>
        <p:nvSpPr>
          <p:cNvPr id="30" name="Rectangle 29"/>
          <p:cNvSpPr/>
          <p:nvPr/>
        </p:nvSpPr>
        <p:spPr>
          <a:xfrm>
            <a:off x="24277319" y="10780776"/>
            <a:ext cx="1728216" cy="1728216"/>
          </a:xfrm>
          <a:prstGeom prst="rect">
            <a:avLst/>
          </a:prstGeom>
          <a:solidFill>
            <a:srgbClr val="007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277319" y="11288268"/>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10</a:t>
            </a:r>
          </a:p>
        </p:txBody>
      </p:sp>
      <p:sp>
        <p:nvSpPr>
          <p:cNvPr id="32" name="Rectangle 31"/>
          <p:cNvSpPr/>
          <p:nvPr/>
        </p:nvSpPr>
        <p:spPr>
          <a:xfrm>
            <a:off x="26197560" y="10780776"/>
            <a:ext cx="1728216" cy="1728216"/>
          </a:xfrm>
          <a:prstGeom prst="rect">
            <a:avLst/>
          </a:prstGeom>
          <a:solidFill>
            <a:srgbClr val="007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197560" y="11288268"/>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11</a:t>
            </a:r>
          </a:p>
        </p:txBody>
      </p:sp>
      <p:sp>
        <p:nvSpPr>
          <p:cNvPr id="34" name="TextBox 33"/>
          <p:cNvSpPr txBox="1"/>
          <p:nvPr/>
        </p:nvSpPr>
        <p:spPr>
          <a:xfrm>
            <a:off x="2194560" y="13853159"/>
            <a:ext cx="27432000" cy="768096"/>
          </a:xfrm>
          <a:prstGeom prst="rect">
            <a:avLst/>
          </a:prstGeom>
          <a:noFill/>
        </p:spPr>
        <p:txBody>
          <a:bodyPr wrap="square" lIns="0" rIns="0" tIns="0" bIns="0">
            <a:noAutofit/>
          </a:bodyPr>
          <a:lstStyle/>
          <a:p>
            <a:pPr algn="l">
              <a:lnSpc>
                <a:spcPct val="108000"/>
              </a:lnSpc>
              <a:spcAft>
                <a:spcPts val="630"/>
              </a:spcAft>
              <a:defRPr sz="3150" b="1">
                <a:solidFill>
                  <a:srgbClr val="76B900"/>
                </a:solidFill>
                <a:latin typeface="NVIDIA Sans"/>
              </a:defRPr>
            </a:pPr>
            <a:r>
              <a:t>THEN: RETAIN THE FIRST THREE IN EACH GROUP</a:t>
            </a:r>
          </a:p>
        </p:txBody>
      </p:sp>
      <p:sp>
        <p:nvSpPr>
          <p:cNvPr id="35" name="Rectangle 34"/>
          <p:cNvSpPr/>
          <p:nvPr/>
        </p:nvSpPr>
        <p:spPr>
          <a:xfrm>
            <a:off x="5074920" y="1522475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74920" y="1573225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0</a:t>
            </a:r>
          </a:p>
        </p:txBody>
      </p:sp>
      <p:sp>
        <p:nvSpPr>
          <p:cNvPr id="37" name="Rectangle 36"/>
          <p:cNvSpPr/>
          <p:nvPr/>
        </p:nvSpPr>
        <p:spPr>
          <a:xfrm>
            <a:off x="6995159" y="1522475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95159" y="1573225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a:t>
            </a:r>
          </a:p>
        </p:txBody>
      </p:sp>
      <p:sp>
        <p:nvSpPr>
          <p:cNvPr id="39" name="Rectangle 38"/>
          <p:cNvSpPr/>
          <p:nvPr/>
        </p:nvSpPr>
        <p:spPr>
          <a:xfrm>
            <a:off x="8915400" y="15224759"/>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15400" y="1573225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2</a:t>
            </a:r>
          </a:p>
        </p:txBody>
      </p:sp>
      <p:sp>
        <p:nvSpPr>
          <p:cNvPr id="41" name="Rectangle 40"/>
          <p:cNvSpPr/>
          <p:nvPr/>
        </p:nvSpPr>
        <p:spPr>
          <a:xfrm>
            <a:off x="10835640" y="15224759"/>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835640" y="1573225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3</a:t>
            </a:r>
          </a:p>
        </p:txBody>
      </p:sp>
      <p:sp>
        <p:nvSpPr>
          <p:cNvPr id="43" name="Rectangle 42"/>
          <p:cNvSpPr/>
          <p:nvPr/>
        </p:nvSpPr>
        <p:spPr>
          <a:xfrm>
            <a:off x="12755880" y="15224759"/>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2755880" y="1573225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4</a:t>
            </a:r>
          </a:p>
        </p:txBody>
      </p:sp>
      <p:sp>
        <p:nvSpPr>
          <p:cNvPr id="45" name="Rectangle 44"/>
          <p:cNvSpPr/>
          <p:nvPr/>
        </p:nvSpPr>
        <p:spPr>
          <a:xfrm>
            <a:off x="14676120" y="15224759"/>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4676120" y="1573225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5</a:t>
            </a:r>
          </a:p>
        </p:txBody>
      </p:sp>
      <p:sp>
        <p:nvSpPr>
          <p:cNvPr id="47" name="Rectangle 46"/>
          <p:cNvSpPr/>
          <p:nvPr/>
        </p:nvSpPr>
        <p:spPr>
          <a:xfrm>
            <a:off x="16596360" y="15224759"/>
            <a:ext cx="1728216" cy="1728216"/>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6596360" y="1573225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6</a:t>
            </a:r>
          </a:p>
        </p:txBody>
      </p:sp>
      <p:sp>
        <p:nvSpPr>
          <p:cNvPr id="49" name="Rectangle 48"/>
          <p:cNvSpPr/>
          <p:nvPr/>
        </p:nvSpPr>
        <p:spPr>
          <a:xfrm>
            <a:off x="18516600" y="15224759"/>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8516600" y="1573225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7</a:t>
            </a:r>
          </a:p>
        </p:txBody>
      </p:sp>
      <p:sp>
        <p:nvSpPr>
          <p:cNvPr id="51" name="Rectangle 50"/>
          <p:cNvSpPr/>
          <p:nvPr/>
        </p:nvSpPr>
        <p:spPr>
          <a:xfrm>
            <a:off x="20436840" y="15224759"/>
            <a:ext cx="1728216" cy="1728216"/>
          </a:xfrm>
          <a:prstGeom prst="rect">
            <a:avLst/>
          </a:prstGeom>
          <a:solidFill>
            <a:srgbClr val="007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0436840" y="1573225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8</a:t>
            </a:r>
          </a:p>
        </p:txBody>
      </p:sp>
      <p:sp>
        <p:nvSpPr>
          <p:cNvPr id="53" name="Rectangle 52"/>
          <p:cNvSpPr/>
          <p:nvPr/>
        </p:nvSpPr>
        <p:spPr>
          <a:xfrm>
            <a:off x="22357080" y="15224759"/>
            <a:ext cx="1728216" cy="1728216"/>
          </a:xfrm>
          <a:prstGeom prst="rect">
            <a:avLst/>
          </a:prstGeom>
          <a:solidFill>
            <a:srgbClr val="007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2357080" y="1573225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9</a:t>
            </a:r>
          </a:p>
        </p:txBody>
      </p:sp>
      <p:sp>
        <p:nvSpPr>
          <p:cNvPr id="55" name="Rectangle 54"/>
          <p:cNvSpPr/>
          <p:nvPr/>
        </p:nvSpPr>
        <p:spPr>
          <a:xfrm>
            <a:off x="24277319" y="15224759"/>
            <a:ext cx="1728216" cy="1728216"/>
          </a:xfrm>
          <a:prstGeom prst="rect">
            <a:avLst/>
          </a:prstGeom>
          <a:solidFill>
            <a:srgbClr val="007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4277319" y="1573225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10</a:t>
            </a:r>
          </a:p>
        </p:txBody>
      </p:sp>
      <p:sp>
        <p:nvSpPr>
          <p:cNvPr id="57" name="Rectangle 56"/>
          <p:cNvSpPr/>
          <p:nvPr/>
        </p:nvSpPr>
        <p:spPr>
          <a:xfrm>
            <a:off x="26197560" y="15224759"/>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6197560" y="15732251"/>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11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Properties must survive composition</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A static guarantee must describe the physical final group.</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25</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Mappings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docs/cudax/coop/group/mapping/index.rst</a:t>
            </a:r>
          </a:p>
        </p:txBody>
      </p:sp>
      <p:sp>
        <p:nvSpPr>
          <p:cNvPr id="7" name="Rectangle 6"/>
          <p:cNvSpPr/>
          <p:nvPr/>
        </p:nvSpPr>
        <p:spPr>
          <a:xfrm>
            <a:off x="1783080" y="6446520"/>
            <a:ext cx="10533888" cy="98755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783080" y="6446520"/>
            <a:ext cx="10533888"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6584" y="7132320"/>
            <a:ext cx="9326880" cy="2331720"/>
          </a:xfrm>
          <a:prstGeom prst="rect">
            <a:avLst/>
          </a:prstGeom>
          <a:noFill/>
        </p:spPr>
        <p:txBody>
          <a:bodyPr wrap="square" lIns="0" rIns="0" tIns="0" bIns="0">
            <a:noAutofit/>
          </a:bodyPr>
          <a:lstStyle/>
          <a:p>
            <a:pPr algn="l">
              <a:lnSpc>
                <a:spcPct val="108000"/>
              </a:lnSpc>
              <a:spcAft>
                <a:spcPts val="1380"/>
              </a:spcAft>
              <a:defRPr sz="6900" b="1">
                <a:solidFill>
                  <a:srgbClr val="000000"/>
                </a:solidFill>
                <a:latin typeface="NVIDIA Sans Medium"/>
              </a:defRPr>
            </a:pPr>
            <a:r>
              <a:t>Exhaustive</a:t>
            </a:r>
          </a:p>
        </p:txBody>
      </p:sp>
      <p:sp>
        <p:nvSpPr>
          <p:cNvPr id="10" name="TextBox 9"/>
          <p:cNvSpPr txBox="1"/>
          <p:nvPr/>
        </p:nvSpPr>
        <p:spPr>
          <a:xfrm>
            <a:off x="2386584" y="9875520"/>
            <a:ext cx="9326880" cy="5980176"/>
          </a:xfrm>
          <a:prstGeom prst="rect">
            <a:avLst/>
          </a:prstGeom>
          <a:noFill/>
        </p:spPr>
        <p:txBody>
          <a:bodyPr wrap="square" lIns="0" rIns="0" tIns="0" bIns="0">
            <a:noAutofit/>
          </a:bodyPr>
          <a:lstStyle/>
          <a:p>
            <a:pPr algn="l">
              <a:lnSpc>
                <a:spcPct val="108000"/>
              </a:lnSpc>
              <a:spcAft>
                <a:spcPts val="1110"/>
              </a:spcAft>
              <a:defRPr sz="5550" b="0">
                <a:solidFill>
                  <a:srgbClr val="000000"/>
                </a:solidFill>
                <a:latin typeface="NVIDIA Sans"/>
              </a:defRPr>
            </a:pPr>
            <a:r>
              <a:t>Every unit from the parent participates in a child group.</a:t>
            </a:r>
          </a:p>
        </p:txBody>
      </p:sp>
      <p:sp>
        <p:nvSpPr>
          <p:cNvPr id="11" name="Rectangle 10"/>
          <p:cNvSpPr/>
          <p:nvPr/>
        </p:nvSpPr>
        <p:spPr>
          <a:xfrm>
            <a:off x="12975336" y="6446520"/>
            <a:ext cx="10533888" cy="98755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975336" y="6446520"/>
            <a:ext cx="10533888"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78840" y="7132320"/>
            <a:ext cx="9326880" cy="2331720"/>
          </a:xfrm>
          <a:prstGeom prst="rect">
            <a:avLst/>
          </a:prstGeom>
          <a:noFill/>
        </p:spPr>
        <p:txBody>
          <a:bodyPr wrap="square" lIns="0" rIns="0" tIns="0" bIns="0">
            <a:noAutofit/>
          </a:bodyPr>
          <a:lstStyle/>
          <a:p>
            <a:pPr algn="l">
              <a:lnSpc>
                <a:spcPct val="108000"/>
              </a:lnSpc>
              <a:spcAft>
                <a:spcPts val="1380"/>
              </a:spcAft>
              <a:defRPr sz="6900" b="1">
                <a:solidFill>
                  <a:srgbClr val="000000"/>
                </a:solidFill>
                <a:latin typeface="NVIDIA Sans Medium"/>
              </a:defRPr>
            </a:pPr>
            <a:r>
              <a:t>Contiguous</a:t>
            </a:r>
          </a:p>
        </p:txBody>
      </p:sp>
      <p:sp>
        <p:nvSpPr>
          <p:cNvPr id="14" name="TextBox 13"/>
          <p:cNvSpPr txBox="1"/>
          <p:nvPr/>
        </p:nvSpPr>
        <p:spPr>
          <a:xfrm>
            <a:off x="13578840" y="9875520"/>
            <a:ext cx="9326880" cy="5980176"/>
          </a:xfrm>
          <a:prstGeom prst="rect">
            <a:avLst/>
          </a:prstGeom>
          <a:noFill/>
        </p:spPr>
        <p:txBody>
          <a:bodyPr wrap="square" lIns="0" rIns="0" tIns="0" bIns="0">
            <a:noAutofit/>
          </a:bodyPr>
          <a:lstStyle/>
          <a:p>
            <a:pPr algn="l">
              <a:lnSpc>
                <a:spcPct val="108000"/>
              </a:lnSpc>
              <a:spcAft>
                <a:spcPts val="1110"/>
              </a:spcAft>
              <a:defRPr sz="5550" b="0">
                <a:solidFill>
                  <a:srgbClr val="000000"/>
                </a:solidFill>
                <a:latin typeface="NVIDIA Sans"/>
              </a:defRPr>
            </a:pPr>
            <a:r>
              <a:t>Members occupy consecutive physical units, ranked in ascending physical order.</a:t>
            </a:r>
          </a:p>
        </p:txBody>
      </p:sp>
      <p:sp>
        <p:nvSpPr>
          <p:cNvPr id="15" name="Rectangle 14"/>
          <p:cNvSpPr/>
          <p:nvPr/>
        </p:nvSpPr>
        <p:spPr>
          <a:xfrm>
            <a:off x="24167592" y="6446520"/>
            <a:ext cx="10533888" cy="98755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4167592" y="6446520"/>
            <a:ext cx="10533888"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771096" y="7132320"/>
            <a:ext cx="9326880" cy="2331720"/>
          </a:xfrm>
          <a:prstGeom prst="rect">
            <a:avLst/>
          </a:prstGeom>
          <a:noFill/>
        </p:spPr>
        <p:txBody>
          <a:bodyPr wrap="square" lIns="0" rIns="0" tIns="0" bIns="0">
            <a:noAutofit/>
          </a:bodyPr>
          <a:lstStyle/>
          <a:p>
            <a:pPr algn="l">
              <a:lnSpc>
                <a:spcPct val="108000"/>
              </a:lnSpc>
              <a:spcAft>
                <a:spcPts val="1380"/>
              </a:spcAft>
              <a:defRPr sz="6900" b="1">
                <a:solidFill>
                  <a:srgbClr val="000000"/>
                </a:solidFill>
                <a:latin typeface="NVIDIA Sans Medium"/>
              </a:defRPr>
            </a:pPr>
            <a:r>
              <a:t>Valid</a:t>
            </a:r>
          </a:p>
        </p:txBody>
      </p:sp>
      <p:sp>
        <p:nvSpPr>
          <p:cNvPr id="18" name="TextBox 17"/>
          <p:cNvSpPr txBox="1"/>
          <p:nvPr/>
        </p:nvSpPr>
        <p:spPr>
          <a:xfrm>
            <a:off x="24771096" y="9875520"/>
            <a:ext cx="9326880" cy="5980176"/>
          </a:xfrm>
          <a:prstGeom prst="rect">
            <a:avLst/>
          </a:prstGeom>
          <a:noFill/>
        </p:spPr>
        <p:txBody>
          <a:bodyPr wrap="square" lIns="0" rIns="0" tIns="0" bIns="0">
            <a:noAutofit/>
          </a:bodyPr>
          <a:lstStyle/>
          <a:p>
            <a:pPr algn="l">
              <a:lnSpc>
                <a:spcPct val="108000"/>
              </a:lnSpc>
              <a:spcAft>
                <a:spcPts val="1110"/>
              </a:spcAft>
              <a:defRPr sz="5550" b="0">
                <a:solidFill>
                  <a:srgbClr val="000000"/>
                </a:solidFill>
                <a:latin typeface="NVIDIA Sans"/>
              </a:defRPr>
            </a:pPr>
            <a:r>
              <a:t>This specific unit belongs to the result; later mappings preserve exclusion.</a:t>
            </a:r>
          </a:p>
        </p:txBody>
      </p:sp>
      <p:sp>
        <p:nvSpPr>
          <p:cNvPr id="19" name="Rectangle 18"/>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A false type property means “not guaranteed”; a runtime instance may still satisfy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Synchronization is a separate policy</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The same membership can be paired with a suitable mechanism.</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26</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Synchronizers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docs/cudax/coop/group/synchronizer/index.rst</a:t>
            </a:r>
          </a:p>
        </p:txBody>
      </p:sp>
      <p:sp>
        <p:nvSpPr>
          <p:cNvPr id="7" name="Rectangle 6"/>
          <p:cNvSpPr/>
          <p:nvPr/>
        </p:nvSpPr>
        <p:spPr>
          <a:xfrm>
            <a:off x="2606039" y="7269479"/>
            <a:ext cx="12618719" cy="6858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9000" y="8092440"/>
            <a:ext cx="10972800" cy="1645919"/>
          </a:xfrm>
          <a:prstGeom prst="rect">
            <a:avLst/>
          </a:prstGeom>
          <a:noFill/>
        </p:spPr>
        <p:txBody>
          <a:bodyPr wrap="square" lIns="0" rIns="0" tIns="0" bIns="0">
            <a:noAutofit/>
          </a:bodyPr>
          <a:lstStyle/>
          <a:p>
            <a:pPr algn="l">
              <a:lnSpc>
                <a:spcPct val="108000"/>
              </a:lnSpc>
              <a:spcAft>
                <a:spcPts val="1740"/>
              </a:spcAft>
              <a:defRPr sz="8700" b="1">
                <a:solidFill>
                  <a:srgbClr val="000000"/>
                </a:solidFill>
                <a:latin typeface="NVIDIA Sans"/>
              </a:defRPr>
            </a:pPr>
            <a:r>
              <a:t>Mapping</a:t>
            </a:r>
          </a:p>
        </p:txBody>
      </p:sp>
      <p:sp>
        <p:nvSpPr>
          <p:cNvPr id="9" name="TextBox 8"/>
          <p:cNvSpPr txBox="1"/>
          <p:nvPr/>
        </p:nvSpPr>
        <p:spPr>
          <a:xfrm>
            <a:off x="3429000" y="10643616"/>
            <a:ext cx="10972800" cy="2743200"/>
          </a:xfrm>
          <a:prstGeom prst="rect">
            <a:avLst/>
          </a:prstGeom>
          <a:noFill/>
        </p:spPr>
        <p:txBody>
          <a:bodyPr wrap="square" lIns="0" rIns="0" tIns="0" bIns="0">
            <a:noAutofit/>
          </a:bodyPr>
          <a:lstStyle/>
          <a:p>
            <a:pPr algn="l">
              <a:lnSpc>
                <a:spcPct val="108000"/>
              </a:lnSpc>
              <a:spcAft>
                <a:spcPts val="1260"/>
              </a:spcAft>
              <a:defRPr sz="6300" b="0">
                <a:solidFill>
                  <a:srgbClr val="000000"/>
                </a:solidFill>
                <a:latin typeface="NVIDIA Sans"/>
              </a:defRPr>
            </a:pPr>
            <a:r>
              <a:t>Which units participate?</a:t>
            </a:r>
          </a:p>
          <a:p>
            <a:pPr algn="l">
              <a:lnSpc>
                <a:spcPct val="108000"/>
              </a:lnSpc>
              <a:spcAft>
                <a:spcPts val="1260"/>
              </a:spcAft>
              <a:defRPr sz="6300" b="0">
                <a:solidFill>
                  <a:srgbClr val="000000"/>
                </a:solidFill>
                <a:latin typeface="NVIDIA Sans"/>
              </a:defRPr>
            </a:pPr>
            <a:r>
              <a:t>What are their ranks?</a:t>
            </a:r>
          </a:p>
        </p:txBody>
      </p:sp>
      <p:sp>
        <p:nvSpPr>
          <p:cNvPr id="10" name="Right Arrow 9"/>
          <p:cNvSpPr/>
          <p:nvPr/>
        </p:nvSpPr>
        <p:spPr>
          <a:xfrm>
            <a:off x="16596359" y="10149840"/>
            <a:ext cx="2194560" cy="822959"/>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574000" y="7269479"/>
            <a:ext cx="12618719" cy="6858000"/>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396960" y="8092440"/>
            <a:ext cx="10972800" cy="1645919"/>
          </a:xfrm>
          <a:prstGeom prst="rect">
            <a:avLst/>
          </a:prstGeom>
          <a:noFill/>
        </p:spPr>
        <p:txBody>
          <a:bodyPr wrap="square" lIns="0" rIns="0" tIns="0" bIns="0">
            <a:noAutofit/>
          </a:bodyPr>
          <a:lstStyle/>
          <a:p>
            <a:pPr algn="l">
              <a:lnSpc>
                <a:spcPct val="108000"/>
              </a:lnSpc>
              <a:spcAft>
                <a:spcPts val="1740"/>
              </a:spcAft>
              <a:defRPr sz="8700" b="1">
                <a:solidFill>
                  <a:srgbClr val="000000"/>
                </a:solidFill>
                <a:latin typeface="NVIDIA Sans"/>
              </a:defRPr>
            </a:pPr>
            <a:r>
              <a:t>Synchronizer</a:t>
            </a:r>
          </a:p>
        </p:txBody>
      </p:sp>
      <p:sp>
        <p:nvSpPr>
          <p:cNvPr id="13" name="TextBox 12"/>
          <p:cNvSpPr txBox="1"/>
          <p:nvPr/>
        </p:nvSpPr>
        <p:spPr>
          <a:xfrm>
            <a:off x="21396960" y="10643616"/>
            <a:ext cx="10972800" cy="2743200"/>
          </a:xfrm>
          <a:prstGeom prst="rect">
            <a:avLst/>
          </a:prstGeom>
          <a:noFill/>
        </p:spPr>
        <p:txBody>
          <a:bodyPr wrap="square" lIns="0" rIns="0" tIns="0" bIns="0">
            <a:noAutofit/>
          </a:bodyPr>
          <a:lstStyle/>
          <a:p>
            <a:pPr algn="l">
              <a:lnSpc>
                <a:spcPct val="108000"/>
              </a:lnSpc>
              <a:spcAft>
                <a:spcPts val="1260"/>
              </a:spcAft>
              <a:defRPr sz="6300" b="0">
                <a:solidFill>
                  <a:srgbClr val="000000"/>
                </a:solidFill>
                <a:latin typeface="NVIDIA Sans"/>
              </a:defRPr>
            </a:pPr>
            <a:r>
              <a:t>How do those units</a:t>
            </a:r>
          </a:p>
          <a:p>
            <a:pPr algn="l">
              <a:lnSpc>
                <a:spcPct val="108000"/>
              </a:lnSpc>
              <a:spcAft>
                <a:spcPts val="1260"/>
              </a:spcAft>
              <a:defRPr sz="6300" b="0">
                <a:solidFill>
                  <a:srgbClr val="000000"/>
                </a:solidFill>
                <a:latin typeface="NVIDIA Sans"/>
              </a:defRPr>
            </a:pPr>
            <a:r>
              <a:t>rendezvous?</a:t>
            </a:r>
          </a:p>
        </p:txBody>
      </p:sp>
      <p:sp>
        <p:nvSpPr>
          <p:cNvPr id="14" name="Rectangle 13"/>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make_instance(unit, parent, mapping_result) prepares resources for the resulting group.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Match the synchronizer to the group</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Unit, boundary and resource scope constrain the choice.</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27</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Synchronizers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docs/cudax/coop/group/synchronizer/index.rst</a:t>
            </a:r>
          </a:p>
        </p:txBody>
      </p:sp>
      <p:sp>
        <p:nvSpPr>
          <p:cNvPr id="7" name="Rectangle 6"/>
          <p:cNvSpPr/>
          <p:nvPr/>
        </p:nvSpPr>
        <p:spPr>
          <a:xfrm>
            <a:off x="1783080" y="5897879"/>
            <a:ext cx="9738359" cy="1508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12264" y="6254496"/>
            <a:ext cx="9079992" cy="877824"/>
          </a:xfrm>
          <a:prstGeom prst="rect">
            <a:avLst/>
          </a:prstGeom>
          <a:noFill/>
        </p:spPr>
        <p:txBody>
          <a:bodyPr wrap="square" lIns="0" rIns="0" tIns="0" bIns="0">
            <a:noAutofit/>
          </a:bodyPr>
          <a:lstStyle/>
          <a:p>
            <a:pPr algn="l">
              <a:lnSpc>
                <a:spcPct val="108000"/>
              </a:lnSpc>
              <a:spcAft>
                <a:spcPts val="840"/>
              </a:spcAft>
              <a:defRPr sz="4200" b="1">
                <a:solidFill>
                  <a:srgbClr val="FFFFFF"/>
                </a:solidFill>
                <a:latin typeface="NVIDIA Sans"/>
              </a:defRPr>
            </a:pPr>
            <a:r>
              <a:t>Synchronizer</a:t>
            </a:r>
          </a:p>
        </p:txBody>
      </p:sp>
      <p:sp>
        <p:nvSpPr>
          <p:cNvPr id="9" name="Rectangle 8"/>
          <p:cNvSpPr/>
          <p:nvPr/>
        </p:nvSpPr>
        <p:spPr>
          <a:xfrm>
            <a:off x="11521440" y="5897879"/>
            <a:ext cx="11521440" cy="1508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50624" y="6254496"/>
            <a:ext cx="10863072" cy="877824"/>
          </a:xfrm>
          <a:prstGeom prst="rect">
            <a:avLst/>
          </a:prstGeom>
          <a:noFill/>
        </p:spPr>
        <p:txBody>
          <a:bodyPr wrap="square" lIns="0" rIns="0" tIns="0" bIns="0">
            <a:noAutofit/>
          </a:bodyPr>
          <a:lstStyle/>
          <a:p>
            <a:pPr algn="l">
              <a:lnSpc>
                <a:spcPct val="108000"/>
              </a:lnSpc>
              <a:spcAft>
                <a:spcPts val="840"/>
              </a:spcAft>
              <a:defRPr sz="4200" b="1">
                <a:solidFill>
                  <a:srgbClr val="FFFFFF"/>
                </a:solidFill>
                <a:latin typeface="NVIDIA Sans"/>
              </a:defRPr>
            </a:pPr>
            <a:r>
              <a:t>Appropriate group</a:t>
            </a:r>
          </a:p>
        </p:txBody>
      </p:sp>
      <p:sp>
        <p:nvSpPr>
          <p:cNvPr id="11" name="Rectangle 10"/>
          <p:cNvSpPr/>
          <p:nvPr/>
        </p:nvSpPr>
        <p:spPr>
          <a:xfrm>
            <a:off x="23042880" y="5897879"/>
            <a:ext cx="11658600" cy="1508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372064" y="6254496"/>
            <a:ext cx="11000232" cy="877824"/>
          </a:xfrm>
          <a:prstGeom prst="rect">
            <a:avLst/>
          </a:prstGeom>
          <a:noFill/>
        </p:spPr>
        <p:txBody>
          <a:bodyPr wrap="square" lIns="0" rIns="0" tIns="0" bIns="0">
            <a:noAutofit/>
          </a:bodyPr>
          <a:lstStyle/>
          <a:p>
            <a:pPr algn="l">
              <a:lnSpc>
                <a:spcPct val="108000"/>
              </a:lnSpc>
              <a:spcAft>
                <a:spcPts val="840"/>
              </a:spcAft>
              <a:defRPr sz="4200" b="1">
                <a:solidFill>
                  <a:srgbClr val="FFFFFF"/>
                </a:solidFill>
                <a:latin typeface="NVIDIA Sans"/>
              </a:defRPr>
            </a:pPr>
            <a:r>
              <a:t>Mechanism</a:t>
            </a:r>
          </a:p>
        </p:txBody>
      </p:sp>
      <p:sp>
        <p:nvSpPr>
          <p:cNvPr id="13" name="Rectangle 12"/>
          <p:cNvSpPr/>
          <p:nvPr/>
        </p:nvSpPr>
        <p:spPr>
          <a:xfrm>
            <a:off x="1783080" y="7406640"/>
            <a:ext cx="9738359" cy="24688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12264" y="7790688"/>
            <a:ext cx="9079992" cy="19751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level_synchronizer</a:t>
            </a:r>
          </a:p>
        </p:txBody>
      </p:sp>
      <p:sp>
        <p:nvSpPr>
          <p:cNvPr id="15" name="Rectangle 14"/>
          <p:cNvSpPr/>
          <p:nvPr/>
        </p:nvSpPr>
        <p:spPr>
          <a:xfrm>
            <a:off x="11521440" y="7406640"/>
            <a:ext cx="11521440" cy="24688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50624" y="7790688"/>
            <a:ext cx="10863072" cy="19751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A whole hierarchy level</a:t>
            </a:r>
          </a:p>
        </p:txBody>
      </p:sp>
      <p:sp>
        <p:nvSpPr>
          <p:cNvPr id="17" name="Rectangle 16"/>
          <p:cNvSpPr/>
          <p:nvPr/>
        </p:nvSpPr>
        <p:spPr>
          <a:xfrm>
            <a:off x="23042880" y="7406640"/>
            <a:ext cx="11658600" cy="24688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372064" y="7790688"/>
            <a:ext cx="11000232" cy="19751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Level-wide synchronization</a:t>
            </a:r>
          </a:p>
        </p:txBody>
      </p:sp>
      <p:sp>
        <p:nvSpPr>
          <p:cNvPr id="19" name="Rectangle 18"/>
          <p:cNvSpPr/>
          <p:nvPr/>
        </p:nvSpPr>
        <p:spPr>
          <a:xfrm>
            <a:off x="1783080" y="9875520"/>
            <a:ext cx="9738359" cy="2468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12264" y="10259567"/>
            <a:ext cx="9079992" cy="19751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lane_synchronizer</a:t>
            </a:r>
          </a:p>
        </p:txBody>
      </p:sp>
      <p:sp>
        <p:nvSpPr>
          <p:cNvPr id="21" name="Rectangle 20"/>
          <p:cNvSpPr/>
          <p:nvPr/>
        </p:nvSpPr>
        <p:spPr>
          <a:xfrm>
            <a:off x="11521440" y="9875520"/>
            <a:ext cx="11521440" cy="2468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50624" y="10259567"/>
            <a:ext cx="10863072" cy="19751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Threads within one warp</a:t>
            </a:r>
          </a:p>
        </p:txBody>
      </p:sp>
      <p:sp>
        <p:nvSpPr>
          <p:cNvPr id="23" name="Rectangle 22"/>
          <p:cNvSpPr/>
          <p:nvPr/>
        </p:nvSpPr>
        <p:spPr>
          <a:xfrm>
            <a:off x="23042880" y="9875520"/>
            <a:ext cx="11658600" cy="2468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372064" y="10259567"/>
            <a:ext cx="11000232" cy="19751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__syncwarp(lane_mask)</a:t>
            </a:r>
          </a:p>
        </p:txBody>
      </p:sp>
      <p:sp>
        <p:nvSpPr>
          <p:cNvPr id="25" name="Rectangle 24"/>
          <p:cNvSpPr/>
          <p:nvPr/>
        </p:nvSpPr>
        <p:spPr>
          <a:xfrm>
            <a:off x="1783080" y="12344400"/>
            <a:ext cx="9738359" cy="24688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12264" y="12728447"/>
            <a:ext cx="9079992" cy="19751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interwarp_synchronizer</a:t>
            </a:r>
          </a:p>
        </p:txBody>
      </p:sp>
      <p:sp>
        <p:nvSpPr>
          <p:cNvPr id="27" name="Rectangle 26"/>
          <p:cNvSpPr/>
          <p:nvPr/>
        </p:nvSpPr>
        <p:spPr>
          <a:xfrm>
            <a:off x="11521440" y="12344400"/>
            <a:ext cx="11521440" cy="24688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850624" y="12728447"/>
            <a:ext cx="10863072" cy="19751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Warps within one block</a:t>
            </a:r>
          </a:p>
        </p:txBody>
      </p:sp>
      <p:sp>
        <p:nvSpPr>
          <p:cNvPr id="29" name="Rectangle 28"/>
          <p:cNvSpPr/>
          <p:nvPr/>
        </p:nvSpPr>
        <p:spPr>
          <a:xfrm>
            <a:off x="23042880" y="12344400"/>
            <a:ext cx="11658600" cy="24688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3372064" y="12728447"/>
            <a:ext cx="11000232" cy="19751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Built-in named barriers</a:t>
            </a:r>
          </a:p>
        </p:txBody>
      </p:sp>
      <p:sp>
        <p:nvSpPr>
          <p:cNvPr id="31" name="Rectangle 30"/>
          <p:cNvSpPr/>
          <p:nvPr/>
        </p:nvSpPr>
        <p:spPr>
          <a:xfrm>
            <a:off x="1783080" y="14813280"/>
            <a:ext cx="9738359" cy="2468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12264" y="15197328"/>
            <a:ext cx="9079992" cy="19751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barrier_synchronizer</a:t>
            </a:r>
          </a:p>
        </p:txBody>
      </p:sp>
      <p:sp>
        <p:nvSpPr>
          <p:cNvPr id="33" name="Rectangle 32"/>
          <p:cNvSpPr/>
          <p:nvPr/>
        </p:nvSpPr>
        <p:spPr>
          <a:xfrm>
            <a:off x="11521440" y="14813280"/>
            <a:ext cx="11521440" cy="2468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850624" y="15197328"/>
            <a:ext cx="10863072" cy="19751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Group within sufficient scope</a:t>
            </a:r>
          </a:p>
        </p:txBody>
      </p:sp>
      <p:sp>
        <p:nvSpPr>
          <p:cNvPr id="35" name="Rectangle 34"/>
          <p:cNvSpPr/>
          <p:nvPr/>
        </p:nvSpPr>
        <p:spPr>
          <a:xfrm>
            <a:off x="23042880" y="14813280"/>
            <a:ext cx="11658600" cy="2468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3372064" y="15197328"/>
            <a:ext cx="11000232" cy="1975104"/>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cuda::barrier objects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level_synchronizer follows the boundary</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Whole-level synchronization underlies this_{level} groups.</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28</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Synchronizers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docs/cudax/coop/group/synchronizer/level_synchronizer.rst</a:t>
            </a:r>
          </a:p>
        </p:txBody>
      </p:sp>
      <p:sp>
        <p:nvSpPr>
          <p:cNvPr id="7" name="Rectangle 6"/>
          <p:cNvSpPr/>
          <p:nvPr/>
        </p:nvSpPr>
        <p:spPr>
          <a:xfrm>
            <a:off x="1783080" y="5897879"/>
            <a:ext cx="6309359" cy="1508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12264" y="6254496"/>
            <a:ext cx="5650991" cy="877824"/>
          </a:xfrm>
          <a:prstGeom prst="rect">
            <a:avLst/>
          </a:prstGeom>
          <a:noFill/>
        </p:spPr>
        <p:txBody>
          <a:bodyPr wrap="square" lIns="0" rIns="0" tIns="0" bIns="0">
            <a:noAutofit/>
          </a:bodyPr>
          <a:lstStyle/>
          <a:p>
            <a:pPr algn="l">
              <a:lnSpc>
                <a:spcPct val="108000"/>
              </a:lnSpc>
              <a:spcAft>
                <a:spcPts val="840"/>
              </a:spcAft>
              <a:defRPr sz="4200" b="1">
                <a:solidFill>
                  <a:srgbClr val="FFFFFF"/>
                </a:solidFill>
                <a:latin typeface="NVIDIA Sans"/>
              </a:defRPr>
            </a:pPr>
            <a:r>
              <a:t>Level</a:t>
            </a:r>
          </a:p>
        </p:txBody>
      </p:sp>
      <p:sp>
        <p:nvSpPr>
          <p:cNvPr id="9" name="Rectangle 8"/>
          <p:cNvSpPr/>
          <p:nvPr/>
        </p:nvSpPr>
        <p:spPr>
          <a:xfrm>
            <a:off x="8092440" y="5897879"/>
            <a:ext cx="26609039" cy="1508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21624" y="6254496"/>
            <a:ext cx="25950671" cy="877824"/>
          </a:xfrm>
          <a:prstGeom prst="rect">
            <a:avLst/>
          </a:prstGeom>
          <a:noFill/>
        </p:spPr>
        <p:txBody>
          <a:bodyPr wrap="square" lIns="0" rIns="0" tIns="0" bIns="0">
            <a:noAutofit/>
          </a:bodyPr>
          <a:lstStyle/>
          <a:p>
            <a:pPr algn="l">
              <a:lnSpc>
                <a:spcPct val="108000"/>
              </a:lnSpc>
              <a:spcAft>
                <a:spcPts val="840"/>
              </a:spcAft>
              <a:defRPr sz="4200" b="1">
                <a:solidFill>
                  <a:srgbClr val="FFFFFF"/>
                </a:solidFill>
                <a:latin typeface="NVIDIA Sans"/>
              </a:defRPr>
            </a:pPr>
            <a:r>
              <a:t>Synchronization behavior</a:t>
            </a:r>
          </a:p>
        </p:txBody>
      </p:sp>
      <p:sp>
        <p:nvSpPr>
          <p:cNvPr id="11" name="Rectangle 10"/>
          <p:cNvSpPr/>
          <p:nvPr/>
        </p:nvSpPr>
        <p:spPr>
          <a:xfrm>
            <a:off x="1783080" y="7406640"/>
            <a:ext cx="6309359" cy="175564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12264" y="7790688"/>
            <a:ext cx="5650991" cy="1261872"/>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Thread</a:t>
            </a:r>
          </a:p>
        </p:txBody>
      </p:sp>
      <p:sp>
        <p:nvSpPr>
          <p:cNvPr id="13" name="Rectangle 12"/>
          <p:cNvSpPr/>
          <p:nvPr/>
        </p:nvSpPr>
        <p:spPr>
          <a:xfrm>
            <a:off x="8092440" y="7406640"/>
            <a:ext cx="26609039" cy="175564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21624" y="7790688"/>
            <a:ext cx="25950671" cy="1261872"/>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No operation</a:t>
            </a:r>
          </a:p>
        </p:txBody>
      </p:sp>
      <p:sp>
        <p:nvSpPr>
          <p:cNvPr id="15" name="Rectangle 14"/>
          <p:cNvSpPr/>
          <p:nvPr/>
        </p:nvSpPr>
        <p:spPr>
          <a:xfrm>
            <a:off x="1783080" y="9162288"/>
            <a:ext cx="6309359" cy="1755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12264" y="9546336"/>
            <a:ext cx="5650991" cy="1261872"/>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Warp</a:t>
            </a:r>
          </a:p>
        </p:txBody>
      </p:sp>
      <p:sp>
        <p:nvSpPr>
          <p:cNvPr id="17" name="Rectangle 16"/>
          <p:cNvSpPr/>
          <p:nvPr/>
        </p:nvSpPr>
        <p:spPr>
          <a:xfrm>
            <a:off x="8092440" y="9162288"/>
            <a:ext cx="26609039" cy="1755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21624" y="9546336"/>
            <a:ext cx="25950671" cy="1261872"/>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__syncwarp()</a:t>
            </a:r>
          </a:p>
        </p:txBody>
      </p:sp>
      <p:sp>
        <p:nvSpPr>
          <p:cNvPr id="19" name="Rectangle 18"/>
          <p:cNvSpPr/>
          <p:nvPr/>
        </p:nvSpPr>
        <p:spPr>
          <a:xfrm>
            <a:off x="1783080" y="10917936"/>
            <a:ext cx="6309359" cy="175564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12264" y="11301984"/>
            <a:ext cx="5650991" cy="1261872"/>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Block</a:t>
            </a:r>
          </a:p>
        </p:txBody>
      </p:sp>
      <p:sp>
        <p:nvSpPr>
          <p:cNvPr id="21" name="Rectangle 20"/>
          <p:cNvSpPr/>
          <p:nvPr/>
        </p:nvSpPr>
        <p:spPr>
          <a:xfrm>
            <a:off x="8092440" y="10917936"/>
            <a:ext cx="26609039" cy="175564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21624" y="11301984"/>
            <a:ext cx="25950671" cy="1261872"/>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Named barrier 0 / __syncthreads()</a:t>
            </a:r>
          </a:p>
        </p:txBody>
      </p:sp>
      <p:sp>
        <p:nvSpPr>
          <p:cNvPr id="23" name="Rectangle 22"/>
          <p:cNvSpPr/>
          <p:nvPr/>
        </p:nvSpPr>
        <p:spPr>
          <a:xfrm>
            <a:off x="1783080" y="12673584"/>
            <a:ext cx="6309359" cy="1755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12264" y="13057632"/>
            <a:ext cx="5650991" cy="1261872"/>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Cluster</a:t>
            </a:r>
          </a:p>
        </p:txBody>
      </p:sp>
      <p:sp>
        <p:nvSpPr>
          <p:cNvPr id="25" name="Rectangle 24"/>
          <p:cNvSpPr/>
          <p:nvPr/>
        </p:nvSpPr>
        <p:spPr>
          <a:xfrm>
            <a:off x="8092440" y="12673584"/>
            <a:ext cx="26609039" cy="1755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21624" y="13057632"/>
            <a:ext cx="25950671" cy="1261872"/>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Cluster barrier arrive + wait</a:t>
            </a:r>
          </a:p>
        </p:txBody>
      </p:sp>
      <p:sp>
        <p:nvSpPr>
          <p:cNvPr id="27" name="Rectangle 26"/>
          <p:cNvSpPr/>
          <p:nvPr/>
        </p:nvSpPr>
        <p:spPr>
          <a:xfrm>
            <a:off x="1783080" y="14429232"/>
            <a:ext cx="6309359" cy="175564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12264" y="14813280"/>
            <a:ext cx="5650991" cy="1261872"/>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Grid</a:t>
            </a:r>
          </a:p>
        </p:txBody>
      </p:sp>
      <p:sp>
        <p:nvSpPr>
          <p:cNvPr id="29" name="Rectangle 28"/>
          <p:cNvSpPr/>
          <p:nvPr/>
        </p:nvSpPr>
        <p:spPr>
          <a:xfrm>
            <a:off x="8092440" y="14429232"/>
            <a:ext cx="26609039" cy="175564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21624" y="14813280"/>
            <a:ext cx="25950671" cy="1261872"/>
          </a:xfrm>
          <a:prstGeom prst="rect">
            <a:avLst/>
          </a:prstGeom>
          <a:noFill/>
        </p:spPr>
        <p:txBody>
          <a:bodyPr wrap="square" lIns="0" rIns="0" tIns="0" bIns="0">
            <a:noAutofit/>
          </a:bodyPr>
          <a:lstStyle/>
          <a:p>
            <a:pPr algn="l">
              <a:lnSpc>
                <a:spcPct val="108000"/>
              </a:lnSpc>
              <a:spcAft>
                <a:spcPts val="960"/>
              </a:spcAft>
              <a:defRPr sz="4800" b="0">
                <a:solidFill>
                  <a:srgbClr val="000000"/>
                </a:solidFill>
                <a:latin typeface="NVIDIA Sans"/>
              </a:defRPr>
            </a:pPr>
            <a:r>
              <a:t>Block synchronization + global barrier + block synchronization</a:t>
            </a:r>
          </a:p>
        </p:txBody>
      </p:sp>
      <p:sp>
        <p:nvSpPr>
          <p:cNvPr id="31" name="Rectangle 30"/>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Grid sync requires device support and cuda::cooperative_launch{} in the launch configuration.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lane_synchronizer uses a membership mask</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Synchronize selected threads within a single warp.</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29</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Synchronizers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docs/cudax/coop/group/synchronizer/lane_synchronizer.rst</a:t>
            </a:r>
          </a:p>
        </p:txBody>
      </p:sp>
      <p:sp>
        <p:nvSpPr>
          <p:cNvPr id="7" name="Rectangle 6"/>
          <p:cNvSpPr/>
          <p:nvPr/>
        </p:nvSpPr>
        <p:spPr>
          <a:xfrm>
            <a:off x="1783080" y="5897879"/>
            <a:ext cx="32918400" cy="49377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31656527" cy="4059935"/>
          </a:xfrm>
          <a:prstGeom prst="rect">
            <a:avLst/>
          </a:prstGeom>
          <a:noFill/>
        </p:spPr>
        <p:txBody>
          <a:bodyPr wrap="none" lIns="0" rIns="0" tIns="0" bIns="0">
            <a:noAutofit/>
          </a:bodyPr>
          <a:lstStyle/>
          <a:p>
            <a:pPr>
              <a:lnSpc>
                <a:spcPct val="112000"/>
              </a:lnSpc>
              <a:spcAft>
                <a:spcPts val="0"/>
              </a:spcAft>
            </a:pPr>
            <a:r>
              <a:rPr sz="5400">
                <a:solidFill>
                  <a:srgbClr val="000000"/>
                </a:solidFill>
                <a:latin typeface="DejaVu Sans Mono"/>
              </a:rPr>
              <a:t>coop</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lane_synchronizer</a:t>
            </a:r>
            <a:r>
              <a:rPr sz="5400">
                <a:solidFill>
                  <a:srgbClr val="000000"/>
                </a:solidFill>
                <a:latin typeface="DejaVu Sans Mono"/>
              </a:rPr>
              <a:t> </a:t>
            </a:r>
            <a:r>
              <a:rPr sz="5400">
                <a:solidFill>
                  <a:srgbClr val="000000"/>
                </a:solidFill>
                <a:latin typeface="DejaVu Sans Mono"/>
              </a:rPr>
              <a:t>sync_policy</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p>
          <a:p>
            <a:pPr>
              <a:lnSpc>
                <a:spcPct val="112000"/>
              </a:lnSpc>
              <a:spcAft>
                <a:spcPts val="0"/>
              </a:spcAft>
            </a:pPr>
            <a:r>
              <a:rPr sz="5400">
                <a:solidFill>
                  <a:srgbClr val="757575"/>
                </a:solidFill>
                <a:latin typeface="DejaVu Sans Mono"/>
              </a:rPr>
              <a:t>// The synchronizer uses the final mapping lane mask:</a:t>
            </a:r>
          </a:p>
          <a:p>
            <a:pPr>
              <a:lnSpc>
                <a:spcPct val="112000"/>
              </a:lnSpc>
              <a:spcAft>
                <a:spcPts val="0"/>
              </a:spcAft>
            </a:pPr>
            <a:r>
              <a:rPr sz="5400">
                <a:solidFill>
                  <a:srgbClr val="757575"/>
                </a:solidFill>
                <a:latin typeface="DejaVu Sans Mono"/>
              </a:rPr>
              <a:t>// __syncwarp(lane_mask)</a:t>
            </a:r>
          </a:p>
          <a:p>
            <a:pPr>
              <a:lnSpc>
                <a:spcPct val="112000"/>
              </a:lnSpc>
              <a:spcAft>
                <a:spcPts val="0"/>
              </a:spcAft>
            </a:pPr>
          </a:p>
        </p:txBody>
      </p:sp>
      <p:sp>
        <p:nvSpPr>
          <p:cNvPr id="9" name="Rectangle 8"/>
          <p:cNvSpPr/>
          <p:nvPr/>
        </p:nvSpPr>
        <p:spPr>
          <a:xfrm>
            <a:off x="5074920" y="1207008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257757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0</a:t>
            </a:r>
          </a:p>
        </p:txBody>
      </p:sp>
      <p:sp>
        <p:nvSpPr>
          <p:cNvPr id="11" name="Rectangle 10"/>
          <p:cNvSpPr/>
          <p:nvPr/>
        </p:nvSpPr>
        <p:spPr>
          <a:xfrm>
            <a:off x="6995159" y="1207008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59" y="1257757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1</a:t>
            </a:r>
          </a:p>
        </p:txBody>
      </p:sp>
      <p:sp>
        <p:nvSpPr>
          <p:cNvPr id="13" name="Rectangle 12"/>
          <p:cNvSpPr/>
          <p:nvPr/>
        </p:nvSpPr>
        <p:spPr>
          <a:xfrm>
            <a:off x="8915400" y="1207008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1257757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2</a:t>
            </a:r>
          </a:p>
        </p:txBody>
      </p:sp>
      <p:sp>
        <p:nvSpPr>
          <p:cNvPr id="15" name="Rectangle 14"/>
          <p:cNvSpPr/>
          <p:nvPr/>
        </p:nvSpPr>
        <p:spPr>
          <a:xfrm>
            <a:off x="10835640" y="1207008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835640" y="1257757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3</a:t>
            </a:r>
          </a:p>
        </p:txBody>
      </p:sp>
      <p:sp>
        <p:nvSpPr>
          <p:cNvPr id="17" name="Rectangle 16"/>
          <p:cNvSpPr/>
          <p:nvPr/>
        </p:nvSpPr>
        <p:spPr>
          <a:xfrm>
            <a:off x="12755880" y="1207008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755880" y="1257757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4</a:t>
            </a:r>
          </a:p>
        </p:txBody>
      </p:sp>
      <p:sp>
        <p:nvSpPr>
          <p:cNvPr id="19" name="Rectangle 18"/>
          <p:cNvSpPr/>
          <p:nvPr/>
        </p:nvSpPr>
        <p:spPr>
          <a:xfrm>
            <a:off x="14676120" y="1207008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676120" y="1257757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5</a:t>
            </a:r>
          </a:p>
        </p:txBody>
      </p:sp>
      <p:sp>
        <p:nvSpPr>
          <p:cNvPr id="21" name="Rectangle 20"/>
          <p:cNvSpPr/>
          <p:nvPr/>
        </p:nvSpPr>
        <p:spPr>
          <a:xfrm>
            <a:off x="16596360" y="1207008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596360" y="1257757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6</a:t>
            </a:r>
          </a:p>
        </p:txBody>
      </p:sp>
      <p:sp>
        <p:nvSpPr>
          <p:cNvPr id="23" name="Rectangle 22"/>
          <p:cNvSpPr/>
          <p:nvPr/>
        </p:nvSpPr>
        <p:spPr>
          <a:xfrm>
            <a:off x="18516600" y="1207008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516600" y="1257757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7</a:t>
            </a:r>
          </a:p>
        </p:txBody>
      </p:sp>
      <p:sp>
        <p:nvSpPr>
          <p:cNvPr id="25" name="Rectangle 24"/>
          <p:cNvSpPr/>
          <p:nvPr/>
        </p:nvSpPr>
        <p:spPr>
          <a:xfrm>
            <a:off x="20436840" y="1207008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436840" y="1257757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8</a:t>
            </a:r>
          </a:p>
        </p:txBody>
      </p:sp>
      <p:sp>
        <p:nvSpPr>
          <p:cNvPr id="27" name="Rectangle 26"/>
          <p:cNvSpPr/>
          <p:nvPr/>
        </p:nvSpPr>
        <p:spPr>
          <a:xfrm>
            <a:off x="22357080" y="1207008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357080" y="1257757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9</a:t>
            </a:r>
          </a:p>
        </p:txBody>
      </p:sp>
      <p:sp>
        <p:nvSpPr>
          <p:cNvPr id="29" name="Rectangle 28"/>
          <p:cNvSpPr/>
          <p:nvPr/>
        </p:nvSpPr>
        <p:spPr>
          <a:xfrm>
            <a:off x="24277319" y="12070080"/>
            <a:ext cx="1728216" cy="172821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277319" y="1257757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FFFFFF"/>
                </a:solidFill>
                <a:latin typeface="NVIDIA Sans"/>
              </a:defRPr>
            </a:pPr>
            <a:r>
              <a:t>10</a:t>
            </a:r>
          </a:p>
        </p:txBody>
      </p:sp>
      <p:sp>
        <p:nvSpPr>
          <p:cNvPr id="31" name="Rectangle 30"/>
          <p:cNvSpPr/>
          <p:nvPr/>
        </p:nvSpPr>
        <p:spPr>
          <a:xfrm>
            <a:off x="26197560" y="12070080"/>
            <a:ext cx="1728216" cy="1728216"/>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6197560" y="12577572"/>
            <a:ext cx="1728216" cy="795527"/>
          </a:xfrm>
          <a:prstGeom prst="rect">
            <a:avLst/>
          </a:prstGeom>
          <a:noFill/>
        </p:spPr>
        <p:txBody>
          <a:bodyPr wrap="square" lIns="0" rIns="0" tIns="0" bIns="0">
            <a:noAutofit/>
          </a:bodyPr>
          <a:lstStyle/>
          <a:p>
            <a:pPr algn="ctr">
              <a:lnSpc>
                <a:spcPct val="108000"/>
              </a:lnSpc>
              <a:spcAft>
                <a:spcPts val="840"/>
              </a:spcAft>
              <a:defRPr sz="4200" b="1">
                <a:solidFill>
                  <a:srgbClr val="757575"/>
                </a:solidFill>
                <a:latin typeface="NVIDIA Sans"/>
              </a:defRPr>
            </a:pPr>
            <a:r>
              <a:t>11</a:t>
            </a:r>
          </a:p>
        </p:txBody>
      </p:sp>
      <p:sp>
        <p:nvSpPr>
          <p:cNvPr id="33" name="Rectangle 32"/>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Use for thread units inside a warp; it cannot synchronize a multi-warp subgroup.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interwarp_synchronizer gives groups barriers</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Assign distinct named barrier IDs to groups of warps.</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30</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Synchronizers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docs/cudax/coop/group/synchronizer/interwarp_synchronizer.rst</a:t>
            </a:r>
          </a:p>
        </p:txBody>
      </p:sp>
      <p:sp>
        <p:nvSpPr>
          <p:cNvPr id="7" name="Rectangle 6"/>
          <p:cNvSpPr/>
          <p:nvPr/>
        </p:nvSpPr>
        <p:spPr>
          <a:xfrm>
            <a:off x="1783080" y="5897879"/>
            <a:ext cx="32918400" cy="41148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31656527" cy="3236976"/>
          </a:xfrm>
          <a:prstGeom prst="rect">
            <a:avLst/>
          </a:prstGeom>
          <a:noFill/>
        </p:spPr>
        <p:txBody>
          <a:bodyPr wrap="none" lIns="0" rIns="0" tIns="0" bIns="0">
            <a:noAutofit/>
          </a:bodyPr>
          <a:lstStyle/>
          <a:p>
            <a:pPr>
              <a:lnSpc>
                <a:spcPct val="112000"/>
              </a:lnSpc>
              <a:spcAft>
                <a:spcPts val="0"/>
              </a:spcAft>
            </a:pPr>
            <a:r>
              <a:rPr sz="6300">
                <a:solidFill>
                  <a:srgbClr val="000000"/>
                </a:solidFill>
                <a:latin typeface="DejaVu Sans Mono"/>
              </a:rPr>
              <a:t>coop</a:t>
            </a:r>
            <a:r>
              <a:rPr sz="6300">
                <a:solidFill>
                  <a:srgbClr val="000000"/>
                </a:solidFill>
                <a:latin typeface="DejaVu Sans Mono"/>
              </a:rPr>
              <a:t>:</a:t>
            </a:r>
            <a:r>
              <a:rPr sz="6300">
                <a:solidFill>
                  <a:srgbClr val="000000"/>
                </a:solidFill>
                <a:latin typeface="DejaVu Sans Mono"/>
              </a:rPr>
              <a:t>:</a:t>
            </a:r>
            <a:r>
              <a:rPr sz="6300">
                <a:solidFill>
                  <a:srgbClr val="000000"/>
                </a:solidFill>
                <a:latin typeface="DejaVu Sans Mono"/>
              </a:rPr>
              <a:t>interwarp_synchronizer</a:t>
            </a:r>
            <a:r>
              <a:rPr sz="6300">
                <a:solidFill>
                  <a:srgbClr val="000000"/>
                </a:solidFill>
                <a:latin typeface="DejaVu Sans Mono"/>
              </a:rPr>
              <a:t>{</a:t>
            </a:r>
          </a:p>
          <a:p>
            <a:pPr>
              <a:lnSpc>
                <a:spcPct val="112000"/>
              </a:lnSpc>
              <a:spcAft>
                <a:spcPts val="0"/>
              </a:spcAft>
            </a:pPr>
            <a:r>
              <a:rPr sz="6300">
                <a:solidFill>
                  <a:srgbClr val="000000"/>
                </a:solidFill>
                <a:latin typeface="DejaVu Sans Mono"/>
              </a:rPr>
              <a:t>  </a:t>
            </a:r>
            <a:r>
              <a:rPr sz="6300">
                <a:solidFill>
                  <a:srgbClr val="000000"/>
                </a:solidFill>
                <a:latin typeface="DejaVu Sans Mono"/>
              </a:rPr>
              <a:t>cuda</a:t>
            </a:r>
            <a:r>
              <a:rPr sz="6300">
                <a:solidFill>
                  <a:srgbClr val="000000"/>
                </a:solidFill>
                <a:latin typeface="DejaVu Sans Mono"/>
              </a:rPr>
              <a:t>:</a:t>
            </a:r>
            <a:r>
              <a:rPr sz="6300">
                <a:solidFill>
                  <a:srgbClr val="000000"/>
                </a:solidFill>
                <a:latin typeface="DejaVu Sans Mono"/>
              </a:rPr>
              <a:t>:</a:t>
            </a:r>
            <a:r>
              <a:rPr sz="6300">
                <a:solidFill>
                  <a:srgbClr val="000000"/>
                </a:solidFill>
                <a:latin typeface="DejaVu Sans Mono"/>
              </a:rPr>
              <a:t>std</a:t>
            </a:r>
            <a:r>
              <a:rPr sz="6300">
                <a:solidFill>
                  <a:srgbClr val="000000"/>
                </a:solidFill>
                <a:latin typeface="DejaVu Sans Mono"/>
              </a:rPr>
              <a:t>:</a:t>
            </a:r>
            <a:r>
              <a:rPr sz="6300">
                <a:solidFill>
                  <a:srgbClr val="000000"/>
                </a:solidFill>
                <a:latin typeface="DejaVu Sans Mono"/>
              </a:rPr>
              <a:t>:</a:t>
            </a:r>
            <a:r>
              <a:rPr sz="6300">
                <a:solidFill>
                  <a:srgbClr val="000000"/>
                </a:solidFill>
                <a:latin typeface="DejaVu Sans Mono"/>
              </a:rPr>
              <a:t>ranges</a:t>
            </a:r>
            <a:r>
              <a:rPr sz="6300">
                <a:solidFill>
                  <a:srgbClr val="000000"/>
                </a:solidFill>
                <a:latin typeface="DejaVu Sans Mono"/>
              </a:rPr>
              <a:t>:</a:t>
            </a:r>
            <a:r>
              <a:rPr sz="6300">
                <a:solidFill>
                  <a:srgbClr val="000000"/>
                </a:solidFill>
                <a:latin typeface="DejaVu Sans Mono"/>
              </a:rPr>
              <a:t>:</a:t>
            </a:r>
            <a:r>
              <a:rPr sz="6300">
                <a:solidFill>
                  <a:srgbClr val="000000"/>
                </a:solidFill>
                <a:latin typeface="DejaVu Sans Mono"/>
              </a:rPr>
              <a:t>views</a:t>
            </a:r>
            <a:r>
              <a:rPr sz="6300">
                <a:solidFill>
                  <a:srgbClr val="000000"/>
                </a:solidFill>
                <a:latin typeface="DejaVu Sans Mono"/>
              </a:rPr>
              <a:t>:</a:t>
            </a:r>
            <a:r>
              <a:rPr sz="6300">
                <a:solidFill>
                  <a:srgbClr val="000000"/>
                </a:solidFill>
                <a:latin typeface="DejaVu Sans Mono"/>
              </a:rPr>
              <a:t>:</a:t>
            </a:r>
            <a:r>
              <a:rPr sz="6300">
                <a:solidFill>
                  <a:srgbClr val="000000"/>
                </a:solidFill>
                <a:latin typeface="DejaVu Sans Mono"/>
              </a:rPr>
              <a:t>iota</a:t>
            </a:r>
            <a:r>
              <a:rPr sz="6300">
                <a:solidFill>
                  <a:srgbClr val="000000"/>
                </a:solidFill>
                <a:latin typeface="DejaVu Sans Mono"/>
              </a:rPr>
              <a:t>(</a:t>
            </a:r>
            <a:r>
              <a:rPr sz="6300">
                <a:solidFill>
                  <a:srgbClr val="000000"/>
                </a:solidFill>
                <a:latin typeface="DejaVu Sans Mono"/>
              </a:rPr>
              <a:t>1</a:t>
            </a:r>
            <a:r>
              <a:rPr sz="6300">
                <a:solidFill>
                  <a:srgbClr val="000000"/>
                </a:solidFill>
                <a:latin typeface="DejaVu Sans Mono"/>
              </a:rPr>
              <a:t>)</a:t>
            </a:r>
          </a:p>
          <a:p>
            <a:pPr>
              <a:lnSpc>
                <a:spcPct val="112000"/>
              </a:lnSpc>
              <a:spcAft>
                <a:spcPts val="0"/>
              </a:spcAft>
            </a:pPr>
            <a:r>
              <a:rPr sz="6300">
                <a:solidFill>
                  <a:srgbClr val="000000"/>
                </a:solidFill>
                <a:latin typeface="DejaVu Sans Mono"/>
              </a:rPr>
              <a:t>}</a:t>
            </a:r>
          </a:p>
          <a:p>
            <a:pPr>
              <a:lnSpc>
                <a:spcPct val="112000"/>
              </a:lnSpc>
              <a:spcAft>
                <a:spcPts val="0"/>
              </a:spcAft>
            </a:pPr>
          </a:p>
        </p:txBody>
      </p:sp>
      <p:sp>
        <p:nvSpPr>
          <p:cNvPr id="9" name="Rectangle 8"/>
          <p:cNvSpPr/>
          <p:nvPr/>
        </p:nvSpPr>
        <p:spPr>
          <a:xfrm>
            <a:off x="1783080" y="10972800"/>
            <a:ext cx="10533888" cy="54864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83080" y="10972800"/>
            <a:ext cx="10533888"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6584" y="11658600"/>
            <a:ext cx="9326880" cy="1508760"/>
          </a:xfrm>
          <a:prstGeom prst="rect">
            <a:avLst/>
          </a:prstGeom>
          <a:noFill/>
        </p:spPr>
        <p:txBody>
          <a:bodyPr wrap="square" lIns="0" rIns="0" tIns="0" bIns="0">
            <a:noAutofit/>
          </a:bodyPr>
          <a:lstStyle/>
          <a:p>
            <a:pPr algn="l">
              <a:lnSpc>
                <a:spcPct val="108000"/>
              </a:lnSpc>
              <a:spcAft>
                <a:spcPts val="1260"/>
              </a:spcAft>
              <a:defRPr sz="6300" b="1">
                <a:solidFill>
                  <a:srgbClr val="000000"/>
                </a:solidFill>
                <a:latin typeface="NVIDIA Sans Medium"/>
              </a:defRPr>
            </a:pPr>
            <a:r>
              <a:t>Group A</a:t>
            </a:r>
          </a:p>
        </p:txBody>
      </p:sp>
      <p:sp>
        <p:nvSpPr>
          <p:cNvPr id="12" name="TextBox 11"/>
          <p:cNvSpPr txBox="1"/>
          <p:nvPr/>
        </p:nvSpPr>
        <p:spPr>
          <a:xfrm>
            <a:off x="2386584" y="13304519"/>
            <a:ext cx="9326880" cy="2743200"/>
          </a:xfrm>
          <a:prstGeom prst="rect">
            <a:avLst/>
          </a:prstGeom>
          <a:noFill/>
        </p:spPr>
        <p:txBody>
          <a:bodyPr wrap="square" lIns="0" rIns="0" tIns="0" bIns="0">
            <a:noAutofit/>
          </a:bodyPr>
          <a:lstStyle/>
          <a:p>
            <a:pPr algn="l">
              <a:lnSpc>
                <a:spcPct val="108000"/>
              </a:lnSpc>
              <a:spcAft>
                <a:spcPts val="1080"/>
              </a:spcAft>
              <a:defRPr sz="5400" b="0">
                <a:solidFill>
                  <a:srgbClr val="000000"/>
                </a:solidFill>
                <a:latin typeface="NVIDIA Sans"/>
              </a:defRPr>
            </a:pPr>
            <a:r>
              <a:t>2 warps</a:t>
            </a:r>
          </a:p>
          <a:p>
            <a:pPr algn="l">
              <a:lnSpc>
                <a:spcPct val="108000"/>
              </a:lnSpc>
              <a:spcAft>
                <a:spcPts val="1080"/>
              </a:spcAft>
              <a:defRPr sz="5400" b="0">
                <a:solidFill>
                  <a:srgbClr val="000000"/>
                </a:solidFill>
                <a:latin typeface="NVIDIA Sans"/>
              </a:defRPr>
            </a:pPr>
            <a:r>
              <a:t>Barrier ID 1</a:t>
            </a:r>
          </a:p>
        </p:txBody>
      </p:sp>
      <p:sp>
        <p:nvSpPr>
          <p:cNvPr id="13" name="Rectangle 12"/>
          <p:cNvSpPr/>
          <p:nvPr/>
        </p:nvSpPr>
        <p:spPr>
          <a:xfrm>
            <a:off x="12975336" y="10972800"/>
            <a:ext cx="10533888" cy="54864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975336" y="10972800"/>
            <a:ext cx="10533888"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78840" y="11658600"/>
            <a:ext cx="9326880" cy="1508760"/>
          </a:xfrm>
          <a:prstGeom prst="rect">
            <a:avLst/>
          </a:prstGeom>
          <a:noFill/>
        </p:spPr>
        <p:txBody>
          <a:bodyPr wrap="square" lIns="0" rIns="0" tIns="0" bIns="0">
            <a:noAutofit/>
          </a:bodyPr>
          <a:lstStyle/>
          <a:p>
            <a:pPr algn="l">
              <a:lnSpc>
                <a:spcPct val="108000"/>
              </a:lnSpc>
              <a:spcAft>
                <a:spcPts val="1260"/>
              </a:spcAft>
              <a:defRPr sz="6300" b="1">
                <a:solidFill>
                  <a:srgbClr val="000000"/>
                </a:solidFill>
                <a:latin typeface="NVIDIA Sans Medium"/>
              </a:defRPr>
            </a:pPr>
            <a:r>
              <a:t>Group B</a:t>
            </a:r>
          </a:p>
        </p:txBody>
      </p:sp>
      <p:sp>
        <p:nvSpPr>
          <p:cNvPr id="16" name="TextBox 15"/>
          <p:cNvSpPr txBox="1"/>
          <p:nvPr/>
        </p:nvSpPr>
        <p:spPr>
          <a:xfrm>
            <a:off x="13578840" y="13304519"/>
            <a:ext cx="9326880" cy="2743200"/>
          </a:xfrm>
          <a:prstGeom prst="rect">
            <a:avLst/>
          </a:prstGeom>
          <a:noFill/>
        </p:spPr>
        <p:txBody>
          <a:bodyPr wrap="square" lIns="0" rIns="0" tIns="0" bIns="0">
            <a:noAutofit/>
          </a:bodyPr>
          <a:lstStyle/>
          <a:p>
            <a:pPr algn="l">
              <a:lnSpc>
                <a:spcPct val="108000"/>
              </a:lnSpc>
              <a:spcAft>
                <a:spcPts val="1080"/>
              </a:spcAft>
              <a:defRPr sz="5400" b="0">
                <a:solidFill>
                  <a:srgbClr val="000000"/>
                </a:solidFill>
                <a:latin typeface="NVIDIA Sans"/>
              </a:defRPr>
            </a:pPr>
            <a:r>
              <a:t>3 warps</a:t>
            </a:r>
          </a:p>
          <a:p>
            <a:pPr algn="l">
              <a:lnSpc>
                <a:spcPct val="108000"/>
              </a:lnSpc>
              <a:spcAft>
                <a:spcPts val="1080"/>
              </a:spcAft>
              <a:defRPr sz="5400" b="0">
                <a:solidFill>
                  <a:srgbClr val="000000"/>
                </a:solidFill>
                <a:latin typeface="NVIDIA Sans"/>
              </a:defRPr>
            </a:pPr>
            <a:r>
              <a:t>Barrier ID 2</a:t>
            </a:r>
          </a:p>
        </p:txBody>
      </p:sp>
      <p:sp>
        <p:nvSpPr>
          <p:cNvPr id="17" name="Rectangle 16"/>
          <p:cNvSpPr/>
          <p:nvPr/>
        </p:nvSpPr>
        <p:spPr>
          <a:xfrm>
            <a:off x="24167592" y="10972800"/>
            <a:ext cx="10533888" cy="54864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167592" y="10972800"/>
            <a:ext cx="10533888"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771096" y="11658600"/>
            <a:ext cx="9326880" cy="1508760"/>
          </a:xfrm>
          <a:prstGeom prst="rect">
            <a:avLst/>
          </a:prstGeom>
          <a:noFill/>
        </p:spPr>
        <p:txBody>
          <a:bodyPr wrap="square" lIns="0" rIns="0" tIns="0" bIns="0">
            <a:noAutofit/>
          </a:bodyPr>
          <a:lstStyle/>
          <a:p>
            <a:pPr algn="l">
              <a:lnSpc>
                <a:spcPct val="108000"/>
              </a:lnSpc>
              <a:spcAft>
                <a:spcPts val="1260"/>
              </a:spcAft>
              <a:defRPr sz="6300" b="1">
                <a:solidFill>
                  <a:srgbClr val="000000"/>
                </a:solidFill>
                <a:latin typeface="NVIDIA Sans Medium"/>
              </a:defRPr>
            </a:pPr>
            <a:r>
              <a:t>Group C</a:t>
            </a:r>
          </a:p>
        </p:txBody>
      </p:sp>
      <p:sp>
        <p:nvSpPr>
          <p:cNvPr id="20" name="TextBox 19"/>
          <p:cNvSpPr txBox="1"/>
          <p:nvPr/>
        </p:nvSpPr>
        <p:spPr>
          <a:xfrm>
            <a:off x="24771096" y="13304519"/>
            <a:ext cx="9326880" cy="2743200"/>
          </a:xfrm>
          <a:prstGeom prst="rect">
            <a:avLst/>
          </a:prstGeom>
          <a:noFill/>
        </p:spPr>
        <p:txBody>
          <a:bodyPr wrap="square" lIns="0" rIns="0" tIns="0" bIns="0">
            <a:noAutofit/>
          </a:bodyPr>
          <a:lstStyle/>
          <a:p>
            <a:pPr algn="l">
              <a:lnSpc>
                <a:spcPct val="108000"/>
              </a:lnSpc>
              <a:spcAft>
                <a:spcPts val="1080"/>
              </a:spcAft>
              <a:defRPr sz="5400" b="0">
                <a:solidFill>
                  <a:srgbClr val="000000"/>
                </a:solidFill>
                <a:latin typeface="NVIDIA Sans"/>
              </a:defRPr>
            </a:pPr>
            <a:r>
              <a:t>1 warp</a:t>
            </a:r>
          </a:p>
          <a:p>
            <a:pPr algn="l">
              <a:lnSpc>
                <a:spcPct val="108000"/>
              </a:lnSpc>
              <a:spcAft>
                <a:spcPts val="1080"/>
              </a:spcAft>
              <a:defRPr sz="5400" b="0">
                <a:solidFill>
                  <a:srgbClr val="000000"/>
                </a:solidFill>
                <a:latin typeface="NVIDIA Sans"/>
              </a:defRPr>
            </a:pPr>
            <a:r>
              <a:t>Barrier ID 3</a:t>
            </a:r>
          </a:p>
        </p:txBody>
      </p:sp>
      <p:sp>
        <p:nvSpPr>
          <p:cNvPr id="21" name="Rectangle 20"/>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IDs must be distinct and below 16; start at 1 to avoid the __syncthreads() barrier.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barrier_synchronizer uses cuda::barrier</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Provide storage with scope sufficient for the group.</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31</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Synchronizers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docs/cudax/coop/group/synchronizer/barrier_synchronizer.rst</a:t>
            </a:r>
          </a:p>
        </p:txBody>
      </p:sp>
      <p:sp>
        <p:nvSpPr>
          <p:cNvPr id="7" name="Rectangle 6"/>
          <p:cNvSpPr/>
          <p:nvPr/>
        </p:nvSpPr>
        <p:spPr>
          <a:xfrm>
            <a:off x="1783080" y="5897879"/>
            <a:ext cx="32918400" cy="54864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31656527" cy="4608576"/>
          </a:xfrm>
          <a:prstGeom prst="rect">
            <a:avLst/>
          </a:prstGeom>
          <a:noFill/>
        </p:spPr>
        <p:txBody>
          <a:bodyPr wrap="none" lIns="0" rIns="0" tIns="0" bIns="0">
            <a:noAutofit/>
          </a:bodyPr>
          <a:lstStyle/>
          <a:p>
            <a:pPr>
              <a:lnSpc>
                <a:spcPct val="112000"/>
              </a:lnSpc>
              <a:spcAft>
                <a:spcPts val="0"/>
              </a:spcAft>
            </a:pPr>
            <a:r>
              <a:rPr sz="5700">
                <a:solidFill>
                  <a:srgbClr val="000000"/>
                </a:solidFill>
                <a:latin typeface="DejaVu Sans Mono"/>
              </a:rPr>
              <a:t>__shared__</a:t>
            </a:r>
            <a:r>
              <a:rPr sz="5700">
                <a:solidFill>
                  <a:srgbClr val="000000"/>
                </a:solidFill>
                <a:latin typeface="DejaVu Sans Mono"/>
              </a:rPr>
              <a:t> </a:t>
            </a:r>
            <a:r>
              <a:rPr sz="5700">
                <a:solidFill>
                  <a:srgbClr val="000000"/>
                </a:solidFill>
                <a:latin typeface="DejaVu Sans Mono"/>
              </a:rPr>
              <a:t>cuda</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barrier</a:t>
            </a:r>
            <a:r>
              <a:rPr sz="5700">
                <a:solidFill>
                  <a:srgbClr val="000000"/>
                </a:solidFill>
                <a:latin typeface="DejaVu Sans Mono"/>
              </a:rPr>
              <a:t>&lt;</a:t>
            </a:r>
            <a:r>
              <a:rPr sz="5700">
                <a:solidFill>
                  <a:srgbClr val="000000"/>
                </a:solidFill>
                <a:latin typeface="DejaVu Sans Mono"/>
              </a:rPr>
              <a:t>cuda</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thread_scope_block</a:t>
            </a:r>
            <a:r>
              <a:rPr sz="5700">
                <a:solidFill>
                  <a:srgbClr val="000000"/>
                </a:solidFill>
                <a:latin typeface="DejaVu Sans Mono"/>
              </a:rPr>
              <a:t>&gt;</a:t>
            </a:r>
          </a:p>
          <a:p>
            <a:pPr>
              <a:lnSpc>
                <a:spcPct val="112000"/>
              </a:lnSpc>
              <a:spcAft>
                <a:spcPts val="0"/>
              </a:spcAft>
            </a:pPr>
            <a:r>
              <a:rPr sz="5700">
                <a:solidFill>
                  <a:srgbClr val="000000"/>
                </a:solidFill>
                <a:latin typeface="DejaVu Sans Mono"/>
              </a:rPr>
              <a:t>  </a:t>
            </a:r>
            <a:r>
              <a:rPr sz="5700">
                <a:solidFill>
                  <a:srgbClr val="000000"/>
                </a:solidFill>
                <a:latin typeface="DejaVu Sans Mono"/>
              </a:rPr>
              <a:t>barriers</a:t>
            </a:r>
            <a:r>
              <a:rPr sz="5700">
                <a:solidFill>
                  <a:srgbClr val="000000"/>
                </a:solidFill>
                <a:latin typeface="DejaVu Sans Mono"/>
              </a:rPr>
              <a:t>[</a:t>
            </a:r>
            <a:r>
              <a:rPr sz="5700">
                <a:solidFill>
                  <a:srgbClr val="000000"/>
                </a:solidFill>
                <a:latin typeface="DejaVu Sans Mono"/>
              </a:rPr>
              <a:t>3</a:t>
            </a:r>
            <a:r>
              <a:rPr sz="5700">
                <a:solidFill>
                  <a:srgbClr val="000000"/>
                </a:solidFill>
                <a:latin typeface="DejaVu Sans Mono"/>
              </a:rPr>
              <a:t>]</a:t>
            </a:r>
            <a:r>
              <a:rPr sz="5700">
                <a:solidFill>
                  <a:srgbClr val="000000"/>
                </a:solidFill>
                <a:latin typeface="DejaVu Sans Mono"/>
              </a:rPr>
              <a:t>;</a:t>
            </a:r>
          </a:p>
          <a:p>
            <a:pPr>
              <a:lnSpc>
                <a:spcPct val="112000"/>
              </a:lnSpc>
              <a:spcAft>
                <a:spcPts val="0"/>
              </a:spcAft>
            </a:pPr>
          </a:p>
          <a:p>
            <a:pPr>
              <a:lnSpc>
                <a:spcPct val="112000"/>
              </a:lnSpc>
              <a:spcAft>
                <a:spcPts val="0"/>
              </a:spcAft>
            </a:pPr>
            <a:r>
              <a:rPr sz="5700">
                <a:solidFill>
                  <a:srgbClr val="000000"/>
                </a:solidFill>
                <a:latin typeface="DejaVu Sans Mono"/>
              </a:rPr>
              <a:t>coop</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barrier_synchronizer</a:t>
            </a:r>
            <a:r>
              <a:rPr sz="5700">
                <a:solidFill>
                  <a:srgbClr val="000000"/>
                </a:solidFill>
                <a:latin typeface="DejaVu Sans Mono"/>
              </a:rPr>
              <a:t> </a:t>
            </a:r>
            <a:r>
              <a:rPr sz="5700">
                <a:solidFill>
                  <a:srgbClr val="000000"/>
                </a:solidFill>
                <a:latin typeface="DejaVu Sans Mono"/>
              </a:rPr>
              <a:t>policy</a:t>
            </a:r>
            <a:r>
              <a:rPr sz="5700">
                <a:solidFill>
                  <a:srgbClr val="000000"/>
                </a:solidFill>
                <a:latin typeface="DejaVu Sans Mono"/>
              </a:rPr>
              <a:t>{</a:t>
            </a:r>
            <a:r>
              <a:rPr sz="5700">
                <a:solidFill>
                  <a:srgbClr val="000000"/>
                </a:solidFill>
                <a:latin typeface="DejaVu Sans Mono"/>
              </a:rPr>
              <a:t>barriers</a:t>
            </a:r>
            <a:r>
              <a:rPr sz="5700">
                <a:solidFill>
                  <a:srgbClr val="000000"/>
                </a:solidFill>
                <a:latin typeface="DejaVu Sans Mono"/>
              </a:rPr>
              <a:t>}</a:t>
            </a:r>
            <a:r>
              <a:rPr sz="5700">
                <a:solidFill>
                  <a:srgbClr val="000000"/>
                </a:solidFill>
                <a:latin typeface="DejaVu Sans Mono"/>
              </a:rPr>
              <a:t>;</a:t>
            </a:r>
          </a:p>
          <a:p>
            <a:pPr>
              <a:lnSpc>
                <a:spcPct val="112000"/>
              </a:lnSpc>
              <a:spcAft>
                <a:spcPts val="0"/>
              </a:spcAft>
            </a:pPr>
          </a:p>
        </p:txBody>
      </p:sp>
      <p:sp>
        <p:nvSpPr>
          <p:cNvPr id="9" name="Rectangle 8"/>
          <p:cNvSpPr/>
          <p:nvPr/>
        </p:nvSpPr>
        <p:spPr>
          <a:xfrm>
            <a:off x="1865376" y="13085064"/>
            <a:ext cx="178308" cy="1783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68880" y="12755880"/>
            <a:ext cx="31491935" cy="1179576"/>
          </a:xfrm>
          <a:prstGeom prst="rect">
            <a:avLst/>
          </a:prstGeom>
          <a:noFill/>
        </p:spPr>
        <p:txBody>
          <a:bodyPr wrap="square" lIns="0" rIns="0" tIns="0" bIns="0">
            <a:noAutofit/>
          </a:bodyPr>
          <a:lstStyle/>
          <a:p>
            <a:pPr algn="l">
              <a:lnSpc>
                <a:spcPct val="108000"/>
              </a:lnSpc>
              <a:spcAft>
                <a:spcPts val="1200"/>
              </a:spcAft>
              <a:defRPr sz="6000" b="0">
                <a:solidFill>
                  <a:srgbClr val="000000"/>
                </a:solidFill>
                <a:latin typeface="NVIDIA Sans"/>
              </a:defRPr>
            </a:pPr>
            <a:r>
              <a:t>Pass a contiguous range of uninitialized barrier objects.</a:t>
            </a:r>
          </a:p>
        </p:txBody>
      </p:sp>
      <p:sp>
        <p:nvSpPr>
          <p:cNvPr id="11" name="Rectangle 10"/>
          <p:cNvSpPr/>
          <p:nvPr/>
        </p:nvSpPr>
        <p:spPr>
          <a:xfrm>
            <a:off x="1865376" y="14538960"/>
            <a:ext cx="178308" cy="1783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68880" y="14209776"/>
            <a:ext cx="31491935" cy="1179576"/>
          </a:xfrm>
          <a:prstGeom prst="rect">
            <a:avLst/>
          </a:prstGeom>
          <a:noFill/>
        </p:spPr>
        <p:txBody>
          <a:bodyPr wrap="square" lIns="0" rIns="0" tIns="0" bIns="0">
            <a:noAutofit/>
          </a:bodyPr>
          <a:lstStyle/>
          <a:p>
            <a:pPr algn="l">
              <a:lnSpc>
                <a:spcPct val="108000"/>
              </a:lnSpc>
              <a:spcAft>
                <a:spcPts val="1200"/>
              </a:spcAft>
              <a:defRPr sz="6000" b="0">
                <a:solidFill>
                  <a:srgbClr val="000000"/>
                </a:solidFill>
                <a:latin typeface="NVIDIA Sans"/>
              </a:defRPr>
            </a:pPr>
            <a:r>
              <a:t>Each created group receives a barrier from that range.</a:t>
            </a:r>
          </a:p>
        </p:txBody>
      </p:sp>
      <p:sp>
        <p:nvSpPr>
          <p:cNvPr id="13" name="Rectangle 12"/>
          <p:cNvSpPr/>
          <p:nvPr/>
        </p:nvSpPr>
        <p:spPr>
          <a:xfrm>
            <a:off x="1865376" y="15992856"/>
            <a:ext cx="178308" cy="1783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68880" y="15663672"/>
            <a:ext cx="31491935" cy="1179576"/>
          </a:xfrm>
          <a:prstGeom prst="rect">
            <a:avLst/>
          </a:prstGeom>
          <a:noFill/>
        </p:spPr>
        <p:txBody>
          <a:bodyPr wrap="square" lIns="0" rIns="0" tIns="0" bIns="0">
            <a:noAutofit/>
          </a:bodyPr>
          <a:lstStyle/>
          <a:p>
            <a:pPr algn="l">
              <a:lnSpc>
                <a:spcPct val="108000"/>
              </a:lnSpc>
              <a:spcAft>
                <a:spcPts val="1200"/>
              </a:spcAft>
              <a:defRPr sz="6000" b="0">
                <a:solidFill>
                  <a:srgbClr val="000000"/>
                </a:solidFill>
                <a:latin typeface="NVIDIA Sans"/>
              </a:defRPr>
            </a:pPr>
            <a:r>
              <a:t>Keep the storage alive for the groups that use it.</a:t>
            </a:r>
          </a:p>
        </p:txBody>
      </p:sp>
      <p:sp>
        <p:nvSpPr>
          <p:cNvPr id="15" name="Rectangle 14"/>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Use template argument deduction; resource count and barrier scope must cover the groups.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sync_aligned makes a stronger promise</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All participating units execute the same synchronization statement.</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32</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Synchronizers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docs/cudax/coop/group/index.rst</a:t>
            </a:r>
          </a:p>
        </p:txBody>
      </p:sp>
      <p:sp>
        <p:nvSpPr>
          <p:cNvPr id="7" name="Rectangle 6"/>
          <p:cNvSpPr/>
          <p:nvPr/>
        </p:nvSpPr>
        <p:spPr>
          <a:xfrm>
            <a:off x="1783080" y="6446520"/>
            <a:ext cx="16130016" cy="96012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783080" y="6446520"/>
            <a:ext cx="16130016"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6584" y="7132320"/>
            <a:ext cx="14923008" cy="2331720"/>
          </a:xfrm>
          <a:prstGeom prst="rect">
            <a:avLst/>
          </a:prstGeom>
          <a:noFill/>
        </p:spPr>
        <p:txBody>
          <a:bodyPr wrap="square" lIns="0" rIns="0" tIns="0" bIns="0">
            <a:noAutofit/>
          </a:bodyPr>
          <a:lstStyle/>
          <a:p>
            <a:pPr algn="l">
              <a:lnSpc>
                <a:spcPct val="108000"/>
              </a:lnSpc>
              <a:spcAft>
                <a:spcPts val="1380"/>
              </a:spcAft>
              <a:defRPr sz="6900" b="1">
                <a:solidFill>
                  <a:srgbClr val="000000"/>
                </a:solidFill>
                <a:latin typeface="NVIDIA Sans Medium"/>
              </a:defRPr>
            </a:pPr>
            <a:r>
              <a:t>sync()</a:t>
            </a:r>
          </a:p>
        </p:txBody>
      </p:sp>
      <p:sp>
        <p:nvSpPr>
          <p:cNvPr id="10" name="TextBox 9"/>
          <p:cNvSpPr txBox="1"/>
          <p:nvPr/>
        </p:nvSpPr>
        <p:spPr>
          <a:xfrm>
            <a:off x="2386584" y="9875520"/>
            <a:ext cx="14923008" cy="5705856"/>
          </a:xfrm>
          <a:prstGeom prst="rect">
            <a:avLst/>
          </a:prstGeom>
          <a:noFill/>
        </p:spPr>
        <p:txBody>
          <a:bodyPr wrap="square" lIns="0" rIns="0" tIns="0" bIns="0">
            <a:noAutofit/>
          </a:bodyPr>
          <a:lstStyle/>
          <a:p>
            <a:pPr algn="l">
              <a:lnSpc>
                <a:spcPct val="108000"/>
              </a:lnSpc>
              <a:spcAft>
                <a:spcPts val="1110"/>
              </a:spcAft>
              <a:defRPr sz="5550" b="0">
                <a:solidFill>
                  <a:srgbClr val="000000"/>
                </a:solidFill>
                <a:latin typeface="NVIDIA Sans"/>
              </a:defRPr>
            </a:pPr>
            <a:r>
              <a:t>Synchronize the group without promising contextual alignment.</a:t>
            </a:r>
          </a:p>
        </p:txBody>
      </p:sp>
      <p:sp>
        <p:nvSpPr>
          <p:cNvPr id="11" name="Rectangle 10"/>
          <p:cNvSpPr/>
          <p:nvPr/>
        </p:nvSpPr>
        <p:spPr>
          <a:xfrm>
            <a:off x="18571464" y="6446520"/>
            <a:ext cx="16130016" cy="96012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571464" y="6446520"/>
            <a:ext cx="16130016" cy="1508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174968" y="7132320"/>
            <a:ext cx="14923008" cy="2331720"/>
          </a:xfrm>
          <a:prstGeom prst="rect">
            <a:avLst/>
          </a:prstGeom>
          <a:noFill/>
        </p:spPr>
        <p:txBody>
          <a:bodyPr wrap="square" lIns="0" rIns="0" tIns="0" bIns="0">
            <a:noAutofit/>
          </a:bodyPr>
          <a:lstStyle/>
          <a:p>
            <a:pPr algn="l">
              <a:lnSpc>
                <a:spcPct val="108000"/>
              </a:lnSpc>
              <a:spcAft>
                <a:spcPts val="1380"/>
              </a:spcAft>
              <a:defRPr sz="6900" b="1">
                <a:solidFill>
                  <a:srgbClr val="000000"/>
                </a:solidFill>
                <a:latin typeface="NVIDIA Sans Medium"/>
              </a:defRPr>
            </a:pPr>
            <a:r>
              <a:t>sync_aligned()</a:t>
            </a:r>
          </a:p>
        </p:txBody>
      </p:sp>
      <p:sp>
        <p:nvSpPr>
          <p:cNvPr id="14" name="TextBox 13"/>
          <p:cNvSpPr txBox="1"/>
          <p:nvPr/>
        </p:nvSpPr>
        <p:spPr>
          <a:xfrm>
            <a:off x="19174968" y="9875520"/>
            <a:ext cx="14923008" cy="5705856"/>
          </a:xfrm>
          <a:prstGeom prst="rect">
            <a:avLst/>
          </a:prstGeom>
          <a:noFill/>
        </p:spPr>
        <p:txBody>
          <a:bodyPr wrap="square" lIns="0" rIns="0" tIns="0" bIns="0">
            <a:noAutofit/>
          </a:bodyPr>
          <a:lstStyle/>
          <a:p>
            <a:pPr algn="l">
              <a:lnSpc>
                <a:spcPct val="108000"/>
              </a:lnSpc>
              <a:spcAft>
                <a:spcPts val="1110"/>
              </a:spcAft>
              <a:defRPr sz="5550" b="0">
                <a:solidFill>
                  <a:srgbClr val="000000"/>
                </a:solidFill>
                <a:latin typeface="NVIDIA Sans"/>
              </a:defRPr>
            </a:pPr>
            <a:r>
              <a:t>Synchronize while guaranteeing that participants execute the exact same statement.</a:t>
            </a:r>
          </a:p>
        </p:txBody>
      </p:sp>
      <p:sp>
        <p:nvSpPr>
          <p:cNvPr id="15" name="Rectangle 14"/>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Both operations require valid participation and the required units to reach synchronization.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generic_group creates independent subgroups</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One construction combines unit, parent, mapping and synchronizer.</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33</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Applying groups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docs/cudax/coop/group/generic_group.rst</a:t>
            </a:r>
          </a:p>
        </p:txBody>
      </p:sp>
      <p:sp>
        <p:nvSpPr>
          <p:cNvPr id="7" name="Rectangle 6"/>
          <p:cNvSpPr/>
          <p:nvPr/>
        </p:nvSpPr>
        <p:spPr>
          <a:xfrm>
            <a:off x="1783080" y="5897879"/>
            <a:ext cx="32918400" cy="10287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31656527" cy="9409176"/>
          </a:xfrm>
          <a:prstGeom prst="rect">
            <a:avLst/>
          </a:prstGeom>
          <a:noFill/>
        </p:spPr>
        <p:txBody>
          <a:bodyPr wrap="none" lIns="0" rIns="0" tIns="0" bIns="0">
            <a:noAutofit/>
          </a:bodyPr>
          <a:lstStyle/>
          <a:p>
            <a:pPr>
              <a:lnSpc>
                <a:spcPct val="112000"/>
              </a:lnSpc>
              <a:spcAft>
                <a:spcPts val="0"/>
              </a:spcAft>
            </a:pPr>
            <a:r>
              <a:rPr sz="5100">
                <a:solidFill>
                  <a:srgbClr val="000000"/>
                </a:solidFill>
                <a:latin typeface="DejaVu Sans Mono"/>
              </a:rPr>
              <a:t>coop</a:t>
            </a:r>
            <a:r>
              <a:rPr sz="5100">
                <a:solidFill>
                  <a:srgbClr val="000000"/>
                </a:solidFill>
                <a:latin typeface="DejaVu Sans Mono"/>
              </a:rPr>
              <a:t>:</a:t>
            </a:r>
            <a:r>
              <a:rPr sz="5100">
                <a:solidFill>
                  <a:srgbClr val="000000"/>
                </a:solidFill>
                <a:latin typeface="DejaVu Sans Mono"/>
              </a:rPr>
              <a:t>:</a:t>
            </a:r>
            <a:r>
              <a:rPr sz="5100">
                <a:solidFill>
                  <a:srgbClr val="000000"/>
                </a:solidFill>
                <a:latin typeface="DejaVu Sans Mono"/>
              </a:rPr>
              <a:t>this_block</a:t>
            </a:r>
            <a:r>
              <a:rPr sz="5100">
                <a:solidFill>
                  <a:srgbClr val="000000"/>
                </a:solidFill>
                <a:latin typeface="DejaVu Sans Mono"/>
              </a:rPr>
              <a:t> </a:t>
            </a:r>
            <a:r>
              <a:rPr sz="5100">
                <a:solidFill>
                  <a:srgbClr val="000000"/>
                </a:solidFill>
                <a:latin typeface="DejaVu Sans Mono"/>
              </a:rPr>
              <a:t>block</a:t>
            </a:r>
            <a:r>
              <a:rPr sz="5100">
                <a:solidFill>
                  <a:srgbClr val="000000"/>
                </a:solidFill>
                <a:latin typeface="DejaVu Sans Mono"/>
              </a:rPr>
              <a:t>{</a:t>
            </a:r>
            <a:r>
              <a:rPr sz="5100">
                <a:solidFill>
                  <a:srgbClr val="000000"/>
                </a:solidFill>
                <a:latin typeface="DejaVu Sans Mono"/>
              </a:rPr>
              <a:t>config</a:t>
            </a:r>
            <a:r>
              <a:rPr sz="5100">
                <a:solidFill>
                  <a:srgbClr val="000000"/>
                </a:solidFill>
                <a:latin typeface="DejaVu Sans Mono"/>
              </a:rPr>
              <a:t>}</a:t>
            </a:r>
            <a:r>
              <a:rPr sz="5100">
                <a:solidFill>
                  <a:srgbClr val="000000"/>
                </a:solidFill>
                <a:latin typeface="DejaVu Sans Mono"/>
              </a:rPr>
              <a:t>;</a:t>
            </a:r>
          </a:p>
          <a:p>
            <a:pPr>
              <a:lnSpc>
                <a:spcPct val="112000"/>
              </a:lnSpc>
              <a:spcAft>
                <a:spcPts val="0"/>
              </a:spcAft>
            </a:pPr>
            <a:r>
              <a:rPr sz="5100">
                <a:solidFill>
                  <a:srgbClr val="0074DF"/>
                </a:solidFill>
                <a:latin typeface="DejaVu Sans Mono"/>
              </a:rPr>
              <a:t>const</a:t>
            </a:r>
            <a:r>
              <a:rPr sz="5100">
                <a:solidFill>
                  <a:srgbClr val="000000"/>
                </a:solidFill>
                <a:latin typeface="DejaVu Sans Mono"/>
              </a:rPr>
              <a:t> </a:t>
            </a:r>
            <a:r>
              <a:rPr sz="5100">
                <a:solidFill>
                  <a:srgbClr val="000000"/>
                </a:solidFill>
                <a:latin typeface="DejaVu Sans Mono"/>
              </a:rPr>
              <a:t>cuda</a:t>
            </a:r>
            <a:r>
              <a:rPr sz="5100">
                <a:solidFill>
                  <a:srgbClr val="000000"/>
                </a:solidFill>
                <a:latin typeface="DejaVu Sans Mono"/>
              </a:rPr>
              <a:t>:</a:t>
            </a:r>
            <a:r>
              <a:rPr sz="5100">
                <a:solidFill>
                  <a:srgbClr val="000000"/>
                </a:solidFill>
                <a:latin typeface="DejaVu Sans Mono"/>
              </a:rPr>
              <a:t>:</a:t>
            </a:r>
            <a:r>
              <a:rPr sz="5100">
                <a:solidFill>
                  <a:srgbClr val="000000"/>
                </a:solidFill>
                <a:latin typeface="DejaVu Sans Mono"/>
              </a:rPr>
              <a:t>std</a:t>
            </a:r>
            <a:r>
              <a:rPr sz="5100">
                <a:solidFill>
                  <a:srgbClr val="000000"/>
                </a:solidFill>
                <a:latin typeface="DejaVu Sans Mono"/>
              </a:rPr>
              <a:t>:</a:t>
            </a:r>
            <a:r>
              <a:rPr sz="5100">
                <a:solidFill>
                  <a:srgbClr val="000000"/>
                </a:solidFill>
                <a:latin typeface="DejaVu Sans Mono"/>
              </a:rPr>
              <a:t>:</a:t>
            </a:r>
            <a:r>
              <a:rPr sz="5100">
                <a:solidFill>
                  <a:srgbClr val="0074DF"/>
                </a:solidFill>
                <a:latin typeface="DejaVu Sans Mono"/>
              </a:rPr>
              <a:t>uint32_t</a:t>
            </a:r>
            <a:r>
              <a:rPr sz="5100">
                <a:solidFill>
                  <a:srgbClr val="000000"/>
                </a:solidFill>
                <a:latin typeface="DejaVu Sans Mono"/>
              </a:rPr>
              <a:t> </a:t>
            </a:r>
            <a:r>
              <a:rPr sz="5100">
                <a:solidFill>
                  <a:srgbClr val="000000"/>
                </a:solidFill>
                <a:latin typeface="DejaVu Sans Mono"/>
              </a:rPr>
              <a:t>sizes</a:t>
            </a:r>
            <a:r>
              <a:rPr sz="5100">
                <a:solidFill>
                  <a:srgbClr val="000000"/>
                </a:solidFill>
                <a:latin typeface="DejaVu Sans Mono"/>
              </a:rPr>
              <a:t>[</a:t>
            </a:r>
            <a:r>
              <a:rPr sz="5100">
                <a:solidFill>
                  <a:srgbClr val="000000"/>
                </a:solidFill>
                <a:latin typeface="DejaVu Sans Mono"/>
              </a:rPr>
              <a:t>]</a:t>
            </a:r>
            <a:r>
              <a:rPr sz="5100">
                <a:solidFill>
                  <a:srgbClr val="000000"/>
                </a:solidFill>
                <a:latin typeface="DejaVu Sans Mono"/>
              </a:rPr>
              <a:t>{</a:t>
            </a:r>
            <a:r>
              <a:rPr sz="5100">
                <a:solidFill>
                  <a:srgbClr val="000000"/>
                </a:solidFill>
                <a:latin typeface="DejaVu Sans Mono"/>
              </a:rPr>
              <a:t>2</a:t>
            </a:r>
            <a:r>
              <a:rPr sz="5100">
                <a:solidFill>
                  <a:srgbClr val="000000"/>
                </a:solidFill>
                <a:latin typeface="DejaVu Sans Mono"/>
              </a:rPr>
              <a:t>,</a:t>
            </a:r>
            <a:r>
              <a:rPr sz="5100">
                <a:solidFill>
                  <a:srgbClr val="000000"/>
                </a:solidFill>
                <a:latin typeface="DejaVu Sans Mono"/>
              </a:rPr>
              <a:t> </a:t>
            </a:r>
            <a:r>
              <a:rPr sz="5100">
                <a:solidFill>
                  <a:srgbClr val="000000"/>
                </a:solidFill>
                <a:latin typeface="DejaVu Sans Mono"/>
              </a:rPr>
              <a:t>3</a:t>
            </a:r>
            <a:r>
              <a:rPr sz="5100">
                <a:solidFill>
                  <a:srgbClr val="000000"/>
                </a:solidFill>
                <a:latin typeface="DejaVu Sans Mono"/>
              </a:rPr>
              <a:t>,</a:t>
            </a:r>
            <a:r>
              <a:rPr sz="5100">
                <a:solidFill>
                  <a:srgbClr val="000000"/>
                </a:solidFill>
                <a:latin typeface="DejaVu Sans Mono"/>
              </a:rPr>
              <a:t> </a:t>
            </a:r>
            <a:r>
              <a:rPr sz="5100">
                <a:solidFill>
                  <a:srgbClr val="000000"/>
                </a:solidFill>
                <a:latin typeface="DejaVu Sans Mono"/>
              </a:rPr>
              <a:t>1</a:t>
            </a:r>
            <a:r>
              <a:rPr sz="5100">
                <a:solidFill>
                  <a:srgbClr val="000000"/>
                </a:solidFill>
                <a:latin typeface="DejaVu Sans Mono"/>
              </a:rPr>
              <a:t>}</a:t>
            </a:r>
            <a:r>
              <a:rPr sz="5100">
                <a:solidFill>
                  <a:srgbClr val="000000"/>
                </a:solidFill>
                <a:latin typeface="DejaVu Sans Mono"/>
              </a:rPr>
              <a:t>;</a:t>
            </a:r>
          </a:p>
          <a:p>
            <a:pPr>
              <a:lnSpc>
                <a:spcPct val="112000"/>
              </a:lnSpc>
              <a:spcAft>
                <a:spcPts val="0"/>
              </a:spcAft>
            </a:pPr>
          </a:p>
          <a:p>
            <a:pPr>
              <a:lnSpc>
                <a:spcPct val="112000"/>
              </a:lnSpc>
              <a:spcAft>
                <a:spcPts val="0"/>
              </a:spcAft>
            </a:pPr>
            <a:r>
              <a:rPr sz="5100">
                <a:solidFill>
                  <a:srgbClr val="000000"/>
                </a:solidFill>
                <a:latin typeface="DejaVu Sans Mono"/>
              </a:rPr>
              <a:t>coop</a:t>
            </a:r>
            <a:r>
              <a:rPr sz="5100">
                <a:solidFill>
                  <a:srgbClr val="000000"/>
                </a:solidFill>
                <a:latin typeface="DejaVu Sans Mono"/>
              </a:rPr>
              <a:t>:</a:t>
            </a:r>
            <a:r>
              <a:rPr sz="5100">
                <a:solidFill>
                  <a:srgbClr val="000000"/>
                </a:solidFill>
                <a:latin typeface="DejaVu Sans Mono"/>
              </a:rPr>
              <a:t>:</a:t>
            </a:r>
            <a:r>
              <a:rPr sz="5100">
                <a:solidFill>
                  <a:srgbClr val="000000"/>
                </a:solidFill>
                <a:latin typeface="DejaVu Sans Mono"/>
              </a:rPr>
              <a:t>generic_group</a:t>
            </a:r>
            <a:r>
              <a:rPr sz="5100">
                <a:solidFill>
                  <a:srgbClr val="000000"/>
                </a:solidFill>
                <a:latin typeface="DejaVu Sans Mono"/>
              </a:rPr>
              <a:t> </a:t>
            </a:r>
            <a:r>
              <a:rPr sz="5100">
                <a:solidFill>
                  <a:srgbClr val="000000"/>
                </a:solidFill>
                <a:latin typeface="DejaVu Sans Mono"/>
              </a:rPr>
              <a:t>work</a:t>
            </a:r>
            <a:r>
              <a:rPr sz="5100">
                <a:solidFill>
                  <a:srgbClr val="000000"/>
                </a:solidFill>
                <a:latin typeface="DejaVu Sans Mono"/>
              </a:rPr>
              <a:t>{</a:t>
            </a:r>
          </a:p>
          <a:p>
            <a:pPr>
              <a:lnSpc>
                <a:spcPct val="112000"/>
              </a:lnSpc>
              <a:spcAft>
                <a:spcPts val="0"/>
              </a:spcAft>
            </a:pPr>
            <a:r>
              <a:rPr sz="5100">
                <a:solidFill>
                  <a:srgbClr val="000000"/>
                </a:solidFill>
                <a:latin typeface="DejaVu Sans Mono"/>
              </a:rPr>
              <a:t>  </a:t>
            </a:r>
            <a:r>
              <a:rPr sz="5100">
                <a:solidFill>
                  <a:srgbClr val="000000"/>
                </a:solidFill>
                <a:latin typeface="DejaVu Sans Mono"/>
              </a:rPr>
              <a:t>cuda</a:t>
            </a:r>
            <a:r>
              <a:rPr sz="5100">
                <a:solidFill>
                  <a:srgbClr val="000000"/>
                </a:solidFill>
                <a:latin typeface="DejaVu Sans Mono"/>
              </a:rPr>
              <a:t>:</a:t>
            </a:r>
            <a:r>
              <a:rPr sz="5100">
                <a:solidFill>
                  <a:srgbClr val="000000"/>
                </a:solidFill>
                <a:latin typeface="DejaVu Sans Mono"/>
              </a:rPr>
              <a:t>:</a:t>
            </a:r>
            <a:r>
              <a:rPr sz="5100">
                <a:solidFill>
                  <a:srgbClr val="000000"/>
                </a:solidFill>
                <a:latin typeface="DejaVu Sans Mono"/>
              </a:rPr>
              <a:t>warp</a:t>
            </a:r>
            <a:r>
              <a:rPr sz="5100">
                <a:solidFill>
                  <a:srgbClr val="000000"/>
                </a:solidFill>
                <a:latin typeface="DejaVu Sans Mono"/>
              </a:rPr>
              <a:t>,</a:t>
            </a:r>
          </a:p>
          <a:p>
            <a:pPr>
              <a:lnSpc>
                <a:spcPct val="112000"/>
              </a:lnSpc>
              <a:spcAft>
                <a:spcPts val="0"/>
              </a:spcAft>
            </a:pPr>
            <a:r>
              <a:rPr sz="5100">
                <a:solidFill>
                  <a:srgbClr val="000000"/>
                </a:solidFill>
                <a:latin typeface="DejaVu Sans Mono"/>
              </a:rPr>
              <a:t>  </a:t>
            </a:r>
            <a:r>
              <a:rPr sz="5100">
                <a:solidFill>
                  <a:srgbClr val="000000"/>
                </a:solidFill>
                <a:latin typeface="DejaVu Sans Mono"/>
              </a:rPr>
              <a:t>block</a:t>
            </a:r>
            <a:r>
              <a:rPr sz="5100">
                <a:solidFill>
                  <a:srgbClr val="000000"/>
                </a:solidFill>
                <a:latin typeface="DejaVu Sans Mono"/>
              </a:rPr>
              <a:t>,</a:t>
            </a:r>
          </a:p>
          <a:p>
            <a:pPr>
              <a:lnSpc>
                <a:spcPct val="112000"/>
              </a:lnSpc>
              <a:spcAft>
                <a:spcPts val="0"/>
              </a:spcAft>
            </a:pPr>
            <a:r>
              <a:rPr sz="5100">
                <a:solidFill>
                  <a:srgbClr val="000000"/>
                </a:solidFill>
                <a:latin typeface="DejaVu Sans Mono"/>
              </a:rPr>
              <a:t>  </a:t>
            </a:r>
            <a:r>
              <a:rPr sz="5100">
                <a:solidFill>
                  <a:srgbClr val="000000"/>
                </a:solidFill>
                <a:latin typeface="DejaVu Sans Mono"/>
              </a:rPr>
              <a:t>coop</a:t>
            </a:r>
            <a:r>
              <a:rPr sz="5100">
                <a:solidFill>
                  <a:srgbClr val="000000"/>
                </a:solidFill>
                <a:latin typeface="DejaVu Sans Mono"/>
              </a:rPr>
              <a:t>:</a:t>
            </a:r>
            <a:r>
              <a:rPr sz="5100">
                <a:solidFill>
                  <a:srgbClr val="000000"/>
                </a:solidFill>
                <a:latin typeface="DejaVu Sans Mono"/>
              </a:rPr>
              <a:t>:</a:t>
            </a:r>
            <a:r>
              <a:rPr sz="5100">
                <a:solidFill>
                  <a:srgbClr val="000000"/>
                </a:solidFill>
                <a:latin typeface="DejaVu Sans Mono"/>
              </a:rPr>
              <a:t>group_as</a:t>
            </a:r>
            <a:r>
              <a:rPr sz="5100">
                <a:solidFill>
                  <a:srgbClr val="000000"/>
                </a:solidFill>
                <a:latin typeface="DejaVu Sans Mono"/>
              </a:rPr>
              <a:t>{</a:t>
            </a:r>
            <a:r>
              <a:rPr sz="5100">
                <a:solidFill>
                  <a:srgbClr val="000000"/>
                </a:solidFill>
                <a:latin typeface="DejaVu Sans Mono"/>
              </a:rPr>
              <a:t>sizes</a:t>
            </a:r>
            <a:r>
              <a:rPr sz="5100">
                <a:solidFill>
                  <a:srgbClr val="000000"/>
                </a:solidFill>
                <a:latin typeface="DejaVu Sans Mono"/>
              </a:rPr>
              <a:t>}</a:t>
            </a:r>
            <a:r>
              <a:rPr sz="5100">
                <a:solidFill>
                  <a:srgbClr val="000000"/>
                </a:solidFill>
                <a:latin typeface="DejaVu Sans Mono"/>
              </a:rPr>
              <a:t>,</a:t>
            </a:r>
          </a:p>
          <a:p>
            <a:pPr>
              <a:lnSpc>
                <a:spcPct val="112000"/>
              </a:lnSpc>
              <a:spcAft>
                <a:spcPts val="0"/>
              </a:spcAft>
            </a:pPr>
            <a:r>
              <a:rPr sz="5100">
                <a:solidFill>
                  <a:srgbClr val="000000"/>
                </a:solidFill>
                <a:latin typeface="DejaVu Sans Mono"/>
              </a:rPr>
              <a:t>  </a:t>
            </a:r>
            <a:r>
              <a:rPr sz="5100">
                <a:solidFill>
                  <a:srgbClr val="000000"/>
                </a:solidFill>
                <a:latin typeface="DejaVu Sans Mono"/>
              </a:rPr>
              <a:t>coop</a:t>
            </a:r>
            <a:r>
              <a:rPr sz="5100">
                <a:solidFill>
                  <a:srgbClr val="000000"/>
                </a:solidFill>
                <a:latin typeface="DejaVu Sans Mono"/>
              </a:rPr>
              <a:t>:</a:t>
            </a:r>
            <a:r>
              <a:rPr sz="5100">
                <a:solidFill>
                  <a:srgbClr val="000000"/>
                </a:solidFill>
                <a:latin typeface="DejaVu Sans Mono"/>
              </a:rPr>
              <a:t>:</a:t>
            </a:r>
            <a:r>
              <a:rPr sz="5100">
                <a:solidFill>
                  <a:srgbClr val="000000"/>
                </a:solidFill>
                <a:latin typeface="DejaVu Sans Mono"/>
              </a:rPr>
              <a:t>interwarp_synchronizer</a:t>
            </a:r>
            <a:r>
              <a:rPr sz="5100">
                <a:solidFill>
                  <a:srgbClr val="000000"/>
                </a:solidFill>
                <a:latin typeface="DejaVu Sans Mono"/>
              </a:rPr>
              <a:t>{</a:t>
            </a:r>
          </a:p>
          <a:p>
            <a:pPr>
              <a:lnSpc>
                <a:spcPct val="112000"/>
              </a:lnSpc>
              <a:spcAft>
                <a:spcPts val="0"/>
              </a:spcAft>
            </a:pPr>
            <a:r>
              <a:rPr sz="5100">
                <a:solidFill>
                  <a:srgbClr val="000000"/>
                </a:solidFill>
                <a:latin typeface="DejaVu Sans Mono"/>
              </a:rPr>
              <a:t>    </a:t>
            </a:r>
            <a:r>
              <a:rPr sz="5100">
                <a:solidFill>
                  <a:srgbClr val="000000"/>
                </a:solidFill>
                <a:latin typeface="DejaVu Sans Mono"/>
              </a:rPr>
              <a:t>cuda</a:t>
            </a:r>
            <a:r>
              <a:rPr sz="5100">
                <a:solidFill>
                  <a:srgbClr val="000000"/>
                </a:solidFill>
                <a:latin typeface="DejaVu Sans Mono"/>
              </a:rPr>
              <a:t>:</a:t>
            </a:r>
            <a:r>
              <a:rPr sz="5100">
                <a:solidFill>
                  <a:srgbClr val="000000"/>
                </a:solidFill>
                <a:latin typeface="DejaVu Sans Mono"/>
              </a:rPr>
              <a:t>:</a:t>
            </a:r>
            <a:r>
              <a:rPr sz="5100">
                <a:solidFill>
                  <a:srgbClr val="000000"/>
                </a:solidFill>
                <a:latin typeface="DejaVu Sans Mono"/>
              </a:rPr>
              <a:t>std</a:t>
            </a:r>
            <a:r>
              <a:rPr sz="5100">
                <a:solidFill>
                  <a:srgbClr val="000000"/>
                </a:solidFill>
                <a:latin typeface="DejaVu Sans Mono"/>
              </a:rPr>
              <a:t>:</a:t>
            </a:r>
            <a:r>
              <a:rPr sz="5100">
                <a:solidFill>
                  <a:srgbClr val="000000"/>
                </a:solidFill>
                <a:latin typeface="DejaVu Sans Mono"/>
              </a:rPr>
              <a:t>:</a:t>
            </a:r>
            <a:r>
              <a:rPr sz="5100">
                <a:solidFill>
                  <a:srgbClr val="000000"/>
                </a:solidFill>
                <a:latin typeface="DejaVu Sans Mono"/>
              </a:rPr>
              <a:t>ranges</a:t>
            </a:r>
            <a:r>
              <a:rPr sz="5100">
                <a:solidFill>
                  <a:srgbClr val="000000"/>
                </a:solidFill>
                <a:latin typeface="DejaVu Sans Mono"/>
              </a:rPr>
              <a:t>:</a:t>
            </a:r>
            <a:r>
              <a:rPr sz="5100">
                <a:solidFill>
                  <a:srgbClr val="000000"/>
                </a:solidFill>
                <a:latin typeface="DejaVu Sans Mono"/>
              </a:rPr>
              <a:t>:</a:t>
            </a:r>
            <a:r>
              <a:rPr sz="5100">
                <a:solidFill>
                  <a:srgbClr val="000000"/>
                </a:solidFill>
                <a:latin typeface="DejaVu Sans Mono"/>
              </a:rPr>
              <a:t>views</a:t>
            </a:r>
            <a:r>
              <a:rPr sz="5100">
                <a:solidFill>
                  <a:srgbClr val="000000"/>
                </a:solidFill>
                <a:latin typeface="DejaVu Sans Mono"/>
              </a:rPr>
              <a:t>:</a:t>
            </a:r>
            <a:r>
              <a:rPr sz="5100">
                <a:solidFill>
                  <a:srgbClr val="000000"/>
                </a:solidFill>
                <a:latin typeface="DejaVu Sans Mono"/>
              </a:rPr>
              <a:t>:</a:t>
            </a:r>
            <a:r>
              <a:rPr sz="5100">
                <a:solidFill>
                  <a:srgbClr val="000000"/>
                </a:solidFill>
                <a:latin typeface="DejaVu Sans Mono"/>
              </a:rPr>
              <a:t>iota</a:t>
            </a:r>
            <a:r>
              <a:rPr sz="5100">
                <a:solidFill>
                  <a:srgbClr val="000000"/>
                </a:solidFill>
                <a:latin typeface="DejaVu Sans Mono"/>
              </a:rPr>
              <a:t>(</a:t>
            </a:r>
            <a:r>
              <a:rPr sz="5100">
                <a:solidFill>
                  <a:srgbClr val="000000"/>
                </a:solidFill>
                <a:latin typeface="DejaVu Sans Mono"/>
              </a:rPr>
              <a:t>1</a:t>
            </a:r>
            <a:r>
              <a:rPr sz="5100">
                <a:solidFill>
                  <a:srgbClr val="000000"/>
                </a:solidFill>
                <a:latin typeface="DejaVu Sans Mono"/>
              </a:rPr>
              <a:t>)</a:t>
            </a:r>
            <a:r>
              <a:rPr sz="5100">
                <a:solidFill>
                  <a:srgbClr val="000000"/>
                </a:solidFill>
                <a:latin typeface="DejaVu Sans Mono"/>
              </a:rPr>
              <a:t>}</a:t>
            </a:r>
          </a:p>
          <a:p>
            <a:pPr>
              <a:lnSpc>
                <a:spcPct val="112000"/>
              </a:lnSpc>
              <a:spcAft>
                <a:spcPts val="0"/>
              </a:spcAft>
            </a:pPr>
            <a:r>
              <a:rPr sz="5100">
                <a:solidFill>
                  <a:srgbClr val="000000"/>
                </a:solidFill>
                <a:latin typeface="DejaVu Sans Mono"/>
              </a:rPr>
              <a:t>}</a:t>
            </a:r>
            <a:r>
              <a:rPr sz="5100">
                <a:solidFill>
                  <a:srgbClr val="000000"/>
                </a:solidFill>
                <a:latin typeface="DejaVu Sans Mono"/>
              </a:rPr>
              <a:t>;</a:t>
            </a:r>
          </a:p>
          <a:p>
            <a:pPr>
              <a:lnSpc>
                <a:spcPct val="112000"/>
              </a:lnSpc>
              <a:spcAft>
                <a:spcPts val="0"/>
              </a:spcAft>
            </a:pPr>
          </a:p>
        </p:txBody>
      </p:sp>
      <p:sp>
        <p:nvSpPr>
          <p:cNvPr id="9" name="Rectangle 8"/>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All parent units construct uniformly; after construction, subgroups synchronize independently.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Independent groups can follow different schedules</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Each subgroup has its own synchronization mechanism.</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34</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Applying groups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docs/cudax/coop/group/generic_group.rst</a:t>
            </a:r>
          </a:p>
        </p:txBody>
      </p:sp>
      <p:sp>
        <p:nvSpPr>
          <p:cNvPr id="7" name="TextBox 6"/>
          <p:cNvSpPr txBox="1"/>
          <p:nvPr/>
        </p:nvSpPr>
        <p:spPr>
          <a:xfrm>
            <a:off x="1920239" y="7269479"/>
            <a:ext cx="7132320" cy="1097280"/>
          </a:xfrm>
          <a:prstGeom prst="rect">
            <a:avLst/>
          </a:prstGeom>
          <a:noFill/>
        </p:spPr>
        <p:txBody>
          <a:bodyPr wrap="square" lIns="0" rIns="0" tIns="0" bIns="0">
            <a:noAutofit/>
          </a:bodyPr>
          <a:lstStyle/>
          <a:p>
            <a:pPr algn="l">
              <a:lnSpc>
                <a:spcPct val="108000"/>
              </a:lnSpc>
              <a:spcAft>
                <a:spcPts val="1080"/>
              </a:spcAft>
              <a:defRPr sz="5400" b="1">
                <a:solidFill>
                  <a:srgbClr val="000000"/>
                </a:solidFill>
                <a:latin typeface="NVIDIA Sans"/>
              </a:defRPr>
            </a:pPr>
            <a:r>
              <a:t>Group A · 2 warps</a:t>
            </a:r>
          </a:p>
        </p:txBody>
      </p:sp>
      <p:cxnSp>
        <p:nvCxnSpPr>
          <p:cNvPr id="8" name="Connector 7"/>
          <p:cNvCxnSpPr/>
          <p:nvPr/>
        </p:nvCxnSpPr>
        <p:spPr>
          <a:xfrm>
            <a:off x="9601200" y="7818120"/>
            <a:ext cx="23042880" cy="0"/>
          </a:xfrm>
          <a:prstGeom prst="line">
            <a:avLst/>
          </a:prstGeom>
          <a:ln w="76200">
            <a:solidFill>
              <a:srgbClr val="D9D9D9"/>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0012680" y="7214616"/>
            <a:ext cx="3154679" cy="1234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87000" y="7488936"/>
            <a:ext cx="2743200" cy="685800"/>
          </a:xfrm>
          <a:prstGeom prst="rect">
            <a:avLst/>
          </a:prstGeom>
          <a:noFill/>
        </p:spPr>
        <p:txBody>
          <a:bodyPr wrap="square" lIns="0" rIns="0" tIns="0" bIns="0">
            <a:noAutofit/>
          </a:bodyPr>
          <a:lstStyle/>
          <a:p>
            <a:pPr algn="l">
              <a:lnSpc>
                <a:spcPct val="108000"/>
              </a:lnSpc>
              <a:spcAft>
                <a:spcPts val="720"/>
              </a:spcAft>
              <a:defRPr sz="3600" b="0">
                <a:solidFill>
                  <a:srgbClr val="FFFFFF"/>
                </a:solidFill>
                <a:latin typeface="NVIDIA Sans"/>
              </a:defRPr>
            </a:pPr>
            <a:r>
              <a:t>work</a:t>
            </a:r>
          </a:p>
        </p:txBody>
      </p:sp>
      <p:sp>
        <p:nvSpPr>
          <p:cNvPr id="11" name="TextBox 10"/>
          <p:cNvSpPr txBox="1"/>
          <p:nvPr/>
        </p:nvSpPr>
        <p:spPr>
          <a:xfrm>
            <a:off x="1920239" y="10067544"/>
            <a:ext cx="7132320" cy="1097280"/>
          </a:xfrm>
          <a:prstGeom prst="rect">
            <a:avLst/>
          </a:prstGeom>
          <a:noFill/>
        </p:spPr>
        <p:txBody>
          <a:bodyPr wrap="square" lIns="0" rIns="0" tIns="0" bIns="0">
            <a:noAutofit/>
          </a:bodyPr>
          <a:lstStyle/>
          <a:p>
            <a:pPr algn="l">
              <a:lnSpc>
                <a:spcPct val="108000"/>
              </a:lnSpc>
              <a:spcAft>
                <a:spcPts val="1080"/>
              </a:spcAft>
              <a:defRPr sz="5400" b="1">
                <a:solidFill>
                  <a:srgbClr val="000000"/>
                </a:solidFill>
                <a:latin typeface="NVIDIA Sans"/>
              </a:defRPr>
            </a:pPr>
            <a:r>
              <a:t>Group B · 3 warps</a:t>
            </a:r>
          </a:p>
        </p:txBody>
      </p:sp>
      <p:cxnSp>
        <p:nvCxnSpPr>
          <p:cNvPr id="12" name="Connector 11"/>
          <p:cNvCxnSpPr/>
          <p:nvPr/>
        </p:nvCxnSpPr>
        <p:spPr>
          <a:xfrm>
            <a:off x="9601200" y="10616184"/>
            <a:ext cx="23042880" cy="0"/>
          </a:xfrm>
          <a:prstGeom prst="line">
            <a:avLst/>
          </a:prstGeom>
          <a:ln w="76200">
            <a:solidFill>
              <a:srgbClr val="D9D9D9"/>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0012680" y="10012680"/>
            <a:ext cx="4471416" cy="1234440"/>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87000" y="10287000"/>
            <a:ext cx="2743200" cy="685800"/>
          </a:xfrm>
          <a:prstGeom prst="rect">
            <a:avLst/>
          </a:prstGeom>
          <a:noFill/>
        </p:spPr>
        <p:txBody>
          <a:bodyPr wrap="square" lIns="0" rIns="0" tIns="0" bIns="0">
            <a:noAutofit/>
          </a:bodyPr>
          <a:lstStyle/>
          <a:p>
            <a:pPr algn="l">
              <a:lnSpc>
                <a:spcPct val="108000"/>
              </a:lnSpc>
              <a:spcAft>
                <a:spcPts val="720"/>
              </a:spcAft>
              <a:defRPr sz="3600" b="0">
                <a:solidFill>
                  <a:srgbClr val="FFFFFF"/>
                </a:solidFill>
                <a:latin typeface="NVIDIA Sans"/>
              </a:defRPr>
            </a:pPr>
            <a:r>
              <a:t>work</a:t>
            </a:r>
          </a:p>
        </p:txBody>
      </p:sp>
      <p:sp>
        <p:nvSpPr>
          <p:cNvPr id="15" name="Rectangle 14"/>
          <p:cNvSpPr/>
          <p:nvPr/>
        </p:nvSpPr>
        <p:spPr>
          <a:xfrm>
            <a:off x="13990319" y="9848088"/>
            <a:ext cx="329184" cy="1645919"/>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386816" y="11686032"/>
            <a:ext cx="1920239" cy="685800"/>
          </a:xfrm>
          <a:prstGeom prst="rect">
            <a:avLst/>
          </a:prstGeom>
          <a:noFill/>
        </p:spPr>
        <p:txBody>
          <a:bodyPr wrap="square" lIns="0" rIns="0" tIns="0" bIns="0">
            <a:noAutofit/>
          </a:bodyPr>
          <a:lstStyle/>
          <a:p>
            <a:pPr algn="l">
              <a:lnSpc>
                <a:spcPct val="108000"/>
              </a:lnSpc>
              <a:spcAft>
                <a:spcPts val="720"/>
              </a:spcAft>
              <a:defRPr sz="3600" b="0">
                <a:solidFill>
                  <a:srgbClr val="1DBBA4"/>
                </a:solidFill>
                <a:latin typeface="NVIDIA Sans"/>
              </a:defRPr>
            </a:pPr>
            <a:r>
              <a:t>sync</a:t>
            </a:r>
          </a:p>
        </p:txBody>
      </p:sp>
      <p:sp>
        <p:nvSpPr>
          <p:cNvPr id="17" name="Rectangle 16"/>
          <p:cNvSpPr/>
          <p:nvPr/>
        </p:nvSpPr>
        <p:spPr>
          <a:xfrm>
            <a:off x="23042880" y="9848088"/>
            <a:ext cx="329184" cy="1645919"/>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439376" y="11686032"/>
            <a:ext cx="1920239" cy="685800"/>
          </a:xfrm>
          <a:prstGeom prst="rect">
            <a:avLst/>
          </a:prstGeom>
          <a:noFill/>
        </p:spPr>
        <p:txBody>
          <a:bodyPr wrap="square" lIns="0" rIns="0" tIns="0" bIns="0">
            <a:noAutofit/>
          </a:bodyPr>
          <a:lstStyle/>
          <a:p>
            <a:pPr algn="l">
              <a:lnSpc>
                <a:spcPct val="108000"/>
              </a:lnSpc>
              <a:spcAft>
                <a:spcPts val="720"/>
              </a:spcAft>
              <a:defRPr sz="3600" b="0">
                <a:solidFill>
                  <a:srgbClr val="1DBBA4"/>
                </a:solidFill>
                <a:latin typeface="NVIDIA Sans"/>
              </a:defRPr>
            </a:pPr>
            <a:r>
              <a:t>sync</a:t>
            </a:r>
          </a:p>
        </p:txBody>
      </p:sp>
      <p:sp>
        <p:nvSpPr>
          <p:cNvPr id="19" name="TextBox 18"/>
          <p:cNvSpPr txBox="1"/>
          <p:nvPr/>
        </p:nvSpPr>
        <p:spPr>
          <a:xfrm>
            <a:off x="1920239" y="12865607"/>
            <a:ext cx="7132320" cy="1097280"/>
          </a:xfrm>
          <a:prstGeom prst="rect">
            <a:avLst/>
          </a:prstGeom>
          <a:noFill/>
        </p:spPr>
        <p:txBody>
          <a:bodyPr wrap="square" lIns="0" rIns="0" tIns="0" bIns="0">
            <a:noAutofit/>
          </a:bodyPr>
          <a:lstStyle/>
          <a:p>
            <a:pPr algn="l">
              <a:lnSpc>
                <a:spcPct val="108000"/>
              </a:lnSpc>
              <a:spcAft>
                <a:spcPts val="1080"/>
              </a:spcAft>
              <a:defRPr sz="5400" b="1">
                <a:solidFill>
                  <a:srgbClr val="000000"/>
                </a:solidFill>
                <a:latin typeface="NVIDIA Sans"/>
              </a:defRPr>
            </a:pPr>
            <a:r>
              <a:t>Group C · 1 warp</a:t>
            </a:r>
          </a:p>
        </p:txBody>
      </p:sp>
      <p:cxnSp>
        <p:nvCxnSpPr>
          <p:cNvPr id="20" name="Connector 19"/>
          <p:cNvCxnSpPr/>
          <p:nvPr/>
        </p:nvCxnSpPr>
        <p:spPr>
          <a:xfrm>
            <a:off x="9601200" y="13414247"/>
            <a:ext cx="23042880" cy="0"/>
          </a:xfrm>
          <a:prstGeom prst="line">
            <a:avLst/>
          </a:prstGeom>
          <a:ln w="76200">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10012680" y="12810744"/>
            <a:ext cx="5788152" cy="1234440"/>
          </a:xfrm>
          <a:prstGeom prst="rect">
            <a:avLst/>
          </a:prstGeom>
          <a:solidFill>
            <a:srgbClr val="007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87000" y="13085063"/>
            <a:ext cx="2743200" cy="685800"/>
          </a:xfrm>
          <a:prstGeom prst="rect">
            <a:avLst/>
          </a:prstGeom>
          <a:noFill/>
        </p:spPr>
        <p:txBody>
          <a:bodyPr wrap="square" lIns="0" rIns="0" tIns="0" bIns="0">
            <a:noAutofit/>
          </a:bodyPr>
          <a:lstStyle/>
          <a:p>
            <a:pPr algn="l">
              <a:lnSpc>
                <a:spcPct val="108000"/>
              </a:lnSpc>
              <a:spcAft>
                <a:spcPts val="720"/>
              </a:spcAft>
              <a:defRPr sz="3600" b="0">
                <a:solidFill>
                  <a:srgbClr val="FFFFFF"/>
                </a:solidFill>
                <a:latin typeface="NVIDIA Sans"/>
              </a:defRPr>
            </a:pPr>
            <a:r>
              <a:t>work</a:t>
            </a:r>
          </a:p>
        </p:txBody>
      </p:sp>
      <p:sp>
        <p:nvSpPr>
          <p:cNvPr id="23" name="Rectangle 22"/>
          <p:cNvSpPr/>
          <p:nvPr/>
        </p:nvSpPr>
        <p:spPr>
          <a:xfrm>
            <a:off x="17419319" y="12646151"/>
            <a:ext cx="329184" cy="1645919"/>
          </a:xfrm>
          <a:prstGeom prst="rect">
            <a:avLst/>
          </a:prstGeom>
          <a:solidFill>
            <a:srgbClr val="007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815816" y="14484095"/>
            <a:ext cx="1920239" cy="685800"/>
          </a:xfrm>
          <a:prstGeom prst="rect">
            <a:avLst/>
          </a:prstGeom>
          <a:noFill/>
        </p:spPr>
        <p:txBody>
          <a:bodyPr wrap="square" lIns="0" rIns="0" tIns="0" bIns="0">
            <a:noAutofit/>
          </a:bodyPr>
          <a:lstStyle/>
          <a:p>
            <a:pPr algn="l">
              <a:lnSpc>
                <a:spcPct val="108000"/>
              </a:lnSpc>
              <a:spcAft>
                <a:spcPts val="720"/>
              </a:spcAft>
              <a:defRPr sz="3600" b="0">
                <a:solidFill>
                  <a:srgbClr val="0074DF"/>
                </a:solidFill>
                <a:latin typeface="NVIDIA Sans"/>
              </a:defRPr>
            </a:pPr>
            <a:r>
              <a:t>sync</a:t>
            </a:r>
          </a:p>
        </p:txBody>
      </p:sp>
      <p:sp>
        <p:nvSpPr>
          <p:cNvPr id="25" name="Rectangle 24"/>
          <p:cNvSpPr/>
          <p:nvPr/>
        </p:nvSpPr>
        <p:spPr>
          <a:xfrm>
            <a:off x="26883360" y="12646151"/>
            <a:ext cx="329184" cy="1645919"/>
          </a:xfrm>
          <a:prstGeom prst="rect">
            <a:avLst/>
          </a:prstGeom>
          <a:solidFill>
            <a:srgbClr val="007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279856" y="14484095"/>
            <a:ext cx="1920239" cy="685800"/>
          </a:xfrm>
          <a:prstGeom prst="rect">
            <a:avLst/>
          </a:prstGeom>
          <a:noFill/>
        </p:spPr>
        <p:txBody>
          <a:bodyPr wrap="square" lIns="0" rIns="0" tIns="0" bIns="0">
            <a:noAutofit/>
          </a:bodyPr>
          <a:lstStyle/>
          <a:p>
            <a:pPr algn="l">
              <a:lnSpc>
                <a:spcPct val="108000"/>
              </a:lnSpc>
              <a:spcAft>
                <a:spcPts val="720"/>
              </a:spcAft>
              <a:defRPr sz="3600" b="0">
                <a:solidFill>
                  <a:srgbClr val="0074DF"/>
                </a:solidFill>
                <a:latin typeface="NVIDIA Sans"/>
              </a:defRPr>
            </a:pPr>
            <a:r>
              <a:t>sync</a:t>
            </a:r>
          </a:p>
        </p:txBody>
      </p:sp>
      <p:sp>
        <p:nvSpPr>
          <p:cNvPr id="27" name="Rectangle 26"/>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Different subgroups may use different counts and kinds of explicit synchronization.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virtual_group reuses the parent synchronizer</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Partition the work while sharing coordination resources.</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35</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Applying groups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docs/cudax/coop/group/virtual_group.rst</a:t>
            </a:r>
          </a:p>
        </p:txBody>
      </p:sp>
      <p:sp>
        <p:nvSpPr>
          <p:cNvPr id="7" name="Rectangle 6"/>
          <p:cNvSpPr/>
          <p:nvPr/>
        </p:nvSpPr>
        <p:spPr>
          <a:xfrm>
            <a:off x="1783080" y="5897879"/>
            <a:ext cx="32918400" cy="6720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31656527" cy="5843016"/>
          </a:xfrm>
          <a:prstGeom prst="rect">
            <a:avLst/>
          </a:prstGeom>
          <a:noFill/>
        </p:spPr>
        <p:txBody>
          <a:bodyPr wrap="none" lIns="0" rIns="0" tIns="0" bIns="0">
            <a:noAutofit/>
          </a:bodyPr>
          <a:lstStyle/>
          <a:p>
            <a:pPr>
              <a:lnSpc>
                <a:spcPct val="112000"/>
              </a:lnSpc>
              <a:spcAft>
                <a:spcPts val="0"/>
              </a:spcAft>
            </a:pPr>
            <a:r>
              <a:rPr sz="5700">
                <a:solidFill>
                  <a:srgbClr val="000000"/>
                </a:solidFill>
                <a:latin typeface="DejaVu Sans Mono"/>
              </a:rPr>
              <a:t>coop</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this_block</a:t>
            </a:r>
            <a:r>
              <a:rPr sz="5700">
                <a:solidFill>
                  <a:srgbClr val="000000"/>
                </a:solidFill>
                <a:latin typeface="DejaVu Sans Mono"/>
              </a:rPr>
              <a:t> </a:t>
            </a:r>
            <a:r>
              <a:rPr sz="5700">
                <a:solidFill>
                  <a:srgbClr val="000000"/>
                </a:solidFill>
                <a:latin typeface="DejaVu Sans Mono"/>
              </a:rPr>
              <a:t>block</a:t>
            </a:r>
            <a:r>
              <a:rPr sz="5700">
                <a:solidFill>
                  <a:srgbClr val="000000"/>
                </a:solidFill>
                <a:latin typeface="DejaVu Sans Mono"/>
              </a:rPr>
              <a:t>{</a:t>
            </a:r>
            <a:r>
              <a:rPr sz="5700">
                <a:solidFill>
                  <a:srgbClr val="000000"/>
                </a:solidFill>
                <a:latin typeface="DejaVu Sans Mono"/>
              </a:rPr>
              <a:t>config</a:t>
            </a:r>
            <a:r>
              <a:rPr sz="5700">
                <a:solidFill>
                  <a:srgbClr val="000000"/>
                </a:solidFill>
                <a:latin typeface="DejaVu Sans Mono"/>
              </a:rPr>
              <a:t>}</a:t>
            </a:r>
            <a:r>
              <a:rPr sz="5700">
                <a:solidFill>
                  <a:srgbClr val="000000"/>
                </a:solidFill>
                <a:latin typeface="DejaVu Sans Mono"/>
              </a:rPr>
              <a:t>;</a:t>
            </a:r>
          </a:p>
          <a:p>
            <a:pPr>
              <a:lnSpc>
                <a:spcPct val="112000"/>
              </a:lnSpc>
              <a:spcAft>
                <a:spcPts val="0"/>
              </a:spcAft>
            </a:pPr>
            <a:r>
              <a:rPr sz="5700">
                <a:solidFill>
                  <a:srgbClr val="0074DF"/>
                </a:solidFill>
                <a:latin typeface="DejaVu Sans Mono"/>
              </a:rPr>
              <a:t>const</a:t>
            </a:r>
            <a:r>
              <a:rPr sz="5700">
                <a:solidFill>
                  <a:srgbClr val="000000"/>
                </a:solidFill>
                <a:latin typeface="DejaVu Sans Mono"/>
              </a:rPr>
              <a:t> </a:t>
            </a:r>
            <a:r>
              <a:rPr sz="5700">
                <a:solidFill>
                  <a:srgbClr val="000000"/>
                </a:solidFill>
                <a:latin typeface="DejaVu Sans Mono"/>
              </a:rPr>
              <a:t>cuda</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std</a:t>
            </a:r>
            <a:r>
              <a:rPr sz="5700">
                <a:solidFill>
                  <a:srgbClr val="000000"/>
                </a:solidFill>
                <a:latin typeface="DejaVu Sans Mono"/>
              </a:rPr>
              <a:t>:</a:t>
            </a:r>
            <a:r>
              <a:rPr sz="5700">
                <a:solidFill>
                  <a:srgbClr val="000000"/>
                </a:solidFill>
                <a:latin typeface="DejaVu Sans Mono"/>
              </a:rPr>
              <a:t>:</a:t>
            </a:r>
            <a:r>
              <a:rPr sz="5700">
                <a:solidFill>
                  <a:srgbClr val="0074DF"/>
                </a:solidFill>
                <a:latin typeface="DejaVu Sans Mono"/>
              </a:rPr>
              <a:t>uint32_t</a:t>
            </a:r>
            <a:r>
              <a:rPr sz="5700">
                <a:solidFill>
                  <a:srgbClr val="000000"/>
                </a:solidFill>
                <a:latin typeface="DejaVu Sans Mono"/>
              </a:rPr>
              <a:t> </a:t>
            </a:r>
            <a:r>
              <a:rPr sz="5700">
                <a:solidFill>
                  <a:srgbClr val="000000"/>
                </a:solidFill>
                <a:latin typeface="DejaVu Sans Mono"/>
              </a:rPr>
              <a:t>sizes</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2</a:t>
            </a:r>
            <a:r>
              <a:rPr sz="5700">
                <a:solidFill>
                  <a:srgbClr val="000000"/>
                </a:solidFill>
                <a:latin typeface="DejaVu Sans Mono"/>
              </a:rPr>
              <a:t>,</a:t>
            </a:r>
            <a:r>
              <a:rPr sz="5700">
                <a:solidFill>
                  <a:srgbClr val="000000"/>
                </a:solidFill>
                <a:latin typeface="DejaVu Sans Mono"/>
              </a:rPr>
              <a:t> </a:t>
            </a:r>
            <a:r>
              <a:rPr sz="5700">
                <a:solidFill>
                  <a:srgbClr val="000000"/>
                </a:solidFill>
                <a:latin typeface="DejaVu Sans Mono"/>
              </a:rPr>
              <a:t>3</a:t>
            </a:r>
            <a:r>
              <a:rPr sz="5700">
                <a:solidFill>
                  <a:srgbClr val="000000"/>
                </a:solidFill>
                <a:latin typeface="DejaVu Sans Mono"/>
              </a:rPr>
              <a:t>,</a:t>
            </a:r>
            <a:r>
              <a:rPr sz="5700">
                <a:solidFill>
                  <a:srgbClr val="000000"/>
                </a:solidFill>
                <a:latin typeface="DejaVu Sans Mono"/>
              </a:rPr>
              <a:t> </a:t>
            </a:r>
            <a:r>
              <a:rPr sz="5700">
                <a:solidFill>
                  <a:srgbClr val="000000"/>
                </a:solidFill>
                <a:latin typeface="DejaVu Sans Mono"/>
              </a:rPr>
              <a:t>1</a:t>
            </a:r>
            <a:r>
              <a:rPr sz="5700">
                <a:solidFill>
                  <a:srgbClr val="000000"/>
                </a:solidFill>
                <a:latin typeface="DejaVu Sans Mono"/>
              </a:rPr>
              <a:t>}</a:t>
            </a:r>
            <a:r>
              <a:rPr sz="5700">
                <a:solidFill>
                  <a:srgbClr val="000000"/>
                </a:solidFill>
                <a:latin typeface="DejaVu Sans Mono"/>
              </a:rPr>
              <a:t>;</a:t>
            </a:r>
          </a:p>
          <a:p>
            <a:pPr>
              <a:lnSpc>
                <a:spcPct val="112000"/>
              </a:lnSpc>
              <a:spcAft>
                <a:spcPts val="0"/>
              </a:spcAft>
            </a:pPr>
          </a:p>
          <a:p>
            <a:pPr>
              <a:lnSpc>
                <a:spcPct val="112000"/>
              </a:lnSpc>
              <a:spcAft>
                <a:spcPts val="0"/>
              </a:spcAft>
            </a:pPr>
            <a:r>
              <a:rPr sz="5700">
                <a:solidFill>
                  <a:srgbClr val="000000"/>
                </a:solidFill>
                <a:latin typeface="DejaVu Sans Mono"/>
              </a:rPr>
              <a:t>coop</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virtual_group</a:t>
            </a:r>
            <a:r>
              <a:rPr sz="5700">
                <a:solidFill>
                  <a:srgbClr val="000000"/>
                </a:solidFill>
                <a:latin typeface="DejaVu Sans Mono"/>
              </a:rPr>
              <a:t> </a:t>
            </a:r>
            <a:r>
              <a:rPr sz="5700">
                <a:solidFill>
                  <a:srgbClr val="000000"/>
                </a:solidFill>
                <a:latin typeface="DejaVu Sans Mono"/>
              </a:rPr>
              <a:t>work</a:t>
            </a:r>
            <a:r>
              <a:rPr sz="5700">
                <a:solidFill>
                  <a:srgbClr val="000000"/>
                </a:solidFill>
                <a:latin typeface="DejaVu Sans Mono"/>
              </a:rPr>
              <a:t>{</a:t>
            </a:r>
          </a:p>
          <a:p>
            <a:pPr>
              <a:lnSpc>
                <a:spcPct val="112000"/>
              </a:lnSpc>
              <a:spcAft>
                <a:spcPts val="0"/>
              </a:spcAft>
            </a:pPr>
            <a:r>
              <a:rPr sz="5700">
                <a:solidFill>
                  <a:srgbClr val="000000"/>
                </a:solidFill>
                <a:latin typeface="DejaVu Sans Mono"/>
              </a:rPr>
              <a:t>  </a:t>
            </a:r>
            <a:r>
              <a:rPr sz="5700">
                <a:solidFill>
                  <a:srgbClr val="000000"/>
                </a:solidFill>
                <a:latin typeface="DejaVu Sans Mono"/>
              </a:rPr>
              <a:t>cuda</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warp</a:t>
            </a:r>
            <a:r>
              <a:rPr sz="5700">
                <a:solidFill>
                  <a:srgbClr val="000000"/>
                </a:solidFill>
                <a:latin typeface="DejaVu Sans Mono"/>
              </a:rPr>
              <a:t>,</a:t>
            </a:r>
            <a:r>
              <a:rPr sz="5700">
                <a:solidFill>
                  <a:srgbClr val="000000"/>
                </a:solidFill>
                <a:latin typeface="DejaVu Sans Mono"/>
              </a:rPr>
              <a:t> </a:t>
            </a:r>
            <a:r>
              <a:rPr sz="5700">
                <a:solidFill>
                  <a:srgbClr val="000000"/>
                </a:solidFill>
                <a:latin typeface="DejaVu Sans Mono"/>
              </a:rPr>
              <a:t>block</a:t>
            </a:r>
            <a:r>
              <a:rPr sz="5700">
                <a:solidFill>
                  <a:srgbClr val="000000"/>
                </a:solidFill>
                <a:latin typeface="DejaVu Sans Mono"/>
              </a:rPr>
              <a:t>,</a:t>
            </a:r>
            <a:r>
              <a:rPr sz="5700">
                <a:solidFill>
                  <a:srgbClr val="000000"/>
                </a:solidFill>
                <a:latin typeface="DejaVu Sans Mono"/>
              </a:rPr>
              <a:t> </a:t>
            </a:r>
            <a:r>
              <a:rPr sz="5700">
                <a:solidFill>
                  <a:srgbClr val="000000"/>
                </a:solidFill>
                <a:latin typeface="DejaVu Sans Mono"/>
              </a:rPr>
              <a:t>coop</a:t>
            </a:r>
            <a:r>
              <a:rPr sz="5700">
                <a:solidFill>
                  <a:srgbClr val="000000"/>
                </a:solidFill>
                <a:latin typeface="DejaVu Sans Mono"/>
              </a:rPr>
              <a:t>:</a:t>
            </a:r>
            <a:r>
              <a:rPr sz="5700">
                <a:solidFill>
                  <a:srgbClr val="000000"/>
                </a:solidFill>
                <a:latin typeface="DejaVu Sans Mono"/>
              </a:rPr>
              <a:t>:</a:t>
            </a:r>
            <a:r>
              <a:rPr sz="5700">
                <a:solidFill>
                  <a:srgbClr val="000000"/>
                </a:solidFill>
                <a:latin typeface="DejaVu Sans Mono"/>
              </a:rPr>
              <a:t>group_as</a:t>
            </a:r>
            <a:r>
              <a:rPr sz="5700">
                <a:solidFill>
                  <a:srgbClr val="000000"/>
                </a:solidFill>
                <a:latin typeface="DejaVu Sans Mono"/>
              </a:rPr>
              <a:t>{</a:t>
            </a:r>
            <a:r>
              <a:rPr sz="5700">
                <a:solidFill>
                  <a:srgbClr val="000000"/>
                </a:solidFill>
                <a:latin typeface="DejaVu Sans Mono"/>
              </a:rPr>
              <a:t>sizes</a:t>
            </a:r>
            <a:r>
              <a:rPr sz="5700">
                <a:solidFill>
                  <a:srgbClr val="000000"/>
                </a:solidFill>
                <a:latin typeface="DejaVu Sans Mono"/>
              </a:rPr>
              <a:t>}</a:t>
            </a:r>
          </a:p>
          <a:p>
            <a:pPr>
              <a:lnSpc>
                <a:spcPct val="112000"/>
              </a:lnSpc>
              <a:spcAft>
                <a:spcPts val="0"/>
              </a:spcAft>
            </a:pPr>
            <a:r>
              <a:rPr sz="5700">
                <a:solidFill>
                  <a:srgbClr val="000000"/>
                </a:solidFill>
                <a:latin typeface="DejaVu Sans Mono"/>
              </a:rPr>
              <a:t>}</a:t>
            </a:r>
            <a:r>
              <a:rPr sz="5700">
                <a:solidFill>
                  <a:srgbClr val="000000"/>
                </a:solidFill>
                <a:latin typeface="DejaVu Sans Mono"/>
              </a:rPr>
              <a:t>;</a:t>
            </a:r>
          </a:p>
          <a:p>
            <a:pPr>
              <a:lnSpc>
                <a:spcPct val="112000"/>
              </a:lnSpc>
              <a:spcAft>
                <a:spcPts val="0"/>
              </a:spcAft>
            </a:pPr>
          </a:p>
        </p:txBody>
      </p:sp>
      <p:sp>
        <p:nvSpPr>
          <p:cNvPr id="9" name="Rectangle 8"/>
          <p:cNvSpPr/>
          <p:nvPr/>
        </p:nvSpPr>
        <p:spPr>
          <a:xfrm>
            <a:off x="1865376" y="14045184"/>
            <a:ext cx="178308" cy="1783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68880" y="13716000"/>
            <a:ext cx="31491935" cy="1426464"/>
          </a:xfrm>
          <a:prstGeom prst="rect">
            <a:avLst/>
          </a:prstGeom>
          <a:noFill/>
        </p:spPr>
        <p:txBody>
          <a:bodyPr wrap="square" lIns="0" rIns="0" tIns="0" bIns="0">
            <a:noAutofit/>
          </a:bodyPr>
          <a:lstStyle/>
          <a:p>
            <a:pPr algn="l">
              <a:lnSpc>
                <a:spcPct val="108000"/>
              </a:lnSpc>
              <a:spcAft>
                <a:spcPts val="1260"/>
              </a:spcAft>
              <a:defRPr sz="6300" b="0">
                <a:solidFill>
                  <a:srgbClr val="000000"/>
                </a:solidFill>
                <a:latin typeface="NVIDIA Sans"/>
              </a:defRPr>
            </a:pPr>
            <a:r>
              <a:t>The groups retain distinct ranks and memberships.</a:t>
            </a:r>
          </a:p>
        </p:txBody>
      </p:sp>
      <p:sp>
        <p:nvSpPr>
          <p:cNvPr id="11" name="Rectangle 10"/>
          <p:cNvSpPr/>
          <p:nvPr/>
        </p:nvSpPr>
        <p:spPr>
          <a:xfrm>
            <a:off x="1865376" y="15745967"/>
            <a:ext cx="178308" cy="1783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68880" y="15416784"/>
            <a:ext cx="31491935" cy="1426464"/>
          </a:xfrm>
          <a:prstGeom prst="rect">
            <a:avLst/>
          </a:prstGeom>
          <a:noFill/>
        </p:spPr>
        <p:txBody>
          <a:bodyPr wrap="square" lIns="0" rIns="0" tIns="0" bIns="0">
            <a:noAutofit/>
          </a:bodyPr>
          <a:lstStyle/>
          <a:p>
            <a:pPr algn="l">
              <a:lnSpc>
                <a:spcPct val="108000"/>
              </a:lnSpc>
              <a:spcAft>
                <a:spcPts val="1260"/>
              </a:spcAft>
              <a:defRPr sz="6300" b="0">
                <a:solidFill>
                  <a:srgbClr val="000000"/>
                </a:solidFill>
                <a:latin typeface="NVIDIA Sans"/>
              </a:defRPr>
            </a:pPr>
            <a:r>
              <a:t>Their synchronization points must match across the parent.</a:t>
            </a:r>
          </a:p>
        </p:txBody>
      </p:sp>
      <p:sp>
        <p:nvSpPr>
          <p:cNvPr id="13" name="Rectangle 12"/>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Virtual groups require exhaustive participation; an invalid mapping result is undefined behavior.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Virtual subgroups share synchronization points</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Different work still has to rendezvous through the parent.</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36</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Applying groups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docs/cudax/coop/group/virtual_group.rst</a:t>
            </a:r>
          </a:p>
        </p:txBody>
      </p:sp>
      <p:sp>
        <p:nvSpPr>
          <p:cNvPr id="7" name="TextBox 6"/>
          <p:cNvSpPr txBox="1"/>
          <p:nvPr/>
        </p:nvSpPr>
        <p:spPr>
          <a:xfrm>
            <a:off x="1920239" y="7269479"/>
            <a:ext cx="7132320" cy="1097280"/>
          </a:xfrm>
          <a:prstGeom prst="rect">
            <a:avLst/>
          </a:prstGeom>
          <a:noFill/>
        </p:spPr>
        <p:txBody>
          <a:bodyPr wrap="square" lIns="0" rIns="0" tIns="0" bIns="0">
            <a:noAutofit/>
          </a:bodyPr>
          <a:lstStyle/>
          <a:p>
            <a:pPr algn="l">
              <a:lnSpc>
                <a:spcPct val="108000"/>
              </a:lnSpc>
              <a:spcAft>
                <a:spcPts val="1080"/>
              </a:spcAft>
              <a:defRPr sz="5400" b="1">
                <a:solidFill>
                  <a:srgbClr val="000000"/>
                </a:solidFill>
                <a:latin typeface="NVIDIA Sans"/>
              </a:defRPr>
            </a:pPr>
            <a:r>
              <a:t>Group A · 2 warps</a:t>
            </a:r>
          </a:p>
        </p:txBody>
      </p:sp>
      <p:cxnSp>
        <p:nvCxnSpPr>
          <p:cNvPr id="8" name="Connector 7"/>
          <p:cNvCxnSpPr/>
          <p:nvPr/>
        </p:nvCxnSpPr>
        <p:spPr>
          <a:xfrm>
            <a:off x="9601200" y="7818120"/>
            <a:ext cx="23042880" cy="0"/>
          </a:xfrm>
          <a:prstGeom prst="line">
            <a:avLst/>
          </a:prstGeom>
          <a:ln w="76200">
            <a:solidFill>
              <a:srgbClr val="D9D9D9"/>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0012680" y="7214616"/>
            <a:ext cx="3154679" cy="1234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87000" y="7488936"/>
            <a:ext cx="2743200" cy="685800"/>
          </a:xfrm>
          <a:prstGeom prst="rect">
            <a:avLst/>
          </a:prstGeom>
          <a:noFill/>
        </p:spPr>
        <p:txBody>
          <a:bodyPr wrap="square" lIns="0" rIns="0" tIns="0" bIns="0">
            <a:noAutofit/>
          </a:bodyPr>
          <a:lstStyle/>
          <a:p>
            <a:pPr algn="l">
              <a:lnSpc>
                <a:spcPct val="108000"/>
              </a:lnSpc>
              <a:spcAft>
                <a:spcPts val="720"/>
              </a:spcAft>
              <a:defRPr sz="3600" b="0">
                <a:solidFill>
                  <a:srgbClr val="FFFFFF"/>
                </a:solidFill>
                <a:latin typeface="NVIDIA Sans"/>
              </a:defRPr>
            </a:pPr>
            <a:r>
              <a:t>work</a:t>
            </a:r>
          </a:p>
        </p:txBody>
      </p:sp>
      <p:sp>
        <p:nvSpPr>
          <p:cNvPr id="11" name="Rectangle 10"/>
          <p:cNvSpPr/>
          <p:nvPr/>
        </p:nvSpPr>
        <p:spPr>
          <a:xfrm>
            <a:off x="18105119" y="7050023"/>
            <a:ext cx="329184" cy="1645919"/>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501616" y="8887967"/>
            <a:ext cx="1920239" cy="685800"/>
          </a:xfrm>
          <a:prstGeom prst="rect">
            <a:avLst/>
          </a:prstGeom>
          <a:noFill/>
        </p:spPr>
        <p:txBody>
          <a:bodyPr wrap="square" lIns="0" rIns="0" tIns="0" bIns="0">
            <a:noAutofit/>
          </a:bodyPr>
          <a:lstStyle/>
          <a:p>
            <a:pPr algn="l">
              <a:lnSpc>
                <a:spcPct val="108000"/>
              </a:lnSpc>
              <a:spcAft>
                <a:spcPts val="720"/>
              </a:spcAft>
              <a:defRPr sz="3600" b="0">
                <a:solidFill>
                  <a:srgbClr val="76B900"/>
                </a:solidFill>
                <a:latin typeface="NVIDIA Sans"/>
              </a:defRPr>
            </a:pPr>
            <a:r>
              <a:t>sync</a:t>
            </a:r>
          </a:p>
        </p:txBody>
      </p:sp>
      <p:sp>
        <p:nvSpPr>
          <p:cNvPr id="13" name="Rectangle 12"/>
          <p:cNvSpPr/>
          <p:nvPr/>
        </p:nvSpPr>
        <p:spPr>
          <a:xfrm>
            <a:off x="26883360" y="7050023"/>
            <a:ext cx="329184" cy="1645919"/>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279856" y="8887967"/>
            <a:ext cx="1920239" cy="685800"/>
          </a:xfrm>
          <a:prstGeom prst="rect">
            <a:avLst/>
          </a:prstGeom>
          <a:noFill/>
        </p:spPr>
        <p:txBody>
          <a:bodyPr wrap="square" lIns="0" rIns="0" tIns="0" bIns="0">
            <a:noAutofit/>
          </a:bodyPr>
          <a:lstStyle/>
          <a:p>
            <a:pPr algn="l">
              <a:lnSpc>
                <a:spcPct val="108000"/>
              </a:lnSpc>
              <a:spcAft>
                <a:spcPts val="720"/>
              </a:spcAft>
              <a:defRPr sz="3600" b="0">
                <a:solidFill>
                  <a:srgbClr val="76B900"/>
                </a:solidFill>
                <a:latin typeface="NVIDIA Sans"/>
              </a:defRPr>
            </a:pPr>
            <a:r>
              <a:t>sync</a:t>
            </a:r>
          </a:p>
        </p:txBody>
      </p:sp>
      <p:sp>
        <p:nvSpPr>
          <p:cNvPr id="15" name="TextBox 14"/>
          <p:cNvSpPr txBox="1"/>
          <p:nvPr/>
        </p:nvSpPr>
        <p:spPr>
          <a:xfrm>
            <a:off x="1920239" y="10067544"/>
            <a:ext cx="7132320" cy="1097280"/>
          </a:xfrm>
          <a:prstGeom prst="rect">
            <a:avLst/>
          </a:prstGeom>
          <a:noFill/>
        </p:spPr>
        <p:txBody>
          <a:bodyPr wrap="square" lIns="0" rIns="0" tIns="0" bIns="0">
            <a:noAutofit/>
          </a:bodyPr>
          <a:lstStyle/>
          <a:p>
            <a:pPr algn="l">
              <a:lnSpc>
                <a:spcPct val="108000"/>
              </a:lnSpc>
              <a:spcAft>
                <a:spcPts val="1080"/>
              </a:spcAft>
              <a:defRPr sz="5400" b="1">
                <a:solidFill>
                  <a:srgbClr val="000000"/>
                </a:solidFill>
                <a:latin typeface="NVIDIA Sans"/>
              </a:defRPr>
            </a:pPr>
            <a:r>
              <a:t>Group B · 3 warps</a:t>
            </a:r>
          </a:p>
        </p:txBody>
      </p:sp>
      <p:cxnSp>
        <p:nvCxnSpPr>
          <p:cNvPr id="16" name="Connector 15"/>
          <p:cNvCxnSpPr/>
          <p:nvPr/>
        </p:nvCxnSpPr>
        <p:spPr>
          <a:xfrm>
            <a:off x="9601200" y="10616184"/>
            <a:ext cx="23042880" cy="0"/>
          </a:xfrm>
          <a:prstGeom prst="line">
            <a:avLst/>
          </a:prstGeom>
          <a:ln w="76200">
            <a:solidFill>
              <a:srgbClr val="D9D9D9"/>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0012680" y="10012680"/>
            <a:ext cx="4471416" cy="1234440"/>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87000" y="10287000"/>
            <a:ext cx="2743200" cy="685800"/>
          </a:xfrm>
          <a:prstGeom prst="rect">
            <a:avLst/>
          </a:prstGeom>
          <a:noFill/>
        </p:spPr>
        <p:txBody>
          <a:bodyPr wrap="square" lIns="0" rIns="0" tIns="0" bIns="0">
            <a:noAutofit/>
          </a:bodyPr>
          <a:lstStyle/>
          <a:p>
            <a:pPr algn="l">
              <a:lnSpc>
                <a:spcPct val="108000"/>
              </a:lnSpc>
              <a:spcAft>
                <a:spcPts val="720"/>
              </a:spcAft>
              <a:defRPr sz="3600" b="0">
                <a:solidFill>
                  <a:srgbClr val="FFFFFF"/>
                </a:solidFill>
                <a:latin typeface="NVIDIA Sans"/>
              </a:defRPr>
            </a:pPr>
            <a:r>
              <a:t>work</a:t>
            </a:r>
          </a:p>
        </p:txBody>
      </p:sp>
      <p:sp>
        <p:nvSpPr>
          <p:cNvPr id="19" name="Rectangle 18"/>
          <p:cNvSpPr/>
          <p:nvPr/>
        </p:nvSpPr>
        <p:spPr>
          <a:xfrm>
            <a:off x="18105119" y="9848088"/>
            <a:ext cx="329184" cy="1645919"/>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501616" y="11686032"/>
            <a:ext cx="1920239" cy="685800"/>
          </a:xfrm>
          <a:prstGeom prst="rect">
            <a:avLst/>
          </a:prstGeom>
          <a:noFill/>
        </p:spPr>
        <p:txBody>
          <a:bodyPr wrap="square" lIns="0" rIns="0" tIns="0" bIns="0">
            <a:noAutofit/>
          </a:bodyPr>
          <a:lstStyle/>
          <a:p>
            <a:pPr algn="l">
              <a:lnSpc>
                <a:spcPct val="108000"/>
              </a:lnSpc>
              <a:spcAft>
                <a:spcPts val="720"/>
              </a:spcAft>
              <a:defRPr sz="3600" b="0">
                <a:solidFill>
                  <a:srgbClr val="1DBBA4"/>
                </a:solidFill>
                <a:latin typeface="NVIDIA Sans"/>
              </a:defRPr>
            </a:pPr>
            <a:r>
              <a:t>sync</a:t>
            </a:r>
          </a:p>
        </p:txBody>
      </p:sp>
      <p:sp>
        <p:nvSpPr>
          <p:cNvPr id="21" name="Rectangle 20"/>
          <p:cNvSpPr/>
          <p:nvPr/>
        </p:nvSpPr>
        <p:spPr>
          <a:xfrm>
            <a:off x="26883360" y="9848088"/>
            <a:ext cx="329184" cy="1645919"/>
          </a:xfrm>
          <a:prstGeom prst="rect">
            <a:avLst/>
          </a:prstGeom>
          <a:solidFill>
            <a:srgbClr val="1DB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279856" y="11686032"/>
            <a:ext cx="1920239" cy="685800"/>
          </a:xfrm>
          <a:prstGeom prst="rect">
            <a:avLst/>
          </a:prstGeom>
          <a:noFill/>
        </p:spPr>
        <p:txBody>
          <a:bodyPr wrap="square" lIns="0" rIns="0" tIns="0" bIns="0">
            <a:noAutofit/>
          </a:bodyPr>
          <a:lstStyle/>
          <a:p>
            <a:pPr algn="l">
              <a:lnSpc>
                <a:spcPct val="108000"/>
              </a:lnSpc>
              <a:spcAft>
                <a:spcPts val="720"/>
              </a:spcAft>
              <a:defRPr sz="3600" b="0">
                <a:solidFill>
                  <a:srgbClr val="1DBBA4"/>
                </a:solidFill>
                <a:latin typeface="NVIDIA Sans"/>
              </a:defRPr>
            </a:pPr>
            <a:r>
              <a:t>sync</a:t>
            </a:r>
          </a:p>
        </p:txBody>
      </p:sp>
      <p:sp>
        <p:nvSpPr>
          <p:cNvPr id="23" name="TextBox 22"/>
          <p:cNvSpPr txBox="1"/>
          <p:nvPr/>
        </p:nvSpPr>
        <p:spPr>
          <a:xfrm>
            <a:off x="1920239" y="12865607"/>
            <a:ext cx="7132320" cy="1097280"/>
          </a:xfrm>
          <a:prstGeom prst="rect">
            <a:avLst/>
          </a:prstGeom>
          <a:noFill/>
        </p:spPr>
        <p:txBody>
          <a:bodyPr wrap="square" lIns="0" rIns="0" tIns="0" bIns="0">
            <a:noAutofit/>
          </a:bodyPr>
          <a:lstStyle/>
          <a:p>
            <a:pPr algn="l">
              <a:lnSpc>
                <a:spcPct val="108000"/>
              </a:lnSpc>
              <a:spcAft>
                <a:spcPts val="1080"/>
              </a:spcAft>
              <a:defRPr sz="5400" b="1">
                <a:solidFill>
                  <a:srgbClr val="000000"/>
                </a:solidFill>
                <a:latin typeface="NVIDIA Sans"/>
              </a:defRPr>
            </a:pPr>
            <a:r>
              <a:t>Group C · 1 warp</a:t>
            </a:r>
          </a:p>
        </p:txBody>
      </p:sp>
      <p:cxnSp>
        <p:nvCxnSpPr>
          <p:cNvPr id="24" name="Connector 23"/>
          <p:cNvCxnSpPr/>
          <p:nvPr/>
        </p:nvCxnSpPr>
        <p:spPr>
          <a:xfrm>
            <a:off x="9601200" y="13414247"/>
            <a:ext cx="23042880" cy="0"/>
          </a:xfrm>
          <a:prstGeom prst="line">
            <a:avLst/>
          </a:prstGeom>
          <a:ln w="76200">
            <a:solidFill>
              <a:srgbClr val="D9D9D9"/>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0012680" y="12810744"/>
            <a:ext cx="5788152" cy="1234440"/>
          </a:xfrm>
          <a:prstGeom prst="rect">
            <a:avLst/>
          </a:prstGeom>
          <a:solidFill>
            <a:srgbClr val="007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87000" y="13085063"/>
            <a:ext cx="2743200" cy="685800"/>
          </a:xfrm>
          <a:prstGeom prst="rect">
            <a:avLst/>
          </a:prstGeom>
          <a:noFill/>
        </p:spPr>
        <p:txBody>
          <a:bodyPr wrap="square" lIns="0" rIns="0" tIns="0" bIns="0">
            <a:noAutofit/>
          </a:bodyPr>
          <a:lstStyle/>
          <a:p>
            <a:pPr algn="l">
              <a:lnSpc>
                <a:spcPct val="108000"/>
              </a:lnSpc>
              <a:spcAft>
                <a:spcPts val="720"/>
              </a:spcAft>
              <a:defRPr sz="3600" b="0">
                <a:solidFill>
                  <a:srgbClr val="FFFFFF"/>
                </a:solidFill>
                <a:latin typeface="NVIDIA Sans"/>
              </a:defRPr>
            </a:pPr>
            <a:r>
              <a:t>work</a:t>
            </a:r>
          </a:p>
        </p:txBody>
      </p:sp>
      <p:sp>
        <p:nvSpPr>
          <p:cNvPr id="27" name="Rectangle 26"/>
          <p:cNvSpPr/>
          <p:nvPr/>
        </p:nvSpPr>
        <p:spPr>
          <a:xfrm>
            <a:off x="18105119" y="12646151"/>
            <a:ext cx="329184" cy="1645919"/>
          </a:xfrm>
          <a:prstGeom prst="rect">
            <a:avLst/>
          </a:prstGeom>
          <a:solidFill>
            <a:srgbClr val="007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7501616" y="14484095"/>
            <a:ext cx="1920239" cy="685800"/>
          </a:xfrm>
          <a:prstGeom prst="rect">
            <a:avLst/>
          </a:prstGeom>
          <a:noFill/>
        </p:spPr>
        <p:txBody>
          <a:bodyPr wrap="square" lIns="0" rIns="0" tIns="0" bIns="0">
            <a:noAutofit/>
          </a:bodyPr>
          <a:lstStyle/>
          <a:p>
            <a:pPr algn="l">
              <a:lnSpc>
                <a:spcPct val="108000"/>
              </a:lnSpc>
              <a:spcAft>
                <a:spcPts val="720"/>
              </a:spcAft>
              <a:defRPr sz="3600" b="0">
                <a:solidFill>
                  <a:srgbClr val="0074DF"/>
                </a:solidFill>
                <a:latin typeface="NVIDIA Sans"/>
              </a:defRPr>
            </a:pPr>
            <a:r>
              <a:t>sync</a:t>
            </a:r>
          </a:p>
        </p:txBody>
      </p:sp>
      <p:sp>
        <p:nvSpPr>
          <p:cNvPr id="29" name="Rectangle 28"/>
          <p:cNvSpPr/>
          <p:nvPr/>
        </p:nvSpPr>
        <p:spPr>
          <a:xfrm>
            <a:off x="26883360" y="12646151"/>
            <a:ext cx="329184" cy="1645919"/>
          </a:xfrm>
          <a:prstGeom prst="rect">
            <a:avLst/>
          </a:prstGeom>
          <a:solidFill>
            <a:srgbClr val="007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279856" y="14484095"/>
            <a:ext cx="1920239" cy="685800"/>
          </a:xfrm>
          <a:prstGeom prst="rect">
            <a:avLst/>
          </a:prstGeom>
          <a:noFill/>
        </p:spPr>
        <p:txBody>
          <a:bodyPr wrap="square" lIns="0" rIns="0" tIns="0" bIns="0">
            <a:noAutofit/>
          </a:bodyPr>
          <a:lstStyle/>
          <a:p>
            <a:pPr algn="l">
              <a:lnSpc>
                <a:spcPct val="108000"/>
              </a:lnSpc>
              <a:spcAft>
                <a:spcPts val="720"/>
              </a:spcAft>
              <a:defRPr sz="3600" b="0">
                <a:solidFill>
                  <a:srgbClr val="0074DF"/>
                </a:solidFill>
                <a:latin typeface="NVIDIA Sans"/>
              </a:defRPr>
            </a:pPr>
            <a:r>
              <a:t>sync</a:t>
            </a:r>
          </a:p>
        </p:txBody>
      </p:sp>
      <p:cxnSp>
        <p:nvCxnSpPr>
          <p:cNvPr id="31" name="Connector 30"/>
          <p:cNvCxnSpPr/>
          <p:nvPr/>
        </p:nvCxnSpPr>
        <p:spPr>
          <a:xfrm>
            <a:off x="18269712" y="6720840"/>
            <a:ext cx="0" cy="8229600"/>
          </a:xfrm>
          <a:prstGeom prst="line">
            <a:avLst/>
          </a:prstGeom>
          <a:ln w="26669">
            <a:solidFill>
              <a:srgbClr val="757575"/>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7047952" y="6720840"/>
            <a:ext cx="0" cy="8229600"/>
          </a:xfrm>
          <a:prstGeom prst="line">
            <a:avLst/>
          </a:prstGeom>
          <a:ln w="26669">
            <a:solidFill>
              <a:srgbClr val="75757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A subgroup cannot independently skip a parent-wide synchronization required by the others.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group_view adapts a group without owning it</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Pass a view by value or query the same group using finer units.</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37</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Applying groups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docs/cudax/coop/group/group_view.rst</a:t>
            </a:r>
          </a:p>
        </p:txBody>
      </p:sp>
      <p:sp>
        <p:nvSpPr>
          <p:cNvPr id="7" name="Rectangle 6"/>
          <p:cNvSpPr/>
          <p:nvPr/>
        </p:nvSpPr>
        <p:spPr>
          <a:xfrm>
            <a:off x="1783080" y="5897879"/>
            <a:ext cx="32918400" cy="7269479"/>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31656527" cy="6391656"/>
          </a:xfrm>
          <a:prstGeom prst="rect">
            <a:avLst/>
          </a:prstGeom>
          <a:noFill/>
        </p:spPr>
        <p:txBody>
          <a:bodyPr wrap="none" lIns="0" rIns="0" tIns="0" bIns="0">
            <a:noAutofit/>
          </a:bodyPr>
          <a:lstStyle/>
          <a:p>
            <a:pPr>
              <a:lnSpc>
                <a:spcPct val="112000"/>
              </a:lnSpc>
              <a:spcAft>
                <a:spcPts val="0"/>
              </a:spcAft>
            </a:pPr>
            <a:r>
              <a:rPr sz="5400">
                <a:solidFill>
                  <a:srgbClr val="000000"/>
                </a:solidFill>
                <a:latin typeface="DejaVu Sans Mono"/>
              </a:rPr>
              <a:t>coop</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this_warp</a:t>
            </a:r>
            <a:r>
              <a:rPr sz="5400">
                <a:solidFill>
                  <a:srgbClr val="000000"/>
                </a:solidFill>
                <a:latin typeface="DejaVu Sans Mono"/>
              </a:rPr>
              <a:t> </a:t>
            </a:r>
            <a:r>
              <a:rPr sz="5400">
                <a:solidFill>
                  <a:srgbClr val="000000"/>
                </a:solidFill>
                <a:latin typeface="DejaVu Sans Mono"/>
              </a:rPr>
              <a:t>warp</a:t>
            </a:r>
            <a:r>
              <a:rPr sz="5400">
                <a:solidFill>
                  <a:srgbClr val="000000"/>
                </a:solidFill>
                <a:latin typeface="DejaVu Sans Mono"/>
              </a:rPr>
              <a:t>{</a:t>
            </a:r>
            <a:r>
              <a:rPr sz="5400">
                <a:solidFill>
                  <a:srgbClr val="000000"/>
                </a:solidFill>
                <a:latin typeface="DejaVu Sans Mono"/>
              </a:rPr>
              <a:t>config</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p>
          <a:p>
            <a:pPr>
              <a:lnSpc>
                <a:spcPct val="112000"/>
              </a:lnSpc>
              <a:spcAft>
                <a:spcPts val="0"/>
              </a:spcAft>
            </a:pPr>
            <a:r>
              <a:rPr sz="5400">
                <a:solidFill>
                  <a:srgbClr val="757575"/>
                </a:solidFill>
                <a:latin typeface="DejaVu Sans Mono"/>
              </a:rPr>
              <a:t>// View one warp as a group of threads.</a:t>
            </a:r>
          </a:p>
          <a:p>
            <a:pPr>
              <a:lnSpc>
                <a:spcPct val="112000"/>
              </a:lnSpc>
              <a:spcAft>
                <a:spcPts val="0"/>
              </a:spcAft>
            </a:pPr>
            <a:r>
              <a:rPr sz="5400">
                <a:solidFill>
                  <a:srgbClr val="000000"/>
                </a:solidFill>
                <a:latin typeface="DejaVu Sans Mono"/>
              </a:rPr>
              <a:t>coop</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group_view</a:t>
            </a:r>
            <a:r>
              <a:rPr sz="5400">
                <a:solidFill>
                  <a:srgbClr val="000000"/>
                </a:solidFill>
                <a:latin typeface="DejaVu Sans Mono"/>
              </a:rPr>
              <a:t> </a:t>
            </a:r>
            <a:r>
              <a:rPr sz="5400">
                <a:solidFill>
                  <a:srgbClr val="000000"/>
                </a:solidFill>
                <a:latin typeface="DejaVu Sans Mono"/>
              </a:rPr>
              <a:t>threads</a:t>
            </a:r>
            <a:r>
              <a:rPr sz="5400">
                <a:solidFill>
                  <a:srgbClr val="000000"/>
                </a:solidFill>
                <a:latin typeface="DejaVu Sans Mono"/>
              </a:rPr>
              <a:t>{</a:t>
            </a:r>
            <a:r>
              <a:rPr sz="5400">
                <a:solidFill>
                  <a:srgbClr val="000000"/>
                </a:solidFill>
                <a:latin typeface="DejaVu Sans Mono"/>
              </a:rPr>
              <a:t>cuda</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gpu_thread</a:t>
            </a:r>
            <a:r>
              <a:rPr sz="5400">
                <a:solidFill>
                  <a:srgbClr val="000000"/>
                </a:solidFill>
                <a:latin typeface="DejaVu Sans Mono"/>
              </a:rPr>
              <a:t>,</a:t>
            </a:r>
            <a:r>
              <a:rPr sz="5400">
                <a:solidFill>
                  <a:srgbClr val="000000"/>
                </a:solidFill>
                <a:latin typeface="DejaVu Sans Mono"/>
              </a:rPr>
              <a:t> </a:t>
            </a:r>
            <a:r>
              <a:rPr sz="5400">
                <a:solidFill>
                  <a:srgbClr val="000000"/>
                </a:solidFill>
                <a:latin typeface="DejaVu Sans Mono"/>
              </a:rPr>
              <a:t>warp</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r>
              <a:rPr sz="5400">
                <a:solidFill>
                  <a:srgbClr val="0074DF"/>
                </a:solidFill>
                <a:latin typeface="DejaVu Sans Mono"/>
              </a:rPr>
              <a:t>const</a:t>
            </a:r>
            <a:r>
              <a:rPr sz="5400">
                <a:solidFill>
                  <a:srgbClr val="000000"/>
                </a:solidFill>
                <a:latin typeface="DejaVu Sans Mono"/>
              </a:rPr>
              <a:t> </a:t>
            </a:r>
            <a:r>
              <a:rPr sz="5400">
                <a:solidFill>
                  <a:srgbClr val="0074DF"/>
                </a:solidFill>
                <a:latin typeface="DejaVu Sans Mono"/>
              </a:rPr>
              <a:t>auto</a:t>
            </a:r>
            <a:r>
              <a:rPr sz="5400">
                <a:solidFill>
                  <a:srgbClr val="000000"/>
                </a:solidFill>
                <a:latin typeface="DejaVu Sans Mono"/>
              </a:rPr>
              <a:t> </a:t>
            </a:r>
            <a:r>
              <a:rPr sz="5400">
                <a:solidFill>
                  <a:srgbClr val="000000"/>
                </a:solidFill>
                <a:latin typeface="DejaVu Sans Mono"/>
              </a:rPr>
              <a:t>lane</a:t>
            </a:r>
            <a:r>
              <a:rPr sz="5400">
                <a:solidFill>
                  <a:srgbClr val="000000"/>
                </a:solidFill>
                <a:latin typeface="DejaVu Sans Mono"/>
              </a:rPr>
              <a:t> </a:t>
            </a:r>
            <a:r>
              <a:rPr sz="5400">
                <a:solidFill>
                  <a:srgbClr val="000000"/>
                </a:solidFill>
                <a:latin typeface="DejaVu Sans Mono"/>
              </a:rPr>
              <a:t>=</a:t>
            </a:r>
            <a:r>
              <a:rPr sz="5400">
                <a:solidFill>
                  <a:srgbClr val="000000"/>
                </a:solidFill>
                <a:latin typeface="DejaVu Sans Mono"/>
              </a:rPr>
              <a:t> </a:t>
            </a:r>
            <a:r>
              <a:rPr sz="5400">
                <a:solidFill>
                  <a:srgbClr val="000000"/>
                </a:solidFill>
                <a:latin typeface="DejaVu Sans Mono"/>
              </a:rPr>
              <a:t>cuda</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gpu_thread</a:t>
            </a:r>
            <a:r>
              <a:rPr sz="5400">
                <a:solidFill>
                  <a:srgbClr val="000000"/>
                </a:solidFill>
                <a:latin typeface="DejaVu Sans Mono"/>
              </a:rPr>
              <a:t>.</a:t>
            </a:r>
            <a:r>
              <a:rPr sz="5400">
                <a:solidFill>
                  <a:srgbClr val="000000"/>
                </a:solidFill>
                <a:latin typeface="DejaVu Sans Mono"/>
              </a:rPr>
              <a:t>rank</a:t>
            </a:r>
            <a:r>
              <a:rPr sz="5400">
                <a:solidFill>
                  <a:srgbClr val="000000"/>
                </a:solidFill>
                <a:latin typeface="DejaVu Sans Mono"/>
              </a:rPr>
              <a:t>(</a:t>
            </a:r>
            <a:r>
              <a:rPr sz="5400">
                <a:solidFill>
                  <a:srgbClr val="000000"/>
                </a:solidFill>
                <a:latin typeface="DejaVu Sans Mono"/>
              </a:rPr>
              <a:t>threads</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r>
              <a:rPr sz="5400">
                <a:solidFill>
                  <a:srgbClr val="000000"/>
                </a:solidFill>
                <a:latin typeface="DejaVu Sans Mono"/>
              </a:rPr>
              <a:t>threads</a:t>
            </a:r>
            <a:r>
              <a:rPr sz="5400">
                <a:solidFill>
                  <a:srgbClr val="000000"/>
                </a:solidFill>
                <a:latin typeface="DejaVu Sans Mono"/>
              </a:rPr>
              <a:t>.</a:t>
            </a:r>
            <a:r>
              <a:rPr sz="5400">
                <a:solidFill>
                  <a:srgbClr val="000000"/>
                </a:solidFill>
                <a:latin typeface="DejaVu Sans Mono"/>
              </a:rPr>
              <a:t>sync</a:t>
            </a:r>
            <a:r>
              <a:rPr sz="5400">
                <a:solidFill>
                  <a:srgbClr val="000000"/>
                </a:solidFill>
                <a:latin typeface="DejaVu Sans Mono"/>
              </a:rPr>
              <a:t>(</a:t>
            </a:r>
            <a:r>
              <a:rPr sz="5400">
                <a:solidFill>
                  <a:srgbClr val="000000"/>
                </a:solidFill>
                <a:latin typeface="DejaVu Sans Mono"/>
              </a:rPr>
              <a:t>)</a:t>
            </a:r>
            <a:r>
              <a:rPr sz="5400">
                <a:solidFill>
                  <a:srgbClr val="000000"/>
                </a:solidFill>
                <a:latin typeface="DejaVu Sans Mono"/>
              </a:rPr>
              <a:t>;</a:t>
            </a:r>
          </a:p>
          <a:p>
            <a:pPr>
              <a:lnSpc>
                <a:spcPct val="112000"/>
              </a:lnSpc>
              <a:spcAft>
                <a:spcPts val="0"/>
              </a:spcAft>
            </a:pPr>
          </a:p>
        </p:txBody>
      </p:sp>
      <p:sp>
        <p:nvSpPr>
          <p:cNvPr id="9" name="Rectangle 8"/>
          <p:cNvSpPr/>
          <p:nvPr/>
        </p:nvSpPr>
        <p:spPr>
          <a:xfrm>
            <a:off x="1865376" y="14730984"/>
            <a:ext cx="178308" cy="1783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68880" y="14401800"/>
            <a:ext cx="31491935" cy="1371600"/>
          </a:xfrm>
          <a:prstGeom prst="rect">
            <a:avLst/>
          </a:prstGeom>
          <a:noFill/>
        </p:spPr>
        <p:txBody>
          <a:bodyPr wrap="square" lIns="0" rIns="0" tIns="0" bIns="0">
            <a:noAutofit/>
          </a:bodyPr>
          <a:lstStyle/>
          <a:p>
            <a:pPr algn="l">
              <a:lnSpc>
                <a:spcPct val="108000"/>
              </a:lnSpc>
              <a:spcAft>
                <a:spcPts val="1200"/>
              </a:spcAft>
              <a:defRPr sz="6000" b="0">
                <a:solidFill>
                  <a:srgbClr val="000000"/>
                </a:solidFill>
                <a:latin typeface="NVIDIA Sans"/>
              </a:defRPr>
            </a:pPr>
            <a:r>
              <a:t>The view keeps the original synchronization mechanism.</a:t>
            </a:r>
          </a:p>
        </p:txBody>
      </p:sp>
      <p:sp>
        <p:nvSpPr>
          <p:cNvPr id="11" name="Rectangle 10"/>
          <p:cNvSpPr/>
          <p:nvPr/>
        </p:nvSpPr>
        <p:spPr>
          <a:xfrm>
            <a:off x="1865376" y="16376904"/>
            <a:ext cx="178308" cy="1783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68880" y="16047719"/>
            <a:ext cx="31491935" cy="1371600"/>
          </a:xfrm>
          <a:prstGeom prst="rect">
            <a:avLst/>
          </a:prstGeom>
          <a:noFill/>
        </p:spPr>
        <p:txBody>
          <a:bodyPr wrap="square" lIns="0" rIns="0" tIns="0" bIns="0">
            <a:noAutofit/>
          </a:bodyPr>
          <a:lstStyle/>
          <a:p>
            <a:pPr algn="l">
              <a:lnSpc>
                <a:spcPct val="108000"/>
              </a:lnSpc>
              <a:spcAft>
                <a:spcPts val="1200"/>
              </a:spcAft>
              <a:defRPr sz="6000" b="0">
                <a:solidFill>
                  <a:srgbClr val="000000"/>
                </a:solidFill>
                <a:latin typeface="NVIDIA Sans"/>
              </a:defRPr>
            </a:pPr>
            <a:r>
              <a:t>The original group and its resources must outlive the view.</a:t>
            </a:r>
          </a:p>
        </p:txBody>
      </p:sp>
      <p:sp>
        <p:nvSpPr>
          <p:cNvPr id="13" name="Rectangle 12"/>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Owning group objects are not copyable or movable; group_view is copyable and non-owning.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Optional participation requires a membership check</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Exclude tail units, then guard group operations.</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38</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Applying groups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docs/cudax/coop/group/mapping/group_by.rst</a:t>
            </a:r>
          </a:p>
        </p:txBody>
      </p:sp>
      <p:sp>
        <p:nvSpPr>
          <p:cNvPr id="7" name="Rectangle 6"/>
          <p:cNvSpPr/>
          <p:nvPr/>
        </p:nvSpPr>
        <p:spPr>
          <a:xfrm>
            <a:off x="1783080" y="5897879"/>
            <a:ext cx="32918400" cy="9738359"/>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14016" y="6391656"/>
            <a:ext cx="31656527" cy="8860536"/>
          </a:xfrm>
          <a:prstGeom prst="rect">
            <a:avLst/>
          </a:prstGeom>
          <a:noFill/>
        </p:spPr>
        <p:txBody>
          <a:bodyPr wrap="none" lIns="0" rIns="0" tIns="0" bIns="0">
            <a:noAutofit/>
          </a:bodyPr>
          <a:lstStyle/>
          <a:p>
            <a:pPr>
              <a:lnSpc>
                <a:spcPct val="112000"/>
              </a:lnSpc>
              <a:spcAft>
                <a:spcPts val="0"/>
              </a:spcAft>
            </a:pPr>
            <a:r>
              <a:rPr sz="4950">
                <a:solidFill>
                  <a:srgbClr val="000000"/>
                </a:solidFill>
                <a:latin typeface="DejaVu Sans Mono"/>
              </a:rPr>
              <a:t>coop</a:t>
            </a:r>
            <a:r>
              <a:rPr sz="4950">
                <a:solidFill>
                  <a:srgbClr val="000000"/>
                </a:solidFill>
                <a:latin typeface="DejaVu Sans Mono"/>
              </a:rPr>
              <a:t>:</a:t>
            </a:r>
            <a:r>
              <a:rPr sz="4950">
                <a:solidFill>
                  <a:srgbClr val="000000"/>
                </a:solidFill>
                <a:latin typeface="DejaVu Sans Mono"/>
              </a:rPr>
              <a:t>:</a:t>
            </a:r>
            <a:r>
              <a:rPr sz="4950">
                <a:solidFill>
                  <a:srgbClr val="000000"/>
                </a:solidFill>
                <a:latin typeface="DejaVu Sans Mono"/>
              </a:rPr>
              <a:t>this_warp</a:t>
            </a:r>
            <a:r>
              <a:rPr sz="4950">
                <a:solidFill>
                  <a:srgbClr val="000000"/>
                </a:solidFill>
                <a:latin typeface="DejaVu Sans Mono"/>
              </a:rPr>
              <a:t> </a:t>
            </a:r>
            <a:r>
              <a:rPr sz="4950">
                <a:solidFill>
                  <a:srgbClr val="000000"/>
                </a:solidFill>
                <a:latin typeface="DejaVu Sans Mono"/>
              </a:rPr>
              <a:t>warp</a:t>
            </a:r>
            <a:r>
              <a:rPr sz="4950">
                <a:solidFill>
                  <a:srgbClr val="000000"/>
                </a:solidFill>
                <a:latin typeface="DejaVu Sans Mono"/>
              </a:rPr>
              <a:t>{</a:t>
            </a:r>
            <a:r>
              <a:rPr sz="4950">
                <a:solidFill>
                  <a:srgbClr val="000000"/>
                </a:solidFill>
                <a:latin typeface="DejaVu Sans Mono"/>
              </a:rPr>
              <a:t>config</a:t>
            </a:r>
            <a:r>
              <a:rPr sz="4950">
                <a:solidFill>
                  <a:srgbClr val="000000"/>
                </a:solidFill>
                <a:latin typeface="DejaVu Sans Mono"/>
              </a:rPr>
              <a:t>}</a:t>
            </a:r>
            <a:r>
              <a:rPr sz="4950">
                <a:solidFill>
                  <a:srgbClr val="000000"/>
                </a:solidFill>
                <a:latin typeface="DejaVu Sans Mono"/>
              </a:rPr>
              <a:t>;</a:t>
            </a:r>
          </a:p>
          <a:p>
            <a:pPr>
              <a:lnSpc>
                <a:spcPct val="112000"/>
              </a:lnSpc>
              <a:spcAft>
                <a:spcPts val="0"/>
              </a:spcAft>
            </a:pPr>
            <a:r>
              <a:rPr sz="4950">
                <a:solidFill>
                  <a:srgbClr val="000000"/>
                </a:solidFill>
                <a:latin typeface="DejaVu Sans Mono"/>
              </a:rPr>
              <a:t>coop</a:t>
            </a:r>
            <a:r>
              <a:rPr sz="4950">
                <a:solidFill>
                  <a:srgbClr val="000000"/>
                </a:solidFill>
                <a:latin typeface="DejaVu Sans Mono"/>
              </a:rPr>
              <a:t>:</a:t>
            </a:r>
            <a:r>
              <a:rPr sz="4950">
                <a:solidFill>
                  <a:srgbClr val="000000"/>
                </a:solidFill>
                <a:latin typeface="DejaVu Sans Mono"/>
              </a:rPr>
              <a:t>:</a:t>
            </a:r>
            <a:r>
              <a:rPr sz="4950">
                <a:solidFill>
                  <a:srgbClr val="000000"/>
                </a:solidFill>
                <a:latin typeface="DejaVu Sans Mono"/>
              </a:rPr>
              <a:t>generic_group</a:t>
            </a:r>
            <a:r>
              <a:rPr sz="4950">
                <a:solidFill>
                  <a:srgbClr val="000000"/>
                </a:solidFill>
                <a:latin typeface="DejaVu Sans Mono"/>
              </a:rPr>
              <a:t> </a:t>
            </a:r>
            <a:r>
              <a:rPr sz="4950">
                <a:solidFill>
                  <a:srgbClr val="000000"/>
                </a:solidFill>
                <a:latin typeface="DejaVu Sans Mono"/>
              </a:rPr>
              <a:t>selected</a:t>
            </a:r>
            <a:r>
              <a:rPr sz="4950">
                <a:solidFill>
                  <a:srgbClr val="000000"/>
                </a:solidFill>
                <a:latin typeface="DejaVu Sans Mono"/>
              </a:rPr>
              <a:t>{</a:t>
            </a:r>
          </a:p>
          <a:p>
            <a:pPr>
              <a:lnSpc>
                <a:spcPct val="112000"/>
              </a:lnSpc>
              <a:spcAft>
                <a:spcPts val="0"/>
              </a:spcAft>
            </a:pPr>
            <a:r>
              <a:rPr sz="4950">
                <a:solidFill>
                  <a:srgbClr val="000000"/>
                </a:solidFill>
                <a:latin typeface="DejaVu Sans Mono"/>
              </a:rPr>
              <a:t>  </a:t>
            </a:r>
            <a:r>
              <a:rPr sz="4950">
                <a:solidFill>
                  <a:srgbClr val="000000"/>
                </a:solidFill>
                <a:latin typeface="DejaVu Sans Mono"/>
              </a:rPr>
              <a:t>cuda</a:t>
            </a:r>
            <a:r>
              <a:rPr sz="4950">
                <a:solidFill>
                  <a:srgbClr val="000000"/>
                </a:solidFill>
                <a:latin typeface="DejaVu Sans Mono"/>
              </a:rPr>
              <a:t>:</a:t>
            </a:r>
            <a:r>
              <a:rPr sz="4950">
                <a:solidFill>
                  <a:srgbClr val="000000"/>
                </a:solidFill>
                <a:latin typeface="DejaVu Sans Mono"/>
              </a:rPr>
              <a:t>:</a:t>
            </a:r>
            <a:r>
              <a:rPr sz="4950">
                <a:solidFill>
                  <a:srgbClr val="000000"/>
                </a:solidFill>
                <a:latin typeface="DejaVu Sans Mono"/>
              </a:rPr>
              <a:t>gpu_thread</a:t>
            </a:r>
            <a:r>
              <a:rPr sz="4950">
                <a:solidFill>
                  <a:srgbClr val="000000"/>
                </a:solidFill>
                <a:latin typeface="DejaVu Sans Mono"/>
              </a:rPr>
              <a:t>,</a:t>
            </a:r>
            <a:r>
              <a:rPr sz="4950">
                <a:solidFill>
                  <a:srgbClr val="000000"/>
                </a:solidFill>
                <a:latin typeface="DejaVu Sans Mono"/>
              </a:rPr>
              <a:t> </a:t>
            </a:r>
            <a:r>
              <a:rPr sz="4950">
                <a:solidFill>
                  <a:srgbClr val="000000"/>
                </a:solidFill>
                <a:latin typeface="DejaVu Sans Mono"/>
              </a:rPr>
              <a:t>warp</a:t>
            </a:r>
            <a:r>
              <a:rPr sz="4950">
                <a:solidFill>
                  <a:srgbClr val="000000"/>
                </a:solidFill>
                <a:latin typeface="DejaVu Sans Mono"/>
              </a:rPr>
              <a:t>,</a:t>
            </a:r>
          </a:p>
          <a:p>
            <a:pPr>
              <a:lnSpc>
                <a:spcPct val="112000"/>
              </a:lnSpc>
              <a:spcAft>
                <a:spcPts val="0"/>
              </a:spcAft>
            </a:pPr>
            <a:r>
              <a:rPr sz="4950">
                <a:solidFill>
                  <a:srgbClr val="000000"/>
                </a:solidFill>
                <a:latin typeface="DejaVu Sans Mono"/>
              </a:rPr>
              <a:t>  </a:t>
            </a:r>
            <a:r>
              <a:rPr sz="4950">
                <a:solidFill>
                  <a:srgbClr val="000000"/>
                </a:solidFill>
                <a:latin typeface="DejaVu Sans Mono"/>
              </a:rPr>
              <a:t>coop</a:t>
            </a:r>
            <a:r>
              <a:rPr sz="4950">
                <a:solidFill>
                  <a:srgbClr val="000000"/>
                </a:solidFill>
                <a:latin typeface="DejaVu Sans Mono"/>
              </a:rPr>
              <a:t>:</a:t>
            </a:r>
            <a:r>
              <a:rPr sz="4950">
                <a:solidFill>
                  <a:srgbClr val="000000"/>
                </a:solidFill>
                <a:latin typeface="DejaVu Sans Mono"/>
              </a:rPr>
              <a:t>:</a:t>
            </a:r>
            <a:r>
              <a:rPr sz="4950">
                <a:solidFill>
                  <a:srgbClr val="000000"/>
                </a:solidFill>
                <a:latin typeface="DejaVu Sans Mono"/>
              </a:rPr>
              <a:t>group_by</a:t>
            </a:r>
            <a:r>
              <a:rPr sz="4950">
                <a:solidFill>
                  <a:srgbClr val="000000"/>
                </a:solidFill>
                <a:latin typeface="DejaVu Sans Mono"/>
              </a:rPr>
              <a:t>{</a:t>
            </a:r>
            <a:r>
              <a:rPr sz="4950">
                <a:solidFill>
                  <a:srgbClr val="000000"/>
                </a:solidFill>
                <a:latin typeface="DejaVu Sans Mono"/>
              </a:rPr>
              <a:t>coop</a:t>
            </a:r>
            <a:r>
              <a:rPr sz="4950">
                <a:solidFill>
                  <a:srgbClr val="000000"/>
                </a:solidFill>
                <a:latin typeface="DejaVu Sans Mono"/>
              </a:rPr>
              <a:t>:</a:t>
            </a:r>
            <a:r>
              <a:rPr sz="4950">
                <a:solidFill>
                  <a:srgbClr val="000000"/>
                </a:solidFill>
                <a:latin typeface="DejaVu Sans Mono"/>
              </a:rPr>
              <a:t>:</a:t>
            </a:r>
            <a:r>
              <a:rPr sz="4950">
                <a:solidFill>
                  <a:srgbClr val="000000"/>
                </a:solidFill>
                <a:latin typeface="DejaVu Sans Mono"/>
              </a:rPr>
              <a:t>non_exhaustive</a:t>
            </a:r>
            <a:r>
              <a:rPr sz="4950">
                <a:solidFill>
                  <a:srgbClr val="000000"/>
                </a:solidFill>
                <a:latin typeface="DejaVu Sans Mono"/>
              </a:rPr>
              <a:t>,</a:t>
            </a:r>
            <a:r>
              <a:rPr sz="4950">
                <a:solidFill>
                  <a:srgbClr val="000000"/>
                </a:solidFill>
                <a:latin typeface="DejaVu Sans Mono"/>
              </a:rPr>
              <a:t> </a:t>
            </a:r>
            <a:r>
              <a:rPr sz="4950">
                <a:solidFill>
                  <a:srgbClr val="000000"/>
                </a:solidFill>
                <a:latin typeface="DejaVu Sans Mono"/>
              </a:rPr>
              <a:t>10</a:t>
            </a:r>
            <a:r>
              <a:rPr sz="4950">
                <a:solidFill>
                  <a:srgbClr val="000000"/>
                </a:solidFill>
                <a:latin typeface="DejaVu Sans Mono"/>
              </a:rPr>
              <a:t>}</a:t>
            </a:r>
            <a:r>
              <a:rPr sz="4950">
                <a:solidFill>
                  <a:srgbClr val="000000"/>
                </a:solidFill>
                <a:latin typeface="DejaVu Sans Mono"/>
              </a:rPr>
              <a:t>,</a:t>
            </a:r>
          </a:p>
          <a:p>
            <a:pPr>
              <a:lnSpc>
                <a:spcPct val="112000"/>
              </a:lnSpc>
              <a:spcAft>
                <a:spcPts val="0"/>
              </a:spcAft>
            </a:pPr>
            <a:r>
              <a:rPr sz="4950">
                <a:solidFill>
                  <a:srgbClr val="000000"/>
                </a:solidFill>
                <a:latin typeface="DejaVu Sans Mono"/>
              </a:rPr>
              <a:t>  </a:t>
            </a:r>
            <a:r>
              <a:rPr sz="4950">
                <a:solidFill>
                  <a:srgbClr val="000000"/>
                </a:solidFill>
                <a:latin typeface="DejaVu Sans Mono"/>
              </a:rPr>
              <a:t>coop</a:t>
            </a:r>
            <a:r>
              <a:rPr sz="4950">
                <a:solidFill>
                  <a:srgbClr val="000000"/>
                </a:solidFill>
                <a:latin typeface="DejaVu Sans Mono"/>
              </a:rPr>
              <a:t>:</a:t>
            </a:r>
            <a:r>
              <a:rPr sz="4950">
                <a:solidFill>
                  <a:srgbClr val="000000"/>
                </a:solidFill>
                <a:latin typeface="DejaVu Sans Mono"/>
              </a:rPr>
              <a:t>:</a:t>
            </a:r>
            <a:r>
              <a:rPr sz="4950">
                <a:solidFill>
                  <a:srgbClr val="000000"/>
                </a:solidFill>
                <a:latin typeface="DejaVu Sans Mono"/>
              </a:rPr>
              <a:t>lane_synchronizer</a:t>
            </a:r>
            <a:r>
              <a:rPr sz="4950">
                <a:solidFill>
                  <a:srgbClr val="000000"/>
                </a:solidFill>
                <a:latin typeface="DejaVu Sans Mono"/>
              </a:rPr>
              <a:t>{</a:t>
            </a:r>
            <a:r>
              <a:rPr sz="4950">
                <a:solidFill>
                  <a:srgbClr val="000000"/>
                </a:solidFill>
                <a:latin typeface="DejaVu Sans Mono"/>
              </a:rPr>
              <a:t>}</a:t>
            </a:r>
          </a:p>
          <a:p>
            <a:pPr>
              <a:lnSpc>
                <a:spcPct val="112000"/>
              </a:lnSpc>
              <a:spcAft>
                <a:spcPts val="0"/>
              </a:spcAft>
            </a:pPr>
            <a:r>
              <a:rPr sz="4950">
                <a:solidFill>
                  <a:srgbClr val="000000"/>
                </a:solidFill>
                <a:latin typeface="DejaVu Sans Mono"/>
              </a:rPr>
              <a:t>}</a:t>
            </a:r>
            <a:r>
              <a:rPr sz="4950">
                <a:solidFill>
                  <a:srgbClr val="000000"/>
                </a:solidFill>
                <a:latin typeface="DejaVu Sans Mono"/>
              </a:rPr>
              <a:t>;</a:t>
            </a:r>
          </a:p>
          <a:p>
            <a:pPr>
              <a:lnSpc>
                <a:spcPct val="112000"/>
              </a:lnSpc>
              <a:spcAft>
                <a:spcPts val="0"/>
              </a:spcAft>
            </a:pPr>
            <a:r>
              <a:rPr sz="4950">
                <a:solidFill>
                  <a:srgbClr val="0074DF"/>
                </a:solidFill>
                <a:latin typeface="DejaVu Sans Mono"/>
              </a:rPr>
              <a:t>if</a:t>
            </a:r>
            <a:r>
              <a:rPr sz="4950">
                <a:solidFill>
                  <a:srgbClr val="000000"/>
                </a:solidFill>
                <a:latin typeface="DejaVu Sans Mono"/>
              </a:rPr>
              <a:t> </a:t>
            </a:r>
            <a:r>
              <a:rPr sz="4950">
                <a:solidFill>
                  <a:srgbClr val="000000"/>
                </a:solidFill>
                <a:latin typeface="DejaVu Sans Mono"/>
              </a:rPr>
              <a:t>(</a:t>
            </a:r>
            <a:r>
              <a:rPr sz="4950">
                <a:solidFill>
                  <a:srgbClr val="000000"/>
                </a:solidFill>
                <a:latin typeface="DejaVu Sans Mono"/>
              </a:rPr>
              <a:t>cuda</a:t>
            </a:r>
            <a:r>
              <a:rPr sz="4950">
                <a:solidFill>
                  <a:srgbClr val="000000"/>
                </a:solidFill>
                <a:latin typeface="DejaVu Sans Mono"/>
              </a:rPr>
              <a:t>:</a:t>
            </a:r>
            <a:r>
              <a:rPr sz="4950">
                <a:solidFill>
                  <a:srgbClr val="000000"/>
                </a:solidFill>
                <a:latin typeface="DejaVu Sans Mono"/>
              </a:rPr>
              <a:t>:</a:t>
            </a:r>
            <a:r>
              <a:rPr sz="4950">
                <a:solidFill>
                  <a:srgbClr val="000000"/>
                </a:solidFill>
                <a:latin typeface="DejaVu Sans Mono"/>
              </a:rPr>
              <a:t>gpu_thread</a:t>
            </a:r>
            <a:r>
              <a:rPr sz="4950">
                <a:solidFill>
                  <a:srgbClr val="000000"/>
                </a:solidFill>
                <a:latin typeface="DejaVu Sans Mono"/>
              </a:rPr>
              <a:t>.</a:t>
            </a:r>
            <a:r>
              <a:rPr sz="4950">
                <a:solidFill>
                  <a:srgbClr val="000000"/>
                </a:solidFill>
                <a:latin typeface="DejaVu Sans Mono"/>
              </a:rPr>
              <a:t>is_part_of</a:t>
            </a:r>
            <a:r>
              <a:rPr sz="4950">
                <a:solidFill>
                  <a:srgbClr val="000000"/>
                </a:solidFill>
                <a:latin typeface="DejaVu Sans Mono"/>
              </a:rPr>
              <a:t>(</a:t>
            </a:r>
            <a:r>
              <a:rPr sz="4950">
                <a:solidFill>
                  <a:srgbClr val="000000"/>
                </a:solidFill>
                <a:latin typeface="DejaVu Sans Mono"/>
              </a:rPr>
              <a:t>selected</a:t>
            </a:r>
            <a:r>
              <a:rPr sz="4950">
                <a:solidFill>
                  <a:srgbClr val="000000"/>
                </a:solidFill>
                <a:latin typeface="DejaVu Sans Mono"/>
              </a:rPr>
              <a:t>)</a:t>
            </a:r>
            <a:r>
              <a:rPr sz="4950">
                <a:solidFill>
                  <a:srgbClr val="000000"/>
                </a:solidFill>
                <a:latin typeface="DejaVu Sans Mono"/>
              </a:rPr>
              <a:t>)</a:t>
            </a:r>
            <a:r>
              <a:rPr sz="4950">
                <a:solidFill>
                  <a:srgbClr val="000000"/>
                </a:solidFill>
                <a:latin typeface="DejaVu Sans Mono"/>
              </a:rPr>
              <a:t> </a:t>
            </a:r>
            <a:r>
              <a:rPr sz="4950">
                <a:solidFill>
                  <a:srgbClr val="000000"/>
                </a:solidFill>
                <a:latin typeface="DejaVu Sans Mono"/>
              </a:rPr>
              <a:t>{</a:t>
            </a:r>
          </a:p>
          <a:p>
            <a:pPr>
              <a:lnSpc>
                <a:spcPct val="112000"/>
              </a:lnSpc>
              <a:spcAft>
                <a:spcPts val="0"/>
              </a:spcAft>
            </a:pPr>
            <a:r>
              <a:rPr sz="4950">
                <a:solidFill>
                  <a:srgbClr val="000000"/>
                </a:solidFill>
                <a:latin typeface="DejaVu Sans Mono"/>
              </a:rPr>
              <a:t>  </a:t>
            </a:r>
            <a:r>
              <a:rPr sz="4950">
                <a:solidFill>
                  <a:srgbClr val="000000"/>
                </a:solidFill>
                <a:latin typeface="DejaVu Sans Mono"/>
              </a:rPr>
              <a:t>selected</a:t>
            </a:r>
            <a:r>
              <a:rPr sz="4950">
                <a:solidFill>
                  <a:srgbClr val="000000"/>
                </a:solidFill>
                <a:latin typeface="DejaVu Sans Mono"/>
              </a:rPr>
              <a:t>.</a:t>
            </a:r>
            <a:r>
              <a:rPr sz="4950">
                <a:solidFill>
                  <a:srgbClr val="000000"/>
                </a:solidFill>
                <a:latin typeface="DejaVu Sans Mono"/>
              </a:rPr>
              <a:t>sync</a:t>
            </a:r>
            <a:r>
              <a:rPr sz="4950">
                <a:solidFill>
                  <a:srgbClr val="000000"/>
                </a:solidFill>
                <a:latin typeface="DejaVu Sans Mono"/>
              </a:rPr>
              <a:t>(</a:t>
            </a:r>
            <a:r>
              <a:rPr sz="4950">
                <a:solidFill>
                  <a:srgbClr val="000000"/>
                </a:solidFill>
                <a:latin typeface="DejaVu Sans Mono"/>
              </a:rPr>
              <a:t>)</a:t>
            </a:r>
            <a:r>
              <a:rPr sz="4950">
                <a:solidFill>
                  <a:srgbClr val="000000"/>
                </a:solidFill>
                <a:latin typeface="DejaVu Sans Mono"/>
              </a:rPr>
              <a:t>;</a:t>
            </a:r>
          </a:p>
          <a:p>
            <a:pPr>
              <a:lnSpc>
                <a:spcPct val="112000"/>
              </a:lnSpc>
              <a:spcAft>
                <a:spcPts val="0"/>
              </a:spcAft>
            </a:pPr>
            <a:r>
              <a:rPr sz="4950">
                <a:solidFill>
                  <a:srgbClr val="000000"/>
                </a:solidFill>
                <a:latin typeface="DejaVu Sans Mono"/>
              </a:rPr>
              <a:t>}</a:t>
            </a:r>
          </a:p>
          <a:p>
            <a:pPr>
              <a:lnSpc>
                <a:spcPct val="112000"/>
              </a:lnSpc>
              <a:spcAft>
                <a:spcPts val="0"/>
              </a:spcAft>
            </a:pPr>
          </a:p>
        </p:txBody>
      </p:sp>
      <p:sp>
        <p:nvSpPr>
          <p:cNvPr id="9" name="Rectangle 8"/>
          <p:cNvSpPr/>
          <p:nvPr/>
        </p:nvSpPr>
        <p:spPr>
          <a:xfrm>
            <a:off x="1783080" y="17419319"/>
            <a:ext cx="32918400" cy="1316736"/>
          </a:xfrm>
          <a:prstGeom prst="rect">
            <a:avLst/>
          </a:prstGeom>
          <a:solidFill>
            <a:srgbClr val="EEF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9424" y="17734788"/>
            <a:ext cx="31958280" cy="795527"/>
          </a:xfrm>
          <a:prstGeom prst="rect">
            <a:avLst/>
          </a:prstGeom>
          <a:noFill/>
        </p:spPr>
        <p:txBody>
          <a:bodyPr wrap="square" lIns="0" rIns="0" tIns="0" bIns="0">
            <a:noAutofit/>
          </a:bodyPr>
          <a:lstStyle/>
          <a:p>
            <a:pPr algn="l">
              <a:lnSpc>
                <a:spcPct val="108000"/>
              </a:lnSpc>
              <a:spcAft>
                <a:spcPts val="840"/>
              </a:spcAft>
              <a:defRPr sz="4200" b="0">
                <a:solidFill>
                  <a:srgbClr val="000000"/>
                </a:solidFill>
                <a:latin typeface="NVIDIA Sans"/>
              </a:defRPr>
            </a:pPr>
            <a:r>
              <a:t>A 32-thread warp forms three 10-thread groups; its two tail threads skip group operations.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Choose a group by its coordination needs</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Start with the synchronization contract, then compose membership.</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39</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Applying groups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docs/cudax/coop/group/index.rst</a:t>
            </a:r>
          </a:p>
        </p:txBody>
      </p:sp>
      <p:sp>
        <p:nvSpPr>
          <p:cNvPr id="7" name="Rectangle 6"/>
          <p:cNvSpPr/>
          <p:nvPr/>
        </p:nvSpPr>
        <p:spPr>
          <a:xfrm>
            <a:off x="1783080" y="5897879"/>
            <a:ext cx="16733519" cy="1508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12264" y="6254496"/>
            <a:ext cx="16075151" cy="877824"/>
          </a:xfrm>
          <a:prstGeom prst="rect">
            <a:avLst/>
          </a:prstGeom>
          <a:noFill/>
        </p:spPr>
        <p:txBody>
          <a:bodyPr wrap="square" lIns="0" rIns="0" tIns="0" bIns="0">
            <a:noAutofit/>
          </a:bodyPr>
          <a:lstStyle/>
          <a:p>
            <a:pPr algn="l">
              <a:lnSpc>
                <a:spcPct val="108000"/>
              </a:lnSpc>
              <a:spcAft>
                <a:spcPts val="840"/>
              </a:spcAft>
              <a:defRPr sz="4200" b="1">
                <a:solidFill>
                  <a:srgbClr val="FFFFFF"/>
                </a:solidFill>
                <a:latin typeface="NVIDIA Sans"/>
              </a:defRPr>
            </a:pPr>
            <a:r>
              <a:t>Need</a:t>
            </a:r>
          </a:p>
        </p:txBody>
      </p:sp>
      <p:sp>
        <p:nvSpPr>
          <p:cNvPr id="9" name="Rectangle 8"/>
          <p:cNvSpPr/>
          <p:nvPr/>
        </p:nvSpPr>
        <p:spPr>
          <a:xfrm>
            <a:off x="18516600" y="5897879"/>
            <a:ext cx="16184880" cy="1508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845784" y="6254496"/>
            <a:ext cx="15526512" cy="877824"/>
          </a:xfrm>
          <a:prstGeom prst="rect">
            <a:avLst/>
          </a:prstGeom>
          <a:noFill/>
        </p:spPr>
        <p:txBody>
          <a:bodyPr wrap="square" lIns="0" rIns="0" tIns="0" bIns="0">
            <a:noAutofit/>
          </a:bodyPr>
          <a:lstStyle/>
          <a:p>
            <a:pPr algn="l">
              <a:lnSpc>
                <a:spcPct val="108000"/>
              </a:lnSpc>
              <a:spcAft>
                <a:spcPts val="840"/>
              </a:spcAft>
              <a:defRPr sz="4200" b="1">
                <a:solidFill>
                  <a:srgbClr val="FFFFFF"/>
                </a:solidFill>
                <a:latin typeface="NVIDIA Sans"/>
              </a:defRPr>
            </a:pPr>
            <a:r>
              <a:t>Use</a:t>
            </a:r>
          </a:p>
        </p:txBody>
      </p:sp>
      <p:sp>
        <p:nvSpPr>
          <p:cNvPr id="11" name="Rectangle 10"/>
          <p:cNvSpPr/>
          <p:nvPr/>
        </p:nvSpPr>
        <p:spPr>
          <a:xfrm>
            <a:off x="1783080" y="7406640"/>
            <a:ext cx="16733519" cy="197510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12264" y="7790688"/>
            <a:ext cx="16075151" cy="1481328"/>
          </a:xfrm>
          <a:prstGeom prst="rect">
            <a:avLst/>
          </a:prstGeom>
          <a:noFill/>
        </p:spPr>
        <p:txBody>
          <a:bodyPr wrap="square" lIns="0" rIns="0" tIns="0" bIns="0">
            <a:noAutofit/>
          </a:bodyPr>
          <a:lstStyle/>
          <a:p>
            <a:pPr algn="l">
              <a:lnSpc>
                <a:spcPct val="108000"/>
              </a:lnSpc>
              <a:spcAft>
                <a:spcPts val="1020"/>
              </a:spcAft>
              <a:defRPr sz="5100" b="0">
                <a:solidFill>
                  <a:srgbClr val="000000"/>
                </a:solidFill>
                <a:latin typeface="NVIDIA Sans"/>
              </a:defRPr>
            </a:pPr>
            <a:r>
              <a:t>An entire hierarchy level</a:t>
            </a:r>
          </a:p>
        </p:txBody>
      </p:sp>
      <p:sp>
        <p:nvSpPr>
          <p:cNvPr id="13" name="Rectangle 12"/>
          <p:cNvSpPr/>
          <p:nvPr/>
        </p:nvSpPr>
        <p:spPr>
          <a:xfrm>
            <a:off x="18516600" y="7406640"/>
            <a:ext cx="16184880" cy="197510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845784" y="7790688"/>
            <a:ext cx="15526512" cy="1481328"/>
          </a:xfrm>
          <a:prstGeom prst="rect">
            <a:avLst/>
          </a:prstGeom>
          <a:noFill/>
        </p:spPr>
        <p:txBody>
          <a:bodyPr wrap="square" lIns="0" rIns="0" tIns="0" bIns="0">
            <a:noAutofit/>
          </a:bodyPr>
          <a:lstStyle/>
          <a:p>
            <a:pPr algn="l">
              <a:lnSpc>
                <a:spcPct val="108000"/>
              </a:lnSpc>
              <a:spcAft>
                <a:spcPts val="1020"/>
              </a:spcAft>
              <a:defRPr sz="5100" b="0">
                <a:solidFill>
                  <a:srgbClr val="000000"/>
                </a:solidFill>
                <a:latin typeface="NVIDIA Sans"/>
              </a:defRPr>
            </a:pPr>
            <a:r>
              <a:t>this_{level}</a:t>
            </a:r>
          </a:p>
        </p:txBody>
      </p:sp>
      <p:sp>
        <p:nvSpPr>
          <p:cNvPr id="15" name="Rectangle 14"/>
          <p:cNvSpPr/>
          <p:nvPr/>
        </p:nvSpPr>
        <p:spPr>
          <a:xfrm>
            <a:off x="1783080" y="9381744"/>
            <a:ext cx="16733519" cy="19751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12264" y="9765792"/>
            <a:ext cx="16075151" cy="1481328"/>
          </a:xfrm>
          <a:prstGeom prst="rect">
            <a:avLst/>
          </a:prstGeom>
          <a:noFill/>
        </p:spPr>
        <p:txBody>
          <a:bodyPr wrap="square" lIns="0" rIns="0" tIns="0" bIns="0">
            <a:noAutofit/>
          </a:bodyPr>
          <a:lstStyle/>
          <a:p>
            <a:pPr algn="l">
              <a:lnSpc>
                <a:spcPct val="108000"/>
              </a:lnSpc>
              <a:spcAft>
                <a:spcPts val="1020"/>
              </a:spcAft>
              <a:defRPr sz="5100" b="0">
                <a:solidFill>
                  <a:srgbClr val="000000"/>
                </a:solidFill>
                <a:latin typeface="NVIDIA Sans"/>
              </a:defRPr>
            </a:pPr>
            <a:r>
              <a:t>The currently active subset of a warp</a:t>
            </a:r>
          </a:p>
        </p:txBody>
      </p:sp>
      <p:sp>
        <p:nvSpPr>
          <p:cNvPr id="17" name="Rectangle 16"/>
          <p:cNvSpPr/>
          <p:nvPr/>
        </p:nvSpPr>
        <p:spPr>
          <a:xfrm>
            <a:off x="18516600" y="9381744"/>
            <a:ext cx="16184880" cy="19751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845784" y="9765792"/>
            <a:ext cx="15526512" cy="1481328"/>
          </a:xfrm>
          <a:prstGeom prst="rect">
            <a:avLst/>
          </a:prstGeom>
          <a:noFill/>
        </p:spPr>
        <p:txBody>
          <a:bodyPr wrap="square" lIns="0" rIns="0" tIns="0" bIns="0">
            <a:noAutofit/>
          </a:bodyPr>
          <a:lstStyle/>
          <a:p>
            <a:pPr algn="l">
              <a:lnSpc>
                <a:spcPct val="108000"/>
              </a:lnSpc>
              <a:spcAft>
                <a:spcPts val="1020"/>
              </a:spcAft>
              <a:defRPr sz="5100" b="0">
                <a:solidFill>
                  <a:srgbClr val="000000"/>
                </a:solidFill>
                <a:latin typeface="NVIDIA Sans"/>
              </a:defRPr>
            </a:pPr>
            <a:r>
              <a:t>coalesced_group</a:t>
            </a:r>
          </a:p>
        </p:txBody>
      </p:sp>
      <p:sp>
        <p:nvSpPr>
          <p:cNvPr id="19" name="Rectangle 18"/>
          <p:cNvSpPr/>
          <p:nvPr/>
        </p:nvSpPr>
        <p:spPr>
          <a:xfrm>
            <a:off x="1783080" y="11356848"/>
            <a:ext cx="16733519" cy="197510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12264" y="11740895"/>
            <a:ext cx="16075151" cy="1481328"/>
          </a:xfrm>
          <a:prstGeom prst="rect">
            <a:avLst/>
          </a:prstGeom>
          <a:noFill/>
        </p:spPr>
        <p:txBody>
          <a:bodyPr wrap="square" lIns="0" rIns="0" tIns="0" bIns="0">
            <a:noAutofit/>
          </a:bodyPr>
          <a:lstStyle/>
          <a:p>
            <a:pPr algn="l">
              <a:lnSpc>
                <a:spcPct val="108000"/>
              </a:lnSpc>
              <a:spcAft>
                <a:spcPts val="1020"/>
              </a:spcAft>
              <a:defRPr sz="5100" b="0">
                <a:solidFill>
                  <a:srgbClr val="000000"/>
                </a:solidFill>
                <a:latin typeface="NVIDIA Sans"/>
              </a:defRPr>
            </a:pPr>
            <a:r>
              <a:t>Subgroups that synchronize independently</a:t>
            </a:r>
          </a:p>
        </p:txBody>
      </p:sp>
      <p:sp>
        <p:nvSpPr>
          <p:cNvPr id="21" name="Rectangle 20"/>
          <p:cNvSpPr/>
          <p:nvPr/>
        </p:nvSpPr>
        <p:spPr>
          <a:xfrm>
            <a:off x="18516600" y="11356848"/>
            <a:ext cx="16184880" cy="197510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845784" y="11740895"/>
            <a:ext cx="15526512" cy="1481328"/>
          </a:xfrm>
          <a:prstGeom prst="rect">
            <a:avLst/>
          </a:prstGeom>
          <a:noFill/>
        </p:spPr>
        <p:txBody>
          <a:bodyPr wrap="square" lIns="0" rIns="0" tIns="0" bIns="0">
            <a:noAutofit/>
          </a:bodyPr>
          <a:lstStyle/>
          <a:p>
            <a:pPr algn="l">
              <a:lnSpc>
                <a:spcPct val="108000"/>
              </a:lnSpc>
              <a:spcAft>
                <a:spcPts val="1020"/>
              </a:spcAft>
              <a:defRPr sz="5100" b="0">
                <a:solidFill>
                  <a:srgbClr val="000000"/>
                </a:solidFill>
                <a:latin typeface="NVIDIA Sans"/>
              </a:defRPr>
            </a:pPr>
            <a:r>
              <a:t>generic_group + compatible synchronizer</a:t>
            </a:r>
          </a:p>
        </p:txBody>
      </p:sp>
      <p:sp>
        <p:nvSpPr>
          <p:cNvPr id="23" name="Rectangle 22"/>
          <p:cNvSpPr/>
          <p:nvPr/>
        </p:nvSpPr>
        <p:spPr>
          <a:xfrm>
            <a:off x="1783080" y="13331952"/>
            <a:ext cx="16733519" cy="19751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12264" y="13716000"/>
            <a:ext cx="16075151" cy="1481328"/>
          </a:xfrm>
          <a:prstGeom prst="rect">
            <a:avLst/>
          </a:prstGeom>
          <a:noFill/>
        </p:spPr>
        <p:txBody>
          <a:bodyPr wrap="square" lIns="0" rIns="0" tIns="0" bIns="0">
            <a:noAutofit/>
          </a:bodyPr>
          <a:lstStyle/>
          <a:p>
            <a:pPr algn="l">
              <a:lnSpc>
                <a:spcPct val="108000"/>
              </a:lnSpc>
              <a:spcAft>
                <a:spcPts val="1020"/>
              </a:spcAft>
              <a:defRPr sz="5100" b="0">
                <a:solidFill>
                  <a:srgbClr val="000000"/>
                </a:solidFill>
                <a:latin typeface="NVIDIA Sans"/>
              </a:defRPr>
            </a:pPr>
            <a:r>
              <a:t>Logical subgroups with shared rendezvous</a:t>
            </a:r>
          </a:p>
        </p:txBody>
      </p:sp>
      <p:sp>
        <p:nvSpPr>
          <p:cNvPr id="25" name="Rectangle 24"/>
          <p:cNvSpPr/>
          <p:nvPr/>
        </p:nvSpPr>
        <p:spPr>
          <a:xfrm>
            <a:off x="18516600" y="13331952"/>
            <a:ext cx="16184880" cy="19751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845784" y="13716000"/>
            <a:ext cx="15526512" cy="1481328"/>
          </a:xfrm>
          <a:prstGeom prst="rect">
            <a:avLst/>
          </a:prstGeom>
          <a:noFill/>
        </p:spPr>
        <p:txBody>
          <a:bodyPr wrap="square" lIns="0" rIns="0" tIns="0" bIns="0">
            <a:noAutofit/>
          </a:bodyPr>
          <a:lstStyle/>
          <a:p>
            <a:pPr algn="l">
              <a:lnSpc>
                <a:spcPct val="108000"/>
              </a:lnSpc>
              <a:spcAft>
                <a:spcPts val="1020"/>
              </a:spcAft>
              <a:defRPr sz="5100" b="0">
                <a:solidFill>
                  <a:srgbClr val="000000"/>
                </a:solidFill>
                <a:latin typeface="NVIDIA Sans"/>
              </a:defRPr>
            </a:pPr>
            <a:r>
              <a:t>virtual_group</a:t>
            </a:r>
          </a:p>
        </p:txBody>
      </p:sp>
      <p:sp>
        <p:nvSpPr>
          <p:cNvPr id="27" name="Rectangle 26"/>
          <p:cNvSpPr/>
          <p:nvPr/>
        </p:nvSpPr>
        <p:spPr>
          <a:xfrm>
            <a:off x="1783080" y="15307056"/>
            <a:ext cx="16733519" cy="197510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12264" y="15691104"/>
            <a:ext cx="16075151" cy="1481328"/>
          </a:xfrm>
          <a:prstGeom prst="rect">
            <a:avLst/>
          </a:prstGeom>
          <a:noFill/>
        </p:spPr>
        <p:txBody>
          <a:bodyPr wrap="square" lIns="0" rIns="0" tIns="0" bIns="0">
            <a:noAutofit/>
          </a:bodyPr>
          <a:lstStyle/>
          <a:p>
            <a:pPr algn="l">
              <a:lnSpc>
                <a:spcPct val="108000"/>
              </a:lnSpc>
              <a:spcAft>
                <a:spcPts val="1020"/>
              </a:spcAft>
              <a:defRPr sz="5100" b="0">
                <a:solidFill>
                  <a:srgbClr val="000000"/>
                </a:solidFill>
                <a:latin typeface="NVIDIA Sans"/>
              </a:defRPr>
            </a:pPr>
            <a:r>
              <a:t>A by-value adapter or finer unit queries</a:t>
            </a:r>
          </a:p>
        </p:txBody>
      </p:sp>
      <p:sp>
        <p:nvSpPr>
          <p:cNvPr id="29" name="Rectangle 28"/>
          <p:cNvSpPr/>
          <p:nvPr/>
        </p:nvSpPr>
        <p:spPr>
          <a:xfrm>
            <a:off x="18516600" y="15307056"/>
            <a:ext cx="16184880" cy="197510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8845784" y="15691104"/>
            <a:ext cx="15526512" cy="1481328"/>
          </a:xfrm>
          <a:prstGeom prst="rect">
            <a:avLst/>
          </a:prstGeom>
          <a:noFill/>
        </p:spPr>
        <p:txBody>
          <a:bodyPr wrap="square" lIns="0" rIns="0" tIns="0" bIns="0">
            <a:noAutofit/>
          </a:bodyPr>
          <a:lstStyle/>
          <a:p>
            <a:pPr algn="l">
              <a:lnSpc>
                <a:spcPct val="108000"/>
              </a:lnSpc>
              <a:spcAft>
                <a:spcPts val="1020"/>
              </a:spcAft>
              <a:defRPr sz="5100" b="0">
                <a:solidFill>
                  <a:srgbClr val="000000"/>
                </a:solidFill>
                <a:latin typeface="NVIDIA Sans"/>
              </a:defRPr>
            </a:pPr>
            <a:r>
              <a:t>group_view</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1316736"/>
            <a:ext cx="32918400" cy="2276856"/>
          </a:xfrm>
          <a:prstGeom prst="rect">
            <a:avLst/>
          </a:prstGeom>
          <a:noFill/>
        </p:spPr>
        <p:txBody>
          <a:bodyPr wrap="square" lIns="0" rIns="0" tIns="0" bIns="0">
            <a:noAutofit/>
          </a:bodyPr>
          <a:lstStyle/>
          <a:p>
            <a:pPr algn="l">
              <a:lnSpc>
                <a:spcPct val="108000"/>
              </a:lnSpc>
              <a:spcAft>
                <a:spcPts val="1920"/>
              </a:spcAft>
              <a:defRPr sz="9600" b="0">
                <a:solidFill>
                  <a:srgbClr val="000000"/>
                </a:solidFill>
                <a:latin typeface="NVIDIA Sans Medium"/>
              </a:defRPr>
            </a:pPr>
            <a:r>
              <a:t>Build groups that expose useful structure</a:t>
            </a:r>
          </a:p>
        </p:txBody>
      </p:sp>
      <p:sp>
        <p:nvSpPr>
          <p:cNvPr id="3" name="TextBox 2"/>
          <p:cNvSpPr txBox="1"/>
          <p:nvPr/>
        </p:nvSpPr>
        <p:spPr>
          <a:xfrm>
            <a:off x="1865376" y="3813048"/>
            <a:ext cx="32644080" cy="1536192"/>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Unit + boundary + mapping + synchronization.</a:t>
            </a:r>
          </a:p>
        </p:txBody>
      </p:sp>
      <p:sp>
        <p:nvSpPr>
          <p:cNvPr id="4" name="TextBox 3"/>
          <p:cNvSpPr txBox="1"/>
          <p:nvPr/>
        </p:nvSpPr>
        <p:spPr>
          <a:xfrm>
            <a:off x="987552" y="19435572"/>
            <a:ext cx="960119" cy="548640"/>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40</a:t>
            </a:r>
          </a:p>
        </p:txBody>
      </p:sp>
      <p:sp>
        <p:nvSpPr>
          <p:cNvPr id="5" name="TextBox 4"/>
          <p:cNvSpPr txBox="1"/>
          <p:nvPr/>
        </p:nvSpPr>
        <p:spPr>
          <a:xfrm>
            <a:off x="2139696" y="19394424"/>
            <a:ext cx="12618719" cy="658368"/>
          </a:xfrm>
          <a:prstGeom prst="rect">
            <a:avLst/>
          </a:prstGeom>
          <a:noFill/>
        </p:spPr>
        <p:txBody>
          <a:bodyPr wrap="square" lIns="0" rIns="0" tIns="0" bIns="0">
            <a:noAutofit/>
          </a:bodyPr>
          <a:lstStyle/>
          <a:p>
            <a:pPr algn="l">
              <a:lnSpc>
                <a:spcPct val="108000"/>
              </a:lnSpc>
              <a:spcAft>
                <a:spcPts val="444"/>
              </a:spcAft>
              <a:defRPr sz="2220" b="0">
                <a:solidFill>
                  <a:srgbClr val="757575"/>
                </a:solidFill>
                <a:latin typeface="NVIDIA Sans"/>
              </a:defRPr>
            </a:pPr>
            <a:r>
              <a:t>CCCL Cooperative  |  Takeaways</a:t>
            </a:r>
          </a:p>
        </p:txBody>
      </p:sp>
      <p:sp>
        <p:nvSpPr>
          <p:cNvPr id="6" name="TextBox 5">
            <a:hlinkClick r:id="rId2"/>
          </p:cNvPr>
          <p:cNvSpPr txBox="1"/>
          <p:nvPr/>
        </p:nvSpPr>
        <p:spPr>
          <a:xfrm>
            <a:off x="15087600" y="19394424"/>
            <a:ext cx="17419319" cy="658368"/>
          </a:xfrm>
          <a:prstGeom prst="rect">
            <a:avLst/>
          </a:prstGeom>
          <a:noFill/>
        </p:spPr>
        <p:txBody>
          <a:bodyPr wrap="square" lIns="0" rIns="0" tIns="0" bIns="0">
            <a:noAutofit/>
          </a:bodyPr>
          <a:lstStyle/>
          <a:p>
            <a:pPr algn="r">
              <a:lnSpc>
                <a:spcPct val="108000"/>
              </a:lnSpc>
              <a:spcAft>
                <a:spcPts val="402"/>
              </a:spcAft>
              <a:defRPr sz="2010" b="0">
                <a:solidFill>
                  <a:srgbClr val="757575"/>
                </a:solidFill>
                <a:latin typeface="NVIDIA Sans"/>
              </a:defRPr>
            </a:pPr>
            <a:r>
              <a:t>docs/cudax/coop/index.rst</a:t>
            </a:r>
          </a:p>
        </p:txBody>
      </p:sp>
      <p:sp>
        <p:nvSpPr>
          <p:cNvPr id="7" name="Rectangle 6"/>
          <p:cNvSpPr/>
          <p:nvPr/>
        </p:nvSpPr>
        <p:spPr>
          <a:xfrm>
            <a:off x="1865376" y="6364224"/>
            <a:ext cx="178308" cy="1783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80" y="6035040"/>
            <a:ext cx="31491935" cy="1920240"/>
          </a:xfrm>
          <a:prstGeom prst="rect">
            <a:avLst/>
          </a:prstGeom>
          <a:noFill/>
        </p:spPr>
        <p:txBody>
          <a:bodyPr wrap="square" lIns="0" rIns="0" tIns="0" bIns="0">
            <a:noAutofit/>
          </a:bodyPr>
          <a:lstStyle/>
          <a:p>
            <a:pPr algn="l">
              <a:lnSpc>
                <a:spcPct val="108000"/>
              </a:lnSpc>
              <a:spcAft>
                <a:spcPts val="1440"/>
              </a:spcAft>
              <a:defRPr sz="7200" b="0">
                <a:solidFill>
                  <a:srgbClr val="000000"/>
                </a:solidFill>
                <a:latin typeface="NVIDIA Sans"/>
              </a:defRPr>
            </a:pPr>
            <a:r>
              <a:t>Preserve hierarchy facts so algorithms can specialize.</a:t>
            </a:r>
          </a:p>
        </p:txBody>
      </p:sp>
      <p:sp>
        <p:nvSpPr>
          <p:cNvPr id="9" name="Rectangle 8"/>
          <p:cNvSpPr/>
          <p:nvPr/>
        </p:nvSpPr>
        <p:spPr>
          <a:xfrm>
            <a:off x="1865376" y="8558784"/>
            <a:ext cx="178308" cy="1783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68880" y="8229600"/>
            <a:ext cx="31491935" cy="1920240"/>
          </a:xfrm>
          <a:prstGeom prst="rect">
            <a:avLst/>
          </a:prstGeom>
          <a:noFill/>
        </p:spPr>
        <p:txBody>
          <a:bodyPr wrap="square" lIns="0" rIns="0" tIns="0" bIns="0">
            <a:noAutofit/>
          </a:bodyPr>
          <a:lstStyle/>
          <a:p>
            <a:pPr algn="l">
              <a:lnSpc>
                <a:spcPct val="108000"/>
              </a:lnSpc>
              <a:spcAft>
                <a:spcPts val="1440"/>
              </a:spcAft>
              <a:defRPr sz="7200" b="0">
                <a:solidFill>
                  <a:srgbClr val="000000"/>
                </a:solidFill>
                <a:latin typeface="NVIDIA Sans"/>
              </a:defRPr>
            </a:pPr>
            <a:r>
              <a:t>Separate membership from synchronization policy.</a:t>
            </a:r>
          </a:p>
        </p:txBody>
      </p:sp>
      <p:sp>
        <p:nvSpPr>
          <p:cNvPr id="11" name="Rectangle 10"/>
          <p:cNvSpPr/>
          <p:nvPr/>
        </p:nvSpPr>
        <p:spPr>
          <a:xfrm>
            <a:off x="1865376" y="10753344"/>
            <a:ext cx="178308" cy="1783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68880" y="10424160"/>
            <a:ext cx="31491935" cy="1920240"/>
          </a:xfrm>
          <a:prstGeom prst="rect">
            <a:avLst/>
          </a:prstGeom>
          <a:noFill/>
        </p:spPr>
        <p:txBody>
          <a:bodyPr wrap="square" lIns="0" rIns="0" tIns="0" bIns="0">
            <a:noAutofit/>
          </a:bodyPr>
          <a:lstStyle/>
          <a:p>
            <a:pPr algn="l">
              <a:lnSpc>
                <a:spcPct val="108000"/>
              </a:lnSpc>
              <a:spcAft>
                <a:spcPts val="1440"/>
              </a:spcAft>
              <a:defRPr sz="7200" b="0">
                <a:solidFill>
                  <a:srgbClr val="000000"/>
                </a:solidFill>
                <a:latin typeface="NVIDIA Sans"/>
              </a:defRPr>
            </a:pPr>
            <a:r>
              <a:t>Use independent groups only when the synchronizer supports them.</a:t>
            </a:r>
          </a:p>
        </p:txBody>
      </p:sp>
      <p:sp>
        <p:nvSpPr>
          <p:cNvPr id="13" name="Rectangle 12"/>
          <p:cNvSpPr/>
          <p:nvPr/>
        </p:nvSpPr>
        <p:spPr>
          <a:xfrm>
            <a:off x="1865376" y="12947904"/>
            <a:ext cx="178308" cy="1783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68880" y="12618720"/>
            <a:ext cx="31491935" cy="1920240"/>
          </a:xfrm>
          <a:prstGeom prst="rect">
            <a:avLst/>
          </a:prstGeom>
          <a:noFill/>
        </p:spPr>
        <p:txBody>
          <a:bodyPr wrap="square" lIns="0" rIns="0" tIns="0" bIns="0">
            <a:noAutofit/>
          </a:bodyPr>
          <a:lstStyle/>
          <a:p>
            <a:pPr algn="l">
              <a:lnSpc>
                <a:spcPct val="108000"/>
              </a:lnSpc>
              <a:spcAft>
                <a:spcPts val="1440"/>
              </a:spcAft>
              <a:defRPr sz="7200" b="0">
                <a:solidFill>
                  <a:srgbClr val="000000"/>
                </a:solidFill>
                <a:latin typeface="NVIDIA Sans"/>
              </a:defRPr>
            </a:pPr>
            <a:r>
              <a:t>Check participation and respect alignment and lifetimes.</a:t>
            </a:r>
          </a:p>
        </p:txBody>
      </p:sp>
      <p:sp>
        <p:nvSpPr>
          <p:cNvPr id="15" name="TextBox 14"/>
          <p:cNvSpPr txBox="1"/>
          <p:nvPr/>
        </p:nvSpPr>
        <p:spPr>
          <a:xfrm>
            <a:off x="2331720" y="16596359"/>
            <a:ext cx="13716000" cy="768096"/>
          </a:xfrm>
          <a:prstGeom prst="rect">
            <a:avLst/>
          </a:prstGeom>
          <a:noFill/>
        </p:spPr>
        <p:txBody>
          <a:bodyPr wrap="square" lIns="0" rIns="0" tIns="0" bIns="0">
            <a:noAutofit/>
          </a:bodyPr>
          <a:lstStyle/>
          <a:p>
            <a:pPr algn="l">
              <a:lnSpc>
                <a:spcPct val="108000"/>
              </a:lnSpc>
              <a:spcAft>
                <a:spcPts val="630"/>
              </a:spcAft>
              <a:defRPr sz="3150" b="1">
                <a:solidFill>
                  <a:srgbClr val="76B900"/>
                </a:solidFill>
                <a:latin typeface="NVIDIA Sans"/>
              </a:defRPr>
            </a:pPr>
            <a:r>
              <a:t>CONTINUE IN THE REPOSITORY</a:t>
            </a:r>
          </a:p>
        </p:txBody>
      </p:sp>
      <p:sp>
        <p:nvSpPr>
          <p:cNvPr id="16" name="TextBox 15"/>
          <p:cNvSpPr txBox="1"/>
          <p:nvPr/>
        </p:nvSpPr>
        <p:spPr>
          <a:xfrm>
            <a:off x="2331720" y="17638776"/>
            <a:ext cx="31272480" cy="1234440"/>
          </a:xfrm>
          <a:prstGeom prst="rect">
            <a:avLst/>
          </a:prstGeom>
          <a:noFill/>
        </p:spPr>
        <p:txBody>
          <a:bodyPr wrap="square" lIns="0" rIns="0" tIns="0" bIns="0">
            <a:noAutofit/>
          </a:bodyPr>
          <a:lstStyle/>
          <a:p>
            <a:pPr algn="l">
              <a:lnSpc>
                <a:spcPct val="108000"/>
              </a:lnSpc>
              <a:spcAft>
                <a:spcPts val="1020"/>
              </a:spcAft>
              <a:defRPr sz="5100" b="0">
                <a:solidFill>
                  <a:srgbClr val="757575"/>
                </a:solidFill>
                <a:latin typeface="NVIDIA Sans"/>
              </a:defRPr>
            </a:pPr>
            <a:r>
              <a:t>docs/cudax/coop  ·  group/mapping  ·  group/synchronizer</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145EAE5F8329F47B840B6DEBAC2F43F" ma:contentTypeVersion="16" ma:contentTypeDescription="Create a new document." ma:contentTypeScope="" ma:versionID="d0eb01b3a3b2e78648b34a47f5027867">
  <xsd:schema xmlns:xsd="http://www.w3.org/2001/XMLSchema" xmlns:xs="http://www.w3.org/2001/XMLSchema" xmlns:p="http://schemas.microsoft.com/office/2006/metadata/properties" xmlns:ns1="http://schemas.microsoft.com/sharepoint/v3" xmlns:ns2="2a5b1eea-32a8-4673-8d38-de3226caeee3" xmlns:ns3="f65afe6d-7162-4df4-ae98-80745cab72d4" targetNamespace="http://schemas.microsoft.com/office/2006/metadata/properties" ma:root="true" ma:fieldsID="6c0263366e19895bf8b6afa923e0fde5" ns1:_="" ns2:_="" ns3:_="">
    <xsd:import namespace="http://schemas.microsoft.com/sharepoint/v3"/>
    <xsd:import namespace="2a5b1eea-32a8-4673-8d38-de3226caeee3"/>
    <xsd:import namespace="f65afe6d-7162-4df4-ae98-80745cab72d4"/>
    <xsd:element name="properties">
      <xsd:complexType>
        <xsd:sequence>
          <xsd:element name="documentManagement">
            <xsd:complexType>
              <xsd:all>
                <xsd:element ref="ns1:PublishingStartDate" minOccurs="0"/>
                <xsd:element ref="ns1:PublishingExpirationDate" minOccurs="0"/>
                <xsd:element ref="ns2:MediaServiceMetadata" minOccurs="0"/>
                <xsd:element ref="ns2:MediaServiceFastMetadata" minOccurs="0"/>
                <xsd:element ref="ns2:MediaServiceGenerationTime" minOccurs="0"/>
                <xsd:element ref="ns2:MediaServiceEventHashCode" minOccurs="0"/>
                <xsd:element ref="ns2:MediaServiceDateTaken" minOccurs="0"/>
                <xsd:element ref="ns2:MediaServiceLocation" minOccurs="0"/>
                <xsd:element ref="ns2:MediaServiceOCR"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a5b1eea-32a8-4673-8d38-de3226caeee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804b2a00-2846-4002-b30b-85ebaf4c019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65afe6d-7162-4df4-ae98-80745cab72d4"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a9d4e2c1-4547-4ca0-9568-b573cd0c84c4}" ma:internalName="TaxCatchAll" ma:showField="CatchAllData" ma:web="f65afe6d-7162-4df4-ae98-80745cab72d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65afe6d-7162-4df4-ae98-80745cab72d4" xsi:nil="true"/>
    <PublishingExpirationDate xmlns="http://schemas.microsoft.com/sharepoint/v3" xsi:nil="true"/>
    <PublishingStartDate xmlns="http://schemas.microsoft.com/sharepoint/v3" xsi:nil="true"/>
    <lcf76f155ced4ddcb4097134ff3c332f xmlns="2a5b1eea-32a8-4673-8d38-de3226caeee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23F8982-1087-4E80-8BE6-2AA18FE0DD8A}"/>
</file>

<file path=customXml/itemProps2.xml><?xml version="1.0" encoding="utf-8"?>
<ds:datastoreItem xmlns:ds="http://schemas.openxmlformats.org/officeDocument/2006/customXml" ds:itemID="{236BE7EB-3103-4BD6-89FC-147281D24011}"/>
</file>

<file path=customXml/itemProps3.xml><?xml version="1.0" encoding="utf-8"?>
<ds:datastoreItem xmlns:ds="http://schemas.openxmlformats.org/officeDocument/2006/customXml" ds:itemID="{24018C0D-B231-48D3-BF16-B7FF90AABA23}"/>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
  <TotalTime>62</TotalTime>
  <Words>1883</Words>
  <Application>Microsoft Office PowerPoint</Application>
  <PresentationFormat>Custom</PresentationFormat>
  <Paragraphs>441</Paragraphs>
  <Slides>58</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Roboto Mono</vt:lpstr>
      <vt:lpstr>NVIDIA Sans Medium</vt:lpstr>
      <vt:lpstr>Roboto Mono Medium</vt:lpstr>
      <vt:lpstr>NVIDIA Sans</vt:lpstr>
      <vt:lpstr>NVIDIA26_Corp Template_LIGHT_v2</vt:lpstr>
      <vt:lpstr>PowerPoint Presentation</vt:lpstr>
      <vt:lpstr>Helpful Resources</vt:lpstr>
      <vt:lpstr>PowerPoint Presentation</vt:lpstr>
      <vt:lpstr>PowerPoint Presentation</vt:lpstr>
      <vt:lpstr>PowerPoint Presentation</vt:lpstr>
      <vt:lpstr>PowerPoint Presentation</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Presentation</vt:lpstr>
      <vt:lpstr>PowerPoint Presentation</vt:lpstr>
      <vt:lpstr>Demo Title Goes Here</vt:lpstr>
      <vt:lpstr>Progression</vt:lpstr>
      <vt:lpstr>Timeline</vt:lpstr>
      <vt:lpstr>Image Timeline</vt:lpstr>
      <vt:lpstr>World Map</vt:lpstr>
      <vt:lpstr>World Map</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CCCL Cooperative — Hierarchy-aware groups and synchronization</dc:title>
  <dc:subject>Developer walkthrough of docs/cudax/coop</dc:subject>
  <dc:creator>NVIDIA</dc:creator>
  <cp:keywords>CCCL, cudax, coop, CUDA, cooperative groups, mappings, synchronizers</cp:keywords>
  <dc:description>Built from NVIDIA_PPT_Light_External_v2.potx. Repository snapshot 51d94f7cc117fcfe01c1b94e2f4d5e38040263b0. Source references and technical caveats in slide notes.</dc:description>
  <cp:lastModifiedBy>Ashley Piersons</cp:lastModifiedBy>
  <cp:revision>2</cp:revision>
  <dcterms:created xsi:type="dcterms:W3CDTF">2026-06-05T16:33:41Z</dcterms:created>
  <dcterms:modified xsi:type="dcterms:W3CDTF">2026-06-05T17:36:22Z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0x010100A145EAE5F8329F47B840B6DEBAC2F43F</vt:lpwstr>
  </property>
</Properties>
</file>