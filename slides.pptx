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  <p:sldId id="279" r:id="rIdDeck24"/>
    <p:sldId id="280" r:id="rIdDeck25"/>
    <p:sldId id="281" r:id="rIdDeck26"/>
    <p:sldId id="282" r:id="rIdDeck27"/>
    <p:sldId id="283" r:id="rIdDeck28"/>
    <p:sldId id="284" r:id="rIdDeck29"/>
    <p:sldId id="285" r:id="rIdDeck30"/>
    <p:sldId id="286" r:id="rIdDeck31"/>
    <p:sldId id="287" r:id="rIdDeck32"/>
    <p:sldId id="288" r:id="rIdDeck33"/>
    <p:sldId id="289" r:id="rIdDeck34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Relationship Id="rIdDeck14" Type="http://schemas.openxmlformats.org/officeDocument/2006/relationships/slide" Target="slides/slide14.xml" /><Relationship Id="rIdDeck15" Type="http://schemas.openxmlformats.org/officeDocument/2006/relationships/slide" Target="slides/slide15.xml" /><Relationship Id="rIdDeck16" Type="http://schemas.openxmlformats.org/officeDocument/2006/relationships/slide" Target="slides/slide16.xml" /><Relationship Id="rIdDeck17" Type="http://schemas.openxmlformats.org/officeDocument/2006/relationships/slide" Target="slides/slide17.xml" /><Relationship Id="rIdDeck18" Type="http://schemas.openxmlformats.org/officeDocument/2006/relationships/slide" Target="slides/slide18.xml" /><Relationship Id="rIdDeck19" Type="http://schemas.openxmlformats.org/officeDocument/2006/relationships/slide" Target="slides/slide19.xml" /><Relationship Id="rIdDeck20" Type="http://schemas.openxmlformats.org/officeDocument/2006/relationships/slide" Target="slides/slide20.xml" /><Relationship Id="rIdDeck21" Type="http://schemas.openxmlformats.org/officeDocument/2006/relationships/slide" Target="slides/slide21.xml" /><Relationship Id="rIdDeck22" Type="http://schemas.openxmlformats.org/officeDocument/2006/relationships/slide" Target="slides/slide22.xml" /><Relationship Id="rIdDeck23" Type="http://schemas.openxmlformats.org/officeDocument/2006/relationships/slide" Target="slides/slide23.xml" /><Relationship Id="rIdDeck24" Type="http://schemas.openxmlformats.org/officeDocument/2006/relationships/slide" Target="slides/slide24.xml" /><Relationship Id="rIdDeck25" Type="http://schemas.openxmlformats.org/officeDocument/2006/relationships/slide" Target="slides/slide25.xml" /><Relationship Id="rIdDeck26" Type="http://schemas.openxmlformats.org/officeDocument/2006/relationships/slide" Target="slides/slide26.xml" /><Relationship Id="rIdDeck27" Type="http://schemas.openxmlformats.org/officeDocument/2006/relationships/slide" Target="slides/slide27.xml" /><Relationship Id="rIdDeck28" Type="http://schemas.openxmlformats.org/officeDocument/2006/relationships/slide" Target="slides/slide28.xml" /><Relationship Id="rIdDeck29" Type="http://schemas.openxmlformats.org/officeDocument/2006/relationships/slide" Target="slides/slide29.xml" /><Relationship Id="rIdDeck30" Type="http://schemas.openxmlformats.org/officeDocument/2006/relationships/slide" Target="slides/slide30.xml" /><Relationship Id="rIdDeck31" Type="http://schemas.openxmlformats.org/officeDocument/2006/relationships/slide" Target="slides/slide31.xml" /><Relationship Id="rIdDeck32" Type="http://schemas.openxmlformats.org/officeDocument/2006/relationships/slide" Target="slides/slide32.xml" /><Relationship Id="rIdDeck33" Type="http://schemas.openxmlformats.org/officeDocument/2006/relationships/slide" Target="slides/slide33.xml" /><Relationship Id="rIdDeck34" Type="http://schemas.openxmlformats.org/officeDocument/2006/relationships/slide" Target="slides/slide34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y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y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Why?</a:t>
            </a:r>
          </a:p>
        </p:txBody>
      </p:sp>
      <p:sp>
        <p:nvSpPr>
          <p:cNvPr id="3" name="Two complementary pieces for cooperative problem solving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Two complementary pieces for cooperative problem solving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 clear abstraction to organize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into groups that can cooperate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APIs that implement algorithms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for the common problems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When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en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When?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Ambitious goal: GTC · March 2027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`reduce`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reduce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`any_of`, `all_of`, `shuffle`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any_of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all_of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shuffle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threads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units within an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Arbitrary thread selection · two blocks per pa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Arbitrary thread selection · two blocks per panel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Selecting the first and third warps · two bloc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Definition · Selecting the first and third warps · two blocks per panel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78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4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General 3D rank expression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General 3D rank expression</a:t>
            </a:r>
          </a:p>
        </p:txBody>
      </p:sp>
      <p:sp>
        <p:nvSpPr>
          <p:cNvPr id="16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09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  (threadIdx.z * blockDim.y + threadIdx.y) * blockDim.x +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General 3D rank expression"/>
          <p:cNvSpPr/>
          <p:nvPr/>
        </p:nvSpPr>
        <p:spPr>
          <a:xfrm>
            <a:off x="24688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General 3D rank expression</a:t>
            </a:r>
          </a:p>
        </p:txBody>
      </p:sp>
      <p:sp>
        <p:nvSpPr>
          <p:cNvPr id="11" name="Shape"/>
          <p:cNvSpPr/>
          <p:nvPr/>
        </p:nvSpPr>
        <p:spPr>
          <a:xfrm>
            <a:off x="18859500" y="7063740"/>
            <a:ext cx="15887700" cy="90982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8859500" y="70637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CCL Cooperative Groups"/>
          <p:cNvSpPr/>
          <p:nvPr/>
        </p:nvSpPr>
        <p:spPr>
          <a:xfrm>
            <a:off x="19499580" y="7726680"/>
            <a:ext cx="146304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4" name="Verbatim C++ snippet" descr="Verbatim fenced C++ snippet from slides.md"/>
          <p:cNvSpPr/>
          <p:nvPr/>
        </p:nvSpPr>
        <p:spPr>
          <a:xfrm>
            <a:off x="19499580" y="10447020"/>
            <a:ext cx="14607540" cy="2971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378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378" b="0">
                <a:solidFill>
                  <a:schemeClr val="dk1"/>
                </a:solidFill>
                <a:latin typeface="DejaVu Sans Mono"/>
              </a:rPr>
              <a:t xml:space="preserve"> thread_rank = threadIdx.x;</a:t>
            </a:r>
            <a:endParaRPr lang="en-US" sz="2378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616"/>
              </a:lnSpc>
              <a:spcBef>
                <a:spcPts val="0"/>
              </a:spcBef>
              <a:spcAft>
                <a:spcPts val="0"/>
              </a:spcAft>
              <a:buNone/>
              <a:defRPr lang="en-US" sz="2378" b="0">
                <a:solidFill>
                  <a:schemeClr val="dk1"/>
                </a:solidFill>
                <a:latin typeface="DejaVu Sans Mono"/>
              </a:defRPr>
            </a:pPr>
            <a:endParaRPr lang="en-US" sz="2378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Rank is the x coordinate"/>
          <p:cNvSpPr/>
          <p:nvPr/>
        </p:nvSpPr>
        <p:spPr>
          <a:xfrm>
            <a:off x="19499580" y="14859000"/>
            <a:ext cx="146304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Rank is the x coordinate</a:t>
            </a:r>
          </a:p>
        </p:txBody>
      </p:sp>
      <p:sp>
        <p:nvSpPr>
          <p:cNvPr id="16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e same thread rank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The same thread rank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4516100"/>
            <a:ext cx="53721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290" name="Both APIs report thread rank 75 within this block-wide group.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Both APIs report thread rank 75 within this block-wide group.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e first and third warps form the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Group queries · The first and third warps form the group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5" name="Highlighted thread: block thread 75 (in block warp 2)"/>
          <p:cNvSpPr/>
          <p:nvPr/>
        </p:nvSpPr>
        <p:spPr>
          <a:xfrm>
            <a:off x="1874520" y="5074920"/>
            <a:ext cx="32461200" cy="9829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accent6"/>
                </a:solidFill>
                <a:latin typeface="NVIDIA Sans"/>
              </a:rPr>
              <a:t xml:space="preserve">Highlighted thread: block thread 75 (in block warp 2)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584680"/>
            <a:ext cx="5143500" cy="1371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676656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7246620"/>
            <a:ext cx="150876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9052560"/>
            <a:ext cx="8458200" cy="8001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8892540"/>
            <a:ext cx="8778240" cy="8321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928116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985266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94411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98755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103098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1074420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175004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13385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7729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22072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264158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3075920"/>
            <a:ext cx="802386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64742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323594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670280"/>
            <a:ext cx="297180" cy="297180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3578840"/>
            <a:ext cx="480060" cy="480060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773150"/>
            <a:ext cx="91440" cy="91440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67028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410462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4538960"/>
            <a:ext cx="297180" cy="2971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544800"/>
            <a:ext cx="2103120" cy="571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513332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56766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600200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436340"/>
            <a:ext cx="297180" cy="297180"/>
          </a:xfrm>
          <a:prstGeom prst="ellipse">
            <a:avLst/>
          </a:prstGeom>
          <a:solidFill>
            <a:schemeClr val="dk1">
              <a:tint val="10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9761220"/>
            <a:ext cx="539496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858500"/>
            <a:ext cx="5394960" cy="937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887200"/>
            <a:ext cx="5029200" cy="1783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4218920"/>
            <a:ext cx="5394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5133320"/>
            <a:ext cx="5029200" cy="16002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93" name="Thread rank 43 = 32 threads in warp 0 + 11 earlier threads in war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Thread rank 43 = 32 threads in warp 0 + 11 earlier threads in warp 2.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units are grouped is independent of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What is being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are units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shall it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 xml:space="preserve"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 xml:space="preserve"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32 threads → 6 groups × 5 threads + 2 threads without a group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Requirements on groups —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What a group specifies and provide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What a group specifies and provides</a:t>
            </a:r>
          </a:p>
        </p:txBody>
      </p:sp>
      <p:sp>
        <p:nvSpPr>
          <p:cNvPr id="4" name="1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6035040"/>
            <a:ext cx="195453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22860000" y="6035040"/>
            <a:ext cx="118872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035040"/>
            <a:ext cx="195453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hape"/>
          <p:cNvSpPr/>
          <p:nvPr/>
        </p:nvSpPr>
        <p:spPr>
          <a:xfrm>
            <a:off x="22860000" y="6035040"/>
            <a:ext cx="118872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It should specify"/>
          <p:cNvSpPr/>
          <p:nvPr/>
        </p:nvSpPr>
        <p:spPr>
          <a:xfrm>
            <a:off x="2514600" y="6789420"/>
            <a:ext cx="181737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It should specify</a:t>
            </a:r>
          </a:p>
        </p:txBody>
      </p:sp>
      <p:sp>
        <p:nvSpPr>
          <p:cNvPr id="10" name="Shape"/>
          <p:cNvSpPr/>
          <p:nvPr/>
        </p:nvSpPr>
        <p:spPr>
          <a:xfrm>
            <a:off x="2560320" y="9121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1"/>
          <p:cNvSpPr/>
          <p:nvPr/>
        </p:nvSpPr>
        <p:spPr>
          <a:xfrm>
            <a:off x="2560320" y="9212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2" name="Units being grouped"/>
          <p:cNvSpPr/>
          <p:nvPr/>
        </p:nvSpPr>
        <p:spPr>
          <a:xfrm>
            <a:off x="4114800" y="9029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Units being grouped</a:t>
            </a:r>
          </a:p>
        </p:txBody>
      </p:sp>
      <p:sp>
        <p:nvSpPr>
          <p:cNvPr id="13" name="Threads, warps, …"/>
          <p:cNvSpPr/>
          <p:nvPr/>
        </p:nvSpPr>
        <p:spPr>
          <a:xfrm>
            <a:off x="4114800" y="10058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4" name="Shape"/>
          <p:cNvSpPr/>
          <p:nvPr/>
        </p:nvSpPr>
        <p:spPr>
          <a:xfrm>
            <a:off x="2560320" y="11407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2560320" y="11498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 level"/>
          <p:cNvSpPr/>
          <p:nvPr/>
        </p:nvSpPr>
        <p:spPr>
          <a:xfrm>
            <a:off x="4114800" y="11315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Upper boundary level</a:t>
            </a:r>
          </a:p>
        </p:txBody>
      </p:sp>
      <p:sp>
        <p:nvSpPr>
          <p:cNvPr id="17" name="Block, grid, …"/>
          <p:cNvSpPr/>
          <p:nvPr/>
        </p:nvSpPr>
        <p:spPr>
          <a:xfrm>
            <a:off x="4114800" y="12344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Block, grid, …</a:t>
            </a:r>
          </a:p>
        </p:txBody>
      </p:sp>
      <p:sp>
        <p:nvSpPr>
          <p:cNvPr id="18" name="Shape"/>
          <p:cNvSpPr/>
          <p:nvPr/>
        </p:nvSpPr>
        <p:spPr>
          <a:xfrm>
            <a:off x="2560320" y="13693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3"/>
          <p:cNvSpPr/>
          <p:nvPr/>
        </p:nvSpPr>
        <p:spPr>
          <a:xfrm>
            <a:off x="2560320" y="13784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0" name="Hierarchy"/>
          <p:cNvSpPr/>
          <p:nvPr/>
        </p:nvSpPr>
        <p:spPr>
          <a:xfrm>
            <a:off x="4114800" y="13601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1">
                <a:solidFill>
                  <a:schemeClr val="dk1"/>
                </a:solidFill>
                <a:latin typeface="NVIDIA Sans Medium"/>
              </a:rPr>
              <a:t xml:space="preserve">Hierarchy</a:t>
            </a:r>
          </a:p>
        </p:txBody>
      </p:sp>
      <p:sp>
        <p:nvSpPr>
          <p:cNvPr id="21" name="The hierarchy in which the group exists"/>
          <p:cNvSpPr/>
          <p:nvPr/>
        </p:nvSpPr>
        <p:spPr>
          <a:xfrm>
            <a:off x="4114800" y="14630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The hierarchy in which the group exists</a:t>
            </a:r>
          </a:p>
        </p:txBody>
      </p:sp>
      <p:sp>
        <p:nvSpPr>
          <p:cNvPr id="22" name="It should provide"/>
          <p:cNvSpPr/>
          <p:nvPr/>
        </p:nvSpPr>
        <p:spPr>
          <a:xfrm>
            <a:off x="23545800" y="6789420"/>
            <a:ext cx="105156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120" b="1">
                <a:solidFill>
                  <a:schemeClr val="dk1"/>
                </a:solidFill>
                <a:latin typeface="NVIDIA Sans Medium"/>
              </a:rPr>
              <a:t xml:space="preserve">It should provide</a:t>
            </a:r>
          </a:p>
        </p:txBody>
      </p:sp>
      <p:sp>
        <p:nvSpPr>
          <p:cNvPr id="23" name="Query APIs"/>
          <p:cNvSpPr/>
          <p:nvPr/>
        </p:nvSpPr>
        <p:spPr>
          <a:xfrm>
            <a:off x="23545800" y="937260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Query APIs</a:t>
            </a:r>
          </a:p>
        </p:txBody>
      </p:sp>
      <p:sp>
        <p:nvSpPr>
          <p:cNvPr id="24" name="Information about the group"/>
          <p:cNvSpPr/>
          <p:nvPr/>
        </p:nvSpPr>
        <p:spPr>
          <a:xfrm>
            <a:off x="23545800" y="1062990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Information about the group</a:t>
            </a:r>
          </a:p>
        </p:txBody>
      </p:sp>
      <p:sp>
        <p:nvSpPr>
          <p:cNvPr id="25" name="Shape"/>
          <p:cNvSpPr/>
          <p:nvPr/>
        </p:nvSpPr>
        <p:spPr>
          <a:xfrm>
            <a:off x="23545800" y="12595860"/>
            <a:ext cx="105156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6" name="Synchronization APIs"/>
          <p:cNvSpPr/>
          <p:nvPr/>
        </p:nvSpPr>
        <p:spPr>
          <a:xfrm>
            <a:off x="23545800" y="1351026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 APIs</a:t>
            </a:r>
          </a:p>
        </p:txBody>
      </p:sp>
      <p:sp>
        <p:nvSpPr>
          <p:cNvPr id="27" name="Synchronization of its units"/>
          <p:cNvSpPr/>
          <p:nvPr/>
        </p:nvSpPr>
        <p:spPr>
          <a:xfrm>
            <a:off x="23545800" y="1476756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Synchronization of its units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Requirements on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The group concept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The group concept</a:t>
            </a:r>
          </a:p>
        </p:txBody>
      </p:sp>
      <p:sp>
        <p:nvSpPr>
          <p:cNvPr id="4" name="1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0574000" cy="135102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CONCEPT"/>
          <p:cNvSpPr/>
          <p:nvPr/>
        </p:nvSpPr>
        <p:spPr>
          <a:xfrm>
            <a:off x="2423160" y="5532120"/>
            <a:ext cx="193167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1">
                <a:solidFill>
                  <a:schemeClr val="accent6"/>
                </a:solidFill>
                <a:latin typeface="NVIDIA Sans Medium"/>
              </a:rPr>
              <a:t xml:space="preserve">CONCEPT</a:t>
            </a:r>
          </a:p>
        </p:txBody>
      </p:sp>
      <p:sp>
        <p:nvSpPr>
          <p:cNvPr id="7" name="Verbatim C++ snippet" descr="Verbatim fenced C++ snippet from slides.md"/>
          <p:cNvSpPr/>
          <p:nvPr/>
        </p:nvSpPr>
        <p:spPr>
          <a:xfrm>
            <a:off x="2423160" y="6858000"/>
            <a:ext cx="19431000" cy="10972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T&gt;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group =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(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T&amp; t)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Member types.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T::unit_type&gt;;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/*is-hierarchy-level*/&lt;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T::level_type&gt;;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/*is-hierarchy*/&lt;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T::hierarchy_type&gt;;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Getters.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t.hierarchy()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T::hierarchy_type&amp;&gt;;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Synchronization.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t.sync_aligned()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Properties.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{ T::is_always_contiguous() } 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    -&gt; cuda::std::same_as&lt;</a:t>
            </a:r>
            <a:r>
              <a:rPr lang="en-US" sz="2836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bool</a:t>
            </a: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&gt;;                              </a:t>
            </a:r>
            <a:r>
              <a:rPr lang="en-US" sz="2836" b="0">
                <a:solidFill>
                  <a:schemeClr val="accent6"/>
                </a:solidFill>
                <a:latin typeface="DejaVu Sans Mono"/>
              </a:rPr>
              <a:t xml:space="preserve">// (7), must be constexpr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r>
              <a:rPr lang="en-US" sz="2836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2836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20"/>
              </a:lnSpc>
              <a:spcBef>
                <a:spcPts val="0"/>
              </a:spcBef>
              <a:spcAft>
                <a:spcPts val="0"/>
              </a:spcAft>
              <a:buNone/>
              <a:defRPr lang="en-US" sz="2836" b="0">
                <a:solidFill>
                  <a:schemeClr val="dk1"/>
                </a:solidFill>
                <a:latin typeface="DejaVu Sans Mono"/>
              </a:defRPr>
            </a:pPr>
            <a:endParaRPr lang="en-US" sz="2836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8" name="1"/>
          <p:cNvSpPr/>
          <p:nvPr/>
        </p:nvSpPr>
        <p:spPr>
          <a:xfrm>
            <a:off x="23545800" y="54635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what units are being grouped"/>
          <p:cNvSpPr/>
          <p:nvPr/>
        </p:nvSpPr>
        <p:spPr>
          <a:xfrm>
            <a:off x="24665940" y="54635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what units are being grouped</a:t>
            </a:r>
          </a:p>
        </p:txBody>
      </p:sp>
      <p:sp>
        <p:nvSpPr>
          <p:cNvPr id="10" name="2"/>
          <p:cNvSpPr/>
          <p:nvPr/>
        </p:nvSpPr>
        <p:spPr>
          <a:xfrm>
            <a:off x="23545800" y="72237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1" name="within which level"/>
          <p:cNvSpPr/>
          <p:nvPr/>
        </p:nvSpPr>
        <p:spPr>
          <a:xfrm>
            <a:off x="24665940" y="72237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within which level</a:t>
            </a:r>
          </a:p>
        </p:txBody>
      </p:sp>
      <p:sp>
        <p:nvSpPr>
          <p:cNvPr id="12" name="3"/>
          <p:cNvSpPr/>
          <p:nvPr/>
        </p:nvSpPr>
        <p:spPr>
          <a:xfrm>
            <a:off x="23545800" y="89839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3" name="in which hierarchy"/>
          <p:cNvSpPr/>
          <p:nvPr/>
        </p:nvSpPr>
        <p:spPr>
          <a:xfrm>
            <a:off x="24665940" y="898398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 which hierarchy</a:t>
            </a:r>
          </a:p>
        </p:txBody>
      </p:sp>
      <p:sp>
        <p:nvSpPr>
          <p:cNvPr id="14" name="4"/>
          <p:cNvSpPr/>
          <p:nvPr/>
        </p:nvSpPr>
        <p:spPr>
          <a:xfrm>
            <a:off x="23545800" y="10744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5" name="hierarchy getter"/>
          <p:cNvSpPr/>
          <p:nvPr/>
        </p:nvSpPr>
        <p:spPr>
          <a:xfrm>
            <a:off x="24665940" y="1074420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hierarchy getter</a:t>
            </a:r>
          </a:p>
        </p:txBody>
      </p:sp>
      <p:sp>
        <p:nvSpPr>
          <p:cNvPr id="16" name="5"/>
          <p:cNvSpPr/>
          <p:nvPr/>
        </p:nvSpPr>
        <p:spPr>
          <a:xfrm>
            <a:off x="23545800" y="125044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7" name="synchronizes all units"/>
          <p:cNvSpPr/>
          <p:nvPr/>
        </p:nvSpPr>
        <p:spPr>
          <a:xfrm>
            <a:off x="24665940" y="1250442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</a:t>
            </a:r>
          </a:p>
        </p:txBody>
      </p:sp>
      <p:sp>
        <p:nvSpPr>
          <p:cNvPr id="18" name="6"/>
          <p:cNvSpPr/>
          <p:nvPr/>
        </p:nvSpPr>
        <p:spPr>
          <a:xfrm>
            <a:off x="23545800" y="142646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19" name="synchronizes all units, requires context alignment"/>
          <p:cNvSpPr/>
          <p:nvPr/>
        </p:nvSpPr>
        <p:spPr>
          <a:xfrm>
            <a:off x="24665940" y="1426464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units, requires context alignment</a:t>
            </a:r>
          </a:p>
        </p:txBody>
      </p:sp>
      <p:sp>
        <p:nvSpPr>
          <p:cNvPr id="20" name="7"/>
          <p:cNvSpPr/>
          <p:nvPr/>
        </p:nvSpPr>
        <p:spPr>
          <a:xfrm>
            <a:off x="23545800" y="160248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7</a:t>
            </a:r>
          </a:p>
        </p:txBody>
      </p:sp>
      <p:sp>
        <p:nvSpPr>
          <p:cNvPr id="21" name="`true` if each group occupies a contiguous range of physical unit"/>
          <p:cNvSpPr/>
          <p:nvPr/>
        </p:nvSpPr>
        <p:spPr>
          <a:xfrm>
            <a:off x="24665940" y="16024860"/>
            <a:ext cx="1008126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true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if each group occupies a contiguous range of physical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querie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queries</a:t>
            </a:r>
          </a:p>
        </p:txBody>
      </p:sp>
      <p:sp>
        <p:nvSpPr>
          <p:cNvPr id="3" name="Sub-unit and super-level querie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Sub-unit and super-level queries</a:t>
            </a:r>
          </a:p>
        </p:txBody>
      </p:sp>
      <p:sp>
        <p:nvSpPr>
          <p:cNvPr id="4" name="1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Sub-unit queries"/>
          <p:cNvSpPr/>
          <p:nvPr/>
        </p:nvSpPr>
        <p:spPr>
          <a:xfrm>
            <a:off x="22402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Sub-unit queries</a:t>
            </a:r>
          </a:p>
        </p:txBody>
      </p:sp>
      <p:sp>
        <p:nvSpPr>
          <p:cNvPr id="7" name="Query information about levels that are below the group's unit ty"/>
          <p:cNvSpPr/>
          <p:nvPr/>
        </p:nvSpPr>
        <p:spPr>
          <a:xfrm>
            <a:off x="22402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below the group's unit type.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9" name="Verbatim C++ snippet" descr="Verbatim fenced C++ snippet from slides.md"/>
          <p:cNvSpPr/>
          <p:nvPr/>
        </p:nvSpPr>
        <p:spPr>
          <a:xfrm>
            <a:off x="22402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qunit.static_count(group);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qunit.count_as&lt;T&gt;(group);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qunit.rank_as&lt;T&gt;(group);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qunit.count(group);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qunit.rank(group);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qunit.is_root_rank(group);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1"/>
          <p:cNvSpPr/>
          <p:nvPr/>
        </p:nvSpPr>
        <p:spPr>
          <a:xfrm>
            <a:off x="21717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1" name="Statically known number of `qunit` within `group`"/>
          <p:cNvSpPr/>
          <p:nvPr/>
        </p:nvSpPr>
        <p:spPr>
          <a:xfrm>
            <a:off x="3291840" y="139903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2"/>
          <p:cNvSpPr/>
          <p:nvPr/>
        </p:nvSpPr>
        <p:spPr>
          <a:xfrm>
            <a:off x="2171700" y="148132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3" name="Number of `qunit` within `group` returned as `T`"/>
          <p:cNvSpPr/>
          <p:nvPr/>
        </p:nvSpPr>
        <p:spPr>
          <a:xfrm>
            <a:off x="3291840" y="1481328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4" name="3"/>
          <p:cNvSpPr/>
          <p:nvPr/>
        </p:nvSpPr>
        <p:spPr>
          <a:xfrm>
            <a:off x="2171700" y="156362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5" name="Current `qunit`'s rank within `group` returned as `T`"/>
          <p:cNvSpPr/>
          <p:nvPr/>
        </p:nvSpPr>
        <p:spPr>
          <a:xfrm>
            <a:off x="3291840" y="1563624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6" name="4"/>
          <p:cNvSpPr/>
          <p:nvPr/>
        </p:nvSpPr>
        <p:spPr>
          <a:xfrm>
            <a:off x="2171700" y="16459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7" name="Same as `qunit.count_as&lt;/*default-T*/&gt;(group)`"/>
          <p:cNvSpPr/>
          <p:nvPr/>
        </p:nvSpPr>
        <p:spPr>
          <a:xfrm>
            <a:off x="3291840" y="1645920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qunit.count_as&lt;/*default-T*/&gt;(group)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8" name="5"/>
          <p:cNvSpPr/>
          <p:nvPr/>
        </p:nvSpPr>
        <p:spPr>
          <a:xfrm>
            <a:off x="2171700" y="172821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9" name="Same as `qunit.rank_as&lt;/*default-T*/&gt;(group)`"/>
          <p:cNvSpPr/>
          <p:nvPr/>
        </p:nvSpPr>
        <p:spPr>
          <a:xfrm>
            <a:off x="3291840" y="1728216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0" name="6"/>
          <p:cNvSpPr/>
          <p:nvPr/>
        </p:nvSpPr>
        <p:spPr>
          <a:xfrm>
            <a:off x="2171700" y="18105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21" name="Same as `qunit.rank(group) == 0`"/>
          <p:cNvSpPr/>
          <p:nvPr/>
        </p:nvSpPr>
        <p:spPr>
          <a:xfrm>
            <a:off x="3291840" y="18105120"/>
            <a:ext cx="1396746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qunit.rank(group) == 0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Shape"/>
          <p:cNvSpPr/>
          <p:nvPr/>
        </p:nvSpPr>
        <p:spPr>
          <a:xfrm>
            <a:off x="188595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Super-level queries"/>
          <p:cNvSpPr/>
          <p:nvPr/>
        </p:nvSpPr>
        <p:spPr>
          <a:xfrm>
            <a:off x="192709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Super-level queries</a:t>
            </a:r>
          </a:p>
        </p:txBody>
      </p:sp>
      <p:sp>
        <p:nvSpPr>
          <p:cNvPr id="24" name="Query information about levels that are above the group's upper b"/>
          <p:cNvSpPr/>
          <p:nvPr/>
        </p:nvSpPr>
        <p:spPr>
          <a:xfrm>
            <a:off x="192709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above the group's upper boundary type.</a:t>
            </a:r>
          </a:p>
        </p:txBody>
      </p:sp>
      <p:sp>
        <p:nvSpPr>
          <p:cNvPr id="25" name="Shape"/>
          <p:cNvSpPr/>
          <p:nvPr/>
        </p:nvSpPr>
        <p:spPr>
          <a:xfrm>
            <a:off x="188595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26" name="Verbatim C++ snippet" descr="Verbatim fenced C++ snippet from slides.md"/>
          <p:cNvSpPr/>
          <p:nvPr/>
        </p:nvSpPr>
        <p:spPr>
          <a:xfrm>
            <a:off x="19270980" y="9395460"/>
            <a:ext cx="1506474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group.static_count(/*parent-group-or-qlevel*/);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(1), always constexpr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group.count_as&lt;T&gt;(/*parent-group-or-qlevel*/);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group.rank_as&lt;T&gt;(/*parent-group-or-qlevel*/);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group.count(/*parent-group-or-qlevel*/);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r>
              <a:rPr lang="en-US" sz="2610" b="0">
                <a:solidFill>
                  <a:schemeClr val="dk1"/>
                </a:solidFill>
                <a:latin typeface="DejaVu Sans Mono"/>
              </a:rPr>
              <a:t xml:space="preserve">  group.rank(/*parent-group-or-qlevel*/);         </a:t>
            </a:r>
            <a:r>
              <a:rPr lang="en-US" sz="261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261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2871"/>
              </a:lnSpc>
              <a:spcBef>
                <a:spcPts val="0"/>
              </a:spcBef>
              <a:spcAft>
                <a:spcPts val="0"/>
              </a:spcAft>
              <a:buNone/>
              <a:defRPr lang="en-US" sz="2610" b="0">
                <a:solidFill>
                  <a:schemeClr val="dk1"/>
                </a:solidFill>
                <a:latin typeface="DejaVu Sans Mono"/>
              </a:defRPr>
            </a:pPr>
            <a:endParaRPr lang="en-US" sz="261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27" name="1"/>
          <p:cNvSpPr/>
          <p:nvPr/>
        </p:nvSpPr>
        <p:spPr>
          <a:xfrm>
            <a:off x="19202400" y="139903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8" name="Statically known number of `group` within `/*parent-group-or-qlev"/>
          <p:cNvSpPr/>
          <p:nvPr/>
        </p:nvSpPr>
        <p:spPr>
          <a:xfrm>
            <a:off x="20322540" y="139903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9" name="2"/>
          <p:cNvSpPr/>
          <p:nvPr/>
        </p:nvSpPr>
        <p:spPr>
          <a:xfrm>
            <a:off x="19202400" y="149047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30" name="Number of `group` within `/*parent-group-or-qlevel*/` returned as"/>
          <p:cNvSpPr/>
          <p:nvPr/>
        </p:nvSpPr>
        <p:spPr>
          <a:xfrm>
            <a:off x="20322540" y="149047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3"/>
          <p:cNvSpPr/>
          <p:nvPr/>
        </p:nvSpPr>
        <p:spPr>
          <a:xfrm>
            <a:off x="19202400" y="158191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32" name="Current `group`'s rank within `/*parent-group-or-qlevel*/` return"/>
          <p:cNvSpPr/>
          <p:nvPr/>
        </p:nvSpPr>
        <p:spPr>
          <a:xfrm>
            <a:off x="20322540" y="158191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3" name="4"/>
          <p:cNvSpPr/>
          <p:nvPr/>
        </p:nvSpPr>
        <p:spPr>
          <a:xfrm>
            <a:off x="19202400" y="16733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4" name="Same as `group.count_as&lt;/*default-T*/&gt;(/*parent-group-or-qlevel*/"/>
          <p:cNvSpPr/>
          <p:nvPr/>
        </p:nvSpPr>
        <p:spPr>
          <a:xfrm>
            <a:off x="20322540" y="167335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group.count_as&lt;/*default-T*/&gt;(/*parent-group-or-qlevel*/)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5"/>
          <p:cNvSpPr/>
          <p:nvPr/>
        </p:nvSpPr>
        <p:spPr>
          <a:xfrm>
            <a:off x="19202400" y="176479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36" name="Same as `group.rank_as&lt;/*default-T*/&gt;(/*parent-group-or-qlevel*/)"/>
          <p:cNvSpPr/>
          <p:nvPr/>
        </p:nvSpPr>
        <p:spPr>
          <a:xfrm>
            <a:off x="20322540" y="17647920"/>
            <a:ext cx="1396746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700" b="0">
                <a:solidFill>
                  <a:schemeClr val="dk1"/>
                </a:solidFill>
                <a:latin typeface="DejaVu Sans Mono"/>
              </a:rPr>
              <a:t xml:space="preserve">group.rank_as&lt;/*default-T*/&gt;(/*parent-group-or-qlevel*/)</a:t>
            </a:r>
            <a:r>
              <a:rPr lang="en-US" sz="27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7" name="default-T is the default result type."/>
          <p:cNvSpPr/>
          <p:nvPr/>
        </p:nvSpPr>
        <p:spPr>
          <a:xfrm>
            <a:off x="1874520" y="19133820"/>
            <a:ext cx="323469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default-T is the default result type.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Predefined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Groups</a:t>
            </a:r>
          </a:p>
        </p:txBody>
      </p:sp>
      <p:sp>
        <p:nvSpPr>
          <p:cNvPr id="3" name="Building blocks, partitions, and view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Building blocks, partitions, and views</a:t>
            </a:r>
          </a:p>
        </p:txBody>
      </p:sp>
      <p:sp>
        <p:nvSpPr>
          <p:cNvPr id="4" name="1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" name="CCCL Cooperative Groups come with several predefined group types.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860" b="0">
                <a:solidFill>
                  <a:schemeClr val="dk1"/>
                </a:solidFill>
                <a:latin typeface="NVIDIA Sans"/>
              </a:rPr>
              <a:t xml:space="preserve">CCCL Cooperative Groups come with several predefined group types.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01"/>
          <p:cNvSpPr/>
          <p:nvPr/>
        </p:nvSpPr>
        <p:spPr>
          <a:xfrm>
            <a:off x="24231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9" name="Implicit groups"/>
          <p:cNvSpPr/>
          <p:nvPr/>
        </p:nvSpPr>
        <p:spPr>
          <a:xfrm>
            <a:off x="24231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10" name="Shape"/>
          <p:cNvSpPr/>
          <p:nvPr/>
        </p:nvSpPr>
        <p:spPr>
          <a:xfrm>
            <a:off x="130302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30302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36245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Derived groups"/>
          <p:cNvSpPr/>
          <p:nvPr/>
        </p:nvSpPr>
        <p:spPr>
          <a:xfrm>
            <a:off x="136245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14" name="Shape"/>
          <p:cNvSpPr/>
          <p:nvPr/>
        </p:nvSpPr>
        <p:spPr>
          <a:xfrm>
            <a:off x="242316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hape"/>
          <p:cNvSpPr/>
          <p:nvPr/>
        </p:nvSpPr>
        <p:spPr>
          <a:xfrm>
            <a:off x="242316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03"/>
          <p:cNvSpPr/>
          <p:nvPr/>
        </p:nvSpPr>
        <p:spPr>
          <a:xfrm>
            <a:off x="248259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03</a:t>
            </a:r>
          </a:p>
        </p:txBody>
      </p:sp>
      <p:sp>
        <p:nvSpPr>
          <p:cNvPr id="17" name="Non-owning view"/>
          <p:cNvSpPr/>
          <p:nvPr/>
        </p:nvSpPr>
        <p:spPr>
          <a:xfrm>
            <a:off x="248259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580" b="1">
                <a:solidFill>
                  <a:schemeClr val="dk1"/>
                </a:solidFill>
                <a:latin typeface="NVIDIA Sans Medium"/>
              </a:rPr>
              <a:t xml:space="preserve">Non-owning view</a:t>
            </a:r>
          </a:p>
        </p:txBody>
      </p:sp>
      <p:sp>
        <p:nvSpPr>
          <p:cNvPr id="18" name="Independent building block"/>
          <p:cNvSpPr/>
          <p:nvPr/>
        </p:nvSpPr>
        <p:spPr>
          <a:xfrm>
            <a:off x="2743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Independent building block"/>
          <p:cNvSpPr/>
          <p:nvPr/>
        </p:nvSpPr>
        <p:spPr>
          <a:xfrm>
            <a:off x="56007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Independent building block"/>
          <p:cNvSpPr/>
          <p:nvPr/>
        </p:nvSpPr>
        <p:spPr>
          <a:xfrm>
            <a:off x="8458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`this_{level} groups`"/>
          <p:cNvSpPr/>
          <p:nvPr/>
        </p:nvSpPr>
        <p:spPr>
          <a:xfrm>
            <a:off x="2423160" y="1273302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 groups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`coalesced_group`"/>
          <p:cNvSpPr/>
          <p:nvPr/>
        </p:nvSpPr>
        <p:spPr>
          <a:xfrm>
            <a:off x="2423160" y="1383030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3" name="NEW"/>
          <p:cNvSpPr/>
          <p:nvPr/>
        </p:nvSpPr>
        <p:spPr>
          <a:xfrm>
            <a:off x="7520940" y="1394460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24" name="No parent group; building blocks&#10;for other groups."/>
          <p:cNvSpPr/>
          <p:nvPr/>
        </p:nvSpPr>
        <p:spPr>
          <a:xfrm>
            <a:off x="24231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 parent group; building blocks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other groups.</a:t>
            </a:r>
          </a:p>
        </p:txBody>
      </p:sp>
      <p:sp>
        <p:nvSpPr>
          <p:cNvPr id="25" name="Parent group"/>
          <p:cNvSpPr/>
          <p:nvPr/>
        </p:nvSpPr>
        <p:spPr>
          <a:xfrm>
            <a:off x="16299180" y="10378440"/>
            <a:ext cx="3977640" cy="100584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6" name="Parent group"/>
          <p:cNvSpPr/>
          <p:nvPr/>
        </p:nvSpPr>
        <p:spPr>
          <a:xfrm>
            <a:off x="16299180" y="10538460"/>
            <a:ext cx="397764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3420" b="0">
                <a:solidFill>
                  <a:schemeClr val="dk1"/>
                </a:solidFill>
                <a:latin typeface="NVIDIA Sans"/>
              </a:rPr>
              <a:t xml:space="preserve">Parent group</a:t>
            </a:r>
          </a:p>
        </p:txBody>
      </p:sp>
      <p:sp>
        <p:nvSpPr>
          <p:cNvPr id="27" name="Split from parent"/>
          <p:cNvSpPr/>
          <p:nvPr/>
        </p:nvSpPr>
        <p:spPr>
          <a:xfrm>
            <a:off x="150876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8" name="Result of splitting"/>
          <p:cNvSpPr/>
          <p:nvPr/>
        </p:nvSpPr>
        <p:spPr>
          <a:xfrm>
            <a:off x="141960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Split from parent"/>
          <p:cNvSpPr/>
          <p:nvPr/>
        </p:nvSpPr>
        <p:spPr>
          <a:xfrm>
            <a:off x="201168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0" name="Result of splitting"/>
          <p:cNvSpPr/>
          <p:nvPr/>
        </p:nvSpPr>
        <p:spPr>
          <a:xfrm>
            <a:off x="192252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split branches"/>
          <p:cNvSpPr/>
          <p:nvPr/>
        </p:nvSpPr>
        <p:spPr>
          <a:xfrm>
            <a:off x="15361920" y="11498580"/>
            <a:ext cx="5029200" cy="457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2" name="Shape"/>
          <p:cNvSpPr/>
          <p:nvPr/>
        </p:nvSpPr>
        <p:spPr>
          <a:xfrm>
            <a:off x="18265140" y="11384280"/>
            <a:ext cx="45720" cy="1600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3" name="`generic_group`"/>
          <p:cNvSpPr/>
          <p:nvPr/>
        </p:nvSpPr>
        <p:spPr>
          <a:xfrm>
            <a:off x="136245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4" name="`virtual_group`"/>
          <p:cNvSpPr/>
          <p:nvPr/>
        </p:nvSpPr>
        <p:spPr>
          <a:xfrm>
            <a:off x="13624560" y="1483614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NEW"/>
          <p:cNvSpPr/>
          <p:nvPr/>
        </p:nvSpPr>
        <p:spPr>
          <a:xfrm>
            <a:off x="18288000" y="1495044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36" name="Created by splitting another group."/>
          <p:cNvSpPr/>
          <p:nvPr/>
        </p:nvSpPr>
        <p:spPr>
          <a:xfrm>
            <a:off x="13624560" y="16116300"/>
            <a:ext cx="93268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Created by splitting another group.</a:t>
            </a:r>
          </a:p>
        </p:txBody>
      </p:sp>
      <p:sp>
        <p:nvSpPr>
          <p:cNvPr id="37" name="Existing group"/>
          <p:cNvSpPr/>
          <p:nvPr/>
        </p:nvSpPr>
        <p:spPr>
          <a:xfrm>
            <a:off x="25786080" y="10607040"/>
            <a:ext cx="6492240" cy="221742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38" name="Viewed group member"/>
          <p:cNvSpPr/>
          <p:nvPr/>
        </p:nvSpPr>
        <p:spPr>
          <a:xfrm>
            <a:off x="262890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9" name="Viewed group member"/>
          <p:cNvSpPr/>
          <p:nvPr/>
        </p:nvSpPr>
        <p:spPr>
          <a:xfrm>
            <a:off x="2718054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0" name="Viewed group member"/>
          <p:cNvSpPr/>
          <p:nvPr/>
        </p:nvSpPr>
        <p:spPr>
          <a:xfrm>
            <a:off x="2807208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1" name="Viewed group member"/>
          <p:cNvSpPr/>
          <p:nvPr/>
        </p:nvSpPr>
        <p:spPr>
          <a:xfrm>
            <a:off x="2896362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" name="Viewed group member"/>
          <p:cNvSpPr/>
          <p:nvPr/>
        </p:nvSpPr>
        <p:spPr>
          <a:xfrm>
            <a:off x="2985516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3" name="Viewed group member"/>
          <p:cNvSpPr/>
          <p:nvPr/>
        </p:nvSpPr>
        <p:spPr>
          <a:xfrm>
            <a:off x="307467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4" name="Non-owning view of existing group"/>
          <p:cNvSpPr/>
          <p:nvPr/>
        </p:nvSpPr>
        <p:spPr>
          <a:xfrm>
            <a:off x="26220420" y="10241280"/>
            <a:ext cx="6492240" cy="221742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45" name="`group_view`"/>
          <p:cNvSpPr/>
          <p:nvPr/>
        </p:nvSpPr>
        <p:spPr>
          <a:xfrm>
            <a:off x="248259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46" name="NEW"/>
          <p:cNvSpPr/>
          <p:nvPr/>
        </p:nvSpPr>
        <p:spPr>
          <a:xfrm>
            <a:off x="28666440" y="1396746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47" name="A non-owning group view&#10;over a group."/>
          <p:cNvSpPr/>
          <p:nvPr/>
        </p:nvSpPr>
        <p:spPr>
          <a:xfrm>
            <a:off x="248259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non-owning group view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 a group.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Implicit Groups — This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This group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This groups</a:t>
            </a:r>
          </a:p>
        </p:txBody>
      </p:sp>
      <p:sp>
        <p:nvSpPr>
          <p:cNvPr id="4" name="1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Level,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/*this-group*/ : public /*group-interface-for*/&lt;/*this-group*/&gt;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unit_type       = 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level_type      = 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hierarchy_type  = Hierarchy;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/*this-group*/(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hierarchy_like)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this_thread : public /*this-group*/&lt;thread_level,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this_warp : public /*this-group*/&lt;warp_level,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this_block : public /*this-group*/&lt;block_level,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this_cluster : public /*this-group*/&lt;cluster_level,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this_grid : public /*this-group*/&lt;grid_level, Hierarchy&gt; {};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61264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one class per level"/>
          <p:cNvSpPr/>
          <p:nvPr/>
        </p:nvSpPr>
        <p:spPr>
          <a:xfrm>
            <a:off x="25671780" y="59436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one class per level</a:t>
            </a:r>
          </a:p>
        </p:txBody>
      </p:sp>
      <p:sp>
        <p:nvSpPr>
          <p:cNvPr id="9" name="Shape"/>
          <p:cNvSpPr/>
          <p:nvPr/>
        </p:nvSpPr>
        <p:spPr>
          <a:xfrm>
            <a:off x="24917400" y="86410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contain a single unit within the same level"/>
          <p:cNvSpPr/>
          <p:nvPr/>
        </p:nvSpPr>
        <p:spPr>
          <a:xfrm>
            <a:off x="25671780" y="84582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contain a single unit within the same level</a:t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11556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building blocks for other groups"/>
          <p:cNvSpPr/>
          <p:nvPr/>
        </p:nvSpPr>
        <p:spPr>
          <a:xfrm>
            <a:off x="25671780" y="109728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building blocks for other groups</a:t>
            </a:r>
          </a:p>
        </p:txBody>
      </p:sp>
      <p:sp>
        <p:nvSpPr>
          <p:cNvPr id="13" name="Shape"/>
          <p:cNvSpPr/>
          <p:nvPr/>
        </p:nvSpPr>
        <p:spPr>
          <a:xfrm>
            <a:off x="24917400" y="136702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lways contiguous"/>
          <p:cNvSpPr/>
          <p:nvPr/>
        </p:nvSpPr>
        <p:spPr>
          <a:xfrm>
            <a:off x="25671780" y="134874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always contiguous</a:t>
            </a:r>
          </a:p>
        </p:txBody>
      </p:sp>
      <p:sp>
        <p:nvSpPr>
          <p:cNvPr id="15" name="Shape"/>
          <p:cNvSpPr/>
          <p:nvPr/>
        </p:nvSpPr>
        <p:spPr>
          <a:xfrm>
            <a:off x="24917400" y="161848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use `level_synchronizer` for synchronization"/>
          <p:cNvSpPr/>
          <p:nvPr/>
        </p:nvSpPr>
        <p:spPr>
          <a:xfrm>
            <a:off x="25671780" y="160020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use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level_synchronizer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Implicit Groups — Coalesced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Coalesced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Coalesced group</a:t>
            </a:r>
          </a:p>
        </p:txBody>
      </p:sp>
      <p:sp>
        <p:nvSpPr>
          <p:cNvPr id="4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coalesced_group : public /*group-interface-for*/&lt;coalesced_group&gt;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unit_type       = thread_level;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level_type      = warp_level;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hierarchy_type  = Hierarchy;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explicit coalesced_group(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 hierarchy_like)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&lt;/*hierarchy-like-type*/ HierarchyLike&gt;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coalesced_group(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HierarchyLike&amp;)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-&gt; coalesced_group&lt;/*hierarchy-type-of*/&lt;HierarchyLike&gt;&gt;;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64693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groups all currently active threads within a warp based on `__act"/>
          <p:cNvSpPr/>
          <p:nvPr/>
        </p:nvSpPr>
        <p:spPr>
          <a:xfrm>
            <a:off x="25671780" y="628650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groups all currently active threads within a warp based on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__activemask()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24917400" y="9395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ful for opportunistic programming"/>
          <p:cNvSpPr/>
          <p:nvPr/>
        </p:nvSpPr>
        <p:spPr>
          <a:xfrm>
            <a:off x="25671780" y="921258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useful for opportunistic programming</a:t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232154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t is not always contiguous"/>
          <p:cNvSpPr/>
          <p:nvPr/>
        </p:nvSpPr>
        <p:spPr>
          <a:xfrm>
            <a:off x="25671780" y="1213866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it is not always contiguous</a:t>
            </a:r>
          </a:p>
        </p:txBody>
      </p:sp>
      <p:sp>
        <p:nvSpPr>
          <p:cNvPr id="13" name="Shape"/>
          <p:cNvSpPr/>
          <p:nvPr/>
        </p:nvSpPr>
        <p:spPr>
          <a:xfrm>
            <a:off x="24917400" y="152476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uses `lane_synchronizer` for synchronization"/>
          <p:cNvSpPr/>
          <p:nvPr/>
        </p:nvSpPr>
        <p:spPr>
          <a:xfrm>
            <a:off x="25671780" y="15064740"/>
            <a:ext cx="9075420" cy="2560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 name="Derived Groups — Generic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Generic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Generic group</a:t>
            </a:r>
          </a:p>
        </p:txBody>
      </p:sp>
      <p:sp>
        <p:nvSpPr>
          <p:cNvPr id="4" name="2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Unit,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MappingResult,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SynchronizerInstance&gt;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class generic_group : public /*group-interface-for*/&lt;generic_group&gt;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using unit_type       = Unit;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using level_type      =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ParentGroup::level_type;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using hierarchy_type  =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ParentGroup::hierarchy_type;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__device__ explicit generic_group(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&amp;&amp; mapping,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&amp;&amp; synchronizer)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&lt;/*hierarchy-level-type*/ Unit,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group ParentGroup,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Mapping,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Synchronizer&gt;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/*unit-same-as-or-below*/&lt;Unit,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ParentGroup::unit_type&gt;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generic_group(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Unit&amp;, </a:t>
            </a:r>
            <a:r>
              <a:rPr lang="en-US" sz="3149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ParentGroup&amp;, Mapping&amp;&amp;, Synchronizer&amp;&amp;)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-&gt; generic_group&lt;Unit,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ParentGroup,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/*result-of-mapping*/,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r>
              <a:rPr lang="en-US" sz="3149" b="0">
                <a:solidFill>
                  <a:schemeClr val="dk1"/>
                </a:solidFill>
                <a:latin typeface="DejaVu Sans Mono"/>
              </a:rPr>
              <a:t xml:space="preserve">                   /*synchronizer-instance*/&gt;;</a:t>
            </a:r>
            <a:endParaRPr lang="en-US" sz="3149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463"/>
              </a:lnSpc>
              <a:spcBef>
                <a:spcPts val="0"/>
              </a:spcBef>
              <a:spcAft>
                <a:spcPts val="0"/>
              </a:spcAft>
              <a:buNone/>
              <a:defRPr lang="en-US" sz="3149" b="0">
                <a:solidFill>
                  <a:schemeClr val="dk1"/>
                </a:solidFill>
                <a:latin typeface="DejaVu Sans Mono"/>
              </a:defRPr>
            </a:pPr>
            <a:endParaRPr lang="en-US" sz="3149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70408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plits `parent_group` into independent subgroups of `unit` units "/>
          <p:cNvSpPr/>
          <p:nvPr/>
        </p:nvSpPr>
        <p:spPr>
          <a:xfrm>
            <a:off x="25671780" y="68580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into independent subgroups of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units as defined by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mapping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24917400" y="105841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s `synchronizer` for synchronization"/>
          <p:cNvSpPr/>
          <p:nvPr/>
        </p:nvSpPr>
        <p:spPr>
          <a:xfrm>
            <a:off x="25671780" y="104013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synchronizer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41274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onstruction is a collective operation"/>
          <p:cNvSpPr/>
          <p:nvPr/>
        </p:nvSpPr>
        <p:spPr>
          <a:xfrm>
            <a:off x="25671780" y="139446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construction is a collective operation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 name="Derived Groups — Virtual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Virtual 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Virtual group</a:t>
            </a:r>
          </a:p>
        </p:txBody>
      </p:sp>
      <p:sp>
        <p:nvSpPr>
          <p:cNvPr id="4" name="2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MappingResult&gt;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virtual_group : public /*group-interface-for*/&lt;virtual_group&gt;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unit_type       = Unit;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level_type     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ParentGroup::level_type;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hierarchy_type 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ParentGroup::hierarchy_type;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explicit virtual_group(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&amp;&amp; mapping)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&lt;/*hierarchy-level-type*/ Unit, group ParentGroup,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Mapping&gt;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/*unit-same-as-or-below*/&lt;Unit,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ParentGroup::unit_type&gt;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virtual_group(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ParentGroup&amp;, Mapping&amp;&amp;)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-&gt; virtual_group&lt;Unit, ParentGroup, /*result-of-mapping*/&gt;;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57835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reates a virtual layer over the `parent_group`"/>
          <p:cNvSpPr/>
          <p:nvPr/>
        </p:nvSpPr>
        <p:spPr>
          <a:xfrm>
            <a:off x="25671780" y="56007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creates a virtual layer over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24917400" y="82981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splits `parent_group` into independent subgroups of `unit` units "/>
          <p:cNvSpPr/>
          <p:nvPr/>
        </p:nvSpPr>
        <p:spPr>
          <a:xfrm>
            <a:off x="25671780" y="81153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into independent subgroups of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units as defined by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mapping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08127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uses `parent_group` for synchronization"/>
          <p:cNvSpPr/>
          <p:nvPr/>
        </p:nvSpPr>
        <p:spPr>
          <a:xfrm>
            <a:off x="25671780" y="106299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</a:t>
            </a:r>
          </a:p>
        </p:txBody>
      </p:sp>
      <p:sp>
        <p:nvSpPr>
          <p:cNvPr id="13" name="Shape"/>
          <p:cNvSpPr/>
          <p:nvPr/>
        </p:nvSpPr>
        <p:spPr>
          <a:xfrm>
            <a:off x="24917400" y="133273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ll subgroups must share the synchronization points"/>
          <p:cNvSpPr/>
          <p:nvPr/>
        </p:nvSpPr>
        <p:spPr>
          <a:xfrm>
            <a:off x="25671780" y="131445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all subgroups must share the synchronization points</a:t>
            </a:r>
          </a:p>
        </p:txBody>
      </p:sp>
      <p:sp>
        <p:nvSpPr>
          <p:cNvPr id="15" name="Shape"/>
          <p:cNvSpPr/>
          <p:nvPr/>
        </p:nvSpPr>
        <p:spPr>
          <a:xfrm>
            <a:off x="24917400" y="15841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construction is a collective operation"/>
          <p:cNvSpPr/>
          <p:nvPr/>
        </p:nvSpPr>
        <p:spPr>
          <a:xfrm>
            <a:off x="25671780" y="15659100"/>
            <a:ext cx="9075420" cy="2628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construction is a collective operation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 name="Group View — Non-owning 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View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View</a:t>
            </a:r>
          </a:p>
        </p:txBody>
      </p:sp>
      <p:sp>
        <p:nvSpPr>
          <p:cNvPr id="3" name="Non-owning view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Non-owning view</a:t>
            </a:r>
          </a:p>
        </p:txBody>
      </p:sp>
      <p:sp>
        <p:nvSpPr>
          <p:cNvPr id="4" name="2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1945600" cy="13716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Verbatim C++ snippet" descr="Verbatim fenced C++ snippet from slides.md"/>
          <p:cNvSpPr/>
          <p:nvPr/>
        </p:nvSpPr>
        <p:spPr>
          <a:xfrm>
            <a:off x="2286000" y="5554980"/>
            <a:ext cx="21031200" cy="127558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class group_view : public /*group-interface-for*/&lt;group_view&gt;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public: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unit_type       = Unit;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level_type     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Group::level_type;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using hierarchy_type 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Group::hierarchy_type;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group_view(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Group&amp; group)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cuda::std::same_as&lt;Unit,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Group::unit_type&gt;;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__device__ explicit group_view(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 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Group&amp; group)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&lt;group 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group_view(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Group&amp;) -&gt; group_view&lt;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Group::unit_type, Group&gt;;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&lt;/*hierarchy-level-type*/ Unit, group Group&gt;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group_view(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Group&amp;) -&gt; group_view&lt;Unit, Group&gt;;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24917400" y="70408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non-owning view over `group`"/>
          <p:cNvSpPr/>
          <p:nvPr/>
        </p:nvSpPr>
        <p:spPr>
          <a:xfrm>
            <a:off x="25671780" y="68580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non-owning view over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24917400" y="105841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llows to view `group` as if it had a different `unit`"/>
          <p:cNvSpPr/>
          <p:nvPr/>
        </p:nvSpPr>
        <p:spPr>
          <a:xfrm>
            <a:off x="25671780" y="104013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allows to view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as if it had a different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24917400" y="141274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mplements the same queries as `group`"/>
          <p:cNvSpPr/>
          <p:nvPr/>
        </p:nvSpPr>
        <p:spPr>
          <a:xfrm>
            <a:off x="25671780" y="13944600"/>
            <a:ext cx="9075420" cy="3200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implements the same queries as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 name="Group Mapp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Mappings</a:t>
            </a:r>
          </a:p>
        </p:txBody>
      </p:sp>
      <p:sp>
        <p:nvSpPr>
          <p:cNvPr id="3" name="Partition units and compose mappings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Partition units and compose mappings</a:t>
            </a:r>
          </a:p>
        </p:txBody>
      </p:sp>
      <p:sp>
        <p:nvSpPr>
          <p:cNvPr id="4" name="2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5" name="Determines how the units are split into subgroups"/>
          <p:cNvSpPr/>
          <p:nvPr/>
        </p:nvSpPr>
        <p:spPr>
          <a:xfrm>
            <a:off x="1874520" y="482346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Determines how the units are split into subgroups</a:t>
            </a:r>
          </a:p>
        </p:txBody>
      </p:sp>
      <p:sp>
        <p:nvSpPr>
          <p:cNvPr id="6" name="Needs to implement the `map` method that transforms `/*group-mapp"/>
          <p:cNvSpPr/>
          <p:nvPr/>
        </p:nvSpPr>
        <p:spPr>
          <a:xfrm>
            <a:off x="1874520" y="6149340"/>
            <a:ext cx="323469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method that transforms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/*group-mapping-result*/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types: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475220"/>
            <a:ext cx="32918400" cy="61264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8001000"/>
            <a:ext cx="31912560" cy="5074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ParentGroup,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PrevMappingResult&gt;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/*group-mapping*/ =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(T&amp; t,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PrevMappingResult&amp; prev_mapping_result)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{ t.map(unit, parent_group, prev_mapping_result) } -&gt; /*group-mapping-result*/;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{ t.map(non_exhaustive, unit, parent_group, prev_mapping_result) } -&gt; /*group-mapping-result*/;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The overload that takes the `non_exhaustive` tag does the non-exh"/>
          <p:cNvSpPr/>
          <p:nvPr/>
        </p:nvSpPr>
        <p:spPr>
          <a:xfrm>
            <a:off x="1874520" y="1426464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The overload that takes the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tag does the non-exhaustive mapping</a:t>
            </a:r>
          </a:p>
        </p:txBody>
      </p:sp>
      <p:sp>
        <p:nvSpPr>
          <p:cNvPr id="10" name="Mappings can be chained with `|` to transform the result from lef"/>
          <p:cNvSpPr/>
          <p:nvPr/>
        </p:nvSpPr>
        <p:spPr>
          <a:xfrm>
            <a:off x="1874520" y="1577340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Mappings can be chained with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 to transform the result from left to right</a:t>
            </a:r>
          </a:p>
        </p:txBody>
      </p:sp>
      <p:sp>
        <p:nvSpPr>
          <p:cNvPr id="11" name="Goal is to preserve as much compile-time information as possible"/>
          <p:cNvSpPr/>
          <p:nvPr/>
        </p:nvSpPr>
        <p:spPr>
          <a:xfrm>
            <a:off x="1874520" y="1728216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Goal is to preserve as much compile-time information as 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 name="Predefined Group Mappings — identity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5" name="Current mapping"/>
          <p:cNvSpPr/>
          <p:nvPr/>
        </p:nvSpPr>
        <p:spPr>
          <a:xfrm>
            <a:off x="1828800" y="50520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identity_mapping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Preserves the previous mapping result without further partitionin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Preserves the previous mapping result without further partitioning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"/>
          <p:cNvSpPr/>
          <p:nvPr/>
        </p:nvSpPr>
        <p:spPr>
          <a:xfrm>
            <a:off x="13624560" y="90754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8" name="Partition 1, row 0, threads 8,9,10,11,12,13,14,15"/>
          <p:cNvSpPr/>
          <p:nvPr/>
        </p:nvSpPr>
        <p:spPr>
          <a:xfrm>
            <a:off x="22585680" y="90754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9" name="Partition 2, row 1, threads 16,17,18,19,20,21,22,23"/>
          <p:cNvSpPr/>
          <p:nvPr/>
        </p:nvSpPr>
        <p:spPr>
          <a:xfrm>
            <a:off x="13624560" y="99669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20" name="Partition 3, row 1, threads 24,25,26,27,28,29,30,31"/>
          <p:cNvSpPr/>
          <p:nvPr/>
        </p:nvSpPr>
        <p:spPr>
          <a:xfrm>
            <a:off x="22585680" y="99669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1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3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5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7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9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1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3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5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7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9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1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3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5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7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9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1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3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5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7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9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1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3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5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7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9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1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3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5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7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9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1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3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5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6" name="Preserve the existing partition: four groups of 8 threads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Preserve the existing partition: four groups of 8 threads.</a:t>
            </a:r>
          </a:p>
        </p:txBody>
      </p:sp>
      <p:sp>
        <p:nvSpPr>
          <p:cNvPr id="87" name="Result · subgroups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subgroups</a:t>
            </a:r>
          </a:p>
        </p:txBody>
      </p:sp>
      <p:sp>
        <p:nvSpPr>
          <p:cNvPr id="88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9" name="Partition 0, row 0, threads 0,1,2,3,4,5,6,7"/>
          <p:cNvSpPr/>
          <p:nvPr/>
        </p:nvSpPr>
        <p:spPr>
          <a:xfrm>
            <a:off x="13624560" y="154762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0" name="Partition 1, row 0, threads 8,9,10,11,12,13,14,15"/>
          <p:cNvSpPr/>
          <p:nvPr/>
        </p:nvSpPr>
        <p:spPr>
          <a:xfrm>
            <a:off x="22585680" y="154762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1" name="Partition 2, row 1, threads 16,17,18,19,20,21,22,23"/>
          <p:cNvSpPr/>
          <p:nvPr/>
        </p:nvSpPr>
        <p:spPr>
          <a:xfrm>
            <a:off x="13624560" y="163677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2" name="Partition 3, row 1, threads 24,25,26,27,28,29,30,31"/>
          <p:cNvSpPr/>
          <p:nvPr/>
        </p:nvSpPr>
        <p:spPr>
          <a:xfrm>
            <a:off x="22585680" y="163677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3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5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7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9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1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3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5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7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9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1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3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5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7" name="Example thread 12 in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9" name="Example thread 13 in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1" name="Example thread 14 in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3" name="Example thread 15 in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5" name="Example thread 16 in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7" name="Example thread 17 in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9" name="Example thread 18 in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1" name="Example thread 19 in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3" name="Example thread 20 in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5" name="Example thread 21 in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7" name="Example thread 22 in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9" name="Example thread 23 in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1" name="Example thread 24 in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3" name="Example thread 25 in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5" name="Example thread 26 in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7" name="Example thread 27 in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9" name="Example thread 28 in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1" name="Example thread 29 in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3" name="Example thread 30 in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5" name="Example thread 31 in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7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cSld name="Predefined Group Mappings — group_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mapping"/>
          <p:cNvSpPr/>
          <p:nvPr/>
        </p:nvSpPr>
        <p:spPr>
          <a:xfrm>
            <a:off x="1828800" y="717804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17804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group_by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the same specified number o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Splits each group into subgroups with the same specified number of units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907542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96696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4" name="Example: split 32 threads into four groups of 8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Example: split 32 threads into four groups of 8.</a:t>
            </a:r>
          </a:p>
        </p:txBody>
      </p:sp>
      <p:sp>
        <p:nvSpPr>
          <p:cNvPr id="85" name="Result · subgroups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subgroups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,5,6,7"/>
          <p:cNvSpPr/>
          <p:nvPr/>
        </p:nvSpPr>
        <p:spPr>
          <a:xfrm>
            <a:off x="13624560" y="154762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1, row 0, threads 8,9,10,11,12,13,14,15"/>
          <p:cNvSpPr/>
          <p:nvPr/>
        </p:nvSpPr>
        <p:spPr>
          <a:xfrm>
            <a:off x="22585680" y="1547622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89" name="Partition 2, row 1, threads 16,17,18,19,20,21,22,23"/>
          <p:cNvSpPr/>
          <p:nvPr/>
        </p:nvSpPr>
        <p:spPr>
          <a:xfrm>
            <a:off x="13624560" y="163677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0" name="Partition 3, row 1, threads 24,25,26,27,28,29,30,31"/>
          <p:cNvSpPr/>
          <p:nvPr/>
        </p:nvSpPr>
        <p:spPr>
          <a:xfrm>
            <a:off x="22585680" y="16367760"/>
            <a:ext cx="861822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1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3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5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7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9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1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3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5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7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9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1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3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5" name="Example thread 12 in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7" name="Example thread 13 in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9" name="Example thread 14 in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1" name="Example thread 15 in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3" name="Example thread 16 in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5" name="Example thread 17 in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7" name="Example thread 18 in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9" name="Example thread 19 in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1" name="Example thread 20 in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3" name="Example thread 21 in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5" name="Example thread 22 in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7" name="Example thread 23 in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9" name="Example thread 24 in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1" name="Example thread 25 in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3" name="Example thread 26 in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5" name="Example thread 27 in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7" name="Example thread 28 in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9" name="Example thread 29 in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1" name="Example thread 30 in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3" name="Example thread 31 in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5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 name="Predefined Group Mappings — group_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mapping"/>
          <p:cNvSpPr/>
          <p:nvPr/>
        </p:nvSpPr>
        <p:spPr>
          <a:xfrm>
            <a:off x="1828800" y="930402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930402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group_as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individually specified size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Splits each group into subgroups with individually specified sizes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907542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96696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4" name="Example: use subgroup sizes 5, 9, 6, and 12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Example: use subgroup sizes 5, 9, 6, and 12.</a:t>
            </a:r>
          </a:p>
        </p:txBody>
      </p:sp>
      <p:sp>
        <p:nvSpPr>
          <p:cNvPr id="85" name="Result · subgroups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subgroups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"/>
          <p:cNvSpPr/>
          <p:nvPr/>
        </p:nvSpPr>
        <p:spPr>
          <a:xfrm>
            <a:off x="13624560" y="15476220"/>
            <a:ext cx="525780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1, row 0, threads 5,6,7,8,9,10,11,12,13"/>
          <p:cNvSpPr/>
          <p:nvPr/>
        </p:nvSpPr>
        <p:spPr>
          <a:xfrm>
            <a:off x="19225260" y="15476220"/>
            <a:ext cx="973836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89" name="Partition 2, row 0, threads 14,15"/>
          <p:cNvSpPr/>
          <p:nvPr/>
        </p:nvSpPr>
        <p:spPr>
          <a:xfrm>
            <a:off x="29306520" y="15476220"/>
            <a:ext cx="189738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0" name="Partition 2, row 1, threads 16,17,18,19"/>
          <p:cNvSpPr/>
          <p:nvPr/>
        </p:nvSpPr>
        <p:spPr>
          <a:xfrm>
            <a:off x="13624560" y="16367760"/>
            <a:ext cx="413766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3, row 1, threads 20,21,22,23,24,25,26,27,28,29,30,31"/>
          <p:cNvSpPr/>
          <p:nvPr/>
        </p:nvSpPr>
        <p:spPr>
          <a:xfrm>
            <a:off x="18105120" y="16367760"/>
            <a:ext cx="1309878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2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4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6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8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0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2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4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6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8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0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2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4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6" name="Example thread 12 in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8" name="Example thread 13 in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0" name="Example thread 14 in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2" name="Example thread 15 in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4" name="Example thread 16 in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6" name="Example thread 17 in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8" name="Example thread 18 in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0" name="Example thread 19 in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2" name="Example thread 20 in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4" name="Example thread 21 in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6" name="Example thread 22 in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8" name="Example thread 23 in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0" name="Example thread 24 in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2" name="Example thread 25 in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4" name="Example thread 26 in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6" name="Example thread 27 in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8" name="Example thread 28 in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0" name="Example thread 29 in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2" name="Example thread 30 in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4" name="Example thread 31 in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6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 name="Predefined Group Mappings — ta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mapping"/>
          <p:cNvSpPr/>
          <p:nvPr/>
        </p:nvSpPr>
        <p:spPr>
          <a:xfrm>
            <a:off x="1828800" y="1143000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143000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take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elects the first specified number of units from each group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Selects the first specified number of units from each group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907542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96696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4" name="Example: take the first 12 threads; 20 threads are excluded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Example: take the first 12 threads; 20 threads are excluded.</a:t>
            </a:r>
          </a:p>
        </p:txBody>
      </p:sp>
      <p:sp>
        <p:nvSpPr>
          <p:cNvPr id="85" name="Result · subgroups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subgroups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,5,6,7,8,9,10,11"/>
          <p:cNvSpPr/>
          <p:nvPr/>
        </p:nvSpPr>
        <p:spPr>
          <a:xfrm>
            <a:off x="13624560" y="15476220"/>
            <a:ext cx="1309878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0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2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4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6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8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0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2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4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6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8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0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2" name="Example thread 12 ex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3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4" name="Example thread 13 ex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5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6" name="Example thread 14 ex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7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8" name="Example thread 15 ex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9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0" name="Example thread 16 ex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1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2" name="Example thread 17 ex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3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4" name="Example thread 18 ex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5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6" name="Example thread 19 ex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7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8" name="Example thread 20 ex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9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0" name="Example thread 21 ex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1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2" name="Example thread 22 ex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3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4" name="Example thread 23 ex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5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6" name="Example thread 24 ex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7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8" name="Example thread 25 ex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9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0" name="Example thread 26 ex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1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2" name="Example thread 27 ex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3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4" name="Example thread 28 ex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5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6" name="Example thread 29 ex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7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8" name="Example thread 30 ex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9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0" name="Example thread 31 ex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1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2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 name="Predefined Group Mappings — binary_par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Current mapping"/>
          <p:cNvSpPr/>
          <p:nvPr/>
        </p:nvSpPr>
        <p:spPr>
          <a:xfrm>
            <a:off x="1828800" y="1355598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0" name="Shape"/>
          <p:cNvSpPr/>
          <p:nvPr/>
        </p:nvSpPr>
        <p:spPr>
          <a:xfrm>
            <a:off x="1828800" y="1355598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1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binary_partition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threads within a warp into two groups based on a predicate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Splits threads within a warp into two groups based on a predicate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82981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9839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907542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96696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91897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92811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100812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101727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Shape"/>
          <p:cNvSpPr/>
          <p:nvPr/>
        </p:nvSpPr>
        <p:spPr>
          <a:xfrm>
            <a:off x="22014180" y="11704320"/>
            <a:ext cx="640080" cy="91440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4" name="Example predicate: even thread IDs versus odd thread IDs."/>
          <p:cNvSpPr/>
          <p:nvPr/>
        </p:nvSpPr>
        <p:spPr>
          <a:xfrm>
            <a:off x="13235940" y="12824460"/>
            <a:ext cx="212598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Example predicate: even thread IDs versus odd thread IDs.</a:t>
            </a:r>
          </a:p>
        </p:txBody>
      </p:sp>
      <p:sp>
        <p:nvSpPr>
          <p:cNvPr id="85" name="Result · predicate true / false"/>
          <p:cNvSpPr/>
          <p:nvPr/>
        </p:nvSpPr>
        <p:spPr>
          <a:xfrm>
            <a:off x="13235940" y="1469898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Result · predicate true / false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373100" y="1538478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"/>
          <p:cNvSpPr/>
          <p:nvPr/>
        </p:nvSpPr>
        <p:spPr>
          <a:xfrm>
            <a:off x="1362456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0, row 0, threads 2"/>
          <p:cNvSpPr/>
          <p:nvPr/>
        </p:nvSpPr>
        <p:spPr>
          <a:xfrm>
            <a:off x="1586484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0, row 0, threads 4"/>
          <p:cNvSpPr/>
          <p:nvPr/>
        </p:nvSpPr>
        <p:spPr>
          <a:xfrm>
            <a:off x="1810512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0" name="Partition 0, row 0, threads 6"/>
          <p:cNvSpPr/>
          <p:nvPr/>
        </p:nvSpPr>
        <p:spPr>
          <a:xfrm>
            <a:off x="2034540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0, row 0, threads 8"/>
          <p:cNvSpPr/>
          <p:nvPr/>
        </p:nvSpPr>
        <p:spPr>
          <a:xfrm>
            <a:off x="2258568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2" name="Partition 0, row 0, threads 10"/>
          <p:cNvSpPr/>
          <p:nvPr/>
        </p:nvSpPr>
        <p:spPr>
          <a:xfrm>
            <a:off x="2482596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3" name="Partition 0, row 0, threads 12"/>
          <p:cNvSpPr/>
          <p:nvPr/>
        </p:nvSpPr>
        <p:spPr>
          <a:xfrm>
            <a:off x="2706624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4" name="Partition 0, row 0, threads 14"/>
          <p:cNvSpPr/>
          <p:nvPr/>
        </p:nvSpPr>
        <p:spPr>
          <a:xfrm>
            <a:off x="2930652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5" name="Partition 0, row 1, threads 16"/>
          <p:cNvSpPr/>
          <p:nvPr/>
        </p:nvSpPr>
        <p:spPr>
          <a:xfrm>
            <a:off x="1362456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6" name="Partition 0, row 1, threads 18"/>
          <p:cNvSpPr/>
          <p:nvPr/>
        </p:nvSpPr>
        <p:spPr>
          <a:xfrm>
            <a:off x="1586484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7" name="Partition 0, row 1, threads 20"/>
          <p:cNvSpPr/>
          <p:nvPr/>
        </p:nvSpPr>
        <p:spPr>
          <a:xfrm>
            <a:off x="1810512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8" name="Partition 0, row 1, threads 22"/>
          <p:cNvSpPr/>
          <p:nvPr/>
        </p:nvSpPr>
        <p:spPr>
          <a:xfrm>
            <a:off x="2034540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9" name="Partition 0, row 1, threads 24"/>
          <p:cNvSpPr/>
          <p:nvPr/>
        </p:nvSpPr>
        <p:spPr>
          <a:xfrm>
            <a:off x="2258568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0" name="Partition 0, row 1, threads 26"/>
          <p:cNvSpPr/>
          <p:nvPr/>
        </p:nvSpPr>
        <p:spPr>
          <a:xfrm>
            <a:off x="2482596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1" name="Partition 0, row 1, threads 28"/>
          <p:cNvSpPr/>
          <p:nvPr/>
        </p:nvSpPr>
        <p:spPr>
          <a:xfrm>
            <a:off x="2706624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2" name="Partition 0, row 1, threads 30"/>
          <p:cNvSpPr/>
          <p:nvPr/>
        </p:nvSpPr>
        <p:spPr>
          <a:xfrm>
            <a:off x="2930652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3" name="Partition 1, row 0, threads 1"/>
          <p:cNvSpPr/>
          <p:nvPr/>
        </p:nvSpPr>
        <p:spPr>
          <a:xfrm>
            <a:off x="1474470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4" name="Partition 1, row 0, threads 3"/>
          <p:cNvSpPr/>
          <p:nvPr/>
        </p:nvSpPr>
        <p:spPr>
          <a:xfrm>
            <a:off x="1698498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5" name="Partition 1, row 0, threads 5"/>
          <p:cNvSpPr/>
          <p:nvPr/>
        </p:nvSpPr>
        <p:spPr>
          <a:xfrm>
            <a:off x="1922526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6" name="Partition 1, row 0, threads 7"/>
          <p:cNvSpPr/>
          <p:nvPr/>
        </p:nvSpPr>
        <p:spPr>
          <a:xfrm>
            <a:off x="2146554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7" name="Partition 1, row 0, threads 9"/>
          <p:cNvSpPr/>
          <p:nvPr/>
        </p:nvSpPr>
        <p:spPr>
          <a:xfrm>
            <a:off x="2370582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8" name="Partition 1, row 0, threads 11"/>
          <p:cNvSpPr/>
          <p:nvPr/>
        </p:nvSpPr>
        <p:spPr>
          <a:xfrm>
            <a:off x="2594610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9" name="Partition 1, row 0, threads 13"/>
          <p:cNvSpPr/>
          <p:nvPr/>
        </p:nvSpPr>
        <p:spPr>
          <a:xfrm>
            <a:off x="2818638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0" name="Partition 1, row 0, threads 15"/>
          <p:cNvSpPr/>
          <p:nvPr/>
        </p:nvSpPr>
        <p:spPr>
          <a:xfrm>
            <a:off x="30426660" y="1547622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1" name="Partition 1, row 1, threads 17"/>
          <p:cNvSpPr/>
          <p:nvPr/>
        </p:nvSpPr>
        <p:spPr>
          <a:xfrm>
            <a:off x="1474470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2" name="Partition 1, row 1, threads 19"/>
          <p:cNvSpPr/>
          <p:nvPr/>
        </p:nvSpPr>
        <p:spPr>
          <a:xfrm>
            <a:off x="1698498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3" name="Partition 1, row 1, threads 21"/>
          <p:cNvSpPr/>
          <p:nvPr/>
        </p:nvSpPr>
        <p:spPr>
          <a:xfrm>
            <a:off x="1922526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4" name="Partition 1, row 1, threads 23"/>
          <p:cNvSpPr/>
          <p:nvPr/>
        </p:nvSpPr>
        <p:spPr>
          <a:xfrm>
            <a:off x="2146554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5" name="Partition 1, row 1, threads 25"/>
          <p:cNvSpPr/>
          <p:nvPr/>
        </p:nvSpPr>
        <p:spPr>
          <a:xfrm>
            <a:off x="2370582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6" name="Partition 1, row 1, threads 27"/>
          <p:cNvSpPr/>
          <p:nvPr/>
        </p:nvSpPr>
        <p:spPr>
          <a:xfrm>
            <a:off x="2594610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7" name="Partition 1, row 1, threads 29"/>
          <p:cNvSpPr/>
          <p:nvPr/>
        </p:nvSpPr>
        <p:spPr>
          <a:xfrm>
            <a:off x="2818638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8" name="Partition 1, row 1, threads 31"/>
          <p:cNvSpPr/>
          <p:nvPr/>
        </p:nvSpPr>
        <p:spPr>
          <a:xfrm>
            <a:off x="30426660" y="1636776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9" name="Example thread 0 included"/>
          <p:cNvSpPr/>
          <p:nvPr/>
        </p:nvSpPr>
        <p:spPr>
          <a:xfrm>
            <a:off x="137617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0"/>
          <p:cNvSpPr/>
          <p:nvPr/>
        </p:nvSpPr>
        <p:spPr>
          <a:xfrm>
            <a:off x="137617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21" name="Example thread 1 included"/>
          <p:cNvSpPr/>
          <p:nvPr/>
        </p:nvSpPr>
        <p:spPr>
          <a:xfrm>
            <a:off x="148818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"/>
          <p:cNvSpPr/>
          <p:nvPr/>
        </p:nvSpPr>
        <p:spPr>
          <a:xfrm>
            <a:off x="148818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23" name="Example thread 2 included"/>
          <p:cNvSpPr/>
          <p:nvPr/>
        </p:nvSpPr>
        <p:spPr>
          <a:xfrm>
            <a:off x="160020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2"/>
          <p:cNvSpPr/>
          <p:nvPr/>
        </p:nvSpPr>
        <p:spPr>
          <a:xfrm>
            <a:off x="160020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25" name="Example thread 3 included"/>
          <p:cNvSpPr/>
          <p:nvPr/>
        </p:nvSpPr>
        <p:spPr>
          <a:xfrm>
            <a:off x="171221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3"/>
          <p:cNvSpPr/>
          <p:nvPr/>
        </p:nvSpPr>
        <p:spPr>
          <a:xfrm>
            <a:off x="171221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27" name="Example thread 4 included"/>
          <p:cNvSpPr/>
          <p:nvPr/>
        </p:nvSpPr>
        <p:spPr>
          <a:xfrm>
            <a:off x="182422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4"/>
          <p:cNvSpPr/>
          <p:nvPr/>
        </p:nvSpPr>
        <p:spPr>
          <a:xfrm>
            <a:off x="182422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29" name="Example thread 5 included"/>
          <p:cNvSpPr/>
          <p:nvPr/>
        </p:nvSpPr>
        <p:spPr>
          <a:xfrm>
            <a:off x="193624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5"/>
          <p:cNvSpPr/>
          <p:nvPr/>
        </p:nvSpPr>
        <p:spPr>
          <a:xfrm>
            <a:off x="193624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31" name="Example thread 6 included"/>
          <p:cNvSpPr/>
          <p:nvPr/>
        </p:nvSpPr>
        <p:spPr>
          <a:xfrm>
            <a:off x="204825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6"/>
          <p:cNvSpPr/>
          <p:nvPr/>
        </p:nvSpPr>
        <p:spPr>
          <a:xfrm>
            <a:off x="204825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33" name="Example thread 7 included"/>
          <p:cNvSpPr/>
          <p:nvPr/>
        </p:nvSpPr>
        <p:spPr>
          <a:xfrm>
            <a:off x="216027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7"/>
          <p:cNvSpPr/>
          <p:nvPr/>
        </p:nvSpPr>
        <p:spPr>
          <a:xfrm>
            <a:off x="216027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35" name="Example thread 8 included"/>
          <p:cNvSpPr/>
          <p:nvPr/>
        </p:nvSpPr>
        <p:spPr>
          <a:xfrm>
            <a:off x="227228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8"/>
          <p:cNvSpPr/>
          <p:nvPr/>
        </p:nvSpPr>
        <p:spPr>
          <a:xfrm>
            <a:off x="227228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37" name="Example thread 9 included"/>
          <p:cNvSpPr/>
          <p:nvPr/>
        </p:nvSpPr>
        <p:spPr>
          <a:xfrm>
            <a:off x="238429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9"/>
          <p:cNvSpPr/>
          <p:nvPr/>
        </p:nvSpPr>
        <p:spPr>
          <a:xfrm>
            <a:off x="238429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39" name="Example thread 10 included"/>
          <p:cNvSpPr/>
          <p:nvPr/>
        </p:nvSpPr>
        <p:spPr>
          <a:xfrm>
            <a:off x="249631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10"/>
          <p:cNvSpPr/>
          <p:nvPr/>
        </p:nvSpPr>
        <p:spPr>
          <a:xfrm>
            <a:off x="249631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41" name="Example thread 11 included"/>
          <p:cNvSpPr/>
          <p:nvPr/>
        </p:nvSpPr>
        <p:spPr>
          <a:xfrm>
            <a:off x="2608326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11"/>
          <p:cNvSpPr/>
          <p:nvPr/>
        </p:nvSpPr>
        <p:spPr>
          <a:xfrm>
            <a:off x="2608326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43" name="Example thread 12 included"/>
          <p:cNvSpPr/>
          <p:nvPr/>
        </p:nvSpPr>
        <p:spPr>
          <a:xfrm>
            <a:off x="2720340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12"/>
          <p:cNvSpPr/>
          <p:nvPr/>
        </p:nvSpPr>
        <p:spPr>
          <a:xfrm>
            <a:off x="2720340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45" name="Example thread 13 included"/>
          <p:cNvSpPr/>
          <p:nvPr/>
        </p:nvSpPr>
        <p:spPr>
          <a:xfrm>
            <a:off x="2832354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13"/>
          <p:cNvSpPr/>
          <p:nvPr/>
        </p:nvSpPr>
        <p:spPr>
          <a:xfrm>
            <a:off x="2832354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47" name="Example thread 14 included"/>
          <p:cNvSpPr/>
          <p:nvPr/>
        </p:nvSpPr>
        <p:spPr>
          <a:xfrm>
            <a:off x="2944368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14"/>
          <p:cNvSpPr/>
          <p:nvPr/>
        </p:nvSpPr>
        <p:spPr>
          <a:xfrm>
            <a:off x="2944368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49" name="Example thread 15 included"/>
          <p:cNvSpPr/>
          <p:nvPr/>
        </p:nvSpPr>
        <p:spPr>
          <a:xfrm>
            <a:off x="30563820" y="1559052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15"/>
          <p:cNvSpPr/>
          <p:nvPr/>
        </p:nvSpPr>
        <p:spPr>
          <a:xfrm>
            <a:off x="30563820" y="1568196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51" name="Example thread 16 included"/>
          <p:cNvSpPr/>
          <p:nvPr/>
        </p:nvSpPr>
        <p:spPr>
          <a:xfrm>
            <a:off x="137617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16"/>
          <p:cNvSpPr/>
          <p:nvPr/>
        </p:nvSpPr>
        <p:spPr>
          <a:xfrm>
            <a:off x="137617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53" name="Example thread 17 included"/>
          <p:cNvSpPr/>
          <p:nvPr/>
        </p:nvSpPr>
        <p:spPr>
          <a:xfrm>
            <a:off x="148818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17"/>
          <p:cNvSpPr/>
          <p:nvPr/>
        </p:nvSpPr>
        <p:spPr>
          <a:xfrm>
            <a:off x="148818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55" name="Example thread 18 included"/>
          <p:cNvSpPr/>
          <p:nvPr/>
        </p:nvSpPr>
        <p:spPr>
          <a:xfrm>
            <a:off x="160020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18"/>
          <p:cNvSpPr/>
          <p:nvPr/>
        </p:nvSpPr>
        <p:spPr>
          <a:xfrm>
            <a:off x="160020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57" name="Example thread 19 included"/>
          <p:cNvSpPr/>
          <p:nvPr/>
        </p:nvSpPr>
        <p:spPr>
          <a:xfrm>
            <a:off x="171221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19"/>
          <p:cNvSpPr/>
          <p:nvPr/>
        </p:nvSpPr>
        <p:spPr>
          <a:xfrm>
            <a:off x="171221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59" name="Example thread 20 included"/>
          <p:cNvSpPr/>
          <p:nvPr/>
        </p:nvSpPr>
        <p:spPr>
          <a:xfrm>
            <a:off x="182422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20"/>
          <p:cNvSpPr/>
          <p:nvPr/>
        </p:nvSpPr>
        <p:spPr>
          <a:xfrm>
            <a:off x="182422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61" name="Example thread 21 included"/>
          <p:cNvSpPr/>
          <p:nvPr/>
        </p:nvSpPr>
        <p:spPr>
          <a:xfrm>
            <a:off x="193624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21"/>
          <p:cNvSpPr/>
          <p:nvPr/>
        </p:nvSpPr>
        <p:spPr>
          <a:xfrm>
            <a:off x="193624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63" name="Example thread 22 included"/>
          <p:cNvSpPr/>
          <p:nvPr/>
        </p:nvSpPr>
        <p:spPr>
          <a:xfrm>
            <a:off x="204825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22"/>
          <p:cNvSpPr/>
          <p:nvPr/>
        </p:nvSpPr>
        <p:spPr>
          <a:xfrm>
            <a:off x="204825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65" name="Example thread 23 included"/>
          <p:cNvSpPr/>
          <p:nvPr/>
        </p:nvSpPr>
        <p:spPr>
          <a:xfrm>
            <a:off x="216027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23"/>
          <p:cNvSpPr/>
          <p:nvPr/>
        </p:nvSpPr>
        <p:spPr>
          <a:xfrm>
            <a:off x="216027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67" name="Example thread 24 included"/>
          <p:cNvSpPr/>
          <p:nvPr/>
        </p:nvSpPr>
        <p:spPr>
          <a:xfrm>
            <a:off x="227228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24"/>
          <p:cNvSpPr/>
          <p:nvPr/>
        </p:nvSpPr>
        <p:spPr>
          <a:xfrm>
            <a:off x="227228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69" name="Example thread 25 included"/>
          <p:cNvSpPr/>
          <p:nvPr/>
        </p:nvSpPr>
        <p:spPr>
          <a:xfrm>
            <a:off x="238429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25"/>
          <p:cNvSpPr/>
          <p:nvPr/>
        </p:nvSpPr>
        <p:spPr>
          <a:xfrm>
            <a:off x="238429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71" name="Example thread 26 included"/>
          <p:cNvSpPr/>
          <p:nvPr/>
        </p:nvSpPr>
        <p:spPr>
          <a:xfrm>
            <a:off x="249631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26"/>
          <p:cNvSpPr/>
          <p:nvPr/>
        </p:nvSpPr>
        <p:spPr>
          <a:xfrm>
            <a:off x="249631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73" name="Example thread 27 included"/>
          <p:cNvSpPr/>
          <p:nvPr/>
        </p:nvSpPr>
        <p:spPr>
          <a:xfrm>
            <a:off x="2608326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27"/>
          <p:cNvSpPr/>
          <p:nvPr/>
        </p:nvSpPr>
        <p:spPr>
          <a:xfrm>
            <a:off x="2608326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75" name="Example thread 28 included"/>
          <p:cNvSpPr/>
          <p:nvPr/>
        </p:nvSpPr>
        <p:spPr>
          <a:xfrm>
            <a:off x="2720340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28"/>
          <p:cNvSpPr/>
          <p:nvPr/>
        </p:nvSpPr>
        <p:spPr>
          <a:xfrm>
            <a:off x="2720340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77" name="Example thread 29 included"/>
          <p:cNvSpPr/>
          <p:nvPr/>
        </p:nvSpPr>
        <p:spPr>
          <a:xfrm>
            <a:off x="2832354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29"/>
          <p:cNvSpPr/>
          <p:nvPr/>
        </p:nvSpPr>
        <p:spPr>
          <a:xfrm>
            <a:off x="2832354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79" name="Example thread 30 included"/>
          <p:cNvSpPr/>
          <p:nvPr/>
        </p:nvSpPr>
        <p:spPr>
          <a:xfrm>
            <a:off x="2944368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30"/>
          <p:cNvSpPr/>
          <p:nvPr/>
        </p:nvSpPr>
        <p:spPr>
          <a:xfrm>
            <a:off x="2944368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81" name="Example thread 31 included"/>
          <p:cNvSpPr/>
          <p:nvPr/>
        </p:nvSpPr>
        <p:spPr>
          <a:xfrm>
            <a:off x="30563820" y="1648206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31"/>
          <p:cNvSpPr/>
          <p:nvPr/>
        </p:nvSpPr>
        <p:spPr>
          <a:xfrm>
            <a:off x="30563820" y="1657350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83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 name="Predefined Group Mappings — composite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30886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30886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30886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30886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binary_partition`"/>
          <p:cNvSpPr/>
          <p:nvPr/>
        </p:nvSpPr>
        <p:spPr>
          <a:xfrm>
            <a:off x="230886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78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78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Current mapping"/>
          <p:cNvSpPr/>
          <p:nvPr/>
        </p:nvSpPr>
        <p:spPr>
          <a:xfrm>
            <a:off x="1828800" y="156819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1" name="Shape"/>
          <p:cNvSpPr/>
          <p:nvPr/>
        </p:nvSpPr>
        <p:spPr>
          <a:xfrm>
            <a:off x="1828800" y="156819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`composite_mapping`"/>
          <p:cNvSpPr/>
          <p:nvPr/>
        </p:nvSpPr>
        <p:spPr>
          <a:xfrm>
            <a:off x="230886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composite_mapping</a:t>
            </a:r>
            <a:r>
              <a:rPr lang="en-US" sz="37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Applies multiple mappings in sequence, composed with the `|` oper"/>
          <p:cNvSpPr/>
          <p:nvPr/>
        </p:nvSpPr>
        <p:spPr>
          <a:xfrm>
            <a:off x="13235940" y="5166360"/>
            <a:ext cx="21259800" cy="2377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Applies multiple mappings in sequence, composed with the </a:t>
            </a:r>
            <a:r>
              <a:rPr lang="en-US" sz="468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 operator</a:t>
            </a:r>
          </a:p>
        </p:txBody>
      </p:sp>
      <p:sp>
        <p:nvSpPr>
          <p:cNvPr id="15" name="Parent warp · 32 threads"/>
          <p:cNvSpPr/>
          <p:nvPr/>
        </p:nvSpPr>
        <p:spPr>
          <a:xfrm>
            <a:off x="13235940" y="790956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Parent warp · 32 threads</a:t>
            </a:r>
          </a:p>
        </p:txBody>
      </p:sp>
      <p:sp>
        <p:nvSpPr>
          <p:cNvPr id="16" name="Example warp: 32 threads"/>
          <p:cNvSpPr/>
          <p:nvPr/>
        </p:nvSpPr>
        <p:spPr>
          <a:xfrm>
            <a:off x="13373100" y="859536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7" name="Partition 0, row 0, threads 0,1,2,3,4,5,6,7,8,9,10,11,12,13,14,15"/>
          <p:cNvSpPr/>
          <p:nvPr/>
        </p:nvSpPr>
        <p:spPr>
          <a:xfrm>
            <a:off x="13624560" y="868680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8" name="Partition 0, row 1, threads 16,17,18,19,20,21,22,23,24,25,26,27,28,29,30,31"/>
          <p:cNvSpPr/>
          <p:nvPr/>
        </p:nvSpPr>
        <p:spPr>
          <a:xfrm>
            <a:off x="13624560" y="957834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19" name="Example thread 0 included"/>
          <p:cNvSpPr/>
          <p:nvPr/>
        </p:nvSpPr>
        <p:spPr>
          <a:xfrm>
            <a:off x="1376172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0"/>
          <p:cNvSpPr/>
          <p:nvPr/>
        </p:nvSpPr>
        <p:spPr>
          <a:xfrm>
            <a:off x="1376172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1" name="Example thread 1 included"/>
          <p:cNvSpPr/>
          <p:nvPr/>
        </p:nvSpPr>
        <p:spPr>
          <a:xfrm>
            <a:off x="1488186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1"/>
          <p:cNvSpPr/>
          <p:nvPr/>
        </p:nvSpPr>
        <p:spPr>
          <a:xfrm>
            <a:off x="1488186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3" name="Example thread 2 included"/>
          <p:cNvSpPr/>
          <p:nvPr/>
        </p:nvSpPr>
        <p:spPr>
          <a:xfrm>
            <a:off x="1600200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2"/>
          <p:cNvSpPr/>
          <p:nvPr/>
        </p:nvSpPr>
        <p:spPr>
          <a:xfrm>
            <a:off x="1600200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5" name="Example thread 3 included"/>
          <p:cNvSpPr/>
          <p:nvPr/>
        </p:nvSpPr>
        <p:spPr>
          <a:xfrm>
            <a:off x="1712214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3"/>
          <p:cNvSpPr/>
          <p:nvPr/>
        </p:nvSpPr>
        <p:spPr>
          <a:xfrm>
            <a:off x="1712214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27" name="Example thread 4 included"/>
          <p:cNvSpPr/>
          <p:nvPr/>
        </p:nvSpPr>
        <p:spPr>
          <a:xfrm>
            <a:off x="1824228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4"/>
          <p:cNvSpPr/>
          <p:nvPr/>
        </p:nvSpPr>
        <p:spPr>
          <a:xfrm>
            <a:off x="1824228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29" name="Example thread 5 included"/>
          <p:cNvSpPr/>
          <p:nvPr/>
        </p:nvSpPr>
        <p:spPr>
          <a:xfrm>
            <a:off x="1936242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5"/>
          <p:cNvSpPr/>
          <p:nvPr/>
        </p:nvSpPr>
        <p:spPr>
          <a:xfrm>
            <a:off x="1936242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1" name="Example thread 6 included"/>
          <p:cNvSpPr/>
          <p:nvPr/>
        </p:nvSpPr>
        <p:spPr>
          <a:xfrm>
            <a:off x="2048256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6"/>
          <p:cNvSpPr/>
          <p:nvPr/>
        </p:nvSpPr>
        <p:spPr>
          <a:xfrm>
            <a:off x="2048256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3" name="Example thread 7 included"/>
          <p:cNvSpPr/>
          <p:nvPr/>
        </p:nvSpPr>
        <p:spPr>
          <a:xfrm>
            <a:off x="2160270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7"/>
          <p:cNvSpPr/>
          <p:nvPr/>
        </p:nvSpPr>
        <p:spPr>
          <a:xfrm>
            <a:off x="2160270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5" name="Example thread 8 included"/>
          <p:cNvSpPr/>
          <p:nvPr/>
        </p:nvSpPr>
        <p:spPr>
          <a:xfrm>
            <a:off x="2272284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8"/>
          <p:cNvSpPr/>
          <p:nvPr/>
        </p:nvSpPr>
        <p:spPr>
          <a:xfrm>
            <a:off x="2272284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37" name="Example thread 9 included"/>
          <p:cNvSpPr/>
          <p:nvPr/>
        </p:nvSpPr>
        <p:spPr>
          <a:xfrm>
            <a:off x="2384298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9"/>
          <p:cNvSpPr/>
          <p:nvPr/>
        </p:nvSpPr>
        <p:spPr>
          <a:xfrm>
            <a:off x="2384298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39" name="Example thread 10 included"/>
          <p:cNvSpPr/>
          <p:nvPr/>
        </p:nvSpPr>
        <p:spPr>
          <a:xfrm>
            <a:off x="2496312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10"/>
          <p:cNvSpPr/>
          <p:nvPr/>
        </p:nvSpPr>
        <p:spPr>
          <a:xfrm>
            <a:off x="2496312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1" name="Example thread 11 included"/>
          <p:cNvSpPr/>
          <p:nvPr/>
        </p:nvSpPr>
        <p:spPr>
          <a:xfrm>
            <a:off x="2608326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11"/>
          <p:cNvSpPr/>
          <p:nvPr/>
        </p:nvSpPr>
        <p:spPr>
          <a:xfrm>
            <a:off x="2608326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3" name="Example thread 12 included"/>
          <p:cNvSpPr/>
          <p:nvPr/>
        </p:nvSpPr>
        <p:spPr>
          <a:xfrm>
            <a:off x="2720340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12"/>
          <p:cNvSpPr/>
          <p:nvPr/>
        </p:nvSpPr>
        <p:spPr>
          <a:xfrm>
            <a:off x="2720340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5" name="Example thread 13 included"/>
          <p:cNvSpPr/>
          <p:nvPr/>
        </p:nvSpPr>
        <p:spPr>
          <a:xfrm>
            <a:off x="2832354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13"/>
          <p:cNvSpPr/>
          <p:nvPr/>
        </p:nvSpPr>
        <p:spPr>
          <a:xfrm>
            <a:off x="2832354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47" name="Example thread 14 included"/>
          <p:cNvSpPr/>
          <p:nvPr/>
        </p:nvSpPr>
        <p:spPr>
          <a:xfrm>
            <a:off x="2944368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14"/>
          <p:cNvSpPr/>
          <p:nvPr/>
        </p:nvSpPr>
        <p:spPr>
          <a:xfrm>
            <a:off x="2944368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49" name="Example thread 15 included"/>
          <p:cNvSpPr/>
          <p:nvPr/>
        </p:nvSpPr>
        <p:spPr>
          <a:xfrm>
            <a:off x="30563820" y="88011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15"/>
          <p:cNvSpPr/>
          <p:nvPr/>
        </p:nvSpPr>
        <p:spPr>
          <a:xfrm>
            <a:off x="30563820" y="88925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1" name="Example thread 16 included"/>
          <p:cNvSpPr/>
          <p:nvPr/>
        </p:nvSpPr>
        <p:spPr>
          <a:xfrm>
            <a:off x="1376172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16"/>
          <p:cNvSpPr/>
          <p:nvPr/>
        </p:nvSpPr>
        <p:spPr>
          <a:xfrm>
            <a:off x="1376172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3" name="Example thread 17 included"/>
          <p:cNvSpPr/>
          <p:nvPr/>
        </p:nvSpPr>
        <p:spPr>
          <a:xfrm>
            <a:off x="1488186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17"/>
          <p:cNvSpPr/>
          <p:nvPr/>
        </p:nvSpPr>
        <p:spPr>
          <a:xfrm>
            <a:off x="1488186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5" name="Example thread 18 included"/>
          <p:cNvSpPr/>
          <p:nvPr/>
        </p:nvSpPr>
        <p:spPr>
          <a:xfrm>
            <a:off x="1600200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18"/>
          <p:cNvSpPr/>
          <p:nvPr/>
        </p:nvSpPr>
        <p:spPr>
          <a:xfrm>
            <a:off x="1600200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57" name="Example thread 19 included"/>
          <p:cNvSpPr/>
          <p:nvPr/>
        </p:nvSpPr>
        <p:spPr>
          <a:xfrm>
            <a:off x="1712214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19"/>
          <p:cNvSpPr/>
          <p:nvPr/>
        </p:nvSpPr>
        <p:spPr>
          <a:xfrm>
            <a:off x="1712214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9" name="Example thread 20 included"/>
          <p:cNvSpPr/>
          <p:nvPr/>
        </p:nvSpPr>
        <p:spPr>
          <a:xfrm>
            <a:off x="1824228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20"/>
          <p:cNvSpPr/>
          <p:nvPr/>
        </p:nvSpPr>
        <p:spPr>
          <a:xfrm>
            <a:off x="1824228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1" name="Example thread 21 included"/>
          <p:cNvSpPr/>
          <p:nvPr/>
        </p:nvSpPr>
        <p:spPr>
          <a:xfrm>
            <a:off x="1936242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21"/>
          <p:cNvSpPr/>
          <p:nvPr/>
        </p:nvSpPr>
        <p:spPr>
          <a:xfrm>
            <a:off x="1936242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3" name="Example thread 22 included"/>
          <p:cNvSpPr/>
          <p:nvPr/>
        </p:nvSpPr>
        <p:spPr>
          <a:xfrm>
            <a:off x="2048256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22"/>
          <p:cNvSpPr/>
          <p:nvPr/>
        </p:nvSpPr>
        <p:spPr>
          <a:xfrm>
            <a:off x="2048256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5" name="Example thread 23 included"/>
          <p:cNvSpPr/>
          <p:nvPr/>
        </p:nvSpPr>
        <p:spPr>
          <a:xfrm>
            <a:off x="2160270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23"/>
          <p:cNvSpPr/>
          <p:nvPr/>
        </p:nvSpPr>
        <p:spPr>
          <a:xfrm>
            <a:off x="2160270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67" name="Example thread 24 included"/>
          <p:cNvSpPr/>
          <p:nvPr/>
        </p:nvSpPr>
        <p:spPr>
          <a:xfrm>
            <a:off x="2272284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24"/>
          <p:cNvSpPr/>
          <p:nvPr/>
        </p:nvSpPr>
        <p:spPr>
          <a:xfrm>
            <a:off x="2272284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69" name="Example thread 25 included"/>
          <p:cNvSpPr/>
          <p:nvPr/>
        </p:nvSpPr>
        <p:spPr>
          <a:xfrm>
            <a:off x="2384298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25"/>
          <p:cNvSpPr/>
          <p:nvPr/>
        </p:nvSpPr>
        <p:spPr>
          <a:xfrm>
            <a:off x="2384298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1" name="Example thread 26 included"/>
          <p:cNvSpPr/>
          <p:nvPr/>
        </p:nvSpPr>
        <p:spPr>
          <a:xfrm>
            <a:off x="2496312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26"/>
          <p:cNvSpPr/>
          <p:nvPr/>
        </p:nvSpPr>
        <p:spPr>
          <a:xfrm>
            <a:off x="2496312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3" name="Example thread 27 included"/>
          <p:cNvSpPr/>
          <p:nvPr/>
        </p:nvSpPr>
        <p:spPr>
          <a:xfrm>
            <a:off x="2608326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27"/>
          <p:cNvSpPr/>
          <p:nvPr/>
        </p:nvSpPr>
        <p:spPr>
          <a:xfrm>
            <a:off x="2608326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5" name="Example thread 28 included"/>
          <p:cNvSpPr/>
          <p:nvPr/>
        </p:nvSpPr>
        <p:spPr>
          <a:xfrm>
            <a:off x="2720340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28"/>
          <p:cNvSpPr/>
          <p:nvPr/>
        </p:nvSpPr>
        <p:spPr>
          <a:xfrm>
            <a:off x="2720340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77" name="Example thread 29 included"/>
          <p:cNvSpPr/>
          <p:nvPr/>
        </p:nvSpPr>
        <p:spPr>
          <a:xfrm>
            <a:off x="2832354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29"/>
          <p:cNvSpPr/>
          <p:nvPr/>
        </p:nvSpPr>
        <p:spPr>
          <a:xfrm>
            <a:off x="2832354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79" name="Example thread 30 included"/>
          <p:cNvSpPr/>
          <p:nvPr/>
        </p:nvSpPr>
        <p:spPr>
          <a:xfrm>
            <a:off x="2944368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30"/>
          <p:cNvSpPr/>
          <p:nvPr/>
        </p:nvSpPr>
        <p:spPr>
          <a:xfrm>
            <a:off x="2944368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1" name="Example thread 31 included"/>
          <p:cNvSpPr/>
          <p:nvPr/>
        </p:nvSpPr>
        <p:spPr>
          <a:xfrm>
            <a:off x="30563820" y="96926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31"/>
          <p:cNvSpPr/>
          <p:nvPr/>
        </p:nvSpPr>
        <p:spPr>
          <a:xfrm>
            <a:off x="30563820" y="97840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3" name="First mapping · select the first 20 threads"/>
          <p:cNvSpPr/>
          <p:nvPr/>
        </p:nvSpPr>
        <p:spPr>
          <a:xfrm>
            <a:off x="13235940" y="1179576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First mapping · select the first 20 threads</a:t>
            </a:r>
          </a:p>
        </p:txBody>
      </p:sp>
      <p:sp>
        <p:nvSpPr>
          <p:cNvPr id="84" name="Example warp: 32 threads"/>
          <p:cNvSpPr/>
          <p:nvPr/>
        </p:nvSpPr>
        <p:spPr>
          <a:xfrm>
            <a:off x="13373100" y="1248156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5" name="Partition 0, row 0, threads 0,1,2,3,4,5,6,7,8,9,10,11,12,13,14,15"/>
          <p:cNvSpPr/>
          <p:nvPr/>
        </p:nvSpPr>
        <p:spPr>
          <a:xfrm>
            <a:off x="13624560" y="12573000"/>
            <a:ext cx="175793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6" name="Partition 0, row 1, threads 16,17,18,19"/>
          <p:cNvSpPr/>
          <p:nvPr/>
        </p:nvSpPr>
        <p:spPr>
          <a:xfrm>
            <a:off x="13624560" y="13464540"/>
            <a:ext cx="413766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7" name="Example thread 0 included"/>
          <p:cNvSpPr/>
          <p:nvPr/>
        </p:nvSpPr>
        <p:spPr>
          <a:xfrm>
            <a:off x="1376172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0"/>
          <p:cNvSpPr/>
          <p:nvPr/>
        </p:nvSpPr>
        <p:spPr>
          <a:xfrm>
            <a:off x="1376172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89" name="Example thread 1 included"/>
          <p:cNvSpPr/>
          <p:nvPr/>
        </p:nvSpPr>
        <p:spPr>
          <a:xfrm>
            <a:off x="1488186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1"/>
          <p:cNvSpPr/>
          <p:nvPr/>
        </p:nvSpPr>
        <p:spPr>
          <a:xfrm>
            <a:off x="1488186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1" name="Example thread 2 included"/>
          <p:cNvSpPr/>
          <p:nvPr/>
        </p:nvSpPr>
        <p:spPr>
          <a:xfrm>
            <a:off x="1600200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2"/>
          <p:cNvSpPr/>
          <p:nvPr/>
        </p:nvSpPr>
        <p:spPr>
          <a:xfrm>
            <a:off x="1600200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3" name="Example thread 3 included"/>
          <p:cNvSpPr/>
          <p:nvPr/>
        </p:nvSpPr>
        <p:spPr>
          <a:xfrm>
            <a:off x="1712214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3"/>
          <p:cNvSpPr/>
          <p:nvPr/>
        </p:nvSpPr>
        <p:spPr>
          <a:xfrm>
            <a:off x="1712214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5" name="Example thread 4 included"/>
          <p:cNvSpPr/>
          <p:nvPr/>
        </p:nvSpPr>
        <p:spPr>
          <a:xfrm>
            <a:off x="1824228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4"/>
          <p:cNvSpPr/>
          <p:nvPr/>
        </p:nvSpPr>
        <p:spPr>
          <a:xfrm>
            <a:off x="1824228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7" name="Example thread 5 included"/>
          <p:cNvSpPr/>
          <p:nvPr/>
        </p:nvSpPr>
        <p:spPr>
          <a:xfrm>
            <a:off x="1936242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5"/>
          <p:cNvSpPr/>
          <p:nvPr/>
        </p:nvSpPr>
        <p:spPr>
          <a:xfrm>
            <a:off x="1936242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99" name="Example thread 6 included"/>
          <p:cNvSpPr/>
          <p:nvPr/>
        </p:nvSpPr>
        <p:spPr>
          <a:xfrm>
            <a:off x="2048256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6"/>
          <p:cNvSpPr/>
          <p:nvPr/>
        </p:nvSpPr>
        <p:spPr>
          <a:xfrm>
            <a:off x="2048256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1" name="Example thread 7 included"/>
          <p:cNvSpPr/>
          <p:nvPr/>
        </p:nvSpPr>
        <p:spPr>
          <a:xfrm>
            <a:off x="2160270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7"/>
          <p:cNvSpPr/>
          <p:nvPr/>
        </p:nvSpPr>
        <p:spPr>
          <a:xfrm>
            <a:off x="2160270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3" name="Example thread 8 included"/>
          <p:cNvSpPr/>
          <p:nvPr/>
        </p:nvSpPr>
        <p:spPr>
          <a:xfrm>
            <a:off x="2272284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8"/>
          <p:cNvSpPr/>
          <p:nvPr/>
        </p:nvSpPr>
        <p:spPr>
          <a:xfrm>
            <a:off x="2272284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5" name="Example thread 9 included"/>
          <p:cNvSpPr/>
          <p:nvPr/>
        </p:nvSpPr>
        <p:spPr>
          <a:xfrm>
            <a:off x="2384298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9"/>
          <p:cNvSpPr/>
          <p:nvPr/>
        </p:nvSpPr>
        <p:spPr>
          <a:xfrm>
            <a:off x="2384298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7" name="Example thread 10 included"/>
          <p:cNvSpPr/>
          <p:nvPr/>
        </p:nvSpPr>
        <p:spPr>
          <a:xfrm>
            <a:off x="2496312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10"/>
          <p:cNvSpPr/>
          <p:nvPr/>
        </p:nvSpPr>
        <p:spPr>
          <a:xfrm>
            <a:off x="2496312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09" name="Example thread 11 included"/>
          <p:cNvSpPr/>
          <p:nvPr/>
        </p:nvSpPr>
        <p:spPr>
          <a:xfrm>
            <a:off x="2608326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1"/>
          <p:cNvSpPr/>
          <p:nvPr/>
        </p:nvSpPr>
        <p:spPr>
          <a:xfrm>
            <a:off x="2608326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1" name="Example thread 12 included"/>
          <p:cNvSpPr/>
          <p:nvPr/>
        </p:nvSpPr>
        <p:spPr>
          <a:xfrm>
            <a:off x="2720340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2"/>
          <p:cNvSpPr/>
          <p:nvPr/>
        </p:nvSpPr>
        <p:spPr>
          <a:xfrm>
            <a:off x="2720340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3" name="Example thread 13 included"/>
          <p:cNvSpPr/>
          <p:nvPr/>
        </p:nvSpPr>
        <p:spPr>
          <a:xfrm>
            <a:off x="2832354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3"/>
          <p:cNvSpPr/>
          <p:nvPr/>
        </p:nvSpPr>
        <p:spPr>
          <a:xfrm>
            <a:off x="2832354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5" name="Example thread 14 included"/>
          <p:cNvSpPr/>
          <p:nvPr/>
        </p:nvSpPr>
        <p:spPr>
          <a:xfrm>
            <a:off x="2944368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4"/>
          <p:cNvSpPr/>
          <p:nvPr/>
        </p:nvSpPr>
        <p:spPr>
          <a:xfrm>
            <a:off x="2944368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7" name="Example thread 15 included"/>
          <p:cNvSpPr/>
          <p:nvPr/>
        </p:nvSpPr>
        <p:spPr>
          <a:xfrm>
            <a:off x="30563820" y="126873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5"/>
          <p:cNvSpPr/>
          <p:nvPr/>
        </p:nvSpPr>
        <p:spPr>
          <a:xfrm>
            <a:off x="30563820" y="127787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19" name="Example thread 16 included"/>
          <p:cNvSpPr/>
          <p:nvPr/>
        </p:nvSpPr>
        <p:spPr>
          <a:xfrm>
            <a:off x="13761720" y="135788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6"/>
          <p:cNvSpPr/>
          <p:nvPr/>
        </p:nvSpPr>
        <p:spPr>
          <a:xfrm>
            <a:off x="1376172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1" name="Example thread 17 included"/>
          <p:cNvSpPr/>
          <p:nvPr/>
        </p:nvSpPr>
        <p:spPr>
          <a:xfrm>
            <a:off x="14881860" y="135788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7"/>
          <p:cNvSpPr/>
          <p:nvPr/>
        </p:nvSpPr>
        <p:spPr>
          <a:xfrm>
            <a:off x="1488186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3" name="Example thread 18 included"/>
          <p:cNvSpPr/>
          <p:nvPr/>
        </p:nvSpPr>
        <p:spPr>
          <a:xfrm>
            <a:off x="16002000" y="135788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8"/>
          <p:cNvSpPr/>
          <p:nvPr/>
        </p:nvSpPr>
        <p:spPr>
          <a:xfrm>
            <a:off x="1600200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5" name="Example thread 19 included"/>
          <p:cNvSpPr/>
          <p:nvPr/>
        </p:nvSpPr>
        <p:spPr>
          <a:xfrm>
            <a:off x="17122140" y="135788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9"/>
          <p:cNvSpPr/>
          <p:nvPr/>
        </p:nvSpPr>
        <p:spPr>
          <a:xfrm>
            <a:off x="1712214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7" name="Example thread 20 excluded"/>
          <p:cNvSpPr/>
          <p:nvPr/>
        </p:nvSpPr>
        <p:spPr>
          <a:xfrm>
            <a:off x="1824228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8" name="20"/>
          <p:cNvSpPr/>
          <p:nvPr/>
        </p:nvSpPr>
        <p:spPr>
          <a:xfrm>
            <a:off x="1824228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29" name="Example thread 21 excluded"/>
          <p:cNvSpPr/>
          <p:nvPr/>
        </p:nvSpPr>
        <p:spPr>
          <a:xfrm>
            <a:off x="1936242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1"/>
          <p:cNvSpPr/>
          <p:nvPr/>
        </p:nvSpPr>
        <p:spPr>
          <a:xfrm>
            <a:off x="1936242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1" name="Example thread 22 excluded"/>
          <p:cNvSpPr/>
          <p:nvPr/>
        </p:nvSpPr>
        <p:spPr>
          <a:xfrm>
            <a:off x="2048256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2"/>
          <p:cNvSpPr/>
          <p:nvPr/>
        </p:nvSpPr>
        <p:spPr>
          <a:xfrm>
            <a:off x="2048256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3" name="Example thread 23 excluded"/>
          <p:cNvSpPr/>
          <p:nvPr/>
        </p:nvSpPr>
        <p:spPr>
          <a:xfrm>
            <a:off x="2160270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3"/>
          <p:cNvSpPr/>
          <p:nvPr/>
        </p:nvSpPr>
        <p:spPr>
          <a:xfrm>
            <a:off x="2160270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5" name="Example thread 24 excluded"/>
          <p:cNvSpPr/>
          <p:nvPr/>
        </p:nvSpPr>
        <p:spPr>
          <a:xfrm>
            <a:off x="2272284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4"/>
          <p:cNvSpPr/>
          <p:nvPr/>
        </p:nvSpPr>
        <p:spPr>
          <a:xfrm>
            <a:off x="2272284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7" name="Example thread 25 excluded"/>
          <p:cNvSpPr/>
          <p:nvPr/>
        </p:nvSpPr>
        <p:spPr>
          <a:xfrm>
            <a:off x="2384298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5"/>
          <p:cNvSpPr/>
          <p:nvPr/>
        </p:nvSpPr>
        <p:spPr>
          <a:xfrm>
            <a:off x="2384298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39" name="Example thread 26 excluded"/>
          <p:cNvSpPr/>
          <p:nvPr/>
        </p:nvSpPr>
        <p:spPr>
          <a:xfrm>
            <a:off x="2496312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6"/>
          <p:cNvSpPr/>
          <p:nvPr/>
        </p:nvSpPr>
        <p:spPr>
          <a:xfrm>
            <a:off x="2496312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1" name="Example thread 27 excluded"/>
          <p:cNvSpPr/>
          <p:nvPr/>
        </p:nvSpPr>
        <p:spPr>
          <a:xfrm>
            <a:off x="2608326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7"/>
          <p:cNvSpPr/>
          <p:nvPr/>
        </p:nvSpPr>
        <p:spPr>
          <a:xfrm>
            <a:off x="2608326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3" name="Example thread 28 excluded"/>
          <p:cNvSpPr/>
          <p:nvPr/>
        </p:nvSpPr>
        <p:spPr>
          <a:xfrm>
            <a:off x="2720340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8"/>
          <p:cNvSpPr/>
          <p:nvPr/>
        </p:nvSpPr>
        <p:spPr>
          <a:xfrm>
            <a:off x="2720340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5" name="Example thread 29 excluded"/>
          <p:cNvSpPr/>
          <p:nvPr/>
        </p:nvSpPr>
        <p:spPr>
          <a:xfrm>
            <a:off x="2832354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9"/>
          <p:cNvSpPr/>
          <p:nvPr/>
        </p:nvSpPr>
        <p:spPr>
          <a:xfrm>
            <a:off x="2832354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7" name="Example thread 30 excluded"/>
          <p:cNvSpPr/>
          <p:nvPr/>
        </p:nvSpPr>
        <p:spPr>
          <a:xfrm>
            <a:off x="2944368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30"/>
          <p:cNvSpPr/>
          <p:nvPr/>
        </p:nvSpPr>
        <p:spPr>
          <a:xfrm>
            <a:off x="2944368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49" name="Example thread 31 excluded"/>
          <p:cNvSpPr/>
          <p:nvPr/>
        </p:nvSpPr>
        <p:spPr>
          <a:xfrm>
            <a:off x="30563820" y="135788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1"/>
          <p:cNvSpPr/>
          <p:nvPr/>
        </p:nvSpPr>
        <p:spPr>
          <a:xfrm>
            <a:off x="30563820" y="136702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1" name="Second mapping · form four groups of 5"/>
          <p:cNvSpPr/>
          <p:nvPr/>
        </p:nvSpPr>
        <p:spPr>
          <a:xfrm>
            <a:off x="13235940" y="15681960"/>
            <a:ext cx="2091690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1">
                <a:solidFill>
                  <a:schemeClr val="dk1"/>
                </a:solidFill>
                <a:latin typeface="NVIDIA Sans Medium"/>
              </a:rPr>
              <a:t xml:space="preserve">Second mapping · form four groups of 5</a:t>
            </a:r>
          </a:p>
        </p:txBody>
      </p:sp>
      <p:sp>
        <p:nvSpPr>
          <p:cNvPr id="152" name="Example warp: 32 threads"/>
          <p:cNvSpPr/>
          <p:nvPr/>
        </p:nvSpPr>
        <p:spPr>
          <a:xfrm>
            <a:off x="13373100" y="16367760"/>
            <a:ext cx="18013680" cy="20345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3" name="Partition 0, row 0, threads 0,1,2,3,4"/>
          <p:cNvSpPr/>
          <p:nvPr/>
        </p:nvSpPr>
        <p:spPr>
          <a:xfrm>
            <a:off x="13624560" y="16459200"/>
            <a:ext cx="525780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54" name="Partition 1, row 0, threads 5,6,7,8,9"/>
          <p:cNvSpPr/>
          <p:nvPr/>
        </p:nvSpPr>
        <p:spPr>
          <a:xfrm>
            <a:off x="19225260" y="16459200"/>
            <a:ext cx="525780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55" name="Partition 2, row 0, threads 10,11,12,13,14"/>
          <p:cNvSpPr/>
          <p:nvPr/>
        </p:nvSpPr>
        <p:spPr>
          <a:xfrm>
            <a:off x="24825960" y="16459200"/>
            <a:ext cx="525780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56" name="Partition 3, row 0, threads 15"/>
          <p:cNvSpPr/>
          <p:nvPr/>
        </p:nvSpPr>
        <p:spPr>
          <a:xfrm>
            <a:off x="30426660" y="16459200"/>
            <a:ext cx="77724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7" name="Partition 3, row 1, threads 16,17,18,19"/>
          <p:cNvSpPr/>
          <p:nvPr/>
        </p:nvSpPr>
        <p:spPr>
          <a:xfrm>
            <a:off x="13624560" y="17350740"/>
            <a:ext cx="4137660" cy="7315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8" name="Example thread 0 included"/>
          <p:cNvSpPr/>
          <p:nvPr/>
        </p:nvSpPr>
        <p:spPr>
          <a:xfrm>
            <a:off x="1376172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0"/>
          <p:cNvSpPr/>
          <p:nvPr/>
        </p:nvSpPr>
        <p:spPr>
          <a:xfrm>
            <a:off x="1376172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60" name="Example thread 1 included"/>
          <p:cNvSpPr/>
          <p:nvPr/>
        </p:nvSpPr>
        <p:spPr>
          <a:xfrm>
            <a:off x="1488186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1"/>
          <p:cNvSpPr/>
          <p:nvPr/>
        </p:nvSpPr>
        <p:spPr>
          <a:xfrm>
            <a:off x="1488186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62" name="Example thread 2 included"/>
          <p:cNvSpPr/>
          <p:nvPr/>
        </p:nvSpPr>
        <p:spPr>
          <a:xfrm>
            <a:off x="1600200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2"/>
          <p:cNvSpPr/>
          <p:nvPr/>
        </p:nvSpPr>
        <p:spPr>
          <a:xfrm>
            <a:off x="1600200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64" name="Example thread 3 included"/>
          <p:cNvSpPr/>
          <p:nvPr/>
        </p:nvSpPr>
        <p:spPr>
          <a:xfrm>
            <a:off x="1712214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3"/>
          <p:cNvSpPr/>
          <p:nvPr/>
        </p:nvSpPr>
        <p:spPr>
          <a:xfrm>
            <a:off x="1712214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66" name="Example thread 4 included"/>
          <p:cNvSpPr/>
          <p:nvPr/>
        </p:nvSpPr>
        <p:spPr>
          <a:xfrm>
            <a:off x="1824228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4"/>
          <p:cNvSpPr/>
          <p:nvPr/>
        </p:nvSpPr>
        <p:spPr>
          <a:xfrm>
            <a:off x="1824228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68" name="Example thread 5 included"/>
          <p:cNvSpPr/>
          <p:nvPr/>
        </p:nvSpPr>
        <p:spPr>
          <a:xfrm>
            <a:off x="1936242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5"/>
          <p:cNvSpPr/>
          <p:nvPr/>
        </p:nvSpPr>
        <p:spPr>
          <a:xfrm>
            <a:off x="1936242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70" name="Example thread 6 included"/>
          <p:cNvSpPr/>
          <p:nvPr/>
        </p:nvSpPr>
        <p:spPr>
          <a:xfrm>
            <a:off x="2048256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6"/>
          <p:cNvSpPr/>
          <p:nvPr/>
        </p:nvSpPr>
        <p:spPr>
          <a:xfrm>
            <a:off x="2048256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72" name="Example thread 7 included"/>
          <p:cNvSpPr/>
          <p:nvPr/>
        </p:nvSpPr>
        <p:spPr>
          <a:xfrm>
            <a:off x="2160270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7"/>
          <p:cNvSpPr/>
          <p:nvPr/>
        </p:nvSpPr>
        <p:spPr>
          <a:xfrm>
            <a:off x="2160270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74" name="Example thread 8 included"/>
          <p:cNvSpPr/>
          <p:nvPr/>
        </p:nvSpPr>
        <p:spPr>
          <a:xfrm>
            <a:off x="2272284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8"/>
          <p:cNvSpPr/>
          <p:nvPr/>
        </p:nvSpPr>
        <p:spPr>
          <a:xfrm>
            <a:off x="2272284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76" name="Example thread 9 included"/>
          <p:cNvSpPr/>
          <p:nvPr/>
        </p:nvSpPr>
        <p:spPr>
          <a:xfrm>
            <a:off x="2384298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9"/>
          <p:cNvSpPr/>
          <p:nvPr/>
        </p:nvSpPr>
        <p:spPr>
          <a:xfrm>
            <a:off x="2384298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78" name="Example thread 10 included"/>
          <p:cNvSpPr/>
          <p:nvPr/>
        </p:nvSpPr>
        <p:spPr>
          <a:xfrm>
            <a:off x="2496312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10"/>
          <p:cNvSpPr/>
          <p:nvPr/>
        </p:nvSpPr>
        <p:spPr>
          <a:xfrm>
            <a:off x="2496312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80" name="Example thread 11 included"/>
          <p:cNvSpPr/>
          <p:nvPr/>
        </p:nvSpPr>
        <p:spPr>
          <a:xfrm>
            <a:off x="2608326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11"/>
          <p:cNvSpPr/>
          <p:nvPr/>
        </p:nvSpPr>
        <p:spPr>
          <a:xfrm>
            <a:off x="2608326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82" name="Example thread 12 included"/>
          <p:cNvSpPr/>
          <p:nvPr/>
        </p:nvSpPr>
        <p:spPr>
          <a:xfrm>
            <a:off x="2720340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12"/>
          <p:cNvSpPr/>
          <p:nvPr/>
        </p:nvSpPr>
        <p:spPr>
          <a:xfrm>
            <a:off x="2720340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84" name="Example thread 13 included"/>
          <p:cNvSpPr/>
          <p:nvPr/>
        </p:nvSpPr>
        <p:spPr>
          <a:xfrm>
            <a:off x="2832354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13"/>
          <p:cNvSpPr/>
          <p:nvPr/>
        </p:nvSpPr>
        <p:spPr>
          <a:xfrm>
            <a:off x="2832354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86" name="Example thread 14 included"/>
          <p:cNvSpPr/>
          <p:nvPr/>
        </p:nvSpPr>
        <p:spPr>
          <a:xfrm>
            <a:off x="2944368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14"/>
          <p:cNvSpPr/>
          <p:nvPr/>
        </p:nvSpPr>
        <p:spPr>
          <a:xfrm>
            <a:off x="2944368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88" name="Example thread 15 included"/>
          <p:cNvSpPr/>
          <p:nvPr/>
        </p:nvSpPr>
        <p:spPr>
          <a:xfrm>
            <a:off x="30563820" y="1657350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15"/>
          <p:cNvSpPr/>
          <p:nvPr/>
        </p:nvSpPr>
        <p:spPr>
          <a:xfrm>
            <a:off x="30563820" y="1666494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90" name="Example thread 16 included"/>
          <p:cNvSpPr/>
          <p:nvPr/>
        </p:nvSpPr>
        <p:spPr>
          <a:xfrm>
            <a:off x="13761720" y="174650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16"/>
          <p:cNvSpPr/>
          <p:nvPr/>
        </p:nvSpPr>
        <p:spPr>
          <a:xfrm>
            <a:off x="1376172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92" name="Example thread 17 included"/>
          <p:cNvSpPr/>
          <p:nvPr/>
        </p:nvSpPr>
        <p:spPr>
          <a:xfrm>
            <a:off x="14881860" y="174650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17"/>
          <p:cNvSpPr/>
          <p:nvPr/>
        </p:nvSpPr>
        <p:spPr>
          <a:xfrm>
            <a:off x="1488186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94" name="Example thread 18 included"/>
          <p:cNvSpPr/>
          <p:nvPr/>
        </p:nvSpPr>
        <p:spPr>
          <a:xfrm>
            <a:off x="16002000" y="174650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18"/>
          <p:cNvSpPr/>
          <p:nvPr/>
        </p:nvSpPr>
        <p:spPr>
          <a:xfrm>
            <a:off x="1600200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96" name="Example thread 19 included"/>
          <p:cNvSpPr/>
          <p:nvPr/>
        </p:nvSpPr>
        <p:spPr>
          <a:xfrm>
            <a:off x="17122140" y="17465040"/>
            <a:ext cx="502920" cy="50292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19"/>
          <p:cNvSpPr/>
          <p:nvPr/>
        </p:nvSpPr>
        <p:spPr>
          <a:xfrm>
            <a:off x="1712214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98" name="Example thread 20 excluded"/>
          <p:cNvSpPr/>
          <p:nvPr/>
        </p:nvSpPr>
        <p:spPr>
          <a:xfrm>
            <a:off x="1824228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99" name="20"/>
          <p:cNvSpPr/>
          <p:nvPr/>
        </p:nvSpPr>
        <p:spPr>
          <a:xfrm>
            <a:off x="1824228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200" name="Example thread 21 excluded"/>
          <p:cNvSpPr/>
          <p:nvPr/>
        </p:nvSpPr>
        <p:spPr>
          <a:xfrm>
            <a:off x="1936242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1" name="21"/>
          <p:cNvSpPr/>
          <p:nvPr/>
        </p:nvSpPr>
        <p:spPr>
          <a:xfrm>
            <a:off x="1936242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202" name="Example thread 22 excluded"/>
          <p:cNvSpPr/>
          <p:nvPr/>
        </p:nvSpPr>
        <p:spPr>
          <a:xfrm>
            <a:off x="2048256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3" name="22"/>
          <p:cNvSpPr/>
          <p:nvPr/>
        </p:nvSpPr>
        <p:spPr>
          <a:xfrm>
            <a:off x="2048256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204" name="Example thread 23 excluded"/>
          <p:cNvSpPr/>
          <p:nvPr/>
        </p:nvSpPr>
        <p:spPr>
          <a:xfrm>
            <a:off x="2160270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5" name="23"/>
          <p:cNvSpPr/>
          <p:nvPr/>
        </p:nvSpPr>
        <p:spPr>
          <a:xfrm>
            <a:off x="2160270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206" name="Example thread 24 excluded"/>
          <p:cNvSpPr/>
          <p:nvPr/>
        </p:nvSpPr>
        <p:spPr>
          <a:xfrm>
            <a:off x="2272284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7" name="24"/>
          <p:cNvSpPr/>
          <p:nvPr/>
        </p:nvSpPr>
        <p:spPr>
          <a:xfrm>
            <a:off x="2272284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208" name="Example thread 25 excluded"/>
          <p:cNvSpPr/>
          <p:nvPr/>
        </p:nvSpPr>
        <p:spPr>
          <a:xfrm>
            <a:off x="2384298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9" name="25"/>
          <p:cNvSpPr/>
          <p:nvPr/>
        </p:nvSpPr>
        <p:spPr>
          <a:xfrm>
            <a:off x="2384298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210" name="Example thread 26 excluded"/>
          <p:cNvSpPr/>
          <p:nvPr/>
        </p:nvSpPr>
        <p:spPr>
          <a:xfrm>
            <a:off x="2496312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1" name="26"/>
          <p:cNvSpPr/>
          <p:nvPr/>
        </p:nvSpPr>
        <p:spPr>
          <a:xfrm>
            <a:off x="2496312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212" name="Example thread 27 excluded"/>
          <p:cNvSpPr/>
          <p:nvPr/>
        </p:nvSpPr>
        <p:spPr>
          <a:xfrm>
            <a:off x="2608326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3" name="27"/>
          <p:cNvSpPr/>
          <p:nvPr/>
        </p:nvSpPr>
        <p:spPr>
          <a:xfrm>
            <a:off x="2608326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214" name="Example thread 28 excluded"/>
          <p:cNvSpPr/>
          <p:nvPr/>
        </p:nvSpPr>
        <p:spPr>
          <a:xfrm>
            <a:off x="2720340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5" name="28"/>
          <p:cNvSpPr/>
          <p:nvPr/>
        </p:nvSpPr>
        <p:spPr>
          <a:xfrm>
            <a:off x="2720340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216" name="Example thread 29 excluded"/>
          <p:cNvSpPr/>
          <p:nvPr/>
        </p:nvSpPr>
        <p:spPr>
          <a:xfrm>
            <a:off x="2832354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7" name="29"/>
          <p:cNvSpPr/>
          <p:nvPr/>
        </p:nvSpPr>
        <p:spPr>
          <a:xfrm>
            <a:off x="2832354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218" name="Example thread 30 excluded"/>
          <p:cNvSpPr/>
          <p:nvPr/>
        </p:nvSpPr>
        <p:spPr>
          <a:xfrm>
            <a:off x="2944368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9" name="30"/>
          <p:cNvSpPr/>
          <p:nvPr/>
        </p:nvSpPr>
        <p:spPr>
          <a:xfrm>
            <a:off x="2944368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220" name="Example thread 31 excluded"/>
          <p:cNvSpPr/>
          <p:nvPr/>
        </p:nvSpPr>
        <p:spPr>
          <a:xfrm>
            <a:off x="30563820" y="17465040"/>
            <a:ext cx="502920" cy="502920"/>
          </a:xfrm>
          <a:prstGeom prst="ellipse">
            <a:avLst/>
          </a:prstGeom>
          <a:solidFill>
            <a:schemeClr val="dk1">
              <a:tint val="10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1" name="31"/>
          <p:cNvSpPr/>
          <p:nvPr/>
        </p:nvSpPr>
        <p:spPr>
          <a:xfrm>
            <a:off x="30563820" y="17556480"/>
            <a:ext cx="50292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222" name="Shape"/>
          <p:cNvSpPr/>
          <p:nvPr/>
        </p:nvSpPr>
        <p:spPr>
          <a:xfrm>
            <a:off x="32232600" y="11064240"/>
            <a:ext cx="64008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23" name="Shape"/>
          <p:cNvSpPr/>
          <p:nvPr/>
        </p:nvSpPr>
        <p:spPr>
          <a:xfrm>
            <a:off x="32232600" y="14950440"/>
            <a:ext cx="64008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24" name="Thread positions stay fixed · Border colors identify groups · Gra"/>
          <p:cNvSpPr/>
          <p:nvPr/>
        </p:nvSpPr>
        <p:spPr>
          <a:xfrm>
            <a:off x="13235940" y="19179540"/>
            <a:ext cx="21259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positions stay fixed · Border colors identify groups · Gray: excluded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 name="Group Synchroniz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Synchronizers</a:t>
            </a:r>
          </a:p>
        </p:txBody>
      </p:sp>
      <p:sp>
        <p:nvSpPr>
          <p:cNvPr id="3" name="Create the synchronization mechanism for each subgroup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Create the synchronization mechanism for each subgroup</a:t>
            </a:r>
          </a:p>
        </p:txBody>
      </p:sp>
      <p:sp>
        <p:nvSpPr>
          <p:cNvPr id="4" name="3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5" name="Determines how the subgroups are synchronized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5040" b="0">
                <a:solidFill>
                  <a:schemeClr val="dk1"/>
                </a:solidFill>
                <a:latin typeface="NVIDIA Sans"/>
              </a:rPr>
              <a:t xml:space="preserve">Determines how the subgroups are synchronized</a:t>
            </a:r>
          </a:p>
        </p:txBody>
      </p:sp>
      <p:sp>
        <p:nvSpPr>
          <p:cNvPr id="6" name="Needs to implement the `make_instance` method that returns the `/"/>
          <p:cNvSpPr/>
          <p:nvPr/>
        </p:nvSpPr>
        <p:spPr>
          <a:xfrm>
            <a:off x="1874520" y="6286500"/>
            <a:ext cx="32346900" cy="16230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returns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/*group-synchronizer-instance*/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8526780"/>
            <a:ext cx="32918400" cy="8001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9098280"/>
            <a:ext cx="31912560" cy="66751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&lt;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T,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Unit,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ParentGroup,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MappingResult&gt;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/*group-synchronizer*/ =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(T&amp; t,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Unit&amp; unit,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ParentGroup&amp; parent_group,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MappingResult&amp; mapping_result)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{ t.make_instance(unit, parent_group, mapping_result) 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-&gt; /*group-synchronizer-instance*/&lt;MappingResult,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ParentGroup::hierarchy_type&gt;;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 name="Predefined Group Synchronizers — level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5" name="Current synchronizer"/>
          <p:cNvSpPr/>
          <p:nvPr/>
        </p:nvSpPr>
        <p:spPr>
          <a:xfrm>
            <a:off x="1828800" y="530352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30352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level_synchronizer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Synchronizes all threads within the group's level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Synchronizes all threads within the group's level.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1645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level_synchronizer s{};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Level" descr="Supplemental synchronizer detail from repository docs and headers"/>
          <p:cNvSpPr/>
          <p:nvPr/>
        </p:nvSpPr>
        <p:spPr>
          <a:xfrm>
            <a:off x="13235940" y="11269980"/>
            <a:ext cx="36576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Level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7259300" y="11269980"/>
            <a:ext cx="7543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5374600" y="11269980"/>
            <a:ext cx="89154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hape"/>
          <p:cNvSpPr/>
          <p:nvPr/>
        </p:nvSpPr>
        <p:spPr>
          <a:xfrm>
            <a:off x="13235940" y="12115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Thread" descr="Supplemental synchronizer detail from repository docs and headers"/>
          <p:cNvSpPr/>
          <p:nvPr/>
        </p:nvSpPr>
        <p:spPr>
          <a:xfrm>
            <a:off x="13235940" y="122986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Thread</a:t>
            </a:r>
          </a:p>
        </p:txBody>
      </p:sp>
      <p:sp>
        <p:nvSpPr>
          <p:cNvPr id="21" name="No operation" descr="Supplemental synchronizer detail from repository docs and headers"/>
          <p:cNvSpPr/>
          <p:nvPr/>
        </p:nvSpPr>
        <p:spPr>
          <a:xfrm>
            <a:off x="17259300" y="122986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2" name="No operation" descr="Supplemental synchronizer detail from repository docs and headers"/>
          <p:cNvSpPr/>
          <p:nvPr/>
        </p:nvSpPr>
        <p:spPr>
          <a:xfrm>
            <a:off x="25374600" y="122986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3" name="Shape"/>
          <p:cNvSpPr/>
          <p:nvPr/>
        </p:nvSpPr>
        <p:spPr>
          <a:xfrm>
            <a:off x="13235940" y="13258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4" name="Warp" descr="Supplemental synchronizer detail from repository docs and headers"/>
          <p:cNvSpPr/>
          <p:nvPr/>
        </p:nvSpPr>
        <p:spPr>
          <a:xfrm>
            <a:off x="13235940" y="134416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Warp</a:t>
            </a:r>
          </a:p>
        </p:txBody>
      </p:sp>
      <p:sp>
        <p:nvSpPr>
          <p:cNvPr id="25" name="`__syncwarp()`" descr="Supplemental synchronizer detail from repository docs and headers"/>
          <p:cNvSpPr/>
          <p:nvPr/>
        </p:nvSpPr>
        <p:spPr>
          <a:xfrm>
            <a:off x="17259300" y="134416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6" name="`__syncwarp()`" descr="Supplemental synchronizer detail from repository docs and headers"/>
          <p:cNvSpPr/>
          <p:nvPr/>
        </p:nvSpPr>
        <p:spPr>
          <a:xfrm>
            <a:off x="25374600" y="134416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7" name="Shap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8" name="Block" descr="Supplemental synchronizer detail from repository docs and headers"/>
          <p:cNvSpPr/>
          <p:nvPr/>
        </p:nvSpPr>
        <p:spPr>
          <a:xfrm>
            <a:off x="13235940" y="145846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Block</a:t>
            </a:r>
          </a:p>
        </p:txBody>
      </p:sp>
      <p:sp>
        <p:nvSpPr>
          <p:cNvPr id="29" name="`__barrier_sync(0)`" descr="Supplemental synchronizer detail from repository docs and headers"/>
          <p:cNvSpPr/>
          <p:nvPr/>
        </p:nvSpPr>
        <p:spPr>
          <a:xfrm>
            <a:off x="17259300" y="145846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__barrier_sync(0)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0" name="`__syncthreads()`" descr="Supplemental synchronizer detail from repository docs and headers"/>
          <p:cNvSpPr/>
          <p:nvPr/>
        </p:nvSpPr>
        <p:spPr>
          <a:xfrm>
            <a:off x="25374600" y="145846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__syncthreads()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Shape"/>
          <p:cNvSpPr/>
          <p:nvPr/>
        </p:nvSpPr>
        <p:spPr>
          <a:xfrm>
            <a:off x="13235940" y="15544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2" name="Cluster" descr="Supplemental synchronizer detail from repository docs and headers"/>
          <p:cNvSpPr/>
          <p:nvPr/>
        </p:nvSpPr>
        <p:spPr>
          <a:xfrm>
            <a:off x="13235940" y="157276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Cluster</a:t>
            </a:r>
          </a:p>
        </p:txBody>
      </p:sp>
      <p:sp>
        <p:nvSpPr>
          <p:cNvPr id="33" name="Cluster arrive + wait" descr="Supplemental synchronizer detail from repository docs and headers"/>
          <p:cNvSpPr/>
          <p:nvPr/>
        </p:nvSpPr>
        <p:spPr>
          <a:xfrm>
            <a:off x="17259300" y="157276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 arrive + wait</a:t>
            </a:r>
          </a:p>
        </p:txBody>
      </p:sp>
      <p:sp>
        <p:nvSpPr>
          <p:cNvPr id="34" name="Aligned arrive + wait" descr="Supplemental synchronizer detail from repository docs and headers"/>
          <p:cNvSpPr/>
          <p:nvPr/>
        </p:nvSpPr>
        <p:spPr>
          <a:xfrm>
            <a:off x="25374600" y="157276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Aligned arrive + wait</a:t>
            </a:r>
          </a:p>
        </p:txBody>
      </p:sp>
      <p:sp>
        <p:nvSpPr>
          <p:cNvPr id="35" name="Shape"/>
          <p:cNvSpPr/>
          <p:nvPr/>
        </p:nvSpPr>
        <p:spPr>
          <a:xfrm>
            <a:off x="13235940" y="16687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6" name="Grid" descr="Supplemental synchronizer detail from repository docs and headers"/>
          <p:cNvSpPr/>
          <p:nvPr/>
        </p:nvSpPr>
        <p:spPr>
          <a:xfrm>
            <a:off x="13235940" y="16870680"/>
            <a:ext cx="36576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NVIDIA Sans"/>
              </a:rPr>
              <a:t xml:space="preserve">Grid</a:t>
            </a:r>
          </a:p>
        </p:txBody>
      </p:sp>
      <p:sp>
        <p:nvSpPr>
          <p:cNvPr id="37" name="Block + global + block barriers" descr="Supplemental synchronizer detail from repository docs and headers"/>
          <p:cNvSpPr/>
          <p:nvPr/>
        </p:nvSpPr>
        <p:spPr>
          <a:xfrm>
            <a:off x="17259300" y="16870680"/>
            <a:ext cx="75438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38" name="Block + global + block barriers" descr="Supplemental synchronizer detail from repository docs and headers"/>
          <p:cNvSpPr/>
          <p:nvPr/>
        </p:nvSpPr>
        <p:spPr>
          <a:xfrm>
            <a:off x="25374600" y="16870680"/>
            <a:ext cx="89154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39" name="Grid synchronization requires a cooperative kernel launch." descr="Supplemental synchronizer detail from repository docs and headers"/>
          <p:cNvSpPr/>
          <p:nvPr/>
        </p:nvSpPr>
        <p:spPr>
          <a:xfrm>
            <a:off x="13235940" y="18608040"/>
            <a:ext cx="2125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Grid synchronization requires a cooperative kernel launch.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 name="Predefined Group Synchronizers — lane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32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synchronizer"/>
          <p:cNvSpPr/>
          <p:nvPr/>
        </p:nvSpPr>
        <p:spPr>
          <a:xfrm>
            <a:off x="1828800" y="820674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820674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lane_synchronizer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syncwarp(mask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__syncwarp(mask)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1645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 s{};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()" descr="Supplemental synchronizer detail from repository docs and headers"/>
          <p:cNvSpPr/>
          <p:nvPr/>
        </p:nvSpPr>
        <p:spPr>
          <a:xfrm>
            <a:off x="13235940" y="11269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7" name="sync_aligned()" descr="Supplemental synchronizer detail from repository docs and headers"/>
          <p:cNvSpPr/>
          <p:nvPr/>
        </p:nvSpPr>
        <p:spPr>
          <a:xfrm>
            <a:off x="24094440" y="11269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8" name="Synchronization table header rule"/>
          <p:cNvSpPr/>
          <p:nvPr/>
        </p:nvSpPr>
        <p:spPr>
          <a:xfrm>
            <a:off x="13235940" y="12115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9" name="__syncwarp(lane_mask)" descr="Supplemental synchronizer detail from repository docs and headers"/>
          <p:cNvSpPr/>
          <p:nvPr/>
        </p:nvSpPr>
        <p:spPr>
          <a:xfrm>
            <a:off x="13235940" y="12573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0" name="__syncwarp(lane_mask)" descr="Supplemental synchronizer detail from repository docs and headers"/>
          <p:cNvSpPr/>
          <p:nvPr/>
        </p:nvSpPr>
        <p:spPr>
          <a:xfrm>
            <a:off x="24094440" y="12573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1" name="Synchronization table bottom rule"/>
          <p:cNvSpPr/>
          <p:nvPr/>
        </p:nvSpPr>
        <p:spPr>
          <a:xfrm>
            <a:off x="13235940" y="14104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2" name="Uses the final mapping result’s lane mask.&#10;For groups of threads " descr="Supplemental synchronizer detail from repository docs and headers"/>
          <p:cNvSpPr/>
          <p:nvPr/>
        </p:nvSpPr>
        <p:spPr>
          <a:xfrm>
            <a:off x="13235940" y="16893540"/>
            <a:ext cx="21259800" cy="1645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Uses the final mapping result’s lane mask.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groups of threads within a single warp.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>
  <p:cSld name="Predefined Group Synchronizers — interwarp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33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synchronizer"/>
          <p:cNvSpPr/>
          <p:nvPr/>
        </p:nvSpPr>
        <p:spPr>
          <a:xfrm>
            <a:off x="1828800" y="1110996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1110996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interwarp_synchronizer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barrier_sync(barrier_id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__barrier_sync(barrier_id)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Array of warp barrier IDs.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cuda::std::array array{1, 3, 5, 7};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The constructor accepts any range of warp barrier IDs.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cudax::coop::interwarp_synchronizer s{array};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()" descr="Supplemental synchronizer detail from repository docs and headers"/>
          <p:cNvSpPr/>
          <p:nvPr/>
        </p:nvSpPr>
        <p:spPr>
          <a:xfrm>
            <a:off x="13235940" y="126415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7" name="sync_aligned()" descr="Supplemental synchronizer detail from repository docs and headers"/>
          <p:cNvSpPr/>
          <p:nvPr/>
        </p:nvSpPr>
        <p:spPr>
          <a:xfrm>
            <a:off x="24094440" y="126415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8" name="Synchronization table header rule"/>
          <p:cNvSpPr/>
          <p:nvPr/>
        </p:nvSpPr>
        <p:spPr>
          <a:xfrm>
            <a:off x="13235940" y="134874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9" name="__barrier_sync_count(barrier_id, nthreads)" descr="Supplemental synchronizer detail from repository docs and headers"/>
          <p:cNvSpPr/>
          <p:nvPr/>
        </p:nvSpPr>
        <p:spPr>
          <a:xfrm>
            <a:off x="13235940" y="139446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9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0" name="__barrier_sync_count(barrier_id, nthreads)" descr="Supplemental synchronizer detail from repository docs and headers"/>
          <p:cNvSpPr/>
          <p:nvPr/>
        </p:nvSpPr>
        <p:spPr>
          <a:xfrm>
            <a:off x="24094440" y="139446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9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1" name="Synchronization table bottom rule"/>
          <p:cNvSpPr/>
          <p:nvPr/>
        </p:nvSpPr>
        <p:spPr>
          <a:xfrm>
            <a:off x="13235940" y="154762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2" name="For warps within one block; both calls use the counted, unaligned" descr="Supplemental synchronizer detail from repository docs and headers"/>
          <p:cNvSpPr/>
          <p:nvPr/>
        </p:nvSpPr>
        <p:spPr>
          <a:xfrm>
            <a:off x="13235940" y="16893540"/>
            <a:ext cx="21259800" cy="2011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For warps within one block; both calls use the counted, unaligned barrier.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Use unique barrier IDs 1–15, one per subgroup.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 name="Predefined Group Synchronizers — barrier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Synchronizers"/>
          <p:cNvSpPr/>
          <p:nvPr/>
        </p:nvSpPr>
        <p:spPr>
          <a:xfrm>
            <a:off x="1828800" y="1257300"/>
            <a:ext cx="297180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74520" y="3314700"/>
            <a:ext cx="29718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34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8293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73252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interwarp_synchronizer`"/>
          <p:cNvSpPr/>
          <p:nvPr/>
        </p:nvSpPr>
        <p:spPr>
          <a:xfrm>
            <a:off x="2286000" y="116357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synchronizer"/>
          <p:cNvSpPr/>
          <p:nvPr/>
        </p:nvSpPr>
        <p:spPr>
          <a:xfrm>
            <a:off x="1828800" y="1401318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401318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barrier_synchronizer`"/>
          <p:cNvSpPr/>
          <p:nvPr/>
        </p:nvSpPr>
        <p:spPr>
          <a:xfrm>
            <a:off x="2286000" y="145389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barrier_synchronizer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barrier.arrive_and_wait(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450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Array of uninitialized block-scope barriers in shared memory.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__shared__ cuda::barrier&lt;cuda::thread_scope_block&gt; block_barriers[8];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The constructor accepts a contiguous range of CUDA barriers.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cudax::coop::barrier_synchronizer s{block_barriers};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()" descr="Supplemental synchronizer detail from repository docs and headers"/>
          <p:cNvSpPr/>
          <p:nvPr/>
        </p:nvSpPr>
        <p:spPr>
          <a:xfrm>
            <a:off x="13235940" y="126415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7" name="sync_aligned()" descr="Supplemental synchronizer detail from repository docs and headers"/>
          <p:cNvSpPr/>
          <p:nvPr/>
        </p:nvSpPr>
        <p:spPr>
          <a:xfrm>
            <a:off x="24094440" y="126415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8" name="Synchronization table header rule"/>
          <p:cNvSpPr/>
          <p:nvPr/>
        </p:nvSpPr>
        <p:spPr>
          <a:xfrm>
            <a:off x="13235940" y="134874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9" name="barrier.arrive_and_wait()" descr="Supplemental synchronizer detail from repository docs and headers"/>
          <p:cNvSpPr/>
          <p:nvPr/>
        </p:nvSpPr>
        <p:spPr>
          <a:xfrm>
            <a:off x="13235940" y="139446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0" name="barrier.arrive_and_wait()" descr="Supplemental synchronizer detail from repository docs and headers"/>
          <p:cNvSpPr/>
          <p:nvPr/>
        </p:nvSpPr>
        <p:spPr>
          <a:xfrm>
            <a:off x="24094440" y="139446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1" name="Synchronization table bottom rule"/>
          <p:cNvSpPr/>
          <p:nvPr/>
        </p:nvSpPr>
        <p:spPr>
          <a:xfrm>
            <a:off x="13235940" y="154762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2" name="Pass uninitialized barriers; one is assigned to each subgroup.&#10;Th" descr="Supplemental synchronizer detail from repository docs and headers"/>
          <p:cNvSpPr/>
          <p:nvPr/>
        </p:nvSpPr>
        <p:spPr>
          <a:xfrm>
            <a:off x="13235940" y="16893540"/>
            <a:ext cx="21259800" cy="2011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Pass uninitialized barriers; one is assigned to each subgroup.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The barrier scope must cover the group’s upper boundary.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34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