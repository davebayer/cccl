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  <p:sldId id="280" r:id="rIdDeck25"/>
    <p:sldId id="281" r:id="rIdDeck26"/>
    <p:sldId id="282" r:id="rIdDeck27"/>
    <p:sldId id="283" r:id="rIdDeck28"/>
    <p:sldId id="284" r:id="rIdDeck29"/>
    <p:sldId id="285" r:id="rIdDeck30"/>
    <p:sldId id="286" r:id="rIdDeck31"/>
    <p:sldId id="287" r:id="rIdDeck32"/>
    <p:sldId id="288" r:id="rIdDeck33"/>
    <p:sldId id="289" r:id="rIdDeck34"/>
    <p:sldId id="290" r:id="rIdDeck35"/>
    <p:sldId id="291" r:id="rIdDeck36"/>
    <p:sldId id="292" r:id="rIdDeck37"/>
    <p:sldId id="293" r:id="rIdDeck38"/>
    <p:sldId id="294" r:id="rIdDeck39"/>
    <p:sldId id="295" r:id="rIdDeck40"/>
    <p:sldId id="296" r:id="rIdDeck41"/>
    <p:sldId id="297" r:id="rIdDeck42"/>
    <p:sldId id="298" r:id="rIdDeck43"/>
    <p:sldId id="299" r:id="rIdDeck44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Relationship Id="rIdDeck20" Type="http://schemas.openxmlformats.org/officeDocument/2006/relationships/slide" Target="slides/slide20.xml" /><Relationship Id="rIdDeck21" Type="http://schemas.openxmlformats.org/officeDocument/2006/relationships/slide" Target="slides/slide21.xml" /><Relationship Id="rIdDeck22" Type="http://schemas.openxmlformats.org/officeDocument/2006/relationships/slide" Target="slides/slide22.xml" /><Relationship Id="rIdDeck23" Type="http://schemas.openxmlformats.org/officeDocument/2006/relationships/slide" Target="slides/slide23.xml" /><Relationship Id="rIdDeck24" Type="http://schemas.openxmlformats.org/officeDocument/2006/relationships/slide" Target="slides/slide24.xml" /><Relationship Id="rIdDeck25" Type="http://schemas.openxmlformats.org/officeDocument/2006/relationships/slide" Target="slides/slide25.xml" /><Relationship Id="rIdDeck26" Type="http://schemas.openxmlformats.org/officeDocument/2006/relationships/slide" Target="slides/slide26.xml" /><Relationship Id="rIdDeck27" Type="http://schemas.openxmlformats.org/officeDocument/2006/relationships/slide" Target="slides/slide27.xml" /><Relationship Id="rIdDeck28" Type="http://schemas.openxmlformats.org/officeDocument/2006/relationships/slide" Target="slides/slide28.xml" /><Relationship Id="rIdDeck29" Type="http://schemas.openxmlformats.org/officeDocument/2006/relationships/slide" Target="slides/slide29.xml" /><Relationship Id="rIdDeck30" Type="http://schemas.openxmlformats.org/officeDocument/2006/relationships/slide" Target="slides/slide30.xml" /><Relationship Id="rIdDeck31" Type="http://schemas.openxmlformats.org/officeDocument/2006/relationships/slide" Target="slides/slide31.xml" /><Relationship Id="rIdDeck32" Type="http://schemas.openxmlformats.org/officeDocument/2006/relationships/slide" Target="slides/slide32.xml" /><Relationship Id="rIdDeck33" Type="http://schemas.openxmlformats.org/officeDocument/2006/relationships/slide" Target="slides/slide33.xml" /><Relationship Id="rIdDeck34" Type="http://schemas.openxmlformats.org/officeDocument/2006/relationships/slide" Target="slides/slide34.xml" /><Relationship Id="rIdDeck35" Type="http://schemas.openxmlformats.org/officeDocument/2006/relationships/slide" Target="slides/slide35.xml" /><Relationship Id="rIdDeck36" Type="http://schemas.openxmlformats.org/officeDocument/2006/relationships/slide" Target="slides/slide36.xml" /><Relationship Id="rIdDeck37" Type="http://schemas.openxmlformats.org/officeDocument/2006/relationships/slide" Target="slides/slide37.xml" /><Relationship Id="rIdDeck38" Type="http://schemas.openxmlformats.org/officeDocument/2006/relationships/slide" Target="slides/slide38.xml" /><Relationship Id="rIdDeck39" Type="http://schemas.openxmlformats.org/officeDocument/2006/relationships/slide" Target="slides/slide39.xml" /><Relationship Id="rIdDeck40" Type="http://schemas.openxmlformats.org/officeDocument/2006/relationships/slide" Target="slides/slide40.xml" /><Relationship Id="rIdDeck41" Type="http://schemas.openxmlformats.org/officeDocument/2006/relationships/slide" Target="slides/slide41.xml" /><Relationship Id="rIdDeck42" Type="http://schemas.openxmlformats.org/officeDocument/2006/relationships/slide" Target="slides/slide42.xml" /><Relationship Id="rIdDeck43" Type="http://schemas.openxmlformats.org/officeDocument/2006/relationships/slide" Target="slides/slide43.xml" /><Relationship Id="rIdDeck44" Type="http://schemas.openxmlformats.org/officeDocument/2006/relationships/slide" Target="slides/slide44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at is CCCL Cooperative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y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is CCCL Cooperative?</a:t>
            </a:r>
          </a:p>
        </p:txBody>
      </p:sp>
      <p:sp>
        <p:nvSpPr>
          <p:cNvPr id="3" name="Two complementary pieces for cooperative problem solving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A CUDA C++ API for organizing threads into cooperative groups and running collective algorithms.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 · two blocks per pa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Arbitrary thread selection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 · two bloc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1D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same thread rank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Threads within block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report thread rank 75 within this block-wide group.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Both APIs provide the same queries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first and third warps form the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Warps within block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584680"/>
            <a:ext cx="5143500" cy="1371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928116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307592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4218920"/>
            <a:ext cx="5394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5133320"/>
            <a:ext cx="5029200" cy="16002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Thread rank 43 = 32 threads in warp 0 + 11 earlier threads in war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CCCL Cooperative Groups are more capable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0574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193167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1943100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T&gt;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group =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(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T&amp; t)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T::unit_type&gt;;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T::level_type&gt;;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T::hierarchy_type&gt;;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t.hierarchy()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T::hierarchy_type&amp;&gt;;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t.sync_aligned()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T::is_always_contiguous()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bool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          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35458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4665940" y="54635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35458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4665940" y="72237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35458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4665940" y="898398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35458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4665940" y="1074420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35458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4665940" y="1250442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35458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4665940" y="142646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35458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4665940" y="160248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2402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qunit.static_count(group);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qunit.count_as&lt;T&gt;(group);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qunit.rank_as&lt;T&gt;(group);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qunit.count(group);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qunit.rank(group);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qunit.is_root_rank(group);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291840" y="139903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291840" y="1481328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291840" y="1563624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291840" y="1645920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291840" y="1728216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291840" y="181051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2709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group.static_count(/*parent-group-or-qlevel*/);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group.count_as&lt;T&gt;(/*parent-group-or-qlevel*/);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group.rank_as&lt;T&gt;(/*parent-group-or-qlevel*/);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group.count(/*parent-group-or-qlevel*/);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group.rank(/*parent-group-or-qlevel*/); 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322540" y="139903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9047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322540" y="149047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819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322540" y="158191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733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322540" y="167335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6479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322540" y="176479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Building blocks, partitions, and view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Building blocks, partitions, and views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Derived groups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57860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62890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18054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07208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896362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2985516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07467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220420" y="10241280"/>
            <a:ext cx="6492240" cy="221742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4" name="1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Level,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/*this-group*/ : public /*group-interface-for*/&lt;/*this-group*/&gt;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Hierarchy;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/*this-group*/(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this_thread : public /*this-group*/&lt;thread_level,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this_warp : public /*this-group*/&lt;warp_level,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this_block : public /*this-group*/&lt;block_level,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this_cluster : public /*this-group*/&lt;cluster_level,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this_grid : public /*this-group*/&lt;grid_level,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61264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one class per level"/>
          <p:cNvSpPr/>
          <p:nvPr/>
        </p:nvSpPr>
        <p:spPr>
          <a:xfrm>
            <a:off x="25671780" y="59436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one class per level</a:t>
            </a:r>
          </a:p>
        </p:txBody>
      </p:sp>
      <p:sp>
        <p:nvSpPr>
          <p:cNvPr id="9" name="Shape"/>
          <p:cNvSpPr/>
          <p:nvPr/>
        </p:nvSpPr>
        <p:spPr>
          <a:xfrm>
            <a:off x="24917400" y="86410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ontain a single unit within the same level"/>
          <p:cNvSpPr/>
          <p:nvPr/>
        </p:nvSpPr>
        <p:spPr>
          <a:xfrm>
            <a:off x="25671780" y="84582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11556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building blocks for other groups"/>
          <p:cNvSpPr/>
          <p:nvPr/>
        </p:nvSpPr>
        <p:spPr>
          <a:xfrm>
            <a:off x="25671780" y="109728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building blocks for other groups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36702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lways contiguous"/>
          <p:cNvSpPr/>
          <p:nvPr/>
        </p:nvSpPr>
        <p:spPr>
          <a:xfrm>
            <a:off x="25671780" y="134874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5" name="Shape"/>
          <p:cNvSpPr/>
          <p:nvPr/>
        </p:nvSpPr>
        <p:spPr>
          <a:xfrm>
            <a:off x="24917400" y="161848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use `level_synchronizer` for synchronization"/>
          <p:cNvSpPr/>
          <p:nvPr/>
        </p:nvSpPr>
        <p:spPr>
          <a:xfrm>
            <a:off x="25671780" y="160020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level_synchronizer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coalesced_group : public /*group-interface-for*/&lt;coalesced_group&gt;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thread_level;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warp_level;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Hierarchy;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explicit coalesced_group(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&lt;/*hierarchy-like-type*/ HierarchyLike&gt;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coalesced_group(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HierarchyLike&amp;)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coalesced_group&lt;/*hierarchy-type-of*/&lt;HierarchyLike&gt;&gt;;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64693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groups all currently active threads within a warp based on `__act"/>
          <p:cNvSpPr/>
          <p:nvPr/>
        </p:nvSpPr>
        <p:spPr>
          <a:xfrm>
            <a:off x="25671780" y="62865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groups all currently active threads within a warp based on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9395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671780" y="921258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232154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t is not always contiguous"/>
          <p:cNvSpPr/>
          <p:nvPr/>
        </p:nvSpPr>
        <p:spPr>
          <a:xfrm>
            <a:off x="25671780" y="1213866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it is not always 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52476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uses `lane_synchronizer` for synchronization"/>
          <p:cNvSpPr/>
          <p:nvPr/>
        </p:nvSpPr>
        <p:spPr>
          <a:xfrm>
            <a:off x="25671780" y="1506474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Derived Groups — Generic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Generic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Generic group</a:t>
            </a:r>
          </a:p>
        </p:txBody>
      </p:sp>
      <p:sp>
        <p:nvSpPr>
          <p:cNvPr id="4" name="2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MappingResult,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SynchronizerInstance&gt;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class generic_group : public /*group-interface-for*/&lt;generic_group&gt;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using unit_type       = Unit;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using level_type      =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ParentGroup::level_type;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using hierarchy_type  =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ParentGroup::hierarchy_type;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__device__ explicit generic_group(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&amp;&amp; mapping,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&amp;&amp; synchronizer)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&lt;/*hierarchy-level-type*/ 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group ParentGroup,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Mapping,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Synchronizer&gt;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/*unit-same-as-or-below*/&lt;Unit,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ParentGroup::unit_type&gt;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generic_group(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Unit&amp;,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ParentGroup&amp;, Mapping&amp;&amp;, Synchronizer&amp;&amp;)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-&gt; generic_group&lt;Unit,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ParentGroup,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/*result-of-mapping*/,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/*synchronizer-instance*/&gt;;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70408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plits `parent_group` into independent subgroups of `unit` units "/>
          <p:cNvSpPr/>
          <p:nvPr/>
        </p:nvSpPr>
        <p:spPr>
          <a:xfrm>
            <a:off x="25671780" y="68580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into independent subgroups of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units as defined by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mapping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105841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s `synchronizer` for synchronization"/>
          <p:cNvSpPr/>
          <p:nvPr/>
        </p:nvSpPr>
        <p:spPr>
          <a:xfrm>
            <a:off x="25671780" y="104013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synchronizer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41274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onstruction is a collective operation"/>
          <p:cNvSpPr/>
          <p:nvPr/>
        </p:nvSpPr>
        <p:spPr>
          <a:xfrm>
            <a:off x="25671780" y="139446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construction is a collective operation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Derived Groups — Virtual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Virtual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Virtual group</a:t>
            </a:r>
          </a:p>
        </p:txBody>
      </p:sp>
      <p:sp>
        <p:nvSpPr>
          <p:cNvPr id="4" name="2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MappingResult&gt;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virtual_group : public /*group-interface-for*/&lt;virtual_group&gt;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Unit;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ParentGroup::level_type;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ParentGroup::hierarchy_type;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explicit virtual_group(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&amp;&amp; mapping)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&lt;/*hierarchy-level-type*/ Unit, group ParentGroup,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Mapping&gt;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/*unit-same-as-or-below*/&lt;Unit,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ParentGroup::unit_type&gt;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virtual_group(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ParentGroup&amp;, Mapping&amp;&amp;)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virtual_group&lt;Unit, ParentGroup, /*result-of-mapping*/&gt;;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57835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reates a virtual layer over the `parent_group`"/>
          <p:cNvSpPr/>
          <p:nvPr/>
        </p:nvSpPr>
        <p:spPr>
          <a:xfrm>
            <a:off x="25671780" y="56007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creates a virtual layer over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82981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splits `parent_group` into independent subgroups of `unit` units "/>
          <p:cNvSpPr/>
          <p:nvPr/>
        </p:nvSpPr>
        <p:spPr>
          <a:xfrm>
            <a:off x="25671780" y="81153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into independent subgroups of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units as defined by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mapping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08127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uses `parent_group` for synchronization"/>
          <p:cNvSpPr/>
          <p:nvPr/>
        </p:nvSpPr>
        <p:spPr>
          <a:xfrm>
            <a:off x="25671780" y="106299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33273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ll subgroups must share the synchronization points"/>
          <p:cNvSpPr/>
          <p:nvPr/>
        </p:nvSpPr>
        <p:spPr>
          <a:xfrm>
            <a:off x="25671780" y="131445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all subgroups must share the synchronization points</a:t>
            </a:r>
          </a:p>
        </p:txBody>
      </p:sp>
      <p:sp>
        <p:nvSpPr>
          <p:cNvPr id="15" name="Shape"/>
          <p:cNvSpPr/>
          <p:nvPr/>
        </p:nvSpPr>
        <p:spPr>
          <a:xfrm>
            <a:off x="24917400" y="15841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construction is a collective operation"/>
          <p:cNvSpPr/>
          <p:nvPr/>
        </p:nvSpPr>
        <p:spPr>
          <a:xfrm>
            <a:off x="25671780" y="156591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construction is a collective operation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Group View — Non-owning 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View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View</a:t>
            </a:r>
          </a:p>
        </p:txBody>
      </p:sp>
      <p:sp>
        <p:nvSpPr>
          <p:cNvPr id="3" name="Non-owning view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Non-owning view</a:t>
            </a:r>
          </a:p>
        </p:txBody>
      </p:sp>
      <p:sp>
        <p:nvSpPr>
          <p:cNvPr id="4" name="2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group_view : public /*group-interface-for*/&lt;group_view&gt;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Unit;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Group::level_type;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Group::hierarchy_type;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 group)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cuda::std::same_as&lt;Unit,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Group::unit_type&gt;;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explicit 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 group)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&lt;group 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Group&amp;) -&gt; group_view&lt;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Group::unit_type, Group&gt;;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&lt;/*hierarchy-level-type*/ Unit, group 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Group&amp;) -&gt; group_view&lt;Unit, Group&gt;;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70408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non-owning view over `group`"/>
          <p:cNvSpPr/>
          <p:nvPr/>
        </p:nvSpPr>
        <p:spPr>
          <a:xfrm>
            <a:off x="25671780" y="68580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non-owning view over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105841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llows to view `group` as if it had a different `unit`"/>
          <p:cNvSpPr/>
          <p:nvPr/>
        </p:nvSpPr>
        <p:spPr>
          <a:xfrm>
            <a:off x="25671780" y="104013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allows to view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as if it had a different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41274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mplements the same queries as `group`"/>
          <p:cNvSpPr/>
          <p:nvPr/>
        </p:nvSpPr>
        <p:spPr>
          <a:xfrm>
            <a:off x="25671780" y="139446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implements the same queries as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Group Mapp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Mappings</a:t>
            </a:r>
          </a:p>
        </p:txBody>
      </p:sp>
      <p:sp>
        <p:nvSpPr>
          <p:cNvPr id="3" name="Partition units and compose mapping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Partition units and compose mappings</a:t>
            </a:r>
          </a:p>
        </p:txBody>
      </p:sp>
      <p:sp>
        <p:nvSpPr>
          <p:cNvPr id="4" name="2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5" name="Determines how the units are split into subgroups"/>
          <p:cNvSpPr/>
          <p:nvPr/>
        </p:nvSpPr>
        <p:spPr>
          <a:xfrm>
            <a:off x="1874520" y="482346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Determines how the units are split into subgroups</a:t>
            </a:r>
          </a:p>
        </p:txBody>
      </p:sp>
      <p:sp>
        <p:nvSpPr>
          <p:cNvPr id="6" name="Needs to implement the `map` method that transforms `/*group-mapp"/>
          <p:cNvSpPr/>
          <p:nvPr/>
        </p:nvSpPr>
        <p:spPr>
          <a:xfrm>
            <a:off x="1874520" y="6149340"/>
            <a:ext cx="323469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method that transforms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/*group-mapping-result*/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types: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475220"/>
            <a:ext cx="32918400" cy="61264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8001000"/>
            <a:ext cx="31912560" cy="5074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PrevMappingResult&gt;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/*group-mapping*/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(T&amp; 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PrevMappingResult&amp; prev_mapping_result)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{ t.map(unit, parent_group, prev_mapping_result) } -&gt; /*group-mapping-result*/;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{ t.map(non_exhaustive, unit, parent_group, prev_mapping_result) } -&gt; /*group-mapping-result*/;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The overload that takes the `non_exhaustive` tag does the non-exh"/>
          <p:cNvSpPr/>
          <p:nvPr/>
        </p:nvSpPr>
        <p:spPr>
          <a:xfrm>
            <a:off x="1874520" y="1426464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The overload that takes the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tag does the non-exhaustive mapping</a:t>
            </a:r>
          </a:p>
        </p:txBody>
      </p:sp>
      <p:sp>
        <p:nvSpPr>
          <p:cNvPr id="10" name="Mappings can be chained with `|` to transform the result from lef"/>
          <p:cNvSpPr/>
          <p:nvPr/>
        </p:nvSpPr>
        <p:spPr>
          <a:xfrm>
            <a:off x="1874520" y="1577340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Mappings can be chained with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to transform the result from left to right</a:t>
            </a:r>
          </a:p>
        </p:txBody>
      </p:sp>
      <p:sp>
        <p:nvSpPr>
          <p:cNvPr id="11" name="Goal is to preserve as much compile-time information as possible"/>
          <p:cNvSpPr/>
          <p:nvPr/>
        </p:nvSpPr>
        <p:spPr>
          <a:xfrm>
            <a:off x="1874520" y="1728216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Goal is to preserve as much compile-time information as 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Predefined Group Mappings — identity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5" name="Current mapping"/>
          <p:cNvSpPr/>
          <p:nvPr/>
        </p:nvSpPr>
        <p:spPr>
          <a:xfrm>
            <a:off x="1828800" y="50520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identity_mapping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Preserves the previous mapping result without further partitionin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Preserves the previous mapping result without further partitioning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"/>
          <p:cNvSpPr/>
          <p:nvPr/>
        </p:nvSpPr>
        <p:spPr>
          <a:xfrm>
            <a:off x="13624560" y="90754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8" name="Partition 1, row 0, threads 8,9,10,11,12,13,14,15"/>
          <p:cNvSpPr/>
          <p:nvPr/>
        </p:nvSpPr>
        <p:spPr>
          <a:xfrm>
            <a:off x="22585680" y="90754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9" name="Partition 2, row 1, threads 16,17,18,19,20,21,22,23"/>
          <p:cNvSpPr/>
          <p:nvPr/>
        </p:nvSpPr>
        <p:spPr>
          <a:xfrm>
            <a:off x="13624560" y="99669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20" name="Partition 3, row 1, threads 24,25,26,27,28,29,30,31"/>
          <p:cNvSpPr/>
          <p:nvPr/>
        </p:nvSpPr>
        <p:spPr>
          <a:xfrm>
            <a:off x="22585680" y="99669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1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3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5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7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9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1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3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5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7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9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1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3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5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7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9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1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3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5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7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9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1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3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5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7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9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1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3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5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7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9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1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3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5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6" name="Preserve the existing partition: four groups of 8 threads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Preserve the existing partition: four groups of 8 threads.</a:t>
            </a:r>
          </a:p>
        </p:txBody>
      </p:sp>
      <p:sp>
        <p:nvSpPr>
          <p:cNvPr id="87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8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9" name="Partition 0, row 0, threads 0,1,2,3,4,5,6,7"/>
          <p:cNvSpPr/>
          <p:nvPr/>
        </p:nvSpPr>
        <p:spPr>
          <a:xfrm>
            <a:off x="1362456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1, row 0, threads 8,9,10,11,12,13,14,15"/>
          <p:cNvSpPr/>
          <p:nvPr/>
        </p:nvSpPr>
        <p:spPr>
          <a:xfrm>
            <a:off x="2258568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1" name="Partition 2, row 1, threads 16,17,18,19,20,21,22,23"/>
          <p:cNvSpPr/>
          <p:nvPr/>
        </p:nvSpPr>
        <p:spPr>
          <a:xfrm>
            <a:off x="1362456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2" name="Partition 3, row 1, threads 24,25,26,27,28,29,30,31"/>
          <p:cNvSpPr/>
          <p:nvPr/>
        </p:nvSpPr>
        <p:spPr>
          <a:xfrm>
            <a:off x="2258568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3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5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7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9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1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3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5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7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9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1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3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5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7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9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1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3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5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7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9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1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3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5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7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9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1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3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5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7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9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1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3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5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7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Predefined Group Mappings — group_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mapping"/>
          <p:cNvSpPr/>
          <p:nvPr/>
        </p:nvSpPr>
        <p:spPr>
          <a:xfrm>
            <a:off x="1828800" y="717804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17804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group_by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the same specified number o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Splits each group into subgroups with the same specified number of units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: split 32 threads into four groups of 8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Example: split 32 threads into four groups of 8.</a:t>
            </a:r>
          </a:p>
        </p:txBody>
      </p:sp>
      <p:sp>
        <p:nvSpPr>
          <p:cNvPr id="85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"/>
          <p:cNvSpPr/>
          <p:nvPr/>
        </p:nvSpPr>
        <p:spPr>
          <a:xfrm>
            <a:off x="1362456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1, row 0, threads 8,9,10,11,12,13,14,15"/>
          <p:cNvSpPr/>
          <p:nvPr/>
        </p:nvSpPr>
        <p:spPr>
          <a:xfrm>
            <a:off x="2258568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89" name="Partition 2, row 1, threads 16,17,18,19,20,21,22,23"/>
          <p:cNvSpPr/>
          <p:nvPr/>
        </p:nvSpPr>
        <p:spPr>
          <a:xfrm>
            <a:off x="1362456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0" name="Partition 3, row 1, threads 24,25,26,27,28,29,30,31"/>
          <p:cNvSpPr/>
          <p:nvPr/>
        </p:nvSpPr>
        <p:spPr>
          <a:xfrm>
            <a:off x="2258568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1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3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5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7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9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1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3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5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7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9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1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3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5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7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9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1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3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5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7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9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1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3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5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7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9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1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3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5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7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9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1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3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5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Predefined Group Mappings — group_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mapping"/>
          <p:cNvSpPr/>
          <p:nvPr/>
        </p:nvSpPr>
        <p:spPr>
          <a:xfrm>
            <a:off x="1828800" y="930402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930402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group_as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individually specified size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Splits each group into subgroups with individually specified sizes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: use subgroup sizes 5, 9, 6, and 12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Example: use subgroup sizes 5, 9, 6, and 12.</a:t>
            </a:r>
          </a:p>
        </p:txBody>
      </p:sp>
      <p:sp>
        <p:nvSpPr>
          <p:cNvPr id="85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"/>
          <p:cNvSpPr/>
          <p:nvPr/>
        </p:nvSpPr>
        <p:spPr>
          <a:xfrm>
            <a:off x="13624560" y="1547622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1, row 0, threads 5,6,7,8,9,10,11,12,13"/>
          <p:cNvSpPr/>
          <p:nvPr/>
        </p:nvSpPr>
        <p:spPr>
          <a:xfrm>
            <a:off x="19225260" y="15476220"/>
            <a:ext cx="97383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89" name="Partition 2, row 0, threads 14,15"/>
          <p:cNvSpPr/>
          <p:nvPr/>
        </p:nvSpPr>
        <p:spPr>
          <a:xfrm>
            <a:off x="29306520" y="15476220"/>
            <a:ext cx="189738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0" name="Partition 2, row 1, threads 16,17,18,19"/>
          <p:cNvSpPr/>
          <p:nvPr/>
        </p:nvSpPr>
        <p:spPr>
          <a:xfrm>
            <a:off x="13624560" y="16367760"/>
            <a:ext cx="41376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3, row 1, threads 20,21,22,23,24,25,26,27,28,29,30,31"/>
          <p:cNvSpPr/>
          <p:nvPr/>
        </p:nvSpPr>
        <p:spPr>
          <a:xfrm>
            <a:off x="18105120" y="16367760"/>
            <a:ext cx="1309878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2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4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6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8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0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2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4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6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8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0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2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4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6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8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0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2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4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6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8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0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2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4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6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8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0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2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4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6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8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0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2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4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6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Predefined Group Mappings — ta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mapping"/>
          <p:cNvSpPr/>
          <p:nvPr/>
        </p:nvSpPr>
        <p:spPr>
          <a:xfrm>
            <a:off x="1828800" y="1143000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143000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take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elects the first specified number of units from each group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Selects the first specified number of units from each group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: take the first 12 threads; 20 threads are excluded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Example: take the first 12 threads; 20 threads are excluded.</a:t>
            </a:r>
          </a:p>
        </p:txBody>
      </p:sp>
      <p:sp>
        <p:nvSpPr>
          <p:cNvPr id="85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,8,9,10,11"/>
          <p:cNvSpPr/>
          <p:nvPr/>
        </p:nvSpPr>
        <p:spPr>
          <a:xfrm>
            <a:off x="13624560" y="15476220"/>
            <a:ext cx="1309878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0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2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4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6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8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0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2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4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6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8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0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2" name="Example thread 12 ex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3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4" name="Example thread 13 ex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5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6" name="Example thread 14 ex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7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8" name="Example thread 15 ex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9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0" name="Example thread 16 ex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1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2" name="Example thread 17 ex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3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4" name="Example thread 18 ex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5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6" name="Example thread 19 ex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7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8" name="Example thread 20 ex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9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0" name="Example thread 21 ex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1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2" name="Example thread 22 ex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3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4" name="Example thread 23 ex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5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6" name="Example thread 24 ex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7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8" name="Example thread 25 ex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9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0" name="Example thread 26 ex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1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2" name="Example thread 27 ex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3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4" name="Example thread 28 ex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5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6" name="Example thread 29 ex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7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8" name="Example thread 30 ex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9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0" name="Example thread 31 ex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1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2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Predefined Group Mappings — binary_par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Current mapping"/>
          <p:cNvSpPr/>
          <p:nvPr/>
        </p:nvSpPr>
        <p:spPr>
          <a:xfrm>
            <a:off x="1828800" y="1355598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0" name="Shape"/>
          <p:cNvSpPr/>
          <p:nvPr/>
        </p:nvSpPr>
        <p:spPr>
          <a:xfrm>
            <a:off x="1828800" y="1355598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binary_partition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threads within a warp into two groups based on a predicate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Splits threads within a warp into two groups based on a predicate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 predicate: even thread IDs versus odd thread IDs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 predicate: even thread IDs versus odd thread IDs.</a:t>
            </a:r>
          </a:p>
        </p:txBody>
      </p:sp>
      <p:sp>
        <p:nvSpPr>
          <p:cNvPr id="85" name="Result · predicate true / false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predicate true / false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"/>
          <p:cNvSpPr/>
          <p:nvPr/>
        </p:nvSpPr>
        <p:spPr>
          <a:xfrm>
            <a:off x="136245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0, row 0, threads 2"/>
          <p:cNvSpPr/>
          <p:nvPr/>
        </p:nvSpPr>
        <p:spPr>
          <a:xfrm>
            <a:off x="1586484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0, row 0, threads 4"/>
          <p:cNvSpPr/>
          <p:nvPr/>
        </p:nvSpPr>
        <p:spPr>
          <a:xfrm>
            <a:off x="1810512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0, row 0, threads 6"/>
          <p:cNvSpPr/>
          <p:nvPr/>
        </p:nvSpPr>
        <p:spPr>
          <a:xfrm>
            <a:off x="2034540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0, row 0, threads 8"/>
          <p:cNvSpPr/>
          <p:nvPr/>
        </p:nvSpPr>
        <p:spPr>
          <a:xfrm>
            <a:off x="2258568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2" name="Partition 0, row 0, threads 10"/>
          <p:cNvSpPr/>
          <p:nvPr/>
        </p:nvSpPr>
        <p:spPr>
          <a:xfrm>
            <a:off x="248259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3" name="Partition 0, row 0, threads 12"/>
          <p:cNvSpPr/>
          <p:nvPr/>
        </p:nvSpPr>
        <p:spPr>
          <a:xfrm>
            <a:off x="2706624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4" name="Partition 0, row 0, threads 14"/>
          <p:cNvSpPr/>
          <p:nvPr/>
        </p:nvSpPr>
        <p:spPr>
          <a:xfrm>
            <a:off x="2930652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5" name="Partition 0, row 1, threads 16"/>
          <p:cNvSpPr/>
          <p:nvPr/>
        </p:nvSpPr>
        <p:spPr>
          <a:xfrm>
            <a:off x="136245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6" name="Partition 0, row 1, threads 18"/>
          <p:cNvSpPr/>
          <p:nvPr/>
        </p:nvSpPr>
        <p:spPr>
          <a:xfrm>
            <a:off x="1586484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7" name="Partition 0, row 1, threads 20"/>
          <p:cNvSpPr/>
          <p:nvPr/>
        </p:nvSpPr>
        <p:spPr>
          <a:xfrm>
            <a:off x="1810512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8" name="Partition 0, row 1, threads 22"/>
          <p:cNvSpPr/>
          <p:nvPr/>
        </p:nvSpPr>
        <p:spPr>
          <a:xfrm>
            <a:off x="2034540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9" name="Partition 0, row 1, threads 24"/>
          <p:cNvSpPr/>
          <p:nvPr/>
        </p:nvSpPr>
        <p:spPr>
          <a:xfrm>
            <a:off x="2258568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0" name="Partition 0, row 1, threads 26"/>
          <p:cNvSpPr/>
          <p:nvPr/>
        </p:nvSpPr>
        <p:spPr>
          <a:xfrm>
            <a:off x="248259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1" name="Partition 0, row 1, threads 28"/>
          <p:cNvSpPr/>
          <p:nvPr/>
        </p:nvSpPr>
        <p:spPr>
          <a:xfrm>
            <a:off x="2706624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2" name="Partition 0, row 1, threads 30"/>
          <p:cNvSpPr/>
          <p:nvPr/>
        </p:nvSpPr>
        <p:spPr>
          <a:xfrm>
            <a:off x="2930652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3" name="Partition 1, row 0, threads 1"/>
          <p:cNvSpPr/>
          <p:nvPr/>
        </p:nvSpPr>
        <p:spPr>
          <a:xfrm>
            <a:off x="1474470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4" name="Partition 1, row 0, threads 3"/>
          <p:cNvSpPr/>
          <p:nvPr/>
        </p:nvSpPr>
        <p:spPr>
          <a:xfrm>
            <a:off x="1698498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5" name="Partition 1, row 0, threads 5"/>
          <p:cNvSpPr/>
          <p:nvPr/>
        </p:nvSpPr>
        <p:spPr>
          <a:xfrm>
            <a:off x="192252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6" name="Partition 1, row 0, threads 7"/>
          <p:cNvSpPr/>
          <p:nvPr/>
        </p:nvSpPr>
        <p:spPr>
          <a:xfrm>
            <a:off x="2146554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7" name="Partition 1, row 0, threads 9"/>
          <p:cNvSpPr/>
          <p:nvPr/>
        </p:nvSpPr>
        <p:spPr>
          <a:xfrm>
            <a:off x="2370582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8" name="Partition 1, row 0, threads 11"/>
          <p:cNvSpPr/>
          <p:nvPr/>
        </p:nvSpPr>
        <p:spPr>
          <a:xfrm>
            <a:off x="2594610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9" name="Partition 1, row 0, threads 13"/>
          <p:cNvSpPr/>
          <p:nvPr/>
        </p:nvSpPr>
        <p:spPr>
          <a:xfrm>
            <a:off x="2818638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0" name="Partition 1, row 0, threads 15"/>
          <p:cNvSpPr/>
          <p:nvPr/>
        </p:nvSpPr>
        <p:spPr>
          <a:xfrm>
            <a:off x="304266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1" name="Partition 1, row 1, threads 17"/>
          <p:cNvSpPr/>
          <p:nvPr/>
        </p:nvSpPr>
        <p:spPr>
          <a:xfrm>
            <a:off x="1474470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2" name="Partition 1, row 1, threads 19"/>
          <p:cNvSpPr/>
          <p:nvPr/>
        </p:nvSpPr>
        <p:spPr>
          <a:xfrm>
            <a:off x="1698498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3" name="Partition 1, row 1, threads 21"/>
          <p:cNvSpPr/>
          <p:nvPr/>
        </p:nvSpPr>
        <p:spPr>
          <a:xfrm>
            <a:off x="192252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4" name="Partition 1, row 1, threads 23"/>
          <p:cNvSpPr/>
          <p:nvPr/>
        </p:nvSpPr>
        <p:spPr>
          <a:xfrm>
            <a:off x="2146554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5" name="Partition 1, row 1, threads 25"/>
          <p:cNvSpPr/>
          <p:nvPr/>
        </p:nvSpPr>
        <p:spPr>
          <a:xfrm>
            <a:off x="2370582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6" name="Partition 1, row 1, threads 27"/>
          <p:cNvSpPr/>
          <p:nvPr/>
        </p:nvSpPr>
        <p:spPr>
          <a:xfrm>
            <a:off x="2594610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7" name="Partition 1, row 1, threads 29"/>
          <p:cNvSpPr/>
          <p:nvPr/>
        </p:nvSpPr>
        <p:spPr>
          <a:xfrm>
            <a:off x="2818638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8" name="Partition 1, row 1, threads 31"/>
          <p:cNvSpPr/>
          <p:nvPr/>
        </p:nvSpPr>
        <p:spPr>
          <a:xfrm>
            <a:off x="304266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9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21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23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25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27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29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31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33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35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37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39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41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43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45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47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49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51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53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55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57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59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61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63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65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67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69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71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73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75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77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79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81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83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 name="Predefined Group Mappings — composite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Current mapping"/>
          <p:cNvSpPr/>
          <p:nvPr/>
        </p:nvSpPr>
        <p:spPr>
          <a:xfrm>
            <a:off x="1828800" y="156819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1" name="Shape"/>
          <p:cNvSpPr/>
          <p:nvPr/>
        </p:nvSpPr>
        <p:spPr>
          <a:xfrm>
            <a:off x="1828800" y="156819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composite_mapping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Applies multiple mappings in sequence, composed with the `|` oper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Applies multiple mappings in sequence, composed with the </a:t>
            </a:r>
            <a:r>
              <a:rPr lang="en-US" sz="468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 operator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790956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59536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868680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57834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First mapping · select the first 20 threads"/>
          <p:cNvSpPr/>
          <p:nvPr/>
        </p:nvSpPr>
        <p:spPr>
          <a:xfrm>
            <a:off x="13235940" y="1179576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First mapping · select the first 20 threads</a:t>
            </a:r>
          </a:p>
        </p:txBody>
      </p:sp>
      <p:sp>
        <p:nvSpPr>
          <p:cNvPr id="84" name="Example warp: 32 threads"/>
          <p:cNvSpPr/>
          <p:nvPr/>
        </p:nvSpPr>
        <p:spPr>
          <a:xfrm>
            <a:off x="13373100" y="1248156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5" name="Partition 0, row 0, threads 0,1,2,3,4,5,6,7,8,9,10,11,12,13,14,15"/>
          <p:cNvSpPr/>
          <p:nvPr/>
        </p:nvSpPr>
        <p:spPr>
          <a:xfrm>
            <a:off x="13624560" y="1257300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6" name="Partition 0, row 1, threads 16,17,18,19"/>
          <p:cNvSpPr/>
          <p:nvPr/>
        </p:nvSpPr>
        <p:spPr>
          <a:xfrm>
            <a:off x="13624560" y="13464540"/>
            <a:ext cx="41376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7" name="Example thread 0 included"/>
          <p:cNvSpPr/>
          <p:nvPr/>
        </p:nvSpPr>
        <p:spPr>
          <a:xfrm>
            <a:off x="137617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0"/>
          <p:cNvSpPr/>
          <p:nvPr/>
        </p:nvSpPr>
        <p:spPr>
          <a:xfrm>
            <a:off x="137617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89" name="Example thread 1 included"/>
          <p:cNvSpPr/>
          <p:nvPr/>
        </p:nvSpPr>
        <p:spPr>
          <a:xfrm>
            <a:off x="1488186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1"/>
          <p:cNvSpPr/>
          <p:nvPr/>
        </p:nvSpPr>
        <p:spPr>
          <a:xfrm>
            <a:off x="1488186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1" name="Example thread 2 included"/>
          <p:cNvSpPr/>
          <p:nvPr/>
        </p:nvSpPr>
        <p:spPr>
          <a:xfrm>
            <a:off x="1600200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2"/>
          <p:cNvSpPr/>
          <p:nvPr/>
        </p:nvSpPr>
        <p:spPr>
          <a:xfrm>
            <a:off x="1600200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3" name="Example thread 3 included"/>
          <p:cNvSpPr/>
          <p:nvPr/>
        </p:nvSpPr>
        <p:spPr>
          <a:xfrm>
            <a:off x="1712214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3"/>
          <p:cNvSpPr/>
          <p:nvPr/>
        </p:nvSpPr>
        <p:spPr>
          <a:xfrm>
            <a:off x="1712214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5" name="Example thread 4 included"/>
          <p:cNvSpPr/>
          <p:nvPr/>
        </p:nvSpPr>
        <p:spPr>
          <a:xfrm>
            <a:off x="1824228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4"/>
          <p:cNvSpPr/>
          <p:nvPr/>
        </p:nvSpPr>
        <p:spPr>
          <a:xfrm>
            <a:off x="1824228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7" name="Example thread 5 included"/>
          <p:cNvSpPr/>
          <p:nvPr/>
        </p:nvSpPr>
        <p:spPr>
          <a:xfrm>
            <a:off x="193624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5"/>
          <p:cNvSpPr/>
          <p:nvPr/>
        </p:nvSpPr>
        <p:spPr>
          <a:xfrm>
            <a:off x="193624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99" name="Example thread 6 included"/>
          <p:cNvSpPr/>
          <p:nvPr/>
        </p:nvSpPr>
        <p:spPr>
          <a:xfrm>
            <a:off x="2048256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6"/>
          <p:cNvSpPr/>
          <p:nvPr/>
        </p:nvSpPr>
        <p:spPr>
          <a:xfrm>
            <a:off x="2048256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1" name="Example thread 7 included"/>
          <p:cNvSpPr/>
          <p:nvPr/>
        </p:nvSpPr>
        <p:spPr>
          <a:xfrm>
            <a:off x="2160270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7"/>
          <p:cNvSpPr/>
          <p:nvPr/>
        </p:nvSpPr>
        <p:spPr>
          <a:xfrm>
            <a:off x="2160270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3" name="Example thread 8 included"/>
          <p:cNvSpPr/>
          <p:nvPr/>
        </p:nvSpPr>
        <p:spPr>
          <a:xfrm>
            <a:off x="2272284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8"/>
          <p:cNvSpPr/>
          <p:nvPr/>
        </p:nvSpPr>
        <p:spPr>
          <a:xfrm>
            <a:off x="2272284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5" name="Example thread 9 included"/>
          <p:cNvSpPr/>
          <p:nvPr/>
        </p:nvSpPr>
        <p:spPr>
          <a:xfrm>
            <a:off x="2384298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9"/>
          <p:cNvSpPr/>
          <p:nvPr/>
        </p:nvSpPr>
        <p:spPr>
          <a:xfrm>
            <a:off x="2384298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7" name="Example thread 10 included"/>
          <p:cNvSpPr/>
          <p:nvPr/>
        </p:nvSpPr>
        <p:spPr>
          <a:xfrm>
            <a:off x="249631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10"/>
          <p:cNvSpPr/>
          <p:nvPr/>
        </p:nvSpPr>
        <p:spPr>
          <a:xfrm>
            <a:off x="249631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09" name="Example thread 11 included"/>
          <p:cNvSpPr/>
          <p:nvPr/>
        </p:nvSpPr>
        <p:spPr>
          <a:xfrm>
            <a:off x="2608326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1"/>
          <p:cNvSpPr/>
          <p:nvPr/>
        </p:nvSpPr>
        <p:spPr>
          <a:xfrm>
            <a:off x="2608326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1" name="Example thread 12 included"/>
          <p:cNvSpPr/>
          <p:nvPr/>
        </p:nvSpPr>
        <p:spPr>
          <a:xfrm>
            <a:off x="2720340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2"/>
          <p:cNvSpPr/>
          <p:nvPr/>
        </p:nvSpPr>
        <p:spPr>
          <a:xfrm>
            <a:off x="2720340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3" name="Example thread 13 included"/>
          <p:cNvSpPr/>
          <p:nvPr/>
        </p:nvSpPr>
        <p:spPr>
          <a:xfrm>
            <a:off x="2832354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3"/>
          <p:cNvSpPr/>
          <p:nvPr/>
        </p:nvSpPr>
        <p:spPr>
          <a:xfrm>
            <a:off x="2832354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5" name="Example thread 14 included"/>
          <p:cNvSpPr/>
          <p:nvPr/>
        </p:nvSpPr>
        <p:spPr>
          <a:xfrm>
            <a:off x="2944368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4"/>
          <p:cNvSpPr/>
          <p:nvPr/>
        </p:nvSpPr>
        <p:spPr>
          <a:xfrm>
            <a:off x="2944368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7" name="Example thread 15 included"/>
          <p:cNvSpPr/>
          <p:nvPr/>
        </p:nvSpPr>
        <p:spPr>
          <a:xfrm>
            <a:off x="305638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5"/>
          <p:cNvSpPr/>
          <p:nvPr/>
        </p:nvSpPr>
        <p:spPr>
          <a:xfrm>
            <a:off x="305638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19" name="Example thread 16 included"/>
          <p:cNvSpPr/>
          <p:nvPr/>
        </p:nvSpPr>
        <p:spPr>
          <a:xfrm>
            <a:off x="1376172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6"/>
          <p:cNvSpPr/>
          <p:nvPr/>
        </p:nvSpPr>
        <p:spPr>
          <a:xfrm>
            <a:off x="137617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1" name="Example thread 17 included"/>
          <p:cNvSpPr/>
          <p:nvPr/>
        </p:nvSpPr>
        <p:spPr>
          <a:xfrm>
            <a:off x="1488186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7"/>
          <p:cNvSpPr/>
          <p:nvPr/>
        </p:nvSpPr>
        <p:spPr>
          <a:xfrm>
            <a:off x="1488186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3" name="Example thread 18 included"/>
          <p:cNvSpPr/>
          <p:nvPr/>
        </p:nvSpPr>
        <p:spPr>
          <a:xfrm>
            <a:off x="1600200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8"/>
          <p:cNvSpPr/>
          <p:nvPr/>
        </p:nvSpPr>
        <p:spPr>
          <a:xfrm>
            <a:off x="1600200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5" name="Example thread 19 included"/>
          <p:cNvSpPr/>
          <p:nvPr/>
        </p:nvSpPr>
        <p:spPr>
          <a:xfrm>
            <a:off x="1712214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9"/>
          <p:cNvSpPr/>
          <p:nvPr/>
        </p:nvSpPr>
        <p:spPr>
          <a:xfrm>
            <a:off x="1712214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7" name="Example thread 20 excluded"/>
          <p:cNvSpPr/>
          <p:nvPr/>
        </p:nvSpPr>
        <p:spPr>
          <a:xfrm>
            <a:off x="1824228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8" name="20"/>
          <p:cNvSpPr/>
          <p:nvPr/>
        </p:nvSpPr>
        <p:spPr>
          <a:xfrm>
            <a:off x="1824228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29" name="Example thread 21 excluded"/>
          <p:cNvSpPr/>
          <p:nvPr/>
        </p:nvSpPr>
        <p:spPr>
          <a:xfrm>
            <a:off x="1936242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1"/>
          <p:cNvSpPr/>
          <p:nvPr/>
        </p:nvSpPr>
        <p:spPr>
          <a:xfrm>
            <a:off x="193624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1" name="Example thread 22 excluded"/>
          <p:cNvSpPr/>
          <p:nvPr/>
        </p:nvSpPr>
        <p:spPr>
          <a:xfrm>
            <a:off x="2048256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2"/>
          <p:cNvSpPr/>
          <p:nvPr/>
        </p:nvSpPr>
        <p:spPr>
          <a:xfrm>
            <a:off x="2048256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3" name="Example thread 23 excluded"/>
          <p:cNvSpPr/>
          <p:nvPr/>
        </p:nvSpPr>
        <p:spPr>
          <a:xfrm>
            <a:off x="2160270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3"/>
          <p:cNvSpPr/>
          <p:nvPr/>
        </p:nvSpPr>
        <p:spPr>
          <a:xfrm>
            <a:off x="2160270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5" name="Example thread 24 excluded"/>
          <p:cNvSpPr/>
          <p:nvPr/>
        </p:nvSpPr>
        <p:spPr>
          <a:xfrm>
            <a:off x="2272284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4"/>
          <p:cNvSpPr/>
          <p:nvPr/>
        </p:nvSpPr>
        <p:spPr>
          <a:xfrm>
            <a:off x="2272284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7" name="Example thread 25 excluded"/>
          <p:cNvSpPr/>
          <p:nvPr/>
        </p:nvSpPr>
        <p:spPr>
          <a:xfrm>
            <a:off x="2384298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5"/>
          <p:cNvSpPr/>
          <p:nvPr/>
        </p:nvSpPr>
        <p:spPr>
          <a:xfrm>
            <a:off x="2384298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39" name="Example thread 26 excluded"/>
          <p:cNvSpPr/>
          <p:nvPr/>
        </p:nvSpPr>
        <p:spPr>
          <a:xfrm>
            <a:off x="2496312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6"/>
          <p:cNvSpPr/>
          <p:nvPr/>
        </p:nvSpPr>
        <p:spPr>
          <a:xfrm>
            <a:off x="249631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1" name="Example thread 27 excluded"/>
          <p:cNvSpPr/>
          <p:nvPr/>
        </p:nvSpPr>
        <p:spPr>
          <a:xfrm>
            <a:off x="2608326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7"/>
          <p:cNvSpPr/>
          <p:nvPr/>
        </p:nvSpPr>
        <p:spPr>
          <a:xfrm>
            <a:off x="2608326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3" name="Example thread 28 excluded"/>
          <p:cNvSpPr/>
          <p:nvPr/>
        </p:nvSpPr>
        <p:spPr>
          <a:xfrm>
            <a:off x="2720340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8"/>
          <p:cNvSpPr/>
          <p:nvPr/>
        </p:nvSpPr>
        <p:spPr>
          <a:xfrm>
            <a:off x="2720340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5" name="Example thread 29 excluded"/>
          <p:cNvSpPr/>
          <p:nvPr/>
        </p:nvSpPr>
        <p:spPr>
          <a:xfrm>
            <a:off x="2832354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9"/>
          <p:cNvSpPr/>
          <p:nvPr/>
        </p:nvSpPr>
        <p:spPr>
          <a:xfrm>
            <a:off x="2832354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7" name="Example thread 30 excluded"/>
          <p:cNvSpPr/>
          <p:nvPr/>
        </p:nvSpPr>
        <p:spPr>
          <a:xfrm>
            <a:off x="2944368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30"/>
          <p:cNvSpPr/>
          <p:nvPr/>
        </p:nvSpPr>
        <p:spPr>
          <a:xfrm>
            <a:off x="2944368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49" name="Example thread 31 excluded"/>
          <p:cNvSpPr/>
          <p:nvPr/>
        </p:nvSpPr>
        <p:spPr>
          <a:xfrm>
            <a:off x="3056382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1"/>
          <p:cNvSpPr/>
          <p:nvPr/>
        </p:nvSpPr>
        <p:spPr>
          <a:xfrm>
            <a:off x="305638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1" name="Second mapping · form four groups of 5"/>
          <p:cNvSpPr/>
          <p:nvPr/>
        </p:nvSpPr>
        <p:spPr>
          <a:xfrm>
            <a:off x="13235940" y="1568196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Second mapping · form four groups of 5</a:t>
            </a:r>
          </a:p>
        </p:txBody>
      </p:sp>
      <p:sp>
        <p:nvSpPr>
          <p:cNvPr id="152" name="Example warp: 32 threads"/>
          <p:cNvSpPr/>
          <p:nvPr/>
        </p:nvSpPr>
        <p:spPr>
          <a:xfrm>
            <a:off x="13373100" y="1636776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3" name="Partition 0, row 0, threads 0,1,2,3,4"/>
          <p:cNvSpPr/>
          <p:nvPr/>
        </p:nvSpPr>
        <p:spPr>
          <a:xfrm>
            <a:off x="13624560" y="1645920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54" name="Partition 1, row 0, threads 5,6,7,8,9"/>
          <p:cNvSpPr/>
          <p:nvPr/>
        </p:nvSpPr>
        <p:spPr>
          <a:xfrm>
            <a:off x="19225260" y="1645920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55" name="Partition 2, row 0, threads 10,11,12,13,14"/>
          <p:cNvSpPr/>
          <p:nvPr/>
        </p:nvSpPr>
        <p:spPr>
          <a:xfrm>
            <a:off x="24825960" y="1645920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56" name="Partition 3, row 0, threads 15"/>
          <p:cNvSpPr/>
          <p:nvPr/>
        </p:nvSpPr>
        <p:spPr>
          <a:xfrm>
            <a:off x="30426660" y="1645920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7" name="Partition 3, row 1, threads 16,17,18,19"/>
          <p:cNvSpPr/>
          <p:nvPr/>
        </p:nvSpPr>
        <p:spPr>
          <a:xfrm>
            <a:off x="13624560" y="17350740"/>
            <a:ext cx="41376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8" name="Example thread 0 included"/>
          <p:cNvSpPr/>
          <p:nvPr/>
        </p:nvSpPr>
        <p:spPr>
          <a:xfrm>
            <a:off x="137617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0"/>
          <p:cNvSpPr/>
          <p:nvPr/>
        </p:nvSpPr>
        <p:spPr>
          <a:xfrm>
            <a:off x="137617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60" name="Example thread 1 included"/>
          <p:cNvSpPr/>
          <p:nvPr/>
        </p:nvSpPr>
        <p:spPr>
          <a:xfrm>
            <a:off x="1488186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1"/>
          <p:cNvSpPr/>
          <p:nvPr/>
        </p:nvSpPr>
        <p:spPr>
          <a:xfrm>
            <a:off x="1488186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62" name="Example thread 2 included"/>
          <p:cNvSpPr/>
          <p:nvPr/>
        </p:nvSpPr>
        <p:spPr>
          <a:xfrm>
            <a:off x="1600200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2"/>
          <p:cNvSpPr/>
          <p:nvPr/>
        </p:nvSpPr>
        <p:spPr>
          <a:xfrm>
            <a:off x="1600200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64" name="Example thread 3 included"/>
          <p:cNvSpPr/>
          <p:nvPr/>
        </p:nvSpPr>
        <p:spPr>
          <a:xfrm>
            <a:off x="1712214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3"/>
          <p:cNvSpPr/>
          <p:nvPr/>
        </p:nvSpPr>
        <p:spPr>
          <a:xfrm>
            <a:off x="1712214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66" name="Example thread 4 included"/>
          <p:cNvSpPr/>
          <p:nvPr/>
        </p:nvSpPr>
        <p:spPr>
          <a:xfrm>
            <a:off x="1824228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4"/>
          <p:cNvSpPr/>
          <p:nvPr/>
        </p:nvSpPr>
        <p:spPr>
          <a:xfrm>
            <a:off x="1824228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68" name="Example thread 5 included"/>
          <p:cNvSpPr/>
          <p:nvPr/>
        </p:nvSpPr>
        <p:spPr>
          <a:xfrm>
            <a:off x="193624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5"/>
          <p:cNvSpPr/>
          <p:nvPr/>
        </p:nvSpPr>
        <p:spPr>
          <a:xfrm>
            <a:off x="193624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70" name="Example thread 6 included"/>
          <p:cNvSpPr/>
          <p:nvPr/>
        </p:nvSpPr>
        <p:spPr>
          <a:xfrm>
            <a:off x="2048256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6"/>
          <p:cNvSpPr/>
          <p:nvPr/>
        </p:nvSpPr>
        <p:spPr>
          <a:xfrm>
            <a:off x="2048256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72" name="Example thread 7 included"/>
          <p:cNvSpPr/>
          <p:nvPr/>
        </p:nvSpPr>
        <p:spPr>
          <a:xfrm>
            <a:off x="2160270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7"/>
          <p:cNvSpPr/>
          <p:nvPr/>
        </p:nvSpPr>
        <p:spPr>
          <a:xfrm>
            <a:off x="2160270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74" name="Example thread 8 included"/>
          <p:cNvSpPr/>
          <p:nvPr/>
        </p:nvSpPr>
        <p:spPr>
          <a:xfrm>
            <a:off x="2272284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8"/>
          <p:cNvSpPr/>
          <p:nvPr/>
        </p:nvSpPr>
        <p:spPr>
          <a:xfrm>
            <a:off x="2272284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76" name="Example thread 9 included"/>
          <p:cNvSpPr/>
          <p:nvPr/>
        </p:nvSpPr>
        <p:spPr>
          <a:xfrm>
            <a:off x="2384298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9"/>
          <p:cNvSpPr/>
          <p:nvPr/>
        </p:nvSpPr>
        <p:spPr>
          <a:xfrm>
            <a:off x="2384298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78" name="Example thread 10 included"/>
          <p:cNvSpPr/>
          <p:nvPr/>
        </p:nvSpPr>
        <p:spPr>
          <a:xfrm>
            <a:off x="249631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10"/>
          <p:cNvSpPr/>
          <p:nvPr/>
        </p:nvSpPr>
        <p:spPr>
          <a:xfrm>
            <a:off x="249631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80" name="Example thread 11 included"/>
          <p:cNvSpPr/>
          <p:nvPr/>
        </p:nvSpPr>
        <p:spPr>
          <a:xfrm>
            <a:off x="2608326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11"/>
          <p:cNvSpPr/>
          <p:nvPr/>
        </p:nvSpPr>
        <p:spPr>
          <a:xfrm>
            <a:off x="2608326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82" name="Example thread 12 included"/>
          <p:cNvSpPr/>
          <p:nvPr/>
        </p:nvSpPr>
        <p:spPr>
          <a:xfrm>
            <a:off x="2720340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12"/>
          <p:cNvSpPr/>
          <p:nvPr/>
        </p:nvSpPr>
        <p:spPr>
          <a:xfrm>
            <a:off x="2720340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84" name="Example thread 13 included"/>
          <p:cNvSpPr/>
          <p:nvPr/>
        </p:nvSpPr>
        <p:spPr>
          <a:xfrm>
            <a:off x="2832354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13"/>
          <p:cNvSpPr/>
          <p:nvPr/>
        </p:nvSpPr>
        <p:spPr>
          <a:xfrm>
            <a:off x="2832354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86" name="Example thread 14 included"/>
          <p:cNvSpPr/>
          <p:nvPr/>
        </p:nvSpPr>
        <p:spPr>
          <a:xfrm>
            <a:off x="2944368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14"/>
          <p:cNvSpPr/>
          <p:nvPr/>
        </p:nvSpPr>
        <p:spPr>
          <a:xfrm>
            <a:off x="2944368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88" name="Example thread 15 included"/>
          <p:cNvSpPr/>
          <p:nvPr/>
        </p:nvSpPr>
        <p:spPr>
          <a:xfrm>
            <a:off x="305638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15"/>
          <p:cNvSpPr/>
          <p:nvPr/>
        </p:nvSpPr>
        <p:spPr>
          <a:xfrm>
            <a:off x="305638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90" name="Example thread 16 included"/>
          <p:cNvSpPr/>
          <p:nvPr/>
        </p:nvSpPr>
        <p:spPr>
          <a:xfrm>
            <a:off x="1376172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16"/>
          <p:cNvSpPr/>
          <p:nvPr/>
        </p:nvSpPr>
        <p:spPr>
          <a:xfrm>
            <a:off x="137617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92" name="Example thread 17 included"/>
          <p:cNvSpPr/>
          <p:nvPr/>
        </p:nvSpPr>
        <p:spPr>
          <a:xfrm>
            <a:off x="1488186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17"/>
          <p:cNvSpPr/>
          <p:nvPr/>
        </p:nvSpPr>
        <p:spPr>
          <a:xfrm>
            <a:off x="1488186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94" name="Example thread 18 included"/>
          <p:cNvSpPr/>
          <p:nvPr/>
        </p:nvSpPr>
        <p:spPr>
          <a:xfrm>
            <a:off x="1600200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18"/>
          <p:cNvSpPr/>
          <p:nvPr/>
        </p:nvSpPr>
        <p:spPr>
          <a:xfrm>
            <a:off x="1600200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96" name="Example thread 19 included"/>
          <p:cNvSpPr/>
          <p:nvPr/>
        </p:nvSpPr>
        <p:spPr>
          <a:xfrm>
            <a:off x="1712214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19"/>
          <p:cNvSpPr/>
          <p:nvPr/>
        </p:nvSpPr>
        <p:spPr>
          <a:xfrm>
            <a:off x="1712214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98" name="Example thread 20 excluded"/>
          <p:cNvSpPr/>
          <p:nvPr/>
        </p:nvSpPr>
        <p:spPr>
          <a:xfrm>
            <a:off x="1824228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99" name="20"/>
          <p:cNvSpPr/>
          <p:nvPr/>
        </p:nvSpPr>
        <p:spPr>
          <a:xfrm>
            <a:off x="1824228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200" name="Example thread 21 excluded"/>
          <p:cNvSpPr/>
          <p:nvPr/>
        </p:nvSpPr>
        <p:spPr>
          <a:xfrm>
            <a:off x="1936242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1" name="21"/>
          <p:cNvSpPr/>
          <p:nvPr/>
        </p:nvSpPr>
        <p:spPr>
          <a:xfrm>
            <a:off x="193624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202" name="Example thread 22 excluded"/>
          <p:cNvSpPr/>
          <p:nvPr/>
        </p:nvSpPr>
        <p:spPr>
          <a:xfrm>
            <a:off x="2048256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3" name="22"/>
          <p:cNvSpPr/>
          <p:nvPr/>
        </p:nvSpPr>
        <p:spPr>
          <a:xfrm>
            <a:off x="2048256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204" name="Example thread 23 excluded"/>
          <p:cNvSpPr/>
          <p:nvPr/>
        </p:nvSpPr>
        <p:spPr>
          <a:xfrm>
            <a:off x="2160270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5" name="23"/>
          <p:cNvSpPr/>
          <p:nvPr/>
        </p:nvSpPr>
        <p:spPr>
          <a:xfrm>
            <a:off x="2160270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206" name="Example thread 24 excluded"/>
          <p:cNvSpPr/>
          <p:nvPr/>
        </p:nvSpPr>
        <p:spPr>
          <a:xfrm>
            <a:off x="2272284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7" name="24"/>
          <p:cNvSpPr/>
          <p:nvPr/>
        </p:nvSpPr>
        <p:spPr>
          <a:xfrm>
            <a:off x="2272284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208" name="Example thread 25 excluded"/>
          <p:cNvSpPr/>
          <p:nvPr/>
        </p:nvSpPr>
        <p:spPr>
          <a:xfrm>
            <a:off x="2384298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9" name="25"/>
          <p:cNvSpPr/>
          <p:nvPr/>
        </p:nvSpPr>
        <p:spPr>
          <a:xfrm>
            <a:off x="2384298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210" name="Example thread 26 excluded"/>
          <p:cNvSpPr/>
          <p:nvPr/>
        </p:nvSpPr>
        <p:spPr>
          <a:xfrm>
            <a:off x="2496312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1" name="26"/>
          <p:cNvSpPr/>
          <p:nvPr/>
        </p:nvSpPr>
        <p:spPr>
          <a:xfrm>
            <a:off x="249631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212" name="Example thread 27 excluded"/>
          <p:cNvSpPr/>
          <p:nvPr/>
        </p:nvSpPr>
        <p:spPr>
          <a:xfrm>
            <a:off x="2608326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3" name="27"/>
          <p:cNvSpPr/>
          <p:nvPr/>
        </p:nvSpPr>
        <p:spPr>
          <a:xfrm>
            <a:off x="2608326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214" name="Example thread 28 excluded"/>
          <p:cNvSpPr/>
          <p:nvPr/>
        </p:nvSpPr>
        <p:spPr>
          <a:xfrm>
            <a:off x="2720340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5" name="28"/>
          <p:cNvSpPr/>
          <p:nvPr/>
        </p:nvSpPr>
        <p:spPr>
          <a:xfrm>
            <a:off x="2720340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216" name="Example thread 29 excluded"/>
          <p:cNvSpPr/>
          <p:nvPr/>
        </p:nvSpPr>
        <p:spPr>
          <a:xfrm>
            <a:off x="2832354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7" name="29"/>
          <p:cNvSpPr/>
          <p:nvPr/>
        </p:nvSpPr>
        <p:spPr>
          <a:xfrm>
            <a:off x="2832354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218" name="Example thread 30 excluded"/>
          <p:cNvSpPr/>
          <p:nvPr/>
        </p:nvSpPr>
        <p:spPr>
          <a:xfrm>
            <a:off x="2944368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9" name="30"/>
          <p:cNvSpPr/>
          <p:nvPr/>
        </p:nvSpPr>
        <p:spPr>
          <a:xfrm>
            <a:off x="2944368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220" name="Example thread 31 excluded"/>
          <p:cNvSpPr/>
          <p:nvPr/>
        </p:nvSpPr>
        <p:spPr>
          <a:xfrm>
            <a:off x="3056382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1" name="31"/>
          <p:cNvSpPr/>
          <p:nvPr/>
        </p:nvSpPr>
        <p:spPr>
          <a:xfrm>
            <a:off x="305638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222" name="Shape"/>
          <p:cNvSpPr/>
          <p:nvPr/>
        </p:nvSpPr>
        <p:spPr>
          <a:xfrm>
            <a:off x="32232600" y="11064240"/>
            <a:ext cx="64008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3" name="Shape"/>
          <p:cNvSpPr/>
          <p:nvPr/>
        </p:nvSpPr>
        <p:spPr>
          <a:xfrm>
            <a:off x="32232600" y="14950440"/>
            <a:ext cx="64008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4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 name="Group Synchroniz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Synchronizers</a:t>
            </a:r>
          </a:p>
        </p:txBody>
      </p:sp>
      <p:sp>
        <p:nvSpPr>
          <p:cNvPr id="3" name="Create the synchronization mechanism for each sub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Create the synchronization mechanism for each subgroup</a:t>
            </a:r>
          </a:p>
        </p:txBody>
      </p:sp>
      <p:sp>
        <p:nvSpPr>
          <p:cNvPr id="4" name="3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5" name="Determines how the subgroups are synchronized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Determines how the subgroups are synchronized</a:t>
            </a:r>
          </a:p>
        </p:txBody>
      </p:sp>
      <p:sp>
        <p:nvSpPr>
          <p:cNvPr id="6" name="Needs to implement the `make_instance` method that returns the `/"/>
          <p:cNvSpPr/>
          <p:nvPr/>
        </p:nvSpPr>
        <p:spPr>
          <a:xfrm>
            <a:off x="1874520" y="6286500"/>
            <a:ext cx="32346900" cy="16230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returns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/*group-synchronizer-instance*/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8526780"/>
            <a:ext cx="32918400" cy="8001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9098280"/>
            <a:ext cx="31912560" cy="66751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MappingResult&gt;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/*group-synchronizer*/ =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(T&amp; t,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MappingResult&amp; mapping_result)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{ t.make_instance(unit, parent_group, mapping_result) 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-&gt; /*group-synchronizer-instance*/&lt;MappingResult,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ParentGroup::hierarchy_type&gt;;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Predefined Group Synchronizers — level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5" name="Current synchronizer"/>
          <p:cNvSpPr/>
          <p:nvPr/>
        </p:nvSpPr>
        <p:spPr>
          <a:xfrm>
            <a:off x="1828800" y="530352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30352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level_synchronizer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Synchronizes all threads within the group's level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Synchronizes all threads within the group's level.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1645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level_synchronizer s{};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Level" descr="Supplemental synchronizer detail from repository docs and headers"/>
          <p:cNvSpPr/>
          <p:nvPr/>
        </p:nvSpPr>
        <p:spPr>
          <a:xfrm>
            <a:off x="13235940" y="12138660"/>
            <a:ext cx="36576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Level</a:t>
            </a:r>
          </a:p>
        </p:txBody>
      </p:sp>
      <p:sp>
        <p:nvSpPr>
          <p:cNvPr id="18" name="sync()" descr="Supplemental synchronizer detail from repository docs and headers"/>
          <p:cNvSpPr/>
          <p:nvPr/>
        </p:nvSpPr>
        <p:spPr>
          <a:xfrm>
            <a:off x="17259300" y="12138660"/>
            <a:ext cx="7543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9" name="sync_aligned()" descr="Supplemental synchronizer detail from repository docs and headers"/>
          <p:cNvSpPr/>
          <p:nvPr/>
        </p:nvSpPr>
        <p:spPr>
          <a:xfrm>
            <a:off x="25374600" y="12138660"/>
            <a:ext cx="89154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20" name="Shape"/>
          <p:cNvSpPr/>
          <p:nvPr/>
        </p:nvSpPr>
        <p:spPr>
          <a:xfrm>
            <a:off x="13235940" y="128016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" descr="Supplemental synchronizer detail from repository docs and headers"/>
          <p:cNvSpPr/>
          <p:nvPr/>
        </p:nvSpPr>
        <p:spPr>
          <a:xfrm>
            <a:off x="13235940" y="129844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Thread</a:t>
            </a:r>
          </a:p>
        </p:txBody>
      </p:sp>
      <p:sp>
        <p:nvSpPr>
          <p:cNvPr id="22" name="No operation" descr="Supplemental synchronizer detail from repository docs and headers"/>
          <p:cNvSpPr/>
          <p:nvPr/>
        </p:nvSpPr>
        <p:spPr>
          <a:xfrm>
            <a:off x="17259300" y="129844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3" name="No operation" descr="Supplemental synchronizer detail from repository docs and headers"/>
          <p:cNvSpPr/>
          <p:nvPr/>
        </p:nvSpPr>
        <p:spPr>
          <a:xfrm>
            <a:off x="25374600" y="129844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4" name="Shape"/>
          <p:cNvSpPr/>
          <p:nvPr/>
        </p:nvSpPr>
        <p:spPr>
          <a:xfrm>
            <a:off x="13235940" y="138303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5" name="Warp" descr="Supplemental synchronizer detail from repository docs and headers"/>
          <p:cNvSpPr/>
          <p:nvPr/>
        </p:nvSpPr>
        <p:spPr>
          <a:xfrm>
            <a:off x="13235940" y="140131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Warp</a:t>
            </a:r>
          </a:p>
        </p:txBody>
      </p:sp>
      <p:sp>
        <p:nvSpPr>
          <p:cNvPr id="26" name="`__syncwarp()`" descr="Supplemental synchronizer detail from repository docs and headers"/>
          <p:cNvSpPr/>
          <p:nvPr/>
        </p:nvSpPr>
        <p:spPr>
          <a:xfrm>
            <a:off x="17259300" y="140131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7" name="`__syncwarp()`" descr="Supplemental synchronizer detail from repository docs and headers"/>
          <p:cNvSpPr/>
          <p:nvPr/>
        </p:nvSpPr>
        <p:spPr>
          <a:xfrm>
            <a:off x="25374600" y="140131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8" name="Shape"/>
          <p:cNvSpPr/>
          <p:nvPr/>
        </p:nvSpPr>
        <p:spPr>
          <a:xfrm>
            <a:off x="13235940" y="148590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9" name="Block" descr="Supplemental synchronizer detail from repository docs and headers"/>
          <p:cNvSpPr/>
          <p:nvPr/>
        </p:nvSpPr>
        <p:spPr>
          <a:xfrm>
            <a:off x="13235940" y="150418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Block</a:t>
            </a:r>
          </a:p>
        </p:txBody>
      </p:sp>
      <p:sp>
        <p:nvSpPr>
          <p:cNvPr id="30" name="`__barrier_sync(0)`" descr="Supplemental synchronizer detail from repository docs and headers"/>
          <p:cNvSpPr/>
          <p:nvPr/>
        </p:nvSpPr>
        <p:spPr>
          <a:xfrm>
            <a:off x="17259300" y="150418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__barrier_sync(0)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`__syncthreads()`" descr="Supplemental synchronizer detail from repository docs and headers"/>
          <p:cNvSpPr/>
          <p:nvPr/>
        </p:nvSpPr>
        <p:spPr>
          <a:xfrm>
            <a:off x="25374600" y="150418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__syncthreads()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2" name="Shape"/>
          <p:cNvSpPr/>
          <p:nvPr/>
        </p:nvSpPr>
        <p:spPr>
          <a:xfrm>
            <a:off x="13235940" y="158877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3" name="Cluster" descr="Supplemental synchronizer detail from repository docs and headers"/>
          <p:cNvSpPr/>
          <p:nvPr/>
        </p:nvSpPr>
        <p:spPr>
          <a:xfrm>
            <a:off x="13235940" y="160705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Cluster</a:t>
            </a:r>
          </a:p>
        </p:txBody>
      </p:sp>
      <p:sp>
        <p:nvSpPr>
          <p:cNvPr id="34" name="Cluster arrive + wait" descr="Supplemental synchronizer detail from repository docs and headers"/>
          <p:cNvSpPr/>
          <p:nvPr/>
        </p:nvSpPr>
        <p:spPr>
          <a:xfrm>
            <a:off x="17259300" y="160705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 arrive + wait</a:t>
            </a:r>
          </a:p>
        </p:txBody>
      </p:sp>
      <p:sp>
        <p:nvSpPr>
          <p:cNvPr id="35" name="Aligned arrive + wait" descr="Supplemental synchronizer detail from repository docs and headers"/>
          <p:cNvSpPr/>
          <p:nvPr/>
        </p:nvSpPr>
        <p:spPr>
          <a:xfrm>
            <a:off x="25374600" y="160705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Aligned arrive + wait</a:t>
            </a:r>
          </a:p>
        </p:txBody>
      </p:sp>
      <p:sp>
        <p:nvSpPr>
          <p:cNvPr id="36" name="Shape"/>
          <p:cNvSpPr/>
          <p:nvPr/>
        </p:nvSpPr>
        <p:spPr>
          <a:xfrm>
            <a:off x="13235940" y="169164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7" name="Grid" descr="Supplemental synchronizer detail from repository docs and headers"/>
          <p:cNvSpPr/>
          <p:nvPr/>
        </p:nvSpPr>
        <p:spPr>
          <a:xfrm>
            <a:off x="13235940" y="170992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Grid</a:t>
            </a:r>
          </a:p>
        </p:txBody>
      </p:sp>
      <p:sp>
        <p:nvSpPr>
          <p:cNvPr id="38" name="Block + global + block barriers" descr="Supplemental synchronizer detail from repository docs and headers"/>
          <p:cNvSpPr/>
          <p:nvPr/>
        </p:nvSpPr>
        <p:spPr>
          <a:xfrm>
            <a:off x="17259300" y="170992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9" name="Block + global + block barriers" descr="Supplemental synchronizer detail from repository docs and headers"/>
          <p:cNvSpPr/>
          <p:nvPr/>
        </p:nvSpPr>
        <p:spPr>
          <a:xfrm>
            <a:off x="25374600" y="170992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40" name="Grid synchronization requires a cooperative kernel launch." descr="Supplemental synchronizer detail from repository docs and headers"/>
          <p:cNvSpPr/>
          <p:nvPr/>
        </p:nvSpPr>
        <p:spPr>
          <a:xfrm>
            <a:off x="13235940" y="18608040"/>
            <a:ext cx="2125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Grid synchronization requires a cooperative kernel launch.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 name="Predefined Group Synchronizers — lane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32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synchronizer"/>
          <p:cNvSpPr/>
          <p:nvPr/>
        </p:nvSpPr>
        <p:spPr>
          <a:xfrm>
            <a:off x="1828800" y="820674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820674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lane_synchronizer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syncwarp(mask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__syncwarp(mask)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1645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 s{};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213866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213866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298448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syncwarp(lane_mask)" descr="Supplemental synchronizer detail from repository docs and headers"/>
          <p:cNvSpPr/>
          <p:nvPr/>
        </p:nvSpPr>
        <p:spPr>
          <a:xfrm>
            <a:off x="13235940" y="1344168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1" name="__syncwarp(lane_mask)" descr="Supplemental synchronizer detail from repository docs and headers"/>
          <p:cNvSpPr/>
          <p:nvPr/>
        </p:nvSpPr>
        <p:spPr>
          <a:xfrm>
            <a:off x="24094440" y="1344168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49733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Uses the final mapping result’s lane mask.&#10;For groups of threads " descr="Supplemental synchronizer detail from repository docs and headers"/>
          <p:cNvSpPr/>
          <p:nvPr/>
        </p:nvSpPr>
        <p:spPr>
          <a:xfrm>
            <a:off x="13235940" y="16893540"/>
            <a:ext cx="21259800" cy="1645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Uses the final mapping result’s lane mask.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groups of threads within a single warp.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 name="Predefined Group Synchronizers — interwarp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33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synchronizer"/>
          <p:cNvSpPr/>
          <p:nvPr/>
        </p:nvSpPr>
        <p:spPr>
          <a:xfrm>
            <a:off x="1828800" y="1110996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1110996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interwarp_synchronizer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barrier_sync_count(barrier_id, nthreads)` for synchroniza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Array of warp barrier IDs.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cuda::std::array array{1, 3, 5, 7};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The constructor accepts any range of warp barrier IDs.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cudax::coop::interwarp_synchronizer s{array};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barrier_sync_count(barrier_id, nthreads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1" name="__barrier_sync_count(barrier_id, nthreads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For warps within one block; both calls use the counted, unaligned" descr="Supplemental synchronizer detail from repository docs and headers"/>
          <p:cNvSpPr/>
          <p:nvPr/>
        </p:nvSpPr>
        <p:spPr>
          <a:xfrm>
            <a:off x="13235940" y="16893540"/>
            <a:ext cx="21259800" cy="2011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For warps within one block; both calls use the counted, unaligned barrier.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Use unique barrier IDs 1–15, one per subgroup.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 name="Predefined Group Synchronizers — barrier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34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synchronizer"/>
          <p:cNvSpPr/>
          <p:nvPr/>
        </p:nvSpPr>
        <p:spPr>
          <a:xfrm>
            <a:off x="1828800" y="1401318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401318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barrier_synchronizer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cuda::barrier::arrive_and_wait(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cuda::barrier::arrive_and_wait()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Array of uninitialized block-scope barriers in shared memory.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__shared__ cuda::barrier&lt;cuda::thread_scope_block&gt; block_barriers[8];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The constructor accepts a contiguous range of CUDA barriers.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cudax::coop::barrier_synchronizer s{block_barriers};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barrier.arrive_and_wait(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1" name="barrier.arrive_and_wait(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Pass uninitialized barriers; one is assigned to each subgroup.&#10;Th" descr="Supplemental synchronizer detail from repository docs and headers"/>
          <p:cNvSpPr/>
          <p:nvPr/>
        </p:nvSpPr>
        <p:spPr>
          <a:xfrm>
            <a:off x="13235940" y="16893540"/>
            <a:ext cx="21259800" cy="2011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Pass uninitialized barriers; one is assigned to each subgroup.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The barrier scope must cover the group’s upper boundary.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 name="Optional participation — What we had previously — Scenari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1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Scenario 1</a:t>
            </a:r>
          </a:p>
        </p:txBody>
      </p:sp>
      <p:sp>
        <p:nvSpPr>
          <p:cNvPr id="4" name="3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35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assert(cuda::gpu_thread.is_part_of(group));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what_we_had(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cudax::coop::group_by{3},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 name="Optional participation — What we had previously — Scenari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2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Scenario 2</a:t>
            </a:r>
          </a:p>
        </p:txBody>
      </p:sp>
      <p:sp>
        <p:nvSpPr>
          <p:cNvPr id="4" name="3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36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assert(cuda::gpu_thread.is_part_of(group));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what_we_had(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cudax::coop::group_by{cudax::coop::non_exhaustive, 3},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 name="Optional participation — What we had previously — Scenari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3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Scenario 3</a:t>
            </a:r>
          </a:p>
        </p:txBody>
      </p:sp>
      <p:sp>
        <p:nvSpPr>
          <p:cNvPr id="4" name="3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37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assert(cuda::gpu_thread.is_part_of(group));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what_we_had(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{  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cudax::coop::group_by{cudax::coop::non_exhaustive, 3},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if (cuda::gpu_thread.is_part_of(g))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{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coop_algorithm(g, ...);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}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 name="Optional participation — What we had previously — 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Conclus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Conclusion</a:t>
            </a:r>
          </a:p>
        </p:txBody>
      </p:sp>
      <p:sp>
        <p:nvSpPr>
          <p:cNvPr id="4" name="3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38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9834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peated checks"/>
          <p:cNvSpPr/>
          <p:nvPr/>
        </p:nvSpPr>
        <p:spPr>
          <a:xfrm>
            <a:off x="25146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Repeated checks</a:t>
            </a:r>
          </a:p>
        </p:txBody>
      </p:sp>
      <p:sp>
        <p:nvSpPr>
          <p:cNvPr id="9" name="You need to constantly check whether a group is valid"/>
          <p:cNvSpPr/>
          <p:nvPr/>
        </p:nvSpPr>
        <p:spPr>
          <a:xfrm>
            <a:off x="25146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0">
                <a:solidFill>
                  <a:schemeClr val="dk1"/>
                </a:solidFill>
                <a:latin typeface="NVIDIA Sans"/>
              </a:rPr>
              <a:t xml:space="preserve">You need to constantly check whether a group is valid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nvalid objects"/>
          <p:cNvSpPr/>
          <p:nvPr/>
        </p:nvSpPr>
        <p:spPr>
          <a:xfrm>
            <a:off x="195453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Invalid objects</a:t>
            </a:r>
          </a:p>
        </p:txBody>
      </p:sp>
      <p:sp>
        <p:nvSpPr>
          <p:cNvPr id="13" name="It's easy to make a mistake, because you are left with an invalid"/>
          <p:cNvSpPr/>
          <p:nvPr/>
        </p:nvSpPr>
        <p:spPr>
          <a:xfrm>
            <a:off x="195453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0">
                <a:solidFill>
                  <a:schemeClr val="dk1"/>
                </a:solidFill>
                <a:latin typeface="NVIDIA Sans"/>
              </a:rPr>
              <a:t xml:space="preserve">It's easy to make a mistake, because you are left with an invalid object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>
  <p:cSld name="Optional participation — What we have now — Factory A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Factory API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Factory API</a:t>
            </a:r>
          </a:p>
        </p:txBody>
      </p:sp>
      <p:sp>
        <p:nvSpPr>
          <p:cNvPr id="4" name="3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39</a:t>
            </a:r>
          </a:p>
        </p:txBody>
      </p:sp>
      <p:sp>
        <p:nvSpPr>
          <p:cNvPr id="5" name="Exhaustivity is a construction parameter."/>
          <p:cNvSpPr/>
          <p:nvPr/>
        </p:nvSpPr>
        <p:spPr>
          <a:xfrm>
            <a:off x="1874520" y="48691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Exhaustivity is a construction parameter.</a:t>
            </a:r>
          </a:p>
        </p:txBody>
      </p:sp>
      <p:sp>
        <p:nvSpPr>
          <p:cNvPr id="6" name=".. but for that we need a factory function, that returns `cuda::s"/>
          <p:cNvSpPr/>
          <p:nvPr/>
        </p:nvSpPr>
        <p:spPr>
          <a:xfrm>
            <a:off x="1874520" y="6240780"/>
            <a:ext cx="3234690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>.. but for that we need a factory function, that returns </a:t>
            </a:r>
            <a:r>
              <a:rPr lang="en-US" sz="4320" b="0">
                <a:solidFill>
                  <a:schemeClr val="dk1"/>
                </a:solidFill>
                <a:latin typeface="DejaVu Sans Mono"/>
              </a:rPr>
              <a:t xml:space="preserve">cuda::std::optional</a:t>
            </a: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Shape"/>
          <p:cNvSpPr/>
          <p:nvPr/>
        </p:nvSpPr>
        <p:spPr>
          <a:xfrm>
            <a:off x="1828800" y="8343900"/>
            <a:ext cx="21945600" cy="7086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286000" y="8846820"/>
            <a:ext cx="21031200" cy="60807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...&gt;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GroupTempl&gt;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[[nodiscard]] __device__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make_group(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&amp;&amp;... args)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/*GroupTempl-instantiated-with-args*/;            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...&gt;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GroupTempl&gt;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[[nodiscard]] __device__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make_group(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non_exhaustive_t&amp;,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&amp;&amp;... args)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cuda::std::optional&lt;/*GroupTempl-instantiated-with-args*/&gt;;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1"/>
          <p:cNvSpPr/>
          <p:nvPr/>
        </p:nvSpPr>
        <p:spPr>
          <a:xfrm>
            <a:off x="24688800" y="8732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0" name="Equivalent to `GroupTempl{args...}`."/>
          <p:cNvSpPr/>
          <p:nvPr/>
        </p:nvSpPr>
        <p:spPr>
          <a:xfrm>
            <a:off x="25808940" y="87325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Equivalent to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GroupTempl{args...}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.</a:t>
            </a:r>
          </a:p>
        </p:txBody>
      </p:sp>
      <p:sp>
        <p:nvSpPr>
          <p:cNvPr id="11" name="2"/>
          <p:cNvSpPr/>
          <p:nvPr/>
        </p:nvSpPr>
        <p:spPr>
          <a:xfrm>
            <a:off x="24688800" y="118186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2" name="Does non-exhaustive mapping and optionally returns the initialize"/>
          <p:cNvSpPr/>
          <p:nvPr/>
        </p:nvSpPr>
        <p:spPr>
          <a:xfrm>
            <a:off x="25808940" y="118186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Does non-exhaustive mapping and optionally returns the initialized group.</a:t>
            </a:r>
          </a:p>
        </p:txBody>
      </p:sp>
      <p:sp>
        <p:nvSpPr>
          <p:cNvPr id="13" name="Shape"/>
          <p:cNvSpPr/>
          <p:nvPr/>
        </p:nvSpPr>
        <p:spPr>
          <a:xfrm>
            <a:off x="1828800" y="16642080"/>
            <a:ext cx="329184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s a consequence, a group object is never invalid."/>
          <p:cNvSpPr/>
          <p:nvPr/>
        </p:nvSpPr>
        <p:spPr>
          <a:xfrm>
            <a:off x="1874520" y="17487900"/>
            <a:ext cx="32346900" cy="11658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1">
                <a:solidFill>
                  <a:schemeClr val="dk1"/>
                </a:solidFill>
                <a:latin typeface="NVIDIA Sans Medium"/>
              </a:rPr>
              <a:t xml:space="preserve">As a consequence, a group object is never invalid.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>
  <p:cSld name="Optional participation — What we have now — Scenario 1 works the same as bef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1 works the same as before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Scenario 1 works the same as before</a:t>
            </a:r>
          </a:p>
        </p:txBody>
      </p:sp>
      <p:sp>
        <p:nvSpPr>
          <p:cNvPr id="4" name="4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40</a:t>
            </a:r>
          </a:p>
        </p:txBody>
      </p:sp>
      <p:sp>
        <p:nvSpPr>
          <p:cNvPr id="5" name="Scenario 1 works the same as before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Scenario 1 works the same as before.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what_we_have(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cudax::coop::group_by{3},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>
  <p:cSld name="Optional participation — What we have now — Scenario 2 · Un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2 · Unchecked optional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Scenario 2 · Unchecked optional</a:t>
            </a:r>
          </a:p>
        </p:txBody>
      </p:sp>
      <p:sp>
        <p:nvSpPr>
          <p:cNvPr id="4" name="4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41</a:t>
            </a:r>
          </a:p>
        </p:txBody>
      </p:sp>
      <p:sp>
        <p:nvSpPr>
          <p:cNvPr id="5" name="An empty optional is dereferenced before checking participation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An empty optional is dereferenced before checking participation.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what_we_have(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g = cudax::coop::make_optional_group&lt;cudax::coop::generic_group&gt;(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cudax::coop::group_by{3},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cudax::coop::lane_synchronizer{});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coop_algorithm(*g,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 inside optional::operator*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 name="Optional participation — What we have now — Scenario 3 · 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3 · Checked optional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Scenario 3 · Checked optional</a:t>
            </a:r>
          </a:p>
        </p:txBody>
      </p:sp>
      <p:sp>
        <p:nvSpPr>
          <p:cNvPr id="4" name="4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42</a:t>
            </a:r>
          </a:p>
        </p:txBody>
      </p:sp>
      <p:sp>
        <p:nvSpPr>
          <p:cNvPr id="5" name="Check the optional before calling the cooperative algorithm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Check the optional before calling the cooperative algorithm.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what_we_have(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g = cudax::coop::make_optional_group&lt;cudax::coop::generic_group&gt;(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cudax::coop::group_by{3},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cudax::coop::lane_synchronizer{});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if (g)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coop_algorithm(*g, ...);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>
  <p:cSld name="Interoperability with CTK’s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teroperability with CTK’s Cooperative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Interoperability with CTK’s Cooperative Groups</a:t>
            </a:r>
          </a:p>
        </p:txBody>
      </p:sp>
      <p:sp>
        <p:nvSpPr>
          <p:cNvPr id="3" name="Equivalent groups through the factory API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Equivalent groups through the factory API</a:t>
            </a:r>
          </a:p>
        </p:txBody>
      </p:sp>
      <p:sp>
        <p:nvSpPr>
          <p:cNvPr id="4" name="4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43</a:t>
            </a:r>
          </a:p>
        </p:txBody>
      </p:sp>
      <p:sp>
        <p:nvSpPr>
          <p:cNvPr id="5" name="Every CTK's Cooperative Groups group has a CCCL equivalent."/>
          <p:cNvSpPr/>
          <p:nvPr/>
        </p:nvSpPr>
        <p:spPr>
          <a:xfrm>
            <a:off x="1874520" y="4892040"/>
            <a:ext cx="32346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Every CTK's Cooperative Groups group has a CCCL equivalent.</a:t>
            </a:r>
          </a:p>
        </p:txBody>
      </p:sp>
      <p:sp>
        <p:nvSpPr>
          <p:cNvPr id="6" name="CTK Cooperative Groups"/>
          <p:cNvSpPr/>
          <p:nvPr/>
        </p:nvSpPr>
        <p:spPr>
          <a:xfrm>
            <a:off x="2286000" y="6446520"/>
            <a:ext cx="144018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CTK Cooperative Groups</a:t>
            </a:r>
          </a:p>
        </p:txBody>
      </p:sp>
      <p:sp>
        <p:nvSpPr>
          <p:cNvPr id="7" name="CCCL Cooperative Groups"/>
          <p:cNvSpPr/>
          <p:nvPr/>
        </p:nvSpPr>
        <p:spPr>
          <a:xfrm>
            <a:off x="17716500" y="6446520"/>
            <a:ext cx="165735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73380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9" name="thread_block" descr="Supplemental interoperability detail from repository make_group.cuh"/>
          <p:cNvSpPr/>
          <p:nvPr/>
        </p:nvSpPr>
        <p:spPr>
          <a:xfrm>
            <a:off x="2286000" y="75666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</a:t>
            </a:r>
          </a:p>
        </p:txBody>
      </p:sp>
      <p:sp>
        <p:nvSpPr>
          <p:cNvPr id="10" name="this_block" descr="Supplemental interoperability detail from repository make_group.cuh"/>
          <p:cNvSpPr/>
          <p:nvPr/>
        </p:nvSpPr>
        <p:spPr>
          <a:xfrm>
            <a:off x="17716500" y="75666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this_block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83667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cluster_group" descr="Supplemental interoperability detail from repository make_group.cuh"/>
          <p:cNvSpPr/>
          <p:nvPr/>
        </p:nvSpPr>
        <p:spPr>
          <a:xfrm>
            <a:off x="2286000" y="85953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cluster_group</a:t>
            </a:r>
          </a:p>
        </p:txBody>
      </p:sp>
      <p:sp>
        <p:nvSpPr>
          <p:cNvPr id="13" name="this_cluster" descr="Supplemental interoperability detail from repository make_group.cuh"/>
          <p:cNvSpPr/>
          <p:nvPr/>
        </p:nvSpPr>
        <p:spPr>
          <a:xfrm>
            <a:off x="17716500" y="85953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this_cluster</a:t>
            </a:r>
          </a:p>
        </p:txBody>
      </p:sp>
      <p:sp>
        <p:nvSpPr>
          <p:cNvPr id="14" name="Shape"/>
          <p:cNvSpPr/>
          <p:nvPr/>
        </p:nvSpPr>
        <p:spPr>
          <a:xfrm>
            <a:off x="1828800" y="93954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5" name="grid_group" descr="Supplemental interoperability detail from repository make_group.cuh"/>
          <p:cNvSpPr/>
          <p:nvPr/>
        </p:nvSpPr>
        <p:spPr>
          <a:xfrm>
            <a:off x="2286000" y="96240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grid_group</a:t>
            </a:r>
          </a:p>
        </p:txBody>
      </p:sp>
      <p:sp>
        <p:nvSpPr>
          <p:cNvPr id="16" name="this_grid" descr="Supplemental interoperability detail from repository make_group.cuh"/>
          <p:cNvSpPr/>
          <p:nvPr/>
        </p:nvSpPr>
        <p:spPr>
          <a:xfrm>
            <a:off x="17716500" y="96240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this_grid</a:t>
            </a:r>
          </a:p>
        </p:txBody>
      </p:sp>
      <p:sp>
        <p:nvSpPr>
          <p:cNvPr id="17" name="Shape"/>
          <p:cNvSpPr/>
          <p:nvPr/>
        </p:nvSpPr>
        <p:spPr>
          <a:xfrm>
            <a:off x="1828800" y="104241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8" name="thread_block_tile&lt;1&gt; (standalone)" descr="Supplemental interoperability detail from repository make_group.cuh"/>
          <p:cNvSpPr/>
          <p:nvPr/>
        </p:nvSpPr>
        <p:spPr>
          <a:xfrm>
            <a:off x="2286000" y="106527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thread_block_tile&lt;1&gt; (standalone)</a:t>
            </a:r>
          </a:p>
        </p:txBody>
      </p:sp>
      <p:sp>
        <p:nvSpPr>
          <p:cNvPr id="19" name="this_thread" descr="Supplemental interoperability detail from repository make_group.cuh"/>
          <p:cNvSpPr/>
          <p:nvPr/>
        </p:nvSpPr>
        <p:spPr>
          <a:xfrm>
            <a:off x="17716500" y="106527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this_thread</a:t>
            </a:r>
          </a:p>
        </p:txBody>
      </p:sp>
      <p:sp>
        <p:nvSpPr>
          <p:cNvPr id="20" name="Shape"/>
          <p:cNvSpPr/>
          <p:nvPr/>
        </p:nvSpPr>
        <p:spPr>
          <a:xfrm>
            <a:off x="1828800" y="114528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_block_tile&lt;32&gt; (block parent)" descr="Supplemental interoperability detail from repository make_group.cuh"/>
          <p:cNvSpPr/>
          <p:nvPr/>
        </p:nvSpPr>
        <p:spPr>
          <a:xfrm>
            <a:off x="2286000" y="116814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thread_block_tile&lt;32&gt; (block parent)</a:t>
            </a:r>
          </a:p>
        </p:txBody>
      </p:sp>
      <p:sp>
        <p:nvSpPr>
          <p:cNvPr id="22" name="this_warp" descr="Supplemental interoperability detail from repository make_group.cuh"/>
          <p:cNvSpPr/>
          <p:nvPr/>
        </p:nvSpPr>
        <p:spPr>
          <a:xfrm>
            <a:off x="17716500" y="116814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this_warp</a:t>
            </a:r>
          </a:p>
        </p:txBody>
      </p:sp>
      <p:sp>
        <p:nvSpPr>
          <p:cNvPr id="23" name="Shape"/>
          <p:cNvSpPr/>
          <p:nvPr/>
        </p:nvSpPr>
        <p:spPr>
          <a:xfrm>
            <a:off x="1828800" y="124815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4" name="thread_block_tile&lt;Size&gt;, Size &lt; 32" descr="Supplemental interoperability detail from repository make_group.cuh"/>
          <p:cNvSpPr/>
          <p:nvPr/>
        </p:nvSpPr>
        <p:spPr>
          <a:xfrm>
            <a:off x="2286000" y="127101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thread_block_tile&lt;Size&gt;, Size &lt; 32</a:t>
            </a:r>
          </a:p>
        </p:txBody>
      </p:sp>
      <p:sp>
        <p:nvSpPr>
          <p:cNvPr id="25" name="generic_group + group_by&lt;Size&gt; + lane_synchronizer" descr="Supplemental interoperability detail from repository make_group.cuh"/>
          <p:cNvSpPr/>
          <p:nvPr/>
        </p:nvSpPr>
        <p:spPr>
          <a:xfrm>
            <a:off x="17716500" y="127101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generic_group + group_by&lt;Size&gt; + lane_synchronizer</a:t>
            </a:r>
          </a:p>
        </p:txBody>
      </p:sp>
      <p:sp>
        <p:nvSpPr>
          <p:cNvPr id="26" name="Shape"/>
          <p:cNvSpPr/>
          <p:nvPr/>
        </p:nvSpPr>
        <p:spPr>
          <a:xfrm>
            <a:off x="1828800" y="135102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7" name="coalesced_group" descr="Supplemental interoperability detail from repository make_group.cuh"/>
          <p:cNvSpPr/>
          <p:nvPr/>
        </p:nvSpPr>
        <p:spPr>
          <a:xfrm>
            <a:off x="2286000" y="137388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</a:p>
        </p:txBody>
      </p:sp>
      <p:sp>
        <p:nvSpPr>
          <p:cNvPr id="28" name="coalesced_group (untiled)" descr="Supplemental interoperability detail from repository make_group.cuh"/>
          <p:cNvSpPr/>
          <p:nvPr/>
        </p:nvSpPr>
        <p:spPr>
          <a:xfrm>
            <a:off x="17716500" y="137388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coalesced_group (untiled)</a:t>
            </a:r>
          </a:p>
        </p:txBody>
      </p:sp>
      <p:sp>
        <p:nvSpPr>
          <p:cNvPr id="30" name="We can just extend the `make_group` factory function:"/>
          <p:cNvSpPr/>
          <p:nvPr/>
        </p:nvSpPr>
        <p:spPr>
          <a:xfrm>
            <a:off x="1874520" y="16207740"/>
            <a:ext cx="323469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>We can just extend the </a:t>
            </a:r>
            <a:r>
              <a:rPr lang="en-US" sz="432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> factory function:</a:t>
            </a:r>
          </a:p>
        </p:txBody>
      </p:sp>
      <p:sp>
        <p:nvSpPr>
          <p:cNvPr id="31" name="Shape"/>
          <p:cNvSpPr/>
          <p:nvPr/>
        </p:nvSpPr>
        <p:spPr>
          <a:xfrm>
            <a:off x="1828800" y="17259300"/>
            <a:ext cx="32918400" cy="17373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32" name="Verbatim C++ snippet" descr="Verbatim fenced C++ snippet from slides.md"/>
          <p:cNvSpPr/>
          <p:nvPr/>
        </p:nvSpPr>
        <p:spPr>
          <a:xfrm>
            <a:off x="2331720" y="17510760"/>
            <a:ext cx="3191256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[[nodiscard]] __device__ group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make_group(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cg_group,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>
  <p:cSld name="Thank you for your att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&#10;for your attention"/>
          <p:cNvSpPr/>
          <p:nvPr/>
        </p:nvSpPr>
        <p:spPr>
          <a:xfrm>
            <a:off x="18059400" y="2537460"/>
            <a:ext cx="16687800" cy="5257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Thank you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44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