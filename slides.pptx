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  <p:sldId id="279" r:id="rIdDeck24"/>
    <p:sldId id="280" r:id="rIdDeck25"/>
    <p:sldId id="281" r:id="rIdDeck26"/>
    <p:sldId id="282" r:id="rIdDeck27"/>
    <p:sldId id="283" r:id="rIdDeck28"/>
    <p:sldId id="284" r:id="rIdDeck29"/>
    <p:sldId id="285" r:id="rIdDeck30"/>
    <p:sldId id="286" r:id="rIdDeck31"/>
    <p:sldId id="287" r:id="rIdDeck32"/>
    <p:sldId id="288" r:id="rIdDeck33"/>
    <p:sldId id="289" r:id="rIdDeck34"/>
    <p:sldId id="290" r:id="rIdDeck35"/>
    <p:sldId id="291" r:id="rIdDeck36"/>
    <p:sldId id="292" r:id="rIdDeck37"/>
    <p:sldId id="293" r:id="rIdDeck38"/>
    <p:sldId id="294" r:id="rIdDeck39"/>
    <p:sldId id="295" r:id="rIdDeck40"/>
    <p:sldId id="296" r:id="rIdDeck41"/>
    <p:sldId id="297" r:id="rIdDeck42"/>
    <p:sldId id="298" r:id="rIdDeck43"/>
    <p:sldId id="299" r:id="rIdDeck44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Relationship Id="rIdDeck14" Type="http://schemas.openxmlformats.org/officeDocument/2006/relationships/slide" Target="slides/slide14.xml" /><Relationship Id="rIdDeck15" Type="http://schemas.openxmlformats.org/officeDocument/2006/relationships/slide" Target="slides/slide15.xml" /><Relationship Id="rIdDeck16" Type="http://schemas.openxmlformats.org/officeDocument/2006/relationships/slide" Target="slides/slide16.xml" /><Relationship Id="rIdDeck17" Type="http://schemas.openxmlformats.org/officeDocument/2006/relationships/slide" Target="slides/slide17.xml" /><Relationship Id="rIdDeck18" Type="http://schemas.openxmlformats.org/officeDocument/2006/relationships/slide" Target="slides/slide18.xml" /><Relationship Id="rIdDeck19" Type="http://schemas.openxmlformats.org/officeDocument/2006/relationships/slide" Target="slides/slide19.xml" /><Relationship Id="rIdDeck20" Type="http://schemas.openxmlformats.org/officeDocument/2006/relationships/slide" Target="slides/slide20.xml" /><Relationship Id="rIdDeck21" Type="http://schemas.openxmlformats.org/officeDocument/2006/relationships/slide" Target="slides/slide21.xml" /><Relationship Id="rIdDeck22" Type="http://schemas.openxmlformats.org/officeDocument/2006/relationships/slide" Target="slides/slide22.xml" /><Relationship Id="rIdDeck23" Type="http://schemas.openxmlformats.org/officeDocument/2006/relationships/slide" Target="slides/slide23.xml" /><Relationship Id="rIdDeck24" Type="http://schemas.openxmlformats.org/officeDocument/2006/relationships/slide" Target="slides/slide24.xml" /><Relationship Id="rIdDeck25" Type="http://schemas.openxmlformats.org/officeDocument/2006/relationships/slide" Target="slides/slide25.xml" /><Relationship Id="rIdDeck26" Type="http://schemas.openxmlformats.org/officeDocument/2006/relationships/slide" Target="slides/slide26.xml" /><Relationship Id="rIdDeck27" Type="http://schemas.openxmlformats.org/officeDocument/2006/relationships/slide" Target="slides/slide27.xml" /><Relationship Id="rIdDeck28" Type="http://schemas.openxmlformats.org/officeDocument/2006/relationships/slide" Target="slides/slide28.xml" /><Relationship Id="rIdDeck29" Type="http://schemas.openxmlformats.org/officeDocument/2006/relationships/slide" Target="slides/slide29.xml" /><Relationship Id="rIdDeck30" Type="http://schemas.openxmlformats.org/officeDocument/2006/relationships/slide" Target="slides/slide30.xml" /><Relationship Id="rIdDeck31" Type="http://schemas.openxmlformats.org/officeDocument/2006/relationships/slide" Target="slides/slide31.xml" /><Relationship Id="rIdDeck32" Type="http://schemas.openxmlformats.org/officeDocument/2006/relationships/slide" Target="slides/slide32.xml" /><Relationship Id="rIdDeck33" Type="http://schemas.openxmlformats.org/officeDocument/2006/relationships/slide" Target="slides/slide33.xml" /><Relationship Id="rIdDeck34" Type="http://schemas.openxmlformats.org/officeDocument/2006/relationships/slide" Target="slides/slide34.xml" /><Relationship Id="rIdDeck35" Type="http://schemas.openxmlformats.org/officeDocument/2006/relationships/slide" Target="slides/slide35.xml" /><Relationship Id="rIdDeck36" Type="http://schemas.openxmlformats.org/officeDocument/2006/relationships/slide" Target="slides/slide36.xml" /><Relationship Id="rIdDeck37" Type="http://schemas.openxmlformats.org/officeDocument/2006/relationships/slide" Target="slides/slide37.xml" /><Relationship Id="rIdDeck38" Type="http://schemas.openxmlformats.org/officeDocument/2006/relationships/slide" Target="slides/slide38.xml" /><Relationship Id="rIdDeck39" Type="http://schemas.openxmlformats.org/officeDocument/2006/relationships/slide" Target="slides/slide39.xml" /><Relationship Id="rIdDeck40" Type="http://schemas.openxmlformats.org/officeDocument/2006/relationships/slide" Target="slides/slide40.xml" /><Relationship Id="rIdDeck41" Type="http://schemas.openxmlformats.org/officeDocument/2006/relationships/slide" Target="slides/slide41.xml" /><Relationship Id="rIdDeck42" Type="http://schemas.openxmlformats.org/officeDocument/2006/relationships/slide" Target="slides/slide42.xml" /><Relationship Id="rIdDeck43" Type="http://schemas.openxmlformats.org/officeDocument/2006/relationships/slide" Target="slides/slide43.xml" /><Relationship Id="rIdDeck44" Type="http://schemas.openxmlformats.org/officeDocument/2006/relationships/slide" Target="slides/slide44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at is CCCL Cooperative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is CCCL Cooperative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is CCCL Cooperative?</a:t>
            </a:r>
          </a:p>
        </p:txBody>
      </p:sp>
      <p:sp>
        <p:nvSpPr>
          <p:cNvPr id="3" name="A CUDA C++ API for organizing threads into cooperative groups and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A CUDA C++ API for organizing threads into cooperative groups and running collective algorithms.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 clear abstraction to organize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into groups that can cooperate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APIs that implement algorithms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for the common problems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When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en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When?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Ambitious goal: GTC · March 2027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`reduce`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reduce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`any_of`, `all_of`, `shuffle`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any_of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all_of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shuffle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threads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units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Arbitrary thread selec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Arbitrary thread selection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Selecting the first and third warp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Selecting the first and third warps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09</a:t>
            </a:r>
          </a:p>
        </p:txBody>
      </p:sp>
      <p:sp>
        <p:nvSpPr>
          <p:cNvPr id="5" name="Compute the 1D thread rank within a 1D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1D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reads within block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Threads within block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290" name="Both APIs provide the same queries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Both APIs provide the same queries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Warps within block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Warps within block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584680"/>
            <a:ext cx="5143500" cy="1371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928116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307592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4218920"/>
            <a:ext cx="5394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5133320"/>
            <a:ext cx="5029200" cy="16002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93" name="CCCL Cooperative Groups are more capable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CCCL Cooperative Groups are more capable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units are grouped is independent of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What is being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are units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shall it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 xml:space="preserve"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 xml:space="preserve"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32 threads → 6 groups × 5 threads + 2 threads without a group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Requirements on groups —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What a group specifies and provide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a group specifies and provides</a:t>
            </a:r>
          </a:p>
        </p:txBody>
      </p:sp>
      <p:sp>
        <p:nvSpPr>
          <p:cNvPr id="4" name="1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6035040"/>
            <a:ext cx="195453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22860000" y="6035040"/>
            <a:ext cx="118872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035040"/>
            <a:ext cx="195453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hape"/>
          <p:cNvSpPr/>
          <p:nvPr/>
        </p:nvSpPr>
        <p:spPr>
          <a:xfrm>
            <a:off x="22860000" y="6035040"/>
            <a:ext cx="118872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It should specify"/>
          <p:cNvSpPr/>
          <p:nvPr/>
        </p:nvSpPr>
        <p:spPr>
          <a:xfrm>
            <a:off x="2514600" y="6789420"/>
            <a:ext cx="181737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It should specify</a:t>
            </a:r>
          </a:p>
        </p:txBody>
      </p:sp>
      <p:sp>
        <p:nvSpPr>
          <p:cNvPr id="10" name="Shape"/>
          <p:cNvSpPr/>
          <p:nvPr/>
        </p:nvSpPr>
        <p:spPr>
          <a:xfrm>
            <a:off x="2560320" y="9121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1"/>
          <p:cNvSpPr/>
          <p:nvPr/>
        </p:nvSpPr>
        <p:spPr>
          <a:xfrm>
            <a:off x="2560320" y="9212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2" name="Units being grouped"/>
          <p:cNvSpPr/>
          <p:nvPr/>
        </p:nvSpPr>
        <p:spPr>
          <a:xfrm>
            <a:off x="4114800" y="9029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Units being grouped</a:t>
            </a:r>
          </a:p>
        </p:txBody>
      </p:sp>
      <p:sp>
        <p:nvSpPr>
          <p:cNvPr id="13" name="Threads, warps, …"/>
          <p:cNvSpPr/>
          <p:nvPr/>
        </p:nvSpPr>
        <p:spPr>
          <a:xfrm>
            <a:off x="4114800" y="10058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4" name="Shape"/>
          <p:cNvSpPr/>
          <p:nvPr/>
        </p:nvSpPr>
        <p:spPr>
          <a:xfrm>
            <a:off x="2560320" y="11407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2560320" y="11498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 level"/>
          <p:cNvSpPr/>
          <p:nvPr/>
        </p:nvSpPr>
        <p:spPr>
          <a:xfrm>
            <a:off x="4114800" y="11315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Upper boundary level</a:t>
            </a:r>
          </a:p>
        </p:txBody>
      </p:sp>
      <p:sp>
        <p:nvSpPr>
          <p:cNvPr id="17" name="Block, grid, …"/>
          <p:cNvSpPr/>
          <p:nvPr/>
        </p:nvSpPr>
        <p:spPr>
          <a:xfrm>
            <a:off x="4114800" y="12344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Block, grid, …</a:t>
            </a:r>
          </a:p>
        </p:txBody>
      </p:sp>
      <p:sp>
        <p:nvSpPr>
          <p:cNvPr id="18" name="Shape"/>
          <p:cNvSpPr/>
          <p:nvPr/>
        </p:nvSpPr>
        <p:spPr>
          <a:xfrm>
            <a:off x="2560320" y="13693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3"/>
          <p:cNvSpPr/>
          <p:nvPr/>
        </p:nvSpPr>
        <p:spPr>
          <a:xfrm>
            <a:off x="2560320" y="13784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0" name="Hierarchy"/>
          <p:cNvSpPr/>
          <p:nvPr/>
        </p:nvSpPr>
        <p:spPr>
          <a:xfrm>
            <a:off x="4114800" y="13601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Hierarchy</a:t>
            </a:r>
          </a:p>
        </p:txBody>
      </p:sp>
      <p:sp>
        <p:nvSpPr>
          <p:cNvPr id="21" name="The hierarchy in which the group exists"/>
          <p:cNvSpPr/>
          <p:nvPr/>
        </p:nvSpPr>
        <p:spPr>
          <a:xfrm>
            <a:off x="4114800" y="14630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The hierarchy in which the group exists</a:t>
            </a:r>
          </a:p>
        </p:txBody>
      </p:sp>
      <p:sp>
        <p:nvSpPr>
          <p:cNvPr id="22" name="It should provide"/>
          <p:cNvSpPr/>
          <p:nvPr/>
        </p:nvSpPr>
        <p:spPr>
          <a:xfrm>
            <a:off x="23545800" y="6789420"/>
            <a:ext cx="105156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It should provide</a:t>
            </a:r>
          </a:p>
        </p:txBody>
      </p:sp>
      <p:sp>
        <p:nvSpPr>
          <p:cNvPr id="23" name="Query APIs"/>
          <p:cNvSpPr/>
          <p:nvPr/>
        </p:nvSpPr>
        <p:spPr>
          <a:xfrm>
            <a:off x="23545800" y="937260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Query APIs</a:t>
            </a:r>
          </a:p>
        </p:txBody>
      </p:sp>
      <p:sp>
        <p:nvSpPr>
          <p:cNvPr id="24" name="Information about the group"/>
          <p:cNvSpPr/>
          <p:nvPr/>
        </p:nvSpPr>
        <p:spPr>
          <a:xfrm>
            <a:off x="23545800" y="1062990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Information about the group</a:t>
            </a:r>
          </a:p>
        </p:txBody>
      </p:sp>
      <p:sp>
        <p:nvSpPr>
          <p:cNvPr id="25" name="Shape"/>
          <p:cNvSpPr/>
          <p:nvPr/>
        </p:nvSpPr>
        <p:spPr>
          <a:xfrm>
            <a:off x="23545800" y="12595860"/>
            <a:ext cx="105156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6" name="Synchronization APIs"/>
          <p:cNvSpPr/>
          <p:nvPr/>
        </p:nvSpPr>
        <p:spPr>
          <a:xfrm>
            <a:off x="23545800" y="1351026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 APIs</a:t>
            </a:r>
          </a:p>
        </p:txBody>
      </p:sp>
      <p:sp>
        <p:nvSpPr>
          <p:cNvPr id="27" name="Synchronization of its units"/>
          <p:cNvSpPr/>
          <p:nvPr/>
        </p:nvSpPr>
        <p:spPr>
          <a:xfrm>
            <a:off x="23545800" y="1476756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Synchronization of its units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Requirements on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The group concept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The group concept</a:t>
            </a:r>
          </a:p>
        </p:txBody>
      </p:sp>
      <p:sp>
        <p:nvSpPr>
          <p:cNvPr id="4" name="1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0574000" cy="135102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CONCEPT"/>
          <p:cNvSpPr/>
          <p:nvPr/>
        </p:nvSpPr>
        <p:spPr>
          <a:xfrm>
            <a:off x="2423160" y="5532120"/>
            <a:ext cx="193167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1">
                <a:solidFill>
                  <a:schemeClr val="accent6"/>
                </a:solidFill>
                <a:latin typeface="NVIDIA Sans Medium"/>
              </a:rPr>
              <a:t xml:space="preserve">CONCEPT</a:t>
            </a:r>
          </a:p>
        </p:txBody>
      </p:sp>
      <p:sp>
        <p:nvSpPr>
          <p:cNvPr id="7" name="Verbatim C++ snippet" descr="Verbatim fenced C++ snippet from slides.md"/>
          <p:cNvSpPr/>
          <p:nvPr/>
        </p:nvSpPr>
        <p:spPr>
          <a:xfrm>
            <a:off x="2423160" y="6858000"/>
            <a:ext cx="19431000" cy="10972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T&gt;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group =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(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T&amp; t)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Member types.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T::unit_type&gt;;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T::level_type&gt;;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T::hierarchy_type&gt;;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Getters.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t.hierarchy()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T::hierarchy_type&amp;&gt;;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Synchronization.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t.sync_aligned()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Properties.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T::is_always_contiguous()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bool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          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(7), must be constexpr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8" name="1"/>
          <p:cNvSpPr/>
          <p:nvPr/>
        </p:nvSpPr>
        <p:spPr>
          <a:xfrm>
            <a:off x="23545800" y="54635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what units are being grouped"/>
          <p:cNvSpPr/>
          <p:nvPr/>
        </p:nvSpPr>
        <p:spPr>
          <a:xfrm>
            <a:off x="24665940" y="54635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what units are being grouped</a:t>
            </a:r>
          </a:p>
        </p:txBody>
      </p:sp>
      <p:sp>
        <p:nvSpPr>
          <p:cNvPr id="10" name="2"/>
          <p:cNvSpPr/>
          <p:nvPr/>
        </p:nvSpPr>
        <p:spPr>
          <a:xfrm>
            <a:off x="23545800" y="72237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1" name="within which level"/>
          <p:cNvSpPr/>
          <p:nvPr/>
        </p:nvSpPr>
        <p:spPr>
          <a:xfrm>
            <a:off x="24665940" y="72237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within which level</a:t>
            </a:r>
          </a:p>
        </p:txBody>
      </p:sp>
      <p:sp>
        <p:nvSpPr>
          <p:cNvPr id="12" name="3"/>
          <p:cNvSpPr/>
          <p:nvPr/>
        </p:nvSpPr>
        <p:spPr>
          <a:xfrm>
            <a:off x="23545800" y="89839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3" name="in which hierarchy"/>
          <p:cNvSpPr/>
          <p:nvPr/>
        </p:nvSpPr>
        <p:spPr>
          <a:xfrm>
            <a:off x="24665940" y="898398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 which hierarchy</a:t>
            </a:r>
          </a:p>
        </p:txBody>
      </p:sp>
      <p:sp>
        <p:nvSpPr>
          <p:cNvPr id="14" name="4"/>
          <p:cNvSpPr/>
          <p:nvPr/>
        </p:nvSpPr>
        <p:spPr>
          <a:xfrm>
            <a:off x="23545800" y="10744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5" name="hierarchy getter"/>
          <p:cNvSpPr/>
          <p:nvPr/>
        </p:nvSpPr>
        <p:spPr>
          <a:xfrm>
            <a:off x="24665940" y="1074420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hierarchy getter</a:t>
            </a:r>
          </a:p>
        </p:txBody>
      </p:sp>
      <p:sp>
        <p:nvSpPr>
          <p:cNvPr id="16" name="5"/>
          <p:cNvSpPr/>
          <p:nvPr/>
        </p:nvSpPr>
        <p:spPr>
          <a:xfrm>
            <a:off x="23545800" y="125044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7" name="synchronizes all units"/>
          <p:cNvSpPr/>
          <p:nvPr/>
        </p:nvSpPr>
        <p:spPr>
          <a:xfrm>
            <a:off x="24665940" y="1250442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</a:t>
            </a:r>
          </a:p>
        </p:txBody>
      </p:sp>
      <p:sp>
        <p:nvSpPr>
          <p:cNvPr id="18" name="6"/>
          <p:cNvSpPr/>
          <p:nvPr/>
        </p:nvSpPr>
        <p:spPr>
          <a:xfrm>
            <a:off x="23545800" y="142646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19" name="synchronizes all units, requires context alignment"/>
          <p:cNvSpPr/>
          <p:nvPr/>
        </p:nvSpPr>
        <p:spPr>
          <a:xfrm>
            <a:off x="24665940" y="142646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units, requires context alignment</a:t>
            </a:r>
          </a:p>
        </p:txBody>
      </p:sp>
      <p:sp>
        <p:nvSpPr>
          <p:cNvPr id="20" name="7"/>
          <p:cNvSpPr/>
          <p:nvPr/>
        </p:nvSpPr>
        <p:spPr>
          <a:xfrm>
            <a:off x="23545800" y="160248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7</a:t>
            </a:r>
          </a:p>
        </p:txBody>
      </p:sp>
      <p:sp>
        <p:nvSpPr>
          <p:cNvPr id="21" name="`true` if each group occupies a contiguous range of physical unit"/>
          <p:cNvSpPr/>
          <p:nvPr/>
        </p:nvSpPr>
        <p:spPr>
          <a:xfrm>
            <a:off x="24665940" y="160248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true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if each group occupies a contiguous range of physical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querie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queries</a:t>
            </a:r>
          </a:p>
        </p:txBody>
      </p:sp>
      <p:sp>
        <p:nvSpPr>
          <p:cNvPr id="3" name="Sub-unit and super-level querie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Sub-unit and super-level queries</a:t>
            </a:r>
          </a:p>
        </p:txBody>
      </p:sp>
      <p:sp>
        <p:nvSpPr>
          <p:cNvPr id="4" name="1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Sub-unit queries"/>
          <p:cNvSpPr/>
          <p:nvPr/>
        </p:nvSpPr>
        <p:spPr>
          <a:xfrm>
            <a:off x="22402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Sub-unit queries</a:t>
            </a:r>
          </a:p>
        </p:txBody>
      </p:sp>
      <p:sp>
        <p:nvSpPr>
          <p:cNvPr id="7" name="Query information about levels that are below the group's unit ty"/>
          <p:cNvSpPr/>
          <p:nvPr/>
        </p:nvSpPr>
        <p:spPr>
          <a:xfrm>
            <a:off x="22402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below the group's unit type.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9" name="Verbatim C++ snippet" descr="Verbatim fenced C++ snippet from slides.md"/>
          <p:cNvSpPr/>
          <p:nvPr/>
        </p:nvSpPr>
        <p:spPr>
          <a:xfrm>
            <a:off x="22402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qunit.static_count(group);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qunit.count_as&lt;T&gt;(group);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qunit.rank_as&lt;T&gt;(group);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qunit.count(group);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qunit.rank(group);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qunit.is_root_rank(group);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1"/>
          <p:cNvSpPr/>
          <p:nvPr/>
        </p:nvSpPr>
        <p:spPr>
          <a:xfrm>
            <a:off x="21717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1" name="Statically known number of `qunit` within `group`"/>
          <p:cNvSpPr/>
          <p:nvPr/>
        </p:nvSpPr>
        <p:spPr>
          <a:xfrm>
            <a:off x="3291840" y="139903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2"/>
          <p:cNvSpPr/>
          <p:nvPr/>
        </p:nvSpPr>
        <p:spPr>
          <a:xfrm>
            <a:off x="2171700" y="148132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3" name="Number of `qunit` within `group` returned as `T`"/>
          <p:cNvSpPr/>
          <p:nvPr/>
        </p:nvSpPr>
        <p:spPr>
          <a:xfrm>
            <a:off x="3291840" y="1481328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4" name="3"/>
          <p:cNvSpPr/>
          <p:nvPr/>
        </p:nvSpPr>
        <p:spPr>
          <a:xfrm>
            <a:off x="2171700" y="156362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5" name="Current `qunit`'s rank within `group` returned as `T`"/>
          <p:cNvSpPr/>
          <p:nvPr/>
        </p:nvSpPr>
        <p:spPr>
          <a:xfrm>
            <a:off x="3291840" y="1563624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6" name="4"/>
          <p:cNvSpPr/>
          <p:nvPr/>
        </p:nvSpPr>
        <p:spPr>
          <a:xfrm>
            <a:off x="2171700" y="16459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7" name="Same as `qunit.count_as&lt;/*default-T*/&gt;(group)`"/>
          <p:cNvSpPr/>
          <p:nvPr/>
        </p:nvSpPr>
        <p:spPr>
          <a:xfrm>
            <a:off x="3291840" y="1645920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qunit.count_as&lt;/*default-T*/&gt;(group)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8" name="5"/>
          <p:cNvSpPr/>
          <p:nvPr/>
        </p:nvSpPr>
        <p:spPr>
          <a:xfrm>
            <a:off x="2171700" y="172821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9" name="Same as `qunit.rank_as&lt;/*default-T*/&gt;(group)`"/>
          <p:cNvSpPr/>
          <p:nvPr/>
        </p:nvSpPr>
        <p:spPr>
          <a:xfrm>
            <a:off x="3291840" y="1728216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0" name="6"/>
          <p:cNvSpPr/>
          <p:nvPr/>
        </p:nvSpPr>
        <p:spPr>
          <a:xfrm>
            <a:off x="2171700" y="18105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21" name="Same as `qunit.rank(group) == 0`"/>
          <p:cNvSpPr/>
          <p:nvPr/>
        </p:nvSpPr>
        <p:spPr>
          <a:xfrm>
            <a:off x="3291840" y="181051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qunit.rank(group) == 0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Shape"/>
          <p:cNvSpPr/>
          <p:nvPr/>
        </p:nvSpPr>
        <p:spPr>
          <a:xfrm>
            <a:off x="188595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Super-level queries"/>
          <p:cNvSpPr/>
          <p:nvPr/>
        </p:nvSpPr>
        <p:spPr>
          <a:xfrm>
            <a:off x="192709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Super-level queries</a:t>
            </a:r>
          </a:p>
        </p:txBody>
      </p:sp>
      <p:sp>
        <p:nvSpPr>
          <p:cNvPr id="24" name="Query information about levels that are above the group's upper b"/>
          <p:cNvSpPr/>
          <p:nvPr/>
        </p:nvSpPr>
        <p:spPr>
          <a:xfrm>
            <a:off x="192709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above the group's upper boundary type.</a:t>
            </a:r>
          </a:p>
        </p:txBody>
      </p:sp>
      <p:sp>
        <p:nvSpPr>
          <p:cNvPr id="25" name="Shape"/>
          <p:cNvSpPr/>
          <p:nvPr/>
        </p:nvSpPr>
        <p:spPr>
          <a:xfrm>
            <a:off x="188595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26" name="Verbatim C++ snippet" descr="Verbatim fenced C++ snippet from slides.md"/>
          <p:cNvSpPr/>
          <p:nvPr/>
        </p:nvSpPr>
        <p:spPr>
          <a:xfrm>
            <a:off x="192709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group.static_count(/*parent-group-or-qlevel*/);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group.count_as&lt;T&gt;(/*parent-group-or-qlevel*/);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group.rank_as&lt;T&gt;(/*parent-group-or-qlevel*/);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group.count(/*parent-group-or-qlevel*/);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group.rank(/*parent-group-or-qlevel*/); 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endParaRPr lang="en-US" sz="261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27" name="1"/>
          <p:cNvSpPr/>
          <p:nvPr/>
        </p:nvSpPr>
        <p:spPr>
          <a:xfrm>
            <a:off x="192024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8" name="Statically known number of `group` within `/*parent-group-or-qlev"/>
          <p:cNvSpPr/>
          <p:nvPr/>
        </p:nvSpPr>
        <p:spPr>
          <a:xfrm>
            <a:off x="20322540" y="139903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9" name="2"/>
          <p:cNvSpPr/>
          <p:nvPr/>
        </p:nvSpPr>
        <p:spPr>
          <a:xfrm>
            <a:off x="19202400" y="149047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30" name="Number of `group` within `/*parent-group-or-qlevel*/` returned as"/>
          <p:cNvSpPr/>
          <p:nvPr/>
        </p:nvSpPr>
        <p:spPr>
          <a:xfrm>
            <a:off x="20322540" y="149047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3"/>
          <p:cNvSpPr/>
          <p:nvPr/>
        </p:nvSpPr>
        <p:spPr>
          <a:xfrm>
            <a:off x="19202400" y="15819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32" name="Current `group`'s rank within `/*parent-group-or-qlevel*/` return"/>
          <p:cNvSpPr/>
          <p:nvPr/>
        </p:nvSpPr>
        <p:spPr>
          <a:xfrm>
            <a:off x="20322540" y="158191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3" name="4"/>
          <p:cNvSpPr/>
          <p:nvPr/>
        </p:nvSpPr>
        <p:spPr>
          <a:xfrm>
            <a:off x="19202400" y="16733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4" name="Same as `group.count_as&lt;/*default-T*/&gt;(/*parent-group-or-qlevel*/"/>
          <p:cNvSpPr/>
          <p:nvPr/>
        </p:nvSpPr>
        <p:spPr>
          <a:xfrm>
            <a:off x="20322540" y="167335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group.count_as&lt;/*default-T*/&gt;(/*parent-group-or-qlevel*/)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5"/>
          <p:cNvSpPr/>
          <p:nvPr/>
        </p:nvSpPr>
        <p:spPr>
          <a:xfrm>
            <a:off x="19202400" y="176479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36" name="Same as `group.rank_as&lt;/*default-T*/&gt;(/*parent-group-or-qlevel*/)"/>
          <p:cNvSpPr/>
          <p:nvPr/>
        </p:nvSpPr>
        <p:spPr>
          <a:xfrm>
            <a:off x="20322540" y="176479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group.rank_as&lt;/*default-T*/&gt;(/*parent-group-or-qlevel*/)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7" name="default-T is the default result type."/>
          <p:cNvSpPr/>
          <p:nvPr/>
        </p:nvSpPr>
        <p:spPr>
          <a:xfrm>
            <a:off x="1874520" y="19133820"/>
            <a:ext cx="323469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default-T is the default result type.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Predefined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Groups</a:t>
            </a:r>
          </a:p>
        </p:txBody>
      </p:sp>
      <p:sp>
        <p:nvSpPr>
          <p:cNvPr id="3" name="Overview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Overview</a:t>
            </a:r>
          </a:p>
        </p:txBody>
      </p:sp>
      <p:sp>
        <p:nvSpPr>
          <p:cNvPr id="4" name="1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" name="CCCL Cooperative Groups come with several predefined group types.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CCCL Cooperative Groups come with several predefined group types.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01"/>
          <p:cNvSpPr/>
          <p:nvPr/>
        </p:nvSpPr>
        <p:spPr>
          <a:xfrm>
            <a:off x="24231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9" name="Implicit groups"/>
          <p:cNvSpPr/>
          <p:nvPr/>
        </p:nvSpPr>
        <p:spPr>
          <a:xfrm>
            <a:off x="24231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10" name="Shape"/>
          <p:cNvSpPr/>
          <p:nvPr/>
        </p:nvSpPr>
        <p:spPr>
          <a:xfrm>
            <a:off x="130302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30302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36245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Derived groups"/>
          <p:cNvSpPr/>
          <p:nvPr/>
        </p:nvSpPr>
        <p:spPr>
          <a:xfrm>
            <a:off x="136245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14" name="Shape"/>
          <p:cNvSpPr/>
          <p:nvPr/>
        </p:nvSpPr>
        <p:spPr>
          <a:xfrm>
            <a:off x="242316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hape"/>
          <p:cNvSpPr/>
          <p:nvPr/>
        </p:nvSpPr>
        <p:spPr>
          <a:xfrm>
            <a:off x="242316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03"/>
          <p:cNvSpPr/>
          <p:nvPr/>
        </p:nvSpPr>
        <p:spPr>
          <a:xfrm>
            <a:off x="248259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03</a:t>
            </a:r>
          </a:p>
        </p:txBody>
      </p:sp>
      <p:sp>
        <p:nvSpPr>
          <p:cNvPr id="17" name="Non-owning view"/>
          <p:cNvSpPr/>
          <p:nvPr/>
        </p:nvSpPr>
        <p:spPr>
          <a:xfrm>
            <a:off x="248259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Non-owning view</a:t>
            </a:r>
          </a:p>
        </p:txBody>
      </p:sp>
      <p:sp>
        <p:nvSpPr>
          <p:cNvPr id="18" name="Independent building block"/>
          <p:cNvSpPr/>
          <p:nvPr/>
        </p:nvSpPr>
        <p:spPr>
          <a:xfrm>
            <a:off x="2743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Independent building block"/>
          <p:cNvSpPr/>
          <p:nvPr/>
        </p:nvSpPr>
        <p:spPr>
          <a:xfrm>
            <a:off x="56007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Independent building block"/>
          <p:cNvSpPr/>
          <p:nvPr/>
        </p:nvSpPr>
        <p:spPr>
          <a:xfrm>
            <a:off x="8458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`this_{level} groups`"/>
          <p:cNvSpPr/>
          <p:nvPr/>
        </p:nvSpPr>
        <p:spPr>
          <a:xfrm>
            <a:off x="2423160" y="1273302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 groups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`coalesced_group`"/>
          <p:cNvSpPr/>
          <p:nvPr/>
        </p:nvSpPr>
        <p:spPr>
          <a:xfrm>
            <a:off x="2423160" y="1383030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3" name="NEW"/>
          <p:cNvSpPr/>
          <p:nvPr/>
        </p:nvSpPr>
        <p:spPr>
          <a:xfrm>
            <a:off x="7520940" y="1394460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24" name="No parent group; building blocks&#10;for other groups."/>
          <p:cNvSpPr/>
          <p:nvPr/>
        </p:nvSpPr>
        <p:spPr>
          <a:xfrm>
            <a:off x="24231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 parent group; building blocks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other groups.</a:t>
            </a:r>
          </a:p>
        </p:txBody>
      </p:sp>
      <p:sp>
        <p:nvSpPr>
          <p:cNvPr id="25" name="Parent group"/>
          <p:cNvSpPr/>
          <p:nvPr/>
        </p:nvSpPr>
        <p:spPr>
          <a:xfrm>
            <a:off x="16299180" y="10378440"/>
            <a:ext cx="3977640" cy="100584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6" name="Parent group"/>
          <p:cNvSpPr/>
          <p:nvPr/>
        </p:nvSpPr>
        <p:spPr>
          <a:xfrm>
            <a:off x="16299180" y="10538460"/>
            <a:ext cx="397764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420" b="0">
                <a:solidFill>
                  <a:schemeClr val="dk1"/>
                </a:solidFill>
                <a:latin typeface="NVIDIA Sans"/>
              </a:rPr>
              <a:t xml:space="preserve">Parent group</a:t>
            </a:r>
          </a:p>
        </p:txBody>
      </p:sp>
      <p:sp>
        <p:nvSpPr>
          <p:cNvPr id="27" name="Split from parent"/>
          <p:cNvSpPr/>
          <p:nvPr/>
        </p:nvSpPr>
        <p:spPr>
          <a:xfrm>
            <a:off x="150876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8" name="Result of splitting"/>
          <p:cNvSpPr/>
          <p:nvPr/>
        </p:nvSpPr>
        <p:spPr>
          <a:xfrm>
            <a:off x="141960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Split from parent"/>
          <p:cNvSpPr/>
          <p:nvPr/>
        </p:nvSpPr>
        <p:spPr>
          <a:xfrm>
            <a:off x="201168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0" name="Result of splitting"/>
          <p:cNvSpPr/>
          <p:nvPr/>
        </p:nvSpPr>
        <p:spPr>
          <a:xfrm>
            <a:off x="192252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split branches"/>
          <p:cNvSpPr/>
          <p:nvPr/>
        </p:nvSpPr>
        <p:spPr>
          <a:xfrm>
            <a:off x="15361920" y="11498580"/>
            <a:ext cx="5029200" cy="457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2" name="Shape"/>
          <p:cNvSpPr/>
          <p:nvPr/>
        </p:nvSpPr>
        <p:spPr>
          <a:xfrm>
            <a:off x="18265140" y="11384280"/>
            <a:ext cx="45720" cy="1600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3" name="`generic_group`"/>
          <p:cNvSpPr/>
          <p:nvPr/>
        </p:nvSpPr>
        <p:spPr>
          <a:xfrm>
            <a:off x="136245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4" name="`virtual_group`"/>
          <p:cNvSpPr/>
          <p:nvPr/>
        </p:nvSpPr>
        <p:spPr>
          <a:xfrm>
            <a:off x="13624560" y="1483614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NEW"/>
          <p:cNvSpPr/>
          <p:nvPr/>
        </p:nvSpPr>
        <p:spPr>
          <a:xfrm>
            <a:off x="18288000" y="1495044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36" name="Created by splitting another group."/>
          <p:cNvSpPr/>
          <p:nvPr/>
        </p:nvSpPr>
        <p:spPr>
          <a:xfrm>
            <a:off x="13624560" y="16116300"/>
            <a:ext cx="93268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Created by splitting another group.</a:t>
            </a:r>
          </a:p>
        </p:txBody>
      </p:sp>
      <p:sp>
        <p:nvSpPr>
          <p:cNvPr id="37" name="Existing group"/>
          <p:cNvSpPr/>
          <p:nvPr/>
        </p:nvSpPr>
        <p:spPr>
          <a:xfrm>
            <a:off x="25786080" y="10607040"/>
            <a:ext cx="6492240" cy="221742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38" name="Viewed group member"/>
          <p:cNvSpPr/>
          <p:nvPr/>
        </p:nvSpPr>
        <p:spPr>
          <a:xfrm>
            <a:off x="262890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9" name="Viewed group member"/>
          <p:cNvSpPr/>
          <p:nvPr/>
        </p:nvSpPr>
        <p:spPr>
          <a:xfrm>
            <a:off x="2718054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0" name="Viewed group member"/>
          <p:cNvSpPr/>
          <p:nvPr/>
        </p:nvSpPr>
        <p:spPr>
          <a:xfrm>
            <a:off x="2807208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1" name="Viewed group member"/>
          <p:cNvSpPr/>
          <p:nvPr/>
        </p:nvSpPr>
        <p:spPr>
          <a:xfrm>
            <a:off x="2896362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" name="Viewed group member"/>
          <p:cNvSpPr/>
          <p:nvPr/>
        </p:nvSpPr>
        <p:spPr>
          <a:xfrm>
            <a:off x="2985516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3" name="Viewed group member"/>
          <p:cNvSpPr/>
          <p:nvPr/>
        </p:nvSpPr>
        <p:spPr>
          <a:xfrm>
            <a:off x="307467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4" name="Non-owning view of existing group"/>
          <p:cNvSpPr/>
          <p:nvPr/>
        </p:nvSpPr>
        <p:spPr>
          <a:xfrm>
            <a:off x="26220420" y="10241280"/>
            <a:ext cx="6492240" cy="221742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45" name="`group_view`"/>
          <p:cNvSpPr/>
          <p:nvPr/>
        </p:nvSpPr>
        <p:spPr>
          <a:xfrm>
            <a:off x="248259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46" name="NEW"/>
          <p:cNvSpPr/>
          <p:nvPr/>
        </p:nvSpPr>
        <p:spPr>
          <a:xfrm>
            <a:off x="28666440" y="1396746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47" name="A non-owning group view&#10;over a group."/>
          <p:cNvSpPr/>
          <p:nvPr/>
        </p:nvSpPr>
        <p:spPr>
          <a:xfrm>
            <a:off x="248259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non-owning group view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 a group.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Implicit Groups — This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This group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This groups</a:t>
            </a:r>
          </a:p>
        </p:txBody>
      </p:sp>
      <p:sp>
        <p:nvSpPr>
          <p:cNvPr id="5" name="Shape"/>
          <p:cNvSpPr/>
          <p:nvPr/>
        </p:nvSpPr>
        <p:spPr>
          <a:xfrm>
            <a:off x="12801600" y="5029200"/>
            <a:ext cx="21945600" cy="8229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This groups use-case example" descr="Supplemental this-group usage example based on repository query and synchronization APIs"/>
          <p:cNvSpPr/>
          <p:nvPr/>
        </p:nvSpPr>
        <p:spPr>
          <a:xfrm>
            <a:off x="13258800" y="5394960"/>
            <a:ext cx="21031200" cy="76123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__global__ void this_block_example(auto config)​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{​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</a:t>
            </a:r>
            <a:r>
              <a:rPr lang="en-US" sz="2250" b="0">
                <a:solidFill>
                  <a:schemeClr val="accent6">
                    <a:shade val="65000"/>
                  </a:schemeClr>
                </a:solidFill>
                <a:latin typeface="DejaVu Sans Mono"/>
              </a:rPr>
              <a:t xml:space="preserve">// construction​​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cudax::this_block block{config};​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</a:t>
            </a:r>
            <a:r>
              <a:rPr lang="en-US" sz="2250" b="0">
                <a:solidFill>
                  <a:schemeClr val="accent6">
                    <a:shade val="65000"/>
                  </a:schemeClr>
                </a:solidFill>
                <a:latin typeface="DejaVu Sans Mono"/>
              </a:rPr>
              <a:t xml:space="preserve">// synchronization​​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block.sync();         </a:t>
            </a:r>
            <a:r>
              <a:rPr lang="en-US" sz="2250" b="0">
                <a:solidFill>
                  <a:schemeClr val="accent6">
                    <a:shade val="65000"/>
                  </a:schemeClr>
                </a:solidFill>
                <a:latin typeface="DejaVu Sans Mono"/>
              </a:rPr>
              <a:t xml:space="preserve">// equivalent to __barrier_sync(0)​​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block.sync_aligned(); </a:t>
            </a:r>
            <a:r>
              <a:rPr lang="en-US" sz="2250" b="0">
                <a:solidFill>
                  <a:schemeClr val="accent6">
                    <a:shade val="65000"/>
                  </a:schemeClr>
                </a:solidFill>
                <a:latin typeface="DejaVu Sans Mono"/>
              </a:rPr>
              <a:t xml:space="preserve">// equivalent to __syncthreads()​​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</a:t>
            </a:r>
            <a:r>
              <a:rPr lang="en-US" sz="2250" b="0">
                <a:solidFill>
                  <a:schemeClr val="accent6">
                    <a:shade val="65000"/>
                  </a:schemeClr>
                </a:solidFill>
                <a:latin typeface="DejaVu Sans Mono"/>
              </a:rPr>
              <a:t xml:space="preserve">// Thread rank within block.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cuda::gpu_thread.rank(block);​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</a:t>
            </a:r>
            <a:r>
              <a:rPr lang="en-US" sz="2250" b="0">
                <a:solidFill>
                  <a:schemeClr val="accent6">
                    <a:shade val="65000"/>
                  </a:schemeClr>
                </a:solidFill>
                <a:latin typeface="DejaVu Sans Mono"/>
              </a:rPr>
              <a:t xml:space="preserve">// Warp count within block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cuda::warp.count(block);​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</a:t>
            </a:r>
            <a:r>
              <a:rPr lang="en-US" sz="2250" b="0">
                <a:solidFill>
                  <a:schemeClr val="accent6">
                    <a:shade val="65000"/>
                  </a:schemeClr>
                </a:solidFill>
                <a:latin typeface="DejaVu Sans Mono"/>
              </a:rPr>
              <a:t xml:space="preserve">// Number of blocks within cluster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  block.count(cuda::cluster);​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}​</a:t>
            </a: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2475"/>
              </a:lnSpc>
              <a:spcBef>
                <a:spcPts val="0"/>
              </a:spcBef>
              <a:spcAft>
                <a:spcPts val="0"/>
              </a:spcAft>
              <a:buNone/>
              <a:defRPr lang="en-US" sz="225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25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Named this_{level}"/>
          <p:cNvSpPr/>
          <p:nvPr/>
        </p:nvSpPr>
        <p:spPr>
          <a:xfrm>
            <a:off x="2583180" y="582930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Named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this_{level}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one class per level"/>
          <p:cNvSpPr/>
          <p:nvPr/>
        </p:nvSpPr>
        <p:spPr>
          <a:xfrm>
            <a:off x="2583180" y="770382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one class per level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ontain a single unit within the same level"/>
          <p:cNvSpPr/>
          <p:nvPr/>
        </p:nvSpPr>
        <p:spPr>
          <a:xfrm>
            <a:off x="2583180" y="957834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contain a single unit within the same level</a:t>
            </a:r>
          </a:p>
        </p:txBody>
      </p:sp>
      <p:sp>
        <p:nvSpPr>
          <p:cNvPr id="15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always contiguous"/>
          <p:cNvSpPr/>
          <p:nvPr/>
        </p:nvSpPr>
        <p:spPr>
          <a:xfrm>
            <a:off x="2583180" y="1145286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always contiguous</a:t>
            </a:r>
          </a:p>
        </p:txBody>
      </p:sp>
      <p:sp>
        <p:nvSpPr>
          <p:cNvPr id="17" name="this_grid: three illustrated blocks and additional blocks"/>
          <p:cNvSpPr/>
          <p:nvPr/>
        </p:nvSpPr>
        <p:spPr>
          <a:xfrm>
            <a:off x="1828800" y="13944600"/>
            <a:ext cx="32918400" cy="406908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1"/>
            </a:solidFill>
          </a:ln>
        </p:spPr>
      </p:sp>
      <p:sp>
        <p:nvSpPr>
          <p:cNvPr id="18" name="this_cluster: first two thread blocks"/>
          <p:cNvSpPr/>
          <p:nvPr/>
        </p:nvSpPr>
        <p:spPr>
          <a:xfrm>
            <a:off x="2194560" y="14287500"/>
            <a:ext cx="19293840" cy="342900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9" name="this_block: current block"/>
          <p:cNvSpPr/>
          <p:nvPr/>
        </p:nvSpPr>
        <p:spPr>
          <a:xfrm>
            <a:off x="2560320" y="14698980"/>
            <a:ext cx="8869680" cy="267462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3"/>
            </a:solidFill>
          </a:ln>
        </p:spPr>
      </p:sp>
      <p:sp>
        <p:nvSpPr>
          <p:cNvPr id="20" name="Block 0"/>
          <p:cNvSpPr/>
          <p:nvPr/>
        </p:nvSpPr>
        <p:spPr>
          <a:xfrm>
            <a:off x="2834640" y="1485900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1" name="this_warp: current warp"/>
          <p:cNvSpPr/>
          <p:nvPr/>
        </p:nvSpPr>
        <p:spPr>
          <a:xfrm>
            <a:off x="2834640" y="15384780"/>
            <a:ext cx="8321040" cy="70866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2" name="Thread 0 in block 0"/>
          <p:cNvSpPr/>
          <p:nvPr/>
        </p:nvSpPr>
        <p:spPr>
          <a:xfrm>
            <a:off x="301752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 in block 0"/>
          <p:cNvSpPr/>
          <p:nvPr/>
        </p:nvSpPr>
        <p:spPr>
          <a:xfrm>
            <a:off x="352044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233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3 in block 0"/>
          <p:cNvSpPr/>
          <p:nvPr/>
        </p:nvSpPr>
        <p:spPr>
          <a:xfrm>
            <a:off x="452628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4 in block 0"/>
          <p:cNvSpPr/>
          <p:nvPr/>
        </p:nvSpPr>
        <p:spPr>
          <a:xfrm>
            <a:off x="50292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is_thread: current thread"/>
          <p:cNvSpPr/>
          <p:nvPr/>
        </p:nvSpPr>
        <p:spPr>
          <a:xfrm>
            <a:off x="5463540" y="15430500"/>
            <a:ext cx="274320" cy="274320"/>
          </a:xfrm>
          <a:prstGeom prst="ellipse">
            <a:avLst/>
          </a:prstGeom>
          <a:noFill/>
          <a:ln w="45720">
            <a:solidFill>
              <a:schemeClr val="accent4"/>
            </a:solidFill>
          </a:ln>
        </p:spPr>
      </p:sp>
      <p:sp>
        <p:nvSpPr>
          <p:cNvPr id="28" name="Thread 5 in block 0"/>
          <p:cNvSpPr/>
          <p:nvPr/>
        </p:nvSpPr>
        <p:spPr>
          <a:xfrm>
            <a:off x="5532120" y="15499080"/>
            <a:ext cx="137160" cy="137160"/>
          </a:xfrm>
          <a:prstGeom prst="ellipse">
            <a:avLst/>
          </a:prstGeom>
          <a:solidFill>
            <a:schemeClr val="accent4"/>
          </a:solidFill>
          <a:ln w="11430">
            <a:solidFill>
              <a:schemeClr val="accent4"/>
            </a:solidFill>
          </a:ln>
        </p:spPr>
      </p:sp>
      <p:sp>
        <p:nvSpPr>
          <p:cNvPr id="29" name="Thread 6 in block 0"/>
          <p:cNvSpPr/>
          <p:nvPr/>
        </p:nvSpPr>
        <p:spPr>
          <a:xfrm>
            <a:off x="603504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7 in block 0"/>
          <p:cNvSpPr/>
          <p:nvPr/>
        </p:nvSpPr>
        <p:spPr>
          <a:xfrm>
            <a:off x="65379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8 in block 0"/>
          <p:cNvSpPr/>
          <p:nvPr/>
        </p:nvSpPr>
        <p:spPr>
          <a:xfrm>
            <a:off x="704088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9 in block 0"/>
          <p:cNvSpPr/>
          <p:nvPr/>
        </p:nvSpPr>
        <p:spPr>
          <a:xfrm>
            <a:off x="75438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0 in block 0"/>
          <p:cNvSpPr/>
          <p:nvPr/>
        </p:nvSpPr>
        <p:spPr>
          <a:xfrm>
            <a:off x="804672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1 in block 0"/>
          <p:cNvSpPr/>
          <p:nvPr/>
        </p:nvSpPr>
        <p:spPr>
          <a:xfrm>
            <a:off x="854964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2 in block 0"/>
          <p:cNvSpPr/>
          <p:nvPr/>
        </p:nvSpPr>
        <p:spPr>
          <a:xfrm>
            <a:off x="90525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3 in block 0"/>
          <p:cNvSpPr/>
          <p:nvPr/>
        </p:nvSpPr>
        <p:spPr>
          <a:xfrm>
            <a:off x="955548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4 in block 0"/>
          <p:cNvSpPr/>
          <p:nvPr/>
        </p:nvSpPr>
        <p:spPr>
          <a:xfrm>
            <a:off x="100584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15 in block 0"/>
          <p:cNvSpPr/>
          <p:nvPr/>
        </p:nvSpPr>
        <p:spPr>
          <a:xfrm>
            <a:off x="1056132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16 in block 0"/>
          <p:cNvSpPr/>
          <p:nvPr/>
        </p:nvSpPr>
        <p:spPr>
          <a:xfrm>
            <a:off x="30175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17 in block 0"/>
          <p:cNvSpPr/>
          <p:nvPr/>
        </p:nvSpPr>
        <p:spPr>
          <a:xfrm>
            <a:off x="352044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18 in block 0"/>
          <p:cNvSpPr/>
          <p:nvPr/>
        </p:nvSpPr>
        <p:spPr>
          <a:xfrm>
            <a:off x="40233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19 in block 0"/>
          <p:cNvSpPr/>
          <p:nvPr/>
        </p:nvSpPr>
        <p:spPr>
          <a:xfrm>
            <a:off x="452628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0 in block 0"/>
          <p:cNvSpPr/>
          <p:nvPr/>
        </p:nvSpPr>
        <p:spPr>
          <a:xfrm>
            <a:off x="50292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1 in block 0"/>
          <p:cNvSpPr/>
          <p:nvPr/>
        </p:nvSpPr>
        <p:spPr>
          <a:xfrm>
            <a:off x="55321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2 in block 0"/>
          <p:cNvSpPr/>
          <p:nvPr/>
        </p:nvSpPr>
        <p:spPr>
          <a:xfrm>
            <a:off x="603504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3 in block 0"/>
          <p:cNvSpPr/>
          <p:nvPr/>
        </p:nvSpPr>
        <p:spPr>
          <a:xfrm>
            <a:off x="65379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4 in block 0"/>
          <p:cNvSpPr/>
          <p:nvPr/>
        </p:nvSpPr>
        <p:spPr>
          <a:xfrm>
            <a:off x="704088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25 in block 0"/>
          <p:cNvSpPr/>
          <p:nvPr/>
        </p:nvSpPr>
        <p:spPr>
          <a:xfrm>
            <a:off x="75438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26 in block 0"/>
          <p:cNvSpPr/>
          <p:nvPr/>
        </p:nvSpPr>
        <p:spPr>
          <a:xfrm>
            <a:off x="80467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27 in block 0"/>
          <p:cNvSpPr/>
          <p:nvPr/>
        </p:nvSpPr>
        <p:spPr>
          <a:xfrm>
            <a:off x="854964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28 in block 0"/>
          <p:cNvSpPr/>
          <p:nvPr/>
        </p:nvSpPr>
        <p:spPr>
          <a:xfrm>
            <a:off x="90525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29 in block 0"/>
          <p:cNvSpPr/>
          <p:nvPr/>
        </p:nvSpPr>
        <p:spPr>
          <a:xfrm>
            <a:off x="955548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0 in block 0"/>
          <p:cNvSpPr/>
          <p:nvPr/>
        </p:nvSpPr>
        <p:spPr>
          <a:xfrm>
            <a:off x="100584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1 in block 0"/>
          <p:cNvSpPr/>
          <p:nvPr/>
        </p:nvSpPr>
        <p:spPr>
          <a:xfrm>
            <a:off x="105613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2 in block 0"/>
          <p:cNvSpPr/>
          <p:nvPr/>
        </p:nvSpPr>
        <p:spPr>
          <a:xfrm>
            <a:off x="30175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3 in block 0"/>
          <p:cNvSpPr/>
          <p:nvPr/>
        </p:nvSpPr>
        <p:spPr>
          <a:xfrm>
            <a:off x="352044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4 in block 0"/>
          <p:cNvSpPr/>
          <p:nvPr/>
        </p:nvSpPr>
        <p:spPr>
          <a:xfrm>
            <a:off x="40233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35 in block 0"/>
          <p:cNvSpPr/>
          <p:nvPr/>
        </p:nvSpPr>
        <p:spPr>
          <a:xfrm>
            <a:off x="452628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36 in block 0"/>
          <p:cNvSpPr/>
          <p:nvPr/>
        </p:nvSpPr>
        <p:spPr>
          <a:xfrm>
            <a:off x="50292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37 in block 0"/>
          <p:cNvSpPr/>
          <p:nvPr/>
        </p:nvSpPr>
        <p:spPr>
          <a:xfrm>
            <a:off x="55321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38 in block 0"/>
          <p:cNvSpPr/>
          <p:nvPr/>
        </p:nvSpPr>
        <p:spPr>
          <a:xfrm>
            <a:off x="603504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39 in block 0"/>
          <p:cNvSpPr/>
          <p:nvPr/>
        </p:nvSpPr>
        <p:spPr>
          <a:xfrm>
            <a:off x="65379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0 in block 0"/>
          <p:cNvSpPr/>
          <p:nvPr/>
        </p:nvSpPr>
        <p:spPr>
          <a:xfrm>
            <a:off x="704088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1 in block 0"/>
          <p:cNvSpPr/>
          <p:nvPr/>
        </p:nvSpPr>
        <p:spPr>
          <a:xfrm>
            <a:off x="75438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2 in block 0"/>
          <p:cNvSpPr/>
          <p:nvPr/>
        </p:nvSpPr>
        <p:spPr>
          <a:xfrm>
            <a:off x="80467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3 in block 0"/>
          <p:cNvSpPr/>
          <p:nvPr/>
        </p:nvSpPr>
        <p:spPr>
          <a:xfrm>
            <a:off x="854964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4 in block 0"/>
          <p:cNvSpPr/>
          <p:nvPr/>
        </p:nvSpPr>
        <p:spPr>
          <a:xfrm>
            <a:off x="90525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45 in block 0"/>
          <p:cNvSpPr/>
          <p:nvPr/>
        </p:nvSpPr>
        <p:spPr>
          <a:xfrm>
            <a:off x="955548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46 in block 0"/>
          <p:cNvSpPr/>
          <p:nvPr/>
        </p:nvSpPr>
        <p:spPr>
          <a:xfrm>
            <a:off x="100584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47 in block 0"/>
          <p:cNvSpPr/>
          <p:nvPr/>
        </p:nvSpPr>
        <p:spPr>
          <a:xfrm>
            <a:off x="105613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48 in block 0"/>
          <p:cNvSpPr/>
          <p:nvPr/>
        </p:nvSpPr>
        <p:spPr>
          <a:xfrm>
            <a:off x="30175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49 in block 0"/>
          <p:cNvSpPr/>
          <p:nvPr/>
        </p:nvSpPr>
        <p:spPr>
          <a:xfrm>
            <a:off x="352044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0 in block 0"/>
          <p:cNvSpPr/>
          <p:nvPr/>
        </p:nvSpPr>
        <p:spPr>
          <a:xfrm>
            <a:off x="40233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1 in block 0"/>
          <p:cNvSpPr/>
          <p:nvPr/>
        </p:nvSpPr>
        <p:spPr>
          <a:xfrm>
            <a:off x="452628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2 in block 0"/>
          <p:cNvSpPr/>
          <p:nvPr/>
        </p:nvSpPr>
        <p:spPr>
          <a:xfrm>
            <a:off x="50292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3 in block 0"/>
          <p:cNvSpPr/>
          <p:nvPr/>
        </p:nvSpPr>
        <p:spPr>
          <a:xfrm>
            <a:off x="55321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4 in block 0"/>
          <p:cNvSpPr/>
          <p:nvPr/>
        </p:nvSpPr>
        <p:spPr>
          <a:xfrm>
            <a:off x="603504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55 in block 0"/>
          <p:cNvSpPr/>
          <p:nvPr/>
        </p:nvSpPr>
        <p:spPr>
          <a:xfrm>
            <a:off x="65379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56 in block 0"/>
          <p:cNvSpPr/>
          <p:nvPr/>
        </p:nvSpPr>
        <p:spPr>
          <a:xfrm>
            <a:off x="704088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57 in block 0"/>
          <p:cNvSpPr/>
          <p:nvPr/>
        </p:nvSpPr>
        <p:spPr>
          <a:xfrm>
            <a:off x="75438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58 in block 0"/>
          <p:cNvSpPr/>
          <p:nvPr/>
        </p:nvSpPr>
        <p:spPr>
          <a:xfrm>
            <a:off x="80467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59 in block 0"/>
          <p:cNvSpPr/>
          <p:nvPr/>
        </p:nvSpPr>
        <p:spPr>
          <a:xfrm>
            <a:off x="854964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60 in block 0"/>
          <p:cNvSpPr/>
          <p:nvPr/>
        </p:nvSpPr>
        <p:spPr>
          <a:xfrm>
            <a:off x="90525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1 in block 0"/>
          <p:cNvSpPr/>
          <p:nvPr/>
        </p:nvSpPr>
        <p:spPr>
          <a:xfrm>
            <a:off x="955548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2 in block 0"/>
          <p:cNvSpPr/>
          <p:nvPr/>
        </p:nvSpPr>
        <p:spPr>
          <a:xfrm>
            <a:off x="100584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3 in block 0"/>
          <p:cNvSpPr/>
          <p:nvPr/>
        </p:nvSpPr>
        <p:spPr>
          <a:xfrm>
            <a:off x="105613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block 1"/>
          <p:cNvSpPr/>
          <p:nvPr/>
        </p:nvSpPr>
        <p:spPr>
          <a:xfrm>
            <a:off x="12252960" y="14698980"/>
            <a:ext cx="8869680" cy="267462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Block 1"/>
          <p:cNvSpPr/>
          <p:nvPr/>
        </p:nvSpPr>
        <p:spPr>
          <a:xfrm>
            <a:off x="12527280" y="1485900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89" name="Thread 0 in block 1"/>
          <p:cNvSpPr/>
          <p:nvPr/>
        </p:nvSpPr>
        <p:spPr>
          <a:xfrm>
            <a:off x="127101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1 in block 1"/>
          <p:cNvSpPr/>
          <p:nvPr/>
        </p:nvSpPr>
        <p:spPr>
          <a:xfrm>
            <a:off x="1321308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2 in block 1"/>
          <p:cNvSpPr/>
          <p:nvPr/>
        </p:nvSpPr>
        <p:spPr>
          <a:xfrm>
            <a:off x="137160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3 in block 1"/>
          <p:cNvSpPr/>
          <p:nvPr/>
        </p:nvSpPr>
        <p:spPr>
          <a:xfrm>
            <a:off x="1421892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4 in block 1"/>
          <p:cNvSpPr/>
          <p:nvPr/>
        </p:nvSpPr>
        <p:spPr>
          <a:xfrm>
            <a:off x="1472184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5 in block 1"/>
          <p:cNvSpPr/>
          <p:nvPr/>
        </p:nvSpPr>
        <p:spPr>
          <a:xfrm>
            <a:off x="152247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6 in block 1"/>
          <p:cNvSpPr/>
          <p:nvPr/>
        </p:nvSpPr>
        <p:spPr>
          <a:xfrm>
            <a:off x="1572768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 in block 1"/>
          <p:cNvSpPr/>
          <p:nvPr/>
        </p:nvSpPr>
        <p:spPr>
          <a:xfrm>
            <a:off x="162306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 in block 1"/>
          <p:cNvSpPr/>
          <p:nvPr/>
        </p:nvSpPr>
        <p:spPr>
          <a:xfrm>
            <a:off x="1673352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9 in block 1"/>
          <p:cNvSpPr/>
          <p:nvPr/>
        </p:nvSpPr>
        <p:spPr>
          <a:xfrm>
            <a:off x="1723644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10 in block 1"/>
          <p:cNvSpPr/>
          <p:nvPr/>
        </p:nvSpPr>
        <p:spPr>
          <a:xfrm>
            <a:off x="177393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11 in block 1"/>
          <p:cNvSpPr/>
          <p:nvPr/>
        </p:nvSpPr>
        <p:spPr>
          <a:xfrm>
            <a:off x="1824228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12 in block 1"/>
          <p:cNvSpPr/>
          <p:nvPr/>
        </p:nvSpPr>
        <p:spPr>
          <a:xfrm>
            <a:off x="187452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13 in block 1"/>
          <p:cNvSpPr/>
          <p:nvPr/>
        </p:nvSpPr>
        <p:spPr>
          <a:xfrm>
            <a:off x="1924812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14 in block 1"/>
          <p:cNvSpPr/>
          <p:nvPr/>
        </p:nvSpPr>
        <p:spPr>
          <a:xfrm>
            <a:off x="1975104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15 in block 1"/>
          <p:cNvSpPr/>
          <p:nvPr/>
        </p:nvSpPr>
        <p:spPr>
          <a:xfrm>
            <a:off x="202539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16 in block 1"/>
          <p:cNvSpPr/>
          <p:nvPr/>
        </p:nvSpPr>
        <p:spPr>
          <a:xfrm>
            <a:off x="127101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17 in block 1"/>
          <p:cNvSpPr/>
          <p:nvPr/>
        </p:nvSpPr>
        <p:spPr>
          <a:xfrm>
            <a:off x="1321308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18 in block 1"/>
          <p:cNvSpPr/>
          <p:nvPr/>
        </p:nvSpPr>
        <p:spPr>
          <a:xfrm>
            <a:off x="137160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19 in block 1"/>
          <p:cNvSpPr/>
          <p:nvPr/>
        </p:nvSpPr>
        <p:spPr>
          <a:xfrm>
            <a:off x="142189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20 in block 1"/>
          <p:cNvSpPr/>
          <p:nvPr/>
        </p:nvSpPr>
        <p:spPr>
          <a:xfrm>
            <a:off x="1472184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21 in block 1"/>
          <p:cNvSpPr/>
          <p:nvPr/>
        </p:nvSpPr>
        <p:spPr>
          <a:xfrm>
            <a:off x="152247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22 in block 1"/>
          <p:cNvSpPr/>
          <p:nvPr/>
        </p:nvSpPr>
        <p:spPr>
          <a:xfrm>
            <a:off x="1572768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23 in block 1"/>
          <p:cNvSpPr/>
          <p:nvPr/>
        </p:nvSpPr>
        <p:spPr>
          <a:xfrm>
            <a:off x="162306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24 in block 1"/>
          <p:cNvSpPr/>
          <p:nvPr/>
        </p:nvSpPr>
        <p:spPr>
          <a:xfrm>
            <a:off x="167335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25 in block 1"/>
          <p:cNvSpPr/>
          <p:nvPr/>
        </p:nvSpPr>
        <p:spPr>
          <a:xfrm>
            <a:off x="1723644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26 in block 1"/>
          <p:cNvSpPr/>
          <p:nvPr/>
        </p:nvSpPr>
        <p:spPr>
          <a:xfrm>
            <a:off x="177393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27 in block 1"/>
          <p:cNvSpPr/>
          <p:nvPr/>
        </p:nvSpPr>
        <p:spPr>
          <a:xfrm>
            <a:off x="1824228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28 in block 1"/>
          <p:cNvSpPr/>
          <p:nvPr/>
        </p:nvSpPr>
        <p:spPr>
          <a:xfrm>
            <a:off x="187452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29 in block 1"/>
          <p:cNvSpPr/>
          <p:nvPr/>
        </p:nvSpPr>
        <p:spPr>
          <a:xfrm>
            <a:off x="192481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30 in block 1"/>
          <p:cNvSpPr/>
          <p:nvPr/>
        </p:nvSpPr>
        <p:spPr>
          <a:xfrm>
            <a:off x="1975104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31 in block 1"/>
          <p:cNvSpPr/>
          <p:nvPr/>
        </p:nvSpPr>
        <p:spPr>
          <a:xfrm>
            <a:off x="202539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32 in block 1"/>
          <p:cNvSpPr/>
          <p:nvPr/>
        </p:nvSpPr>
        <p:spPr>
          <a:xfrm>
            <a:off x="127101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33 in block 1"/>
          <p:cNvSpPr/>
          <p:nvPr/>
        </p:nvSpPr>
        <p:spPr>
          <a:xfrm>
            <a:off x="1321308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34 in block 1"/>
          <p:cNvSpPr/>
          <p:nvPr/>
        </p:nvSpPr>
        <p:spPr>
          <a:xfrm>
            <a:off x="137160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35 in block 1"/>
          <p:cNvSpPr/>
          <p:nvPr/>
        </p:nvSpPr>
        <p:spPr>
          <a:xfrm>
            <a:off x="142189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36 in block 1"/>
          <p:cNvSpPr/>
          <p:nvPr/>
        </p:nvSpPr>
        <p:spPr>
          <a:xfrm>
            <a:off x="1472184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37 in block 1"/>
          <p:cNvSpPr/>
          <p:nvPr/>
        </p:nvSpPr>
        <p:spPr>
          <a:xfrm>
            <a:off x="152247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38 in block 1"/>
          <p:cNvSpPr/>
          <p:nvPr/>
        </p:nvSpPr>
        <p:spPr>
          <a:xfrm>
            <a:off x="1572768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39 in block 1"/>
          <p:cNvSpPr/>
          <p:nvPr/>
        </p:nvSpPr>
        <p:spPr>
          <a:xfrm>
            <a:off x="162306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40 in block 1"/>
          <p:cNvSpPr/>
          <p:nvPr/>
        </p:nvSpPr>
        <p:spPr>
          <a:xfrm>
            <a:off x="167335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41 in block 1"/>
          <p:cNvSpPr/>
          <p:nvPr/>
        </p:nvSpPr>
        <p:spPr>
          <a:xfrm>
            <a:off x="1723644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42 in block 1"/>
          <p:cNvSpPr/>
          <p:nvPr/>
        </p:nvSpPr>
        <p:spPr>
          <a:xfrm>
            <a:off x="177393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43 in block 1"/>
          <p:cNvSpPr/>
          <p:nvPr/>
        </p:nvSpPr>
        <p:spPr>
          <a:xfrm>
            <a:off x="1824228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44 in block 1"/>
          <p:cNvSpPr/>
          <p:nvPr/>
        </p:nvSpPr>
        <p:spPr>
          <a:xfrm>
            <a:off x="187452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45 in block 1"/>
          <p:cNvSpPr/>
          <p:nvPr/>
        </p:nvSpPr>
        <p:spPr>
          <a:xfrm>
            <a:off x="192481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46 in block 1"/>
          <p:cNvSpPr/>
          <p:nvPr/>
        </p:nvSpPr>
        <p:spPr>
          <a:xfrm>
            <a:off x="1975104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47 in block 1"/>
          <p:cNvSpPr/>
          <p:nvPr/>
        </p:nvSpPr>
        <p:spPr>
          <a:xfrm>
            <a:off x="202539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48 in block 1"/>
          <p:cNvSpPr/>
          <p:nvPr/>
        </p:nvSpPr>
        <p:spPr>
          <a:xfrm>
            <a:off x="127101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49 in block 1"/>
          <p:cNvSpPr/>
          <p:nvPr/>
        </p:nvSpPr>
        <p:spPr>
          <a:xfrm>
            <a:off x="1321308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50 in block 1"/>
          <p:cNvSpPr/>
          <p:nvPr/>
        </p:nvSpPr>
        <p:spPr>
          <a:xfrm>
            <a:off x="137160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51 in block 1"/>
          <p:cNvSpPr/>
          <p:nvPr/>
        </p:nvSpPr>
        <p:spPr>
          <a:xfrm>
            <a:off x="142189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52 in block 1"/>
          <p:cNvSpPr/>
          <p:nvPr/>
        </p:nvSpPr>
        <p:spPr>
          <a:xfrm>
            <a:off x="1472184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53 in block 1"/>
          <p:cNvSpPr/>
          <p:nvPr/>
        </p:nvSpPr>
        <p:spPr>
          <a:xfrm>
            <a:off x="152247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54 in block 1"/>
          <p:cNvSpPr/>
          <p:nvPr/>
        </p:nvSpPr>
        <p:spPr>
          <a:xfrm>
            <a:off x="1572768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5 in block 1"/>
          <p:cNvSpPr/>
          <p:nvPr/>
        </p:nvSpPr>
        <p:spPr>
          <a:xfrm>
            <a:off x="162306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56 in block 1"/>
          <p:cNvSpPr/>
          <p:nvPr/>
        </p:nvSpPr>
        <p:spPr>
          <a:xfrm>
            <a:off x="167335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57 in block 1"/>
          <p:cNvSpPr/>
          <p:nvPr/>
        </p:nvSpPr>
        <p:spPr>
          <a:xfrm>
            <a:off x="1723644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58 in block 1"/>
          <p:cNvSpPr/>
          <p:nvPr/>
        </p:nvSpPr>
        <p:spPr>
          <a:xfrm>
            <a:off x="177393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59 in block 1"/>
          <p:cNvSpPr/>
          <p:nvPr/>
        </p:nvSpPr>
        <p:spPr>
          <a:xfrm>
            <a:off x="1824228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60 in block 1"/>
          <p:cNvSpPr/>
          <p:nvPr/>
        </p:nvSpPr>
        <p:spPr>
          <a:xfrm>
            <a:off x="187452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61 in block 1"/>
          <p:cNvSpPr/>
          <p:nvPr/>
        </p:nvSpPr>
        <p:spPr>
          <a:xfrm>
            <a:off x="192481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62 in block 1"/>
          <p:cNvSpPr/>
          <p:nvPr/>
        </p:nvSpPr>
        <p:spPr>
          <a:xfrm>
            <a:off x="1975104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63 in block 1"/>
          <p:cNvSpPr/>
          <p:nvPr/>
        </p:nvSpPr>
        <p:spPr>
          <a:xfrm>
            <a:off x="202539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block 2"/>
          <p:cNvSpPr/>
          <p:nvPr/>
        </p:nvSpPr>
        <p:spPr>
          <a:xfrm>
            <a:off x="21945600" y="14698980"/>
            <a:ext cx="8869680" cy="267462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Block 2"/>
          <p:cNvSpPr/>
          <p:nvPr/>
        </p:nvSpPr>
        <p:spPr>
          <a:xfrm>
            <a:off x="22219920" y="1485900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55" name="Thread 0 in block 2"/>
          <p:cNvSpPr/>
          <p:nvPr/>
        </p:nvSpPr>
        <p:spPr>
          <a:xfrm>
            <a:off x="224028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 in block 2"/>
          <p:cNvSpPr/>
          <p:nvPr/>
        </p:nvSpPr>
        <p:spPr>
          <a:xfrm>
            <a:off x="2290572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2 in block 2"/>
          <p:cNvSpPr/>
          <p:nvPr/>
        </p:nvSpPr>
        <p:spPr>
          <a:xfrm>
            <a:off x="2340864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3 in block 2"/>
          <p:cNvSpPr/>
          <p:nvPr/>
        </p:nvSpPr>
        <p:spPr>
          <a:xfrm>
            <a:off x="239115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4 in block 2"/>
          <p:cNvSpPr/>
          <p:nvPr/>
        </p:nvSpPr>
        <p:spPr>
          <a:xfrm>
            <a:off x="2441448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5 in block 2"/>
          <p:cNvSpPr/>
          <p:nvPr/>
        </p:nvSpPr>
        <p:spPr>
          <a:xfrm>
            <a:off x="249174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6 in block 2"/>
          <p:cNvSpPr/>
          <p:nvPr/>
        </p:nvSpPr>
        <p:spPr>
          <a:xfrm>
            <a:off x="2542032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7 in block 2"/>
          <p:cNvSpPr/>
          <p:nvPr/>
        </p:nvSpPr>
        <p:spPr>
          <a:xfrm>
            <a:off x="2592324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8 in block 2"/>
          <p:cNvSpPr/>
          <p:nvPr/>
        </p:nvSpPr>
        <p:spPr>
          <a:xfrm>
            <a:off x="264261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9 in block 2"/>
          <p:cNvSpPr/>
          <p:nvPr/>
        </p:nvSpPr>
        <p:spPr>
          <a:xfrm>
            <a:off x="2692908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0 in block 2"/>
          <p:cNvSpPr/>
          <p:nvPr/>
        </p:nvSpPr>
        <p:spPr>
          <a:xfrm>
            <a:off x="274320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1 in block 2"/>
          <p:cNvSpPr/>
          <p:nvPr/>
        </p:nvSpPr>
        <p:spPr>
          <a:xfrm>
            <a:off x="2793492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2 in block 2"/>
          <p:cNvSpPr/>
          <p:nvPr/>
        </p:nvSpPr>
        <p:spPr>
          <a:xfrm>
            <a:off x="2843784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3 in block 2"/>
          <p:cNvSpPr/>
          <p:nvPr/>
        </p:nvSpPr>
        <p:spPr>
          <a:xfrm>
            <a:off x="2894076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4 in block 2"/>
          <p:cNvSpPr/>
          <p:nvPr/>
        </p:nvSpPr>
        <p:spPr>
          <a:xfrm>
            <a:off x="2944368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5 in block 2"/>
          <p:cNvSpPr/>
          <p:nvPr/>
        </p:nvSpPr>
        <p:spPr>
          <a:xfrm>
            <a:off x="29946600" y="154990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6 in block 2"/>
          <p:cNvSpPr/>
          <p:nvPr/>
        </p:nvSpPr>
        <p:spPr>
          <a:xfrm>
            <a:off x="224028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7 in block 2"/>
          <p:cNvSpPr/>
          <p:nvPr/>
        </p:nvSpPr>
        <p:spPr>
          <a:xfrm>
            <a:off x="229057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8 in block 2"/>
          <p:cNvSpPr/>
          <p:nvPr/>
        </p:nvSpPr>
        <p:spPr>
          <a:xfrm>
            <a:off x="2340864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19 in block 2"/>
          <p:cNvSpPr/>
          <p:nvPr/>
        </p:nvSpPr>
        <p:spPr>
          <a:xfrm>
            <a:off x="239115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0 in block 2"/>
          <p:cNvSpPr/>
          <p:nvPr/>
        </p:nvSpPr>
        <p:spPr>
          <a:xfrm>
            <a:off x="2441448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1 in block 2"/>
          <p:cNvSpPr/>
          <p:nvPr/>
        </p:nvSpPr>
        <p:spPr>
          <a:xfrm>
            <a:off x="249174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2 in block 2"/>
          <p:cNvSpPr/>
          <p:nvPr/>
        </p:nvSpPr>
        <p:spPr>
          <a:xfrm>
            <a:off x="254203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3 in block 2"/>
          <p:cNvSpPr/>
          <p:nvPr/>
        </p:nvSpPr>
        <p:spPr>
          <a:xfrm>
            <a:off x="2592324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4 in block 2"/>
          <p:cNvSpPr/>
          <p:nvPr/>
        </p:nvSpPr>
        <p:spPr>
          <a:xfrm>
            <a:off x="264261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5 in block 2"/>
          <p:cNvSpPr/>
          <p:nvPr/>
        </p:nvSpPr>
        <p:spPr>
          <a:xfrm>
            <a:off x="2692908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6 in block 2"/>
          <p:cNvSpPr/>
          <p:nvPr/>
        </p:nvSpPr>
        <p:spPr>
          <a:xfrm>
            <a:off x="274320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7 in block 2"/>
          <p:cNvSpPr/>
          <p:nvPr/>
        </p:nvSpPr>
        <p:spPr>
          <a:xfrm>
            <a:off x="2793492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8 in block 2"/>
          <p:cNvSpPr/>
          <p:nvPr/>
        </p:nvSpPr>
        <p:spPr>
          <a:xfrm>
            <a:off x="2843784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29 in block 2"/>
          <p:cNvSpPr/>
          <p:nvPr/>
        </p:nvSpPr>
        <p:spPr>
          <a:xfrm>
            <a:off x="2894076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0 in block 2"/>
          <p:cNvSpPr/>
          <p:nvPr/>
        </p:nvSpPr>
        <p:spPr>
          <a:xfrm>
            <a:off x="2944368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1 in block 2"/>
          <p:cNvSpPr/>
          <p:nvPr/>
        </p:nvSpPr>
        <p:spPr>
          <a:xfrm>
            <a:off x="29946600" y="157962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2 in block 2"/>
          <p:cNvSpPr/>
          <p:nvPr/>
        </p:nvSpPr>
        <p:spPr>
          <a:xfrm>
            <a:off x="224028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3 in block 2"/>
          <p:cNvSpPr/>
          <p:nvPr/>
        </p:nvSpPr>
        <p:spPr>
          <a:xfrm>
            <a:off x="229057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4 in block 2"/>
          <p:cNvSpPr/>
          <p:nvPr/>
        </p:nvSpPr>
        <p:spPr>
          <a:xfrm>
            <a:off x="2340864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5 in block 2"/>
          <p:cNvSpPr/>
          <p:nvPr/>
        </p:nvSpPr>
        <p:spPr>
          <a:xfrm>
            <a:off x="239115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6 in block 2"/>
          <p:cNvSpPr/>
          <p:nvPr/>
        </p:nvSpPr>
        <p:spPr>
          <a:xfrm>
            <a:off x="2441448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7 in block 2"/>
          <p:cNvSpPr/>
          <p:nvPr/>
        </p:nvSpPr>
        <p:spPr>
          <a:xfrm>
            <a:off x="249174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8 in block 2"/>
          <p:cNvSpPr/>
          <p:nvPr/>
        </p:nvSpPr>
        <p:spPr>
          <a:xfrm>
            <a:off x="254203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39 in block 2"/>
          <p:cNvSpPr/>
          <p:nvPr/>
        </p:nvSpPr>
        <p:spPr>
          <a:xfrm>
            <a:off x="2592324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0 in block 2"/>
          <p:cNvSpPr/>
          <p:nvPr/>
        </p:nvSpPr>
        <p:spPr>
          <a:xfrm>
            <a:off x="264261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1 in block 2"/>
          <p:cNvSpPr/>
          <p:nvPr/>
        </p:nvSpPr>
        <p:spPr>
          <a:xfrm>
            <a:off x="2692908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2 in block 2"/>
          <p:cNvSpPr/>
          <p:nvPr/>
        </p:nvSpPr>
        <p:spPr>
          <a:xfrm>
            <a:off x="274320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3 in block 2"/>
          <p:cNvSpPr/>
          <p:nvPr/>
        </p:nvSpPr>
        <p:spPr>
          <a:xfrm>
            <a:off x="2793492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4 in block 2"/>
          <p:cNvSpPr/>
          <p:nvPr/>
        </p:nvSpPr>
        <p:spPr>
          <a:xfrm>
            <a:off x="2843784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5 in block 2"/>
          <p:cNvSpPr/>
          <p:nvPr/>
        </p:nvSpPr>
        <p:spPr>
          <a:xfrm>
            <a:off x="2894076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6 in block 2"/>
          <p:cNvSpPr/>
          <p:nvPr/>
        </p:nvSpPr>
        <p:spPr>
          <a:xfrm>
            <a:off x="2944368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7 in block 2"/>
          <p:cNvSpPr/>
          <p:nvPr/>
        </p:nvSpPr>
        <p:spPr>
          <a:xfrm>
            <a:off x="29946600" y="163906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8 in block 2"/>
          <p:cNvSpPr/>
          <p:nvPr/>
        </p:nvSpPr>
        <p:spPr>
          <a:xfrm>
            <a:off x="224028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49 in block 2"/>
          <p:cNvSpPr/>
          <p:nvPr/>
        </p:nvSpPr>
        <p:spPr>
          <a:xfrm>
            <a:off x="229057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0 in block 2"/>
          <p:cNvSpPr/>
          <p:nvPr/>
        </p:nvSpPr>
        <p:spPr>
          <a:xfrm>
            <a:off x="2340864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1 in block 2"/>
          <p:cNvSpPr/>
          <p:nvPr/>
        </p:nvSpPr>
        <p:spPr>
          <a:xfrm>
            <a:off x="239115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2 in block 2"/>
          <p:cNvSpPr/>
          <p:nvPr/>
        </p:nvSpPr>
        <p:spPr>
          <a:xfrm>
            <a:off x="2441448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3 in block 2"/>
          <p:cNvSpPr/>
          <p:nvPr/>
        </p:nvSpPr>
        <p:spPr>
          <a:xfrm>
            <a:off x="249174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4 in block 2"/>
          <p:cNvSpPr/>
          <p:nvPr/>
        </p:nvSpPr>
        <p:spPr>
          <a:xfrm>
            <a:off x="254203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5 in block 2"/>
          <p:cNvSpPr/>
          <p:nvPr/>
        </p:nvSpPr>
        <p:spPr>
          <a:xfrm>
            <a:off x="2592324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6 in block 2"/>
          <p:cNvSpPr/>
          <p:nvPr/>
        </p:nvSpPr>
        <p:spPr>
          <a:xfrm>
            <a:off x="264261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7 in block 2"/>
          <p:cNvSpPr/>
          <p:nvPr/>
        </p:nvSpPr>
        <p:spPr>
          <a:xfrm>
            <a:off x="2692908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8 in block 2"/>
          <p:cNvSpPr/>
          <p:nvPr/>
        </p:nvSpPr>
        <p:spPr>
          <a:xfrm>
            <a:off x="274320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59 in block 2"/>
          <p:cNvSpPr/>
          <p:nvPr/>
        </p:nvSpPr>
        <p:spPr>
          <a:xfrm>
            <a:off x="2793492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0 in block 2"/>
          <p:cNvSpPr/>
          <p:nvPr/>
        </p:nvSpPr>
        <p:spPr>
          <a:xfrm>
            <a:off x="2843784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1 in block 2"/>
          <p:cNvSpPr/>
          <p:nvPr/>
        </p:nvSpPr>
        <p:spPr>
          <a:xfrm>
            <a:off x="2894076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2 in block 2"/>
          <p:cNvSpPr/>
          <p:nvPr/>
        </p:nvSpPr>
        <p:spPr>
          <a:xfrm>
            <a:off x="2944368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3 in block 2"/>
          <p:cNvSpPr/>
          <p:nvPr/>
        </p:nvSpPr>
        <p:spPr>
          <a:xfrm>
            <a:off x="29946600" y="166878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Additional blocks in this grid"/>
          <p:cNvSpPr/>
          <p:nvPr/>
        </p:nvSpPr>
        <p:spPr>
          <a:xfrm>
            <a:off x="31318200" y="15544800"/>
            <a:ext cx="2286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20" name="Shape"/>
          <p:cNvSpPr/>
          <p:nvPr/>
        </p:nvSpPr>
        <p:spPr>
          <a:xfrm>
            <a:off x="4114800" y="1842516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21" name="`this_thread`"/>
          <p:cNvSpPr/>
          <p:nvPr/>
        </p:nvSpPr>
        <p:spPr>
          <a:xfrm>
            <a:off x="4617720" y="1835658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250" b="0">
                <a:solidFill>
                  <a:schemeClr val="accent4"/>
                </a:solidFill>
                <a:latin typeface="NVIDIA Sans"/>
              </a:rPr>
              <a:t xml:space="preserve"/>
            </a:r>
            <a:r>
              <a:rPr lang="en-US" sz="2250" b="0">
                <a:solidFill>
                  <a:schemeClr val="accent4"/>
                </a:solidFill>
                <a:latin typeface="DejaVu Sans Mono"/>
              </a:rPr>
              <a:t xml:space="preserve">this_thread</a:t>
            </a:r>
            <a:r>
              <a:rPr lang="en-US" sz="2250" b="0">
                <a:solidFill>
                  <a:schemeClr val="accent4"/>
                </a:solidFill>
                <a:latin typeface="NVIDIA Sans"/>
              </a:rPr>
              <a:t xml:space="preserve"/>
            </a:r>
          </a:p>
        </p:txBody>
      </p:sp>
      <p:sp>
        <p:nvSpPr>
          <p:cNvPr id="222" name="Shape"/>
          <p:cNvSpPr/>
          <p:nvPr/>
        </p:nvSpPr>
        <p:spPr>
          <a:xfrm>
            <a:off x="10058400" y="1842516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5"/>
            </a:solidFill>
          </a:ln>
        </p:spPr>
      </p:sp>
      <p:sp>
        <p:nvSpPr>
          <p:cNvPr id="223" name="`this_warp`"/>
          <p:cNvSpPr/>
          <p:nvPr/>
        </p:nvSpPr>
        <p:spPr>
          <a:xfrm>
            <a:off x="10561320" y="1835658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250" b="0">
                <a:solidFill>
                  <a:schemeClr val="accent5"/>
                </a:solidFill>
                <a:latin typeface="NVIDIA Sans"/>
              </a:rPr>
              <a:t xml:space="preserve"/>
            </a:r>
            <a:r>
              <a:rPr lang="en-US" sz="2250" b="0">
                <a:solidFill>
                  <a:schemeClr val="accent5"/>
                </a:solidFill>
                <a:latin typeface="DejaVu Sans Mono"/>
              </a:rPr>
              <a:t xml:space="preserve">this_warp</a:t>
            </a:r>
            <a:r>
              <a:rPr lang="en-US" sz="2250" b="0">
                <a:solidFill>
                  <a:schemeClr val="accent5"/>
                </a:solidFill>
                <a:latin typeface="NVIDIA Sans"/>
              </a:rPr>
              <a:t xml:space="preserve"/>
            </a:r>
          </a:p>
        </p:txBody>
      </p:sp>
      <p:sp>
        <p:nvSpPr>
          <p:cNvPr id="224" name="Shape"/>
          <p:cNvSpPr/>
          <p:nvPr/>
        </p:nvSpPr>
        <p:spPr>
          <a:xfrm>
            <a:off x="16002000" y="1842516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25" name="`this_block`"/>
          <p:cNvSpPr/>
          <p:nvPr/>
        </p:nvSpPr>
        <p:spPr>
          <a:xfrm>
            <a:off x="16504920" y="1835658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250" b="0">
                <a:solidFill>
                  <a:schemeClr val="accent3"/>
                </a:solidFill>
                <a:latin typeface="NVIDIA Sans"/>
              </a:rPr>
              <a:t xml:space="preserve"/>
            </a:r>
            <a:r>
              <a:rPr lang="en-US" sz="2250" b="0">
                <a:solidFill>
                  <a:schemeClr val="accent3"/>
                </a:solidFill>
                <a:latin typeface="DejaVu Sans Mono"/>
              </a:rPr>
              <a:t xml:space="preserve">this_block</a:t>
            </a:r>
            <a:r>
              <a:rPr lang="en-US" sz="2250" b="0">
                <a:solidFill>
                  <a:schemeClr val="accent3"/>
                </a:solidFill>
                <a:latin typeface="NVIDIA Sans"/>
              </a:rPr>
              <a:t xml:space="preserve"/>
            </a:r>
          </a:p>
        </p:txBody>
      </p:sp>
      <p:sp>
        <p:nvSpPr>
          <p:cNvPr id="226" name="Shape"/>
          <p:cNvSpPr/>
          <p:nvPr/>
        </p:nvSpPr>
        <p:spPr>
          <a:xfrm>
            <a:off x="21945600" y="1842516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227" name="`this_cluster`"/>
          <p:cNvSpPr/>
          <p:nvPr/>
        </p:nvSpPr>
        <p:spPr>
          <a:xfrm>
            <a:off x="22448520" y="1835658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250" b="0">
                <a:solidFill>
                  <a:schemeClr val="accent2"/>
                </a:solidFill>
                <a:latin typeface="NVIDIA Sans"/>
              </a:rPr>
              <a:t xml:space="preserve"/>
            </a:r>
            <a:r>
              <a:rPr lang="en-US" sz="2250" b="0">
                <a:solidFill>
                  <a:schemeClr val="accent2"/>
                </a:solidFill>
                <a:latin typeface="DejaVu Sans Mono"/>
              </a:rPr>
              <a:t xml:space="preserve">this_cluster</a:t>
            </a:r>
            <a:r>
              <a:rPr lang="en-US" sz="2250" b="0">
                <a:solidFill>
                  <a:schemeClr val="accent2"/>
                </a:solidFill>
                <a:latin typeface="NVIDIA Sans"/>
              </a:rPr>
              <a:t xml:space="preserve"/>
            </a:r>
          </a:p>
        </p:txBody>
      </p:sp>
      <p:sp>
        <p:nvSpPr>
          <p:cNvPr id="228" name="Shape"/>
          <p:cNvSpPr/>
          <p:nvPr/>
        </p:nvSpPr>
        <p:spPr>
          <a:xfrm>
            <a:off x="27889200" y="1842516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1"/>
            </a:solidFill>
          </a:ln>
        </p:spPr>
      </p:sp>
      <p:sp>
        <p:nvSpPr>
          <p:cNvPr id="229" name="`this_grid`"/>
          <p:cNvSpPr/>
          <p:nvPr/>
        </p:nvSpPr>
        <p:spPr>
          <a:xfrm>
            <a:off x="28392120" y="1835658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250" b="0">
                <a:solidFill>
                  <a:schemeClr val="accent1"/>
                </a:solidFill>
                <a:latin typeface="NVIDIA Sans"/>
              </a:rPr>
              <a:t xml:space="preserve"/>
            </a:r>
            <a:r>
              <a:rPr lang="en-US" sz="2250" b="0">
                <a:solidFill>
                  <a:schemeClr val="accent1"/>
                </a:solidFill>
                <a:latin typeface="DejaVu Sans Mono"/>
              </a:rPr>
              <a:t xml:space="preserve">this_grid</a:t>
            </a:r>
            <a:r>
              <a:rPr lang="en-US" sz="2250" b="0">
                <a:solidFill>
                  <a:schemeClr val="accent1"/>
                </a:solidFill>
                <a:latin typeface="NVIDIA Sans"/>
              </a:rPr>
              <a:t xml:space="preserve"/>
            </a:r>
          </a:p>
        </p:txBody>
      </p:sp>
      <p:sp>
        <p:nvSpPr>
          <p:cNvPr id="230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Implicit Groups — Coalesced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Coalesced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Coalesced group</a:t>
            </a:r>
          </a:p>
        </p:txBody>
      </p:sp>
      <p:sp>
        <p:nvSpPr>
          <p:cNvPr id="4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Active threads within a warp"/>
          <p:cNvSpPr/>
          <p:nvPr/>
        </p:nvSpPr>
        <p:spPr>
          <a:xfrm>
            <a:off x="2583180" y="582930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Active threads within a warp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embership from `__activemask()`"/>
          <p:cNvSpPr/>
          <p:nvPr/>
        </p:nvSpPr>
        <p:spPr>
          <a:xfrm>
            <a:off x="2583180" y="770382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Membership from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__activemask()</a:t>
            </a: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ful for opportunistic programming"/>
          <p:cNvSpPr/>
          <p:nvPr/>
        </p:nvSpPr>
        <p:spPr>
          <a:xfrm>
            <a:off x="2583180" y="957834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Useful for opportunistic programming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May be noncontiguous"/>
          <p:cNvSpPr/>
          <p:nvPr/>
        </p:nvSpPr>
        <p:spPr>
          <a:xfrm>
            <a:off x="2583180" y="1145286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May be noncontiguous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229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Coalesced group use-case example" descr="Supplemental coalesced-group usage example based on repository documentation"/>
          <p:cNvSpPr/>
          <p:nvPr/>
        </p:nvSpPr>
        <p:spPr>
          <a:xfrm>
            <a:off x="13258800" y="5394960"/>
            <a:ext cx="21031200" cy="76123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27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coalesced_group_example(</a:t>
            </a:r>
            <a:r>
              <a:rPr lang="en-US" sz="27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cudax::coop::this_warp warp{config};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if (cuda::gpu_thread.rank(warp) % 2 == 0)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{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700" b="0">
                <a:solidFill>
                  <a:schemeClr val="accent6"/>
                </a:solidFill>
                <a:latin typeface="DejaVu Sans Mono"/>
              </a:rPr>
              <a:t xml:space="preserve">// Group the currently active threads within this warp.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  cudax::coop::coalesced_group group{config};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700" b="0">
                <a:solidFill>
                  <a:schemeClr val="accent6"/>
                </a:solidFill>
                <a:latin typeface="DejaVu Sans Mono"/>
              </a:rPr>
              <a:t xml:space="preserve">// Thread rank and thread count within the group.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7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rank = cuda::gpu_thread.rank(group);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7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nthreads = cuda::gpu_thread.count(group);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700" b="0">
                <a:solidFill>
                  <a:schemeClr val="accent6"/>
                </a:solidFill>
                <a:latin typeface="DejaVu Sans Mono"/>
              </a:rPr>
              <a:t xml:space="preserve">// Synchronize the threads in the group.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  group.sync();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  }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7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  <a:defRPr lang="en-US" sz="2700" b="0">
                <a:solidFill>
                  <a:schemeClr val="dk1"/>
                </a:solidFill>
                <a:latin typeface="DejaVu Sans Mono"/>
              </a:defRPr>
            </a:pPr>
            <a:endParaRPr lang="en-US" sz="27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196060"/>
            <a:ext cx="8869680" cy="34518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42466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Coalesced group in block 0, warp 0: lane 0"/>
          <p:cNvSpPr/>
          <p:nvPr/>
        </p:nvSpPr>
        <p:spPr>
          <a:xfrm>
            <a:off x="294894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18" name="Lane 0 in warp 0, block 0 active"/>
          <p:cNvSpPr/>
          <p:nvPr/>
        </p:nvSpPr>
        <p:spPr>
          <a:xfrm>
            <a:off x="301752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Lane 1 in warp 0, block 0 inactive"/>
          <p:cNvSpPr/>
          <p:nvPr/>
        </p:nvSpPr>
        <p:spPr>
          <a:xfrm>
            <a:off x="35204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" name="Coalesced group in block 0, warp 0: lane 2"/>
          <p:cNvSpPr/>
          <p:nvPr/>
        </p:nvSpPr>
        <p:spPr>
          <a:xfrm>
            <a:off x="395478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" name="Lane 2 in warp 0, block 0 active"/>
          <p:cNvSpPr/>
          <p:nvPr/>
        </p:nvSpPr>
        <p:spPr>
          <a:xfrm>
            <a:off x="402336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Lane 3 in warp 0, block 0 inactive"/>
          <p:cNvSpPr/>
          <p:nvPr/>
        </p:nvSpPr>
        <p:spPr>
          <a:xfrm>
            <a:off x="45262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" name="Coalesced group in block 0, warp 0: lane 4"/>
          <p:cNvSpPr/>
          <p:nvPr/>
        </p:nvSpPr>
        <p:spPr>
          <a:xfrm>
            <a:off x="496062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" name="Lane 4 in warp 0, block 0 active"/>
          <p:cNvSpPr/>
          <p:nvPr/>
        </p:nvSpPr>
        <p:spPr>
          <a:xfrm>
            <a:off x="502920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Lane 5 in warp 0, block 0 inactive"/>
          <p:cNvSpPr/>
          <p:nvPr/>
        </p:nvSpPr>
        <p:spPr>
          <a:xfrm>
            <a:off x="55321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" name="Coalesced group in block 0, warp 0: lane 6"/>
          <p:cNvSpPr/>
          <p:nvPr/>
        </p:nvSpPr>
        <p:spPr>
          <a:xfrm>
            <a:off x="596646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7" name="Lane 6 in warp 0, block 0 active"/>
          <p:cNvSpPr/>
          <p:nvPr/>
        </p:nvSpPr>
        <p:spPr>
          <a:xfrm>
            <a:off x="603504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Lane 7 in warp 0, block 0 inactive"/>
          <p:cNvSpPr/>
          <p:nvPr/>
        </p:nvSpPr>
        <p:spPr>
          <a:xfrm>
            <a:off x="65379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" name="Coalesced group in block 0, warp 0: lane 8"/>
          <p:cNvSpPr/>
          <p:nvPr/>
        </p:nvSpPr>
        <p:spPr>
          <a:xfrm>
            <a:off x="697230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0" name="Lane 8 in warp 0, block 0 active"/>
          <p:cNvSpPr/>
          <p:nvPr/>
        </p:nvSpPr>
        <p:spPr>
          <a:xfrm>
            <a:off x="704088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Lane 9 in warp 0, block 0 inactive"/>
          <p:cNvSpPr/>
          <p:nvPr/>
        </p:nvSpPr>
        <p:spPr>
          <a:xfrm>
            <a:off x="75438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2" name="Coalesced group in block 0, warp 0: lane 10"/>
          <p:cNvSpPr/>
          <p:nvPr/>
        </p:nvSpPr>
        <p:spPr>
          <a:xfrm>
            <a:off x="797814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3" name="Lane 10 in warp 0, block 0 active"/>
          <p:cNvSpPr/>
          <p:nvPr/>
        </p:nvSpPr>
        <p:spPr>
          <a:xfrm>
            <a:off x="804672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Lane 11 in warp 0, block 0 inactive"/>
          <p:cNvSpPr/>
          <p:nvPr/>
        </p:nvSpPr>
        <p:spPr>
          <a:xfrm>
            <a:off x="85496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5" name="Coalesced group in block 0, warp 0: lane 12"/>
          <p:cNvSpPr/>
          <p:nvPr/>
        </p:nvSpPr>
        <p:spPr>
          <a:xfrm>
            <a:off x="898398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6" name="Lane 12 in warp 0, block 0 active"/>
          <p:cNvSpPr/>
          <p:nvPr/>
        </p:nvSpPr>
        <p:spPr>
          <a:xfrm>
            <a:off x="905256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Lane 13 in warp 0, block 0 inactive"/>
          <p:cNvSpPr/>
          <p:nvPr/>
        </p:nvSpPr>
        <p:spPr>
          <a:xfrm>
            <a:off x="95554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8" name="Coalesced group in block 0, warp 0: lane 14"/>
          <p:cNvSpPr/>
          <p:nvPr/>
        </p:nvSpPr>
        <p:spPr>
          <a:xfrm>
            <a:off x="998982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9" name="Lane 14 in warp 0, block 0 active"/>
          <p:cNvSpPr/>
          <p:nvPr/>
        </p:nvSpPr>
        <p:spPr>
          <a:xfrm>
            <a:off x="1005840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Lane 15 in warp 0, block 0 inactive"/>
          <p:cNvSpPr/>
          <p:nvPr/>
        </p:nvSpPr>
        <p:spPr>
          <a:xfrm>
            <a:off x="105613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1" name="Coalesced group in block 0, warp 0: lane 16"/>
          <p:cNvSpPr/>
          <p:nvPr/>
        </p:nvSpPr>
        <p:spPr>
          <a:xfrm>
            <a:off x="294894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2" name="Lane 16 in warp 0, block 0 active"/>
          <p:cNvSpPr/>
          <p:nvPr/>
        </p:nvSpPr>
        <p:spPr>
          <a:xfrm>
            <a:off x="301752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Lane 17 in warp 0, block 0 inactive"/>
          <p:cNvSpPr/>
          <p:nvPr/>
        </p:nvSpPr>
        <p:spPr>
          <a:xfrm>
            <a:off x="35204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4" name="Coalesced group in block 0, warp 0: lane 18"/>
          <p:cNvSpPr/>
          <p:nvPr/>
        </p:nvSpPr>
        <p:spPr>
          <a:xfrm>
            <a:off x="395478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5" name="Lane 18 in warp 0, block 0 active"/>
          <p:cNvSpPr/>
          <p:nvPr/>
        </p:nvSpPr>
        <p:spPr>
          <a:xfrm>
            <a:off x="402336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Lane 19 in warp 0, block 0 inactive"/>
          <p:cNvSpPr/>
          <p:nvPr/>
        </p:nvSpPr>
        <p:spPr>
          <a:xfrm>
            <a:off x="45262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7" name="Coalesced group in block 0, warp 0: lane 20"/>
          <p:cNvSpPr/>
          <p:nvPr/>
        </p:nvSpPr>
        <p:spPr>
          <a:xfrm>
            <a:off x="496062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8" name="Lane 20 in warp 0, block 0 active"/>
          <p:cNvSpPr/>
          <p:nvPr/>
        </p:nvSpPr>
        <p:spPr>
          <a:xfrm>
            <a:off x="502920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Lane 21 in warp 0, block 0 inactive"/>
          <p:cNvSpPr/>
          <p:nvPr/>
        </p:nvSpPr>
        <p:spPr>
          <a:xfrm>
            <a:off x="55321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0" name="Coalesced group in block 0, warp 0: lane 22"/>
          <p:cNvSpPr/>
          <p:nvPr/>
        </p:nvSpPr>
        <p:spPr>
          <a:xfrm>
            <a:off x="596646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1" name="Lane 22 in warp 0, block 0 active"/>
          <p:cNvSpPr/>
          <p:nvPr/>
        </p:nvSpPr>
        <p:spPr>
          <a:xfrm>
            <a:off x="603504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Lane 23 in warp 0, block 0 inactive"/>
          <p:cNvSpPr/>
          <p:nvPr/>
        </p:nvSpPr>
        <p:spPr>
          <a:xfrm>
            <a:off x="65379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3" name="Coalesced group in block 0, warp 0: lane 24"/>
          <p:cNvSpPr/>
          <p:nvPr/>
        </p:nvSpPr>
        <p:spPr>
          <a:xfrm>
            <a:off x="697230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4" name="Lane 24 in warp 0, block 0 active"/>
          <p:cNvSpPr/>
          <p:nvPr/>
        </p:nvSpPr>
        <p:spPr>
          <a:xfrm>
            <a:off x="704088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Lane 25 in warp 0, block 0 inactive"/>
          <p:cNvSpPr/>
          <p:nvPr/>
        </p:nvSpPr>
        <p:spPr>
          <a:xfrm>
            <a:off x="75438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6" name="Coalesced group in block 0, warp 0: lane 26"/>
          <p:cNvSpPr/>
          <p:nvPr/>
        </p:nvSpPr>
        <p:spPr>
          <a:xfrm>
            <a:off x="797814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7" name="Lane 26 in warp 0, block 0 active"/>
          <p:cNvSpPr/>
          <p:nvPr/>
        </p:nvSpPr>
        <p:spPr>
          <a:xfrm>
            <a:off x="804672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Lane 27 in warp 0, block 0 inactive"/>
          <p:cNvSpPr/>
          <p:nvPr/>
        </p:nvSpPr>
        <p:spPr>
          <a:xfrm>
            <a:off x="85496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9" name="Coalesced group in block 0, warp 0: lane 28"/>
          <p:cNvSpPr/>
          <p:nvPr/>
        </p:nvSpPr>
        <p:spPr>
          <a:xfrm>
            <a:off x="898398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0" name="Lane 28 in warp 0, block 0 active"/>
          <p:cNvSpPr/>
          <p:nvPr/>
        </p:nvSpPr>
        <p:spPr>
          <a:xfrm>
            <a:off x="905256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Lane 29 in warp 0, block 0 inactive"/>
          <p:cNvSpPr/>
          <p:nvPr/>
        </p:nvSpPr>
        <p:spPr>
          <a:xfrm>
            <a:off x="95554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2" name="Coalesced group in block 0, warp 0: lane 30"/>
          <p:cNvSpPr/>
          <p:nvPr/>
        </p:nvSpPr>
        <p:spPr>
          <a:xfrm>
            <a:off x="998982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3" name="Lane 30 in warp 0, block 0 active"/>
          <p:cNvSpPr/>
          <p:nvPr/>
        </p:nvSpPr>
        <p:spPr>
          <a:xfrm>
            <a:off x="1005840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Lane 31 in warp 0, block 0 inactive"/>
          <p:cNvSpPr/>
          <p:nvPr/>
        </p:nvSpPr>
        <p:spPr>
          <a:xfrm>
            <a:off x="105613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5" name="Coalesced group in block 0, warp 1: lane 0"/>
          <p:cNvSpPr/>
          <p:nvPr/>
        </p:nvSpPr>
        <p:spPr>
          <a:xfrm>
            <a:off x="294894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6" name="Lane 0 in warp 1, block 0 active"/>
          <p:cNvSpPr/>
          <p:nvPr/>
        </p:nvSpPr>
        <p:spPr>
          <a:xfrm>
            <a:off x="301752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Lane 1 in warp 1, block 0 inactive"/>
          <p:cNvSpPr/>
          <p:nvPr/>
        </p:nvSpPr>
        <p:spPr>
          <a:xfrm>
            <a:off x="35204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8" name="Coalesced group in block 0, warp 1: lane 2"/>
          <p:cNvSpPr/>
          <p:nvPr/>
        </p:nvSpPr>
        <p:spPr>
          <a:xfrm>
            <a:off x="395478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9" name="Lane 2 in warp 1, block 0 active"/>
          <p:cNvSpPr/>
          <p:nvPr/>
        </p:nvSpPr>
        <p:spPr>
          <a:xfrm>
            <a:off x="402336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Lane 3 in warp 1, block 0 inactive"/>
          <p:cNvSpPr/>
          <p:nvPr/>
        </p:nvSpPr>
        <p:spPr>
          <a:xfrm>
            <a:off x="45262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1" name="Coalesced group in block 0, warp 1: lane 4"/>
          <p:cNvSpPr/>
          <p:nvPr/>
        </p:nvSpPr>
        <p:spPr>
          <a:xfrm>
            <a:off x="496062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2" name="Lane 4 in warp 1, block 0 active"/>
          <p:cNvSpPr/>
          <p:nvPr/>
        </p:nvSpPr>
        <p:spPr>
          <a:xfrm>
            <a:off x="502920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Lane 5 in warp 1, block 0 inactive"/>
          <p:cNvSpPr/>
          <p:nvPr/>
        </p:nvSpPr>
        <p:spPr>
          <a:xfrm>
            <a:off x="55321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4" name="Coalesced group in block 0, warp 1: lane 6"/>
          <p:cNvSpPr/>
          <p:nvPr/>
        </p:nvSpPr>
        <p:spPr>
          <a:xfrm>
            <a:off x="596646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5" name="Lane 6 in warp 1, block 0 active"/>
          <p:cNvSpPr/>
          <p:nvPr/>
        </p:nvSpPr>
        <p:spPr>
          <a:xfrm>
            <a:off x="603504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Lane 7 in warp 1, block 0 inactive"/>
          <p:cNvSpPr/>
          <p:nvPr/>
        </p:nvSpPr>
        <p:spPr>
          <a:xfrm>
            <a:off x="65379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7" name="Coalesced group in block 0, warp 1: lane 8"/>
          <p:cNvSpPr/>
          <p:nvPr/>
        </p:nvSpPr>
        <p:spPr>
          <a:xfrm>
            <a:off x="697230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8" name="Lane 8 in warp 1, block 0 active"/>
          <p:cNvSpPr/>
          <p:nvPr/>
        </p:nvSpPr>
        <p:spPr>
          <a:xfrm>
            <a:off x="704088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Lane 9 in warp 1, block 0 inactive"/>
          <p:cNvSpPr/>
          <p:nvPr/>
        </p:nvSpPr>
        <p:spPr>
          <a:xfrm>
            <a:off x="75438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0" name="Coalesced group in block 0, warp 1: lane 10"/>
          <p:cNvSpPr/>
          <p:nvPr/>
        </p:nvSpPr>
        <p:spPr>
          <a:xfrm>
            <a:off x="797814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1" name="Lane 10 in warp 1, block 0 active"/>
          <p:cNvSpPr/>
          <p:nvPr/>
        </p:nvSpPr>
        <p:spPr>
          <a:xfrm>
            <a:off x="804672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Lane 11 in warp 1, block 0 inactive"/>
          <p:cNvSpPr/>
          <p:nvPr/>
        </p:nvSpPr>
        <p:spPr>
          <a:xfrm>
            <a:off x="85496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3" name="Coalesced group in block 0, warp 1: lane 12"/>
          <p:cNvSpPr/>
          <p:nvPr/>
        </p:nvSpPr>
        <p:spPr>
          <a:xfrm>
            <a:off x="898398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4" name="Lane 12 in warp 1, block 0 active"/>
          <p:cNvSpPr/>
          <p:nvPr/>
        </p:nvSpPr>
        <p:spPr>
          <a:xfrm>
            <a:off x="905256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Lane 13 in warp 1, block 0 inactive"/>
          <p:cNvSpPr/>
          <p:nvPr/>
        </p:nvSpPr>
        <p:spPr>
          <a:xfrm>
            <a:off x="95554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Coalesced group in block 0, warp 1: lane 14"/>
          <p:cNvSpPr/>
          <p:nvPr/>
        </p:nvSpPr>
        <p:spPr>
          <a:xfrm>
            <a:off x="998982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7" name="Lane 14 in warp 1, block 0 active"/>
          <p:cNvSpPr/>
          <p:nvPr/>
        </p:nvSpPr>
        <p:spPr>
          <a:xfrm>
            <a:off x="1005840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Lane 15 in warp 1, block 0 inactive"/>
          <p:cNvSpPr/>
          <p:nvPr/>
        </p:nvSpPr>
        <p:spPr>
          <a:xfrm>
            <a:off x="105613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Coalesced group in block 0, warp 1: lane 16"/>
          <p:cNvSpPr/>
          <p:nvPr/>
        </p:nvSpPr>
        <p:spPr>
          <a:xfrm>
            <a:off x="294894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0" name="Lane 16 in warp 1, block 0 active"/>
          <p:cNvSpPr/>
          <p:nvPr/>
        </p:nvSpPr>
        <p:spPr>
          <a:xfrm>
            <a:off x="301752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Lane 17 in warp 1, block 0 inactive"/>
          <p:cNvSpPr/>
          <p:nvPr/>
        </p:nvSpPr>
        <p:spPr>
          <a:xfrm>
            <a:off x="35204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Coalesced group in block 0, warp 1: lane 18"/>
          <p:cNvSpPr/>
          <p:nvPr/>
        </p:nvSpPr>
        <p:spPr>
          <a:xfrm>
            <a:off x="395478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3" name="Lane 18 in warp 1, block 0 active"/>
          <p:cNvSpPr/>
          <p:nvPr/>
        </p:nvSpPr>
        <p:spPr>
          <a:xfrm>
            <a:off x="402336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Lane 19 in warp 1, block 0 inactive"/>
          <p:cNvSpPr/>
          <p:nvPr/>
        </p:nvSpPr>
        <p:spPr>
          <a:xfrm>
            <a:off x="45262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Coalesced group in block 0, warp 1: lane 20"/>
          <p:cNvSpPr/>
          <p:nvPr/>
        </p:nvSpPr>
        <p:spPr>
          <a:xfrm>
            <a:off x="496062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6" name="Lane 20 in warp 1, block 0 active"/>
          <p:cNvSpPr/>
          <p:nvPr/>
        </p:nvSpPr>
        <p:spPr>
          <a:xfrm>
            <a:off x="502920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Lane 21 in warp 1, block 0 inactive"/>
          <p:cNvSpPr/>
          <p:nvPr/>
        </p:nvSpPr>
        <p:spPr>
          <a:xfrm>
            <a:off x="55321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Coalesced group in block 0, warp 1: lane 22"/>
          <p:cNvSpPr/>
          <p:nvPr/>
        </p:nvSpPr>
        <p:spPr>
          <a:xfrm>
            <a:off x="596646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9" name="Lane 22 in warp 1, block 0 active"/>
          <p:cNvSpPr/>
          <p:nvPr/>
        </p:nvSpPr>
        <p:spPr>
          <a:xfrm>
            <a:off x="603504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Lane 23 in warp 1, block 0 inactive"/>
          <p:cNvSpPr/>
          <p:nvPr/>
        </p:nvSpPr>
        <p:spPr>
          <a:xfrm>
            <a:off x="65379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Coalesced group in block 0, warp 1: lane 24"/>
          <p:cNvSpPr/>
          <p:nvPr/>
        </p:nvSpPr>
        <p:spPr>
          <a:xfrm>
            <a:off x="697230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2" name="Lane 24 in warp 1, block 0 active"/>
          <p:cNvSpPr/>
          <p:nvPr/>
        </p:nvSpPr>
        <p:spPr>
          <a:xfrm>
            <a:off x="704088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Lane 25 in warp 1, block 0 inactive"/>
          <p:cNvSpPr/>
          <p:nvPr/>
        </p:nvSpPr>
        <p:spPr>
          <a:xfrm>
            <a:off x="75438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Coalesced group in block 0, warp 1: lane 26"/>
          <p:cNvSpPr/>
          <p:nvPr/>
        </p:nvSpPr>
        <p:spPr>
          <a:xfrm>
            <a:off x="797814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5" name="Lane 26 in warp 1, block 0 active"/>
          <p:cNvSpPr/>
          <p:nvPr/>
        </p:nvSpPr>
        <p:spPr>
          <a:xfrm>
            <a:off x="804672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Lane 27 in warp 1, block 0 inactive"/>
          <p:cNvSpPr/>
          <p:nvPr/>
        </p:nvSpPr>
        <p:spPr>
          <a:xfrm>
            <a:off x="85496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Coalesced group in block 0, warp 1: lane 28"/>
          <p:cNvSpPr/>
          <p:nvPr/>
        </p:nvSpPr>
        <p:spPr>
          <a:xfrm>
            <a:off x="898398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8" name="Lane 28 in warp 1, block 0 active"/>
          <p:cNvSpPr/>
          <p:nvPr/>
        </p:nvSpPr>
        <p:spPr>
          <a:xfrm>
            <a:off x="905256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Lane 29 in warp 1, block 0 inactive"/>
          <p:cNvSpPr/>
          <p:nvPr/>
        </p:nvSpPr>
        <p:spPr>
          <a:xfrm>
            <a:off x="95554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Coalesced group in block 0, warp 1: lane 30"/>
          <p:cNvSpPr/>
          <p:nvPr/>
        </p:nvSpPr>
        <p:spPr>
          <a:xfrm>
            <a:off x="998982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11" name="Lane 30 in warp 1, block 0 active"/>
          <p:cNvSpPr/>
          <p:nvPr/>
        </p:nvSpPr>
        <p:spPr>
          <a:xfrm>
            <a:off x="1005840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Lane 31 in warp 1, block 0 inactive"/>
          <p:cNvSpPr/>
          <p:nvPr/>
        </p:nvSpPr>
        <p:spPr>
          <a:xfrm>
            <a:off x="105613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block 1"/>
          <p:cNvSpPr/>
          <p:nvPr/>
        </p:nvSpPr>
        <p:spPr>
          <a:xfrm>
            <a:off x="12252960" y="14196060"/>
            <a:ext cx="8869680" cy="34518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4" name="Block 1"/>
          <p:cNvSpPr/>
          <p:nvPr/>
        </p:nvSpPr>
        <p:spPr>
          <a:xfrm>
            <a:off x="12527280" y="1442466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5" name="Coalesced group in block 1, warp 0: lane 0"/>
          <p:cNvSpPr/>
          <p:nvPr/>
        </p:nvSpPr>
        <p:spPr>
          <a:xfrm>
            <a:off x="1264158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6" name="Lane 0 in warp 0, block 1 active"/>
          <p:cNvSpPr/>
          <p:nvPr/>
        </p:nvSpPr>
        <p:spPr>
          <a:xfrm>
            <a:off x="1271016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Lane 1 in warp 0, block 1 inactive"/>
          <p:cNvSpPr/>
          <p:nvPr/>
        </p:nvSpPr>
        <p:spPr>
          <a:xfrm>
            <a:off x="132130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Coalesced group in block 1, warp 0: lane 2"/>
          <p:cNvSpPr/>
          <p:nvPr/>
        </p:nvSpPr>
        <p:spPr>
          <a:xfrm>
            <a:off x="1364742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9" name="Lane 2 in warp 0, block 1 active"/>
          <p:cNvSpPr/>
          <p:nvPr/>
        </p:nvSpPr>
        <p:spPr>
          <a:xfrm>
            <a:off x="1371600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Lane 3 in warp 0, block 1 inactive"/>
          <p:cNvSpPr/>
          <p:nvPr/>
        </p:nvSpPr>
        <p:spPr>
          <a:xfrm>
            <a:off x="142189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Coalesced group in block 1, warp 0: lane 4"/>
          <p:cNvSpPr/>
          <p:nvPr/>
        </p:nvSpPr>
        <p:spPr>
          <a:xfrm>
            <a:off x="1465326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2" name="Lane 4 in warp 0, block 1 active"/>
          <p:cNvSpPr/>
          <p:nvPr/>
        </p:nvSpPr>
        <p:spPr>
          <a:xfrm>
            <a:off x="1472184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Lane 5 in warp 0, block 1 inactive"/>
          <p:cNvSpPr/>
          <p:nvPr/>
        </p:nvSpPr>
        <p:spPr>
          <a:xfrm>
            <a:off x="152247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Coalesced group in block 1, warp 0: lane 6"/>
          <p:cNvSpPr/>
          <p:nvPr/>
        </p:nvSpPr>
        <p:spPr>
          <a:xfrm>
            <a:off x="1565910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5" name="Lane 6 in warp 0, block 1 active"/>
          <p:cNvSpPr/>
          <p:nvPr/>
        </p:nvSpPr>
        <p:spPr>
          <a:xfrm>
            <a:off x="1572768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Lane 7 in warp 0, block 1 inactive"/>
          <p:cNvSpPr/>
          <p:nvPr/>
        </p:nvSpPr>
        <p:spPr>
          <a:xfrm>
            <a:off x="162306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Coalesced group in block 1, warp 0: lane 8"/>
          <p:cNvSpPr/>
          <p:nvPr/>
        </p:nvSpPr>
        <p:spPr>
          <a:xfrm>
            <a:off x="1666494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8" name="Lane 8 in warp 0, block 1 active"/>
          <p:cNvSpPr/>
          <p:nvPr/>
        </p:nvSpPr>
        <p:spPr>
          <a:xfrm>
            <a:off x="1673352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Lane 9 in warp 0, block 1 inactive"/>
          <p:cNvSpPr/>
          <p:nvPr/>
        </p:nvSpPr>
        <p:spPr>
          <a:xfrm>
            <a:off x="172364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Coalesced group in block 1, warp 0: lane 10"/>
          <p:cNvSpPr/>
          <p:nvPr/>
        </p:nvSpPr>
        <p:spPr>
          <a:xfrm>
            <a:off x="1767078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1" name="Lane 10 in warp 0, block 1 active"/>
          <p:cNvSpPr/>
          <p:nvPr/>
        </p:nvSpPr>
        <p:spPr>
          <a:xfrm>
            <a:off x="1773936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Lane 11 in warp 0, block 1 inactive"/>
          <p:cNvSpPr/>
          <p:nvPr/>
        </p:nvSpPr>
        <p:spPr>
          <a:xfrm>
            <a:off x="182422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Coalesced group in block 1, warp 0: lane 12"/>
          <p:cNvSpPr/>
          <p:nvPr/>
        </p:nvSpPr>
        <p:spPr>
          <a:xfrm>
            <a:off x="1867662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4" name="Lane 12 in warp 0, block 1 active"/>
          <p:cNvSpPr/>
          <p:nvPr/>
        </p:nvSpPr>
        <p:spPr>
          <a:xfrm>
            <a:off x="1874520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Lane 13 in warp 0, block 1 inactive"/>
          <p:cNvSpPr/>
          <p:nvPr/>
        </p:nvSpPr>
        <p:spPr>
          <a:xfrm>
            <a:off x="192481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Coalesced group in block 1, warp 0: lane 14"/>
          <p:cNvSpPr/>
          <p:nvPr/>
        </p:nvSpPr>
        <p:spPr>
          <a:xfrm>
            <a:off x="1968246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7" name="Lane 14 in warp 0, block 1 active"/>
          <p:cNvSpPr/>
          <p:nvPr/>
        </p:nvSpPr>
        <p:spPr>
          <a:xfrm>
            <a:off x="1975104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Lane 15 in warp 0, block 1 inactive"/>
          <p:cNvSpPr/>
          <p:nvPr/>
        </p:nvSpPr>
        <p:spPr>
          <a:xfrm>
            <a:off x="202539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Coalesced group in block 1, warp 0: lane 16"/>
          <p:cNvSpPr/>
          <p:nvPr/>
        </p:nvSpPr>
        <p:spPr>
          <a:xfrm>
            <a:off x="1264158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0" name="Lane 16 in warp 0, block 1 active"/>
          <p:cNvSpPr/>
          <p:nvPr/>
        </p:nvSpPr>
        <p:spPr>
          <a:xfrm>
            <a:off x="1271016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Lane 17 in warp 0, block 1 inactive"/>
          <p:cNvSpPr/>
          <p:nvPr/>
        </p:nvSpPr>
        <p:spPr>
          <a:xfrm>
            <a:off x="132130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Coalesced group in block 1, warp 0: lane 18"/>
          <p:cNvSpPr/>
          <p:nvPr/>
        </p:nvSpPr>
        <p:spPr>
          <a:xfrm>
            <a:off x="1364742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3" name="Lane 18 in warp 0, block 1 active"/>
          <p:cNvSpPr/>
          <p:nvPr/>
        </p:nvSpPr>
        <p:spPr>
          <a:xfrm>
            <a:off x="1371600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Lane 19 in warp 0, block 1 inactive"/>
          <p:cNvSpPr/>
          <p:nvPr/>
        </p:nvSpPr>
        <p:spPr>
          <a:xfrm>
            <a:off x="142189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Coalesced group in block 1, warp 0: lane 20"/>
          <p:cNvSpPr/>
          <p:nvPr/>
        </p:nvSpPr>
        <p:spPr>
          <a:xfrm>
            <a:off x="1465326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6" name="Lane 20 in warp 0, block 1 active"/>
          <p:cNvSpPr/>
          <p:nvPr/>
        </p:nvSpPr>
        <p:spPr>
          <a:xfrm>
            <a:off x="1472184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Lane 21 in warp 0, block 1 inactive"/>
          <p:cNvSpPr/>
          <p:nvPr/>
        </p:nvSpPr>
        <p:spPr>
          <a:xfrm>
            <a:off x="152247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Coalesced group in block 1, warp 0: lane 22"/>
          <p:cNvSpPr/>
          <p:nvPr/>
        </p:nvSpPr>
        <p:spPr>
          <a:xfrm>
            <a:off x="1565910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9" name="Lane 22 in warp 0, block 1 active"/>
          <p:cNvSpPr/>
          <p:nvPr/>
        </p:nvSpPr>
        <p:spPr>
          <a:xfrm>
            <a:off x="1572768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Lane 23 in warp 0, block 1 inactive"/>
          <p:cNvSpPr/>
          <p:nvPr/>
        </p:nvSpPr>
        <p:spPr>
          <a:xfrm>
            <a:off x="162306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Coalesced group in block 1, warp 0: lane 24"/>
          <p:cNvSpPr/>
          <p:nvPr/>
        </p:nvSpPr>
        <p:spPr>
          <a:xfrm>
            <a:off x="1666494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2" name="Lane 24 in warp 0, block 1 active"/>
          <p:cNvSpPr/>
          <p:nvPr/>
        </p:nvSpPr>
        <p:spPr>
          <a:xfrm>
            <a:off x="1673352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Lane 25 in warp 0, block 1 inactive"/>
          <p:cNvSpPr/>
          <p:nvPr/>
        </p:nvSpPr>
        <p:spPr>
          <a:xfrm>
            <a:off x="172364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Coalesced group in block 1, warp 0: lane 26"/>
          <p:cNvSpPr/>
          <p:nvPr/>
        </p:nvSpPr>
        <p:spPr>
          <a:xfrm>
            <a:off x="1767078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5" name="Lane 26 in warp 0, block 1 active"/>
          <p:cNvSpPr/>
          <p:nvPr/>
        </p:nvSpPr>
        <p:spPr>
          <a:xfrm>
            <a:off x="1773936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Lane 27 in warp 0, block 1 inactive"/>
          <p:cNvSpPr/>
          <p:nvPr/>
        </p:nvSpPr>
        <p:spPr>
          <a:xfrm>
            <a:off x="182422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Coalesced group in block 1, warp 0: lane 28"/>
          <p:cNvSpPr/>
          <p:nvPr/>
        </p:nvSpPr>
        <p:spPr>
          <a:xfrm>
            <a:off x="1867662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8" name="Lane 28 in warp 0, block 1 active"/>
          <p:cNvSpPr/>
          <p:nvPr/>
        </p:nvSpPr>
        <p:spPr>
          <a:xfrm>
            <a:off x="1874520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Lane 29 in warp 0, block 1 inactive"/>
          <p:cNvSpPr/>
          <p:nvPr/>
        </p:nvSpPr>
        <p:spPr>
          <a:xfrm>
            <a:off x="192481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Coalesced group in block 1, warp 0: lane 30"/>
          <p:cNvSpPr/>
          <p:nvPr/>
        </p:nvSpPr>
        <p:spPr>
          <a:xfrm>
            <a:off x="1968246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61" name="Lane 30 in warp 0, block 1 active"/>
          <p:cNvSpPr/>
          <p:nvPr/>
        </p:nvSpPr>
        <p:spPr>
          <a:xfrm>
            <a:off x="1975104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Lane 31 in warp 0, block 1 inactive"/>
          <p:cNvSpPr/>
          <p:nvPr/>
        </p:nvSpPr>
        <p:spPr>
          <a:xfrm>
            <a:off x="202539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Coalesced group in block 1, warp 1: lane 0"/>
          <p:cNvSpPr/>
          <p:nvPr/>
        </p:nvSpPr>
        <p:spPr>
          <a:xfrm>
            <a:off x="1264158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4" name="Lane 0 in warp 1, block 1 active"/>
          <p:cNvSpPr/>
          <p:nvPr/>
        </p:nvSpPr>
        <p:spPr>
          <a:xfrm>
            <a:off x="1271016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Lane 1 in warp 1, block 1 inactive"/>
          <p:cNvSpPr/>
          <p:nvPr/>
        </p:nvSpPr>
        <p:spPr>
          <a:xfrm>
            <a:off x="132130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Coalesced group in block 1, warp 1: lane 2"/>
          <p:cNvSpPr/>
          <p:nvPr/>
        </p:nvSpPr>
        <p:spPr>
          <a:xfrm>
            <a:off x="1364742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7" name="Lane 2 in warp 1, block 1 active"/>
          <p:cNvSpPr/>
          <p:nvPr/>
        </p:nvSpPr>
        <p:spPr>
          <a:xfrm>
            <a:off x="1371600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Lane 3 in warp 1, block 1 inactive"/>
          <p:cNvSpPr/>
          <p:nvPr/>
        </p:nvSpPr>
        <p:spPr>
          <a:xfrm>
            <a:off x="142189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Coalesced group in block 1, warp 1: lane 4"/>
          <p:cNvSpPr/>
          <p:nvPr/>
        </p:nvSpPr>
        <p:spPr>
          <a:xfrm>
            <a:off x="1465326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0" name="Lane 4 in warp 1, block 1 active"/>
          <p:cNvSpPr/>
          <p:nvPr/>
        </p:nvSpPr>
        <p:spPr>
          <a:xfrm>
            <a:off x="1472184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Lane 5 in warp 1, block 1 inactive"/>
          <p:cNvSpPr/>
          <p:nvPr/>
        </p:nvSpPr>
        <p:spPr>
          <a:xfrm>
            <a:off x="152247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Coalesced group in block 1, warp 1: lane 6"/>
          <p:cNvSpPr/>
          <p:nvPr/>
        </p:nvSpPr>
        <p:spPr>
          <a:xfrm>
            <a:off x="1565910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3" name="Lane 6 in warp 1, block 1 active"/>
          <p:cNvSpPr/>
          <p:nvPr/>
        </p:nvSpPr>
        <p:spPr>
          <a:xfrm>
            <a:off x="1572768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Lane 7 in warp 1, block 1 inactive"/>
          <p:cNvSpPr/>
          <p:nvPr/>
        </p:nvSpPr>
        <p:spPr>
          <a:xfrm>
            <a:off x="162306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Coalesced group in block 1, warp 1: lane 8"/>
          <p:cNvSpPr/>
          <p:nvPr/>
        </p:nvSpPr>
        <p:spPr>
          <a:xfrm>
            <a:off x="1666494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6" name="Lane 8 in warp 1, block 1 active"/>
          <p:cNvSpPr/>
          <p:nvPr/>
        </p:nvSpPr>
        <p:spPr>
          <a:xfrm>
            <a:off x="1673352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Lane 9 in warp 1, block 1 inactive"/>
          <p:cNvSpPr/>
          <p:nvPr/>
        </p:nvSpPr>
        <p:spPr>
          <a:xfrm>
            <a:off x="172364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Coalesced group in block 1, warp 1: lane 10"/>
          <p:cNvSpPr/>
          <p:nvPr/>
        </p:nvSpPr>
        <p:spPr>
          <a:xfrm>
            <a:off x="1767078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9" name="Lane 10 in warp 1, block 1 active"/>
          <p:cNvSpPr/>
          <p:nvPr/>
        </p:nvSpPr>
        <p:spPr>
          <a:xfrm>
            <a:off x="1773936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Lane 11 in warp 1, block 1 inactive"/>
          <p:cNvSpPr/>
          <p:nvPr/>
        </p:nvSpPr>
        <p:spPr>
          <a:xfrm>
            <a:off x="182422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Coalesced group in block 1, warp 1: lane 12"/>
          <p:cNvSpPr/>
          <p:nvPr/>
        </p:nvSpPr>
        <p:spPr>
          <a:xfrm>
            <a:off x="1867662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2" name="Lane 12 in warp 1, block 1 active"/>
          <p:cNvSpPr/>
          <p:nvPr/>
        </p:nvSpPr>
        <p:spPr>
          <a:xfrm>
            <a:off x="1874520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Lane 13 in warp 1, block 1 inactive"/>
          <p:cNvSpPr/>
          <p:nvPr/>
        </p:nvSpPr>
        <p:spPr>
          <a:xfrm>
            <a:off x="192481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Coalesced group in block 1, warp 1: lane 14"/>
          <p:cNvSpPr/>
          <p:nvPr/>
        </p:nvSpPr>
        <p:spPr>
          <a:xfrm>
            <a:off x="1968246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5" name="Lane 14 in warp 1, block 1 active"/>
          <p:cNvSpPr/>
          <p:nvPr/>
        </p:nvSpPr>
        <p:spPr>
          <a:xfrm>
            <a:off x="1975104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Lane 15 in warp 1, block 1 inactive"/>
          <p:cNvSpPr/>
          <p:nvPr/>
        </p:nvSpPr>
        <p:spPr>
          <a:xfrm>
            <a:off x="202539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Coalesced group in block 1, warp 1: lane 16"/>
          <p:cNvSpPr/>
          <p:nvPr/>
        </p:nvSpPr>
        <p:spPr>
          <a:xfrm>
            <a:off x="1264158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8" name="Lane 16 in warp 1, block 1 active"/>
          <p:cNvSpPr/>
          <p:nvPr/>
        </p:nvSpPr>
        <p:spPr>
          <a:xfrm>
            <a:off x="1271016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Lane 17 in warp 1, block 1 inactive"/>
          <p:cNvSpPr/>
          <p:nvPr/>
        </p:nvSpPr>
        <p:spPr>
          <a:xfrm>
            <a:off x="132130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Coalesced group in block 1, warp 1: lane 18"/>
          <p:cNvSpPr/>
          <p:nvPr/>
        </p:nvSpPr>
        <p:spPr>
          <a:xfrm>
            <a:off x="1364742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1" name="Lane 18 in warp 1, block 1 active"/>
          <p:cNvSpPr/>
          <p:nvPr/>
        </p:nvSpPr>
        <p:spPr>
          <a:xfrm>
            <a:off x="1371600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Lane 19 in warp 1, block 1 inactive"/>
          <p:cNvSpPr/>
          <p:nvPr/>
        </p:nvSpPr>
        <p:spPr>
          <a:xfrm>
            <a:off x="142189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Coalesced group in block 1, warp 1: lane 20"/>
          <p:cNvSpPr/>
          <p:nvPr/>
        </p:nvSpPr>
        <p:spPr>
          <a:xfrm>
            <a:off x="1465326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4" name="Lane 20 in warp 1, block 1 active"/>
          <p:cNvSpPr/>
          <p:nvPr/>
        </p:nvSpPr>
        <p:spPr>
          <a:xfrm>
            <a:off x="1472184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Lane 21 in warp 1, block 1 inactive"/>
          <p:cNvSpPr/>
          <p:nvPr/>
        </p:nvSpPr>
        <p:spPr>
          <a:xfrm>
            <a:off x="152247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Coalesced group in block 1, warp 1: lane 22"/>
          <p:cNvSpPr/>
          <p:nvPr/>
        </p:nvSpPr>
        <p:spPr>
          <a:xfrm>
            <a:off x="1565910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7" name="Lane 22 in warp 1, block 1 active"/>
          <p:cNvSpPr/>
          <p:nvPr/>
        </p:nvSpPr>
        <p:spPr>
          <a:xfrm>
            <a:off x="1572768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Lane 23 in warp 1, block 1 inactive"/>
          <p:cNvSpPr/>
          <p:nvPr/>
        </p:nvSpPr>
        <p:spPr>
          <a:xfrm>
            <a:off x="162306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Coalesced group in block 1, warp 1: lane 24"/>
          <p:cNvSpPr/>
          <p:nvPr/>
        </p:nvSpPr>
        <p:spPr>
          <a:xfrm>
            <a:off x="1666494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0" name="Lane 24 in warp 1, block 1 active"/>
          <p:cNvSpPr/>
          <p:nvPr/>
        </p:nvSpPr>
        <p:spPr>
          <a:xfrm>
            <a:off x="1673352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Lane 25 in warp 1, block 1 inactive"/>
          <p:cNvSpPr/>
          <p:nvPr/>
        </p:nvSpPr>
        <p:spPr>
          <a:xfrm>
            <a:off x="172364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Coalesced group in block 1, warp 1: lane 26"/>
          <p:cNvSpPr/>
          <p:nvPr/>
        </p:nvSpPr>
        <p:spPr>
          <a:xfrm>
            <a:off x="1767078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3" name="Lane 26 in warp 1, block 1 active"/>
          <p:cNvSpPr/>
          <p:nvPr/>
        </p:nvSpPr>
        <p:spPr>
          <a:xfrm>
            <a:off x="1773936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Lane 27 in warp 1, block 1 inactive"/>
          <p:cNvSpPr/>
          <p:nvPr/>
        </p:nvSpPr>
        <p:spPr>
          <a:xfrm>
            <a:off x="182422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Coalesced group in block 1, warp 1: lane 28"/>
          <p:cNvSpPr/>
          <p:nvPr/>
        </p:nvSpPr>
        <p:spPr>
          <a:xfrm>
            <a:off x="1867662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6" name="Lane 28 in warp 1, block 1 active"/>
          <p:cNvSpPr/>
          <p:nvPr/>
        </p:nvSpPr>
        <p:spPr>
          <a:xfrm>
            <a:off x="1874520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Lane 29 in warp 1, block 1 inactive"/>
          <p:cNvSpPr/>
          <p:nvPr/>
        </p:nvSpPr>
        <p:spPr>
          <a:xfrm>
            <a:off x="192481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Coalesced group in block 1, warp 1: lane 30"/>
          <p:cNvSpPr/>
          <p:nvPr/>
        </p:nvSpPr>
        <p:spPr>
          <a:xfrm>
            <a:off x="1968246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9" name="Lane 30 in warp 1, block 1 active"/>
          <p:cNvSpPr/>
          <p:nvPr/>
        </p:nvSpPr>
        <p:spPr>
          <a:xfrm>
            <a:off x="1975104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Lane 31 in warp 1, block 1 inactive"/>
          <p:cNvSpPr/>
          <p:nvPr/>
        </p:nvSpPr>
        <p:spPr>
          <a:xfrm>
            <a:off x="202539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block 2"/>
          <p:cNvSpPr/>
          <p:nvPr/>
        </p:nvSpPr>
        <p:spPr>
          <a:xfrm>
            <a:off x="21945600" y="14196060"/>
            <a:ext cx="8869680" cy="34518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12" name="Block 2"/>
          <p:cNvSpPr/>
          <p:nvPr/>
        </p:nvSpPr>
        <p:spPr>
          <a:xfrm>
            <a:off x="22219920" y="1442466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13" name="Coalesced group in block 2, warp 0: lane 0"/>
          <p:cNvSpPr/>
          <p:nvPr/>
        </p:nvSpPr>
        <p:spPr>
          <a:xfrm>
            <a:off x="2233422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4" name="Lane 0 in warp 0, block 2 active"/>
          <p:cNvSpPr/>
          <p:nvPr/>
        </p:nvSpPr>
        <p:spPr>
          <a:xfrm>
            <a:off x="2240280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Lane 1 in warp 0, block 2 inactive"/>
          <p:cNvSpPr/>
          <p:nvPr/>
        </p:nvSpPr>
        <p:spPr>
          <a:xfrm>
            <a:off x="229057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Coalesced group in block 2, warp 0: lane 2"/>
          <p:cNvSpPr/>
          <p:nvPr/>
        </p:nvSpPr>
        <p:spPr>
          <a:xfrm>
            <a:off x="2334006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7" name="Lane 2 in warp 0, block 2 active"/>
          <p:cNvSpPr/>
          <p:nvPr/>
        </p:nvSpPr>
        <p:spPr>
          <a:xfrm>
            <a:off x="2340864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Lane 3 in warp 0, block 2 inactive"/>
          <p:cNvSpPr/>
          <p:nvPr/>
        </p:nvSpPr>
        <p:spPr>
          <a:xfrm>
            <a:off x="239115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Coalesced group in block 2, warp 0: lane 4"/>
          <p:cNvSpPr/>
          <p:nvPr/>
        </p:nvSpPr>
        <p:spPr>
          <a:xfrm>
            <a:off x="2434590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0" name="Lane 4 in warp 0, block 2 active"/>
          <p:cNvSpPr/>
          <p:nvPr/>
        </p:nvSpPr>
        <p:spPr>
          <a:xfrm>
            <a:off x="2441448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Lane 5 in warp 0, block 2 inactive"/>
          <p:cNvSpPr/>
          <p:nvPr/>
        </p:nvSpPr>
        <p:spPr>
          <a:xfrm>
            <a:off x="249174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Coalesced group in block 2, warp 0: lane 6"/>
          <p:cNvSpPr/>
          <p:nvPr/>
        </p:nvSpPr>
        <p:spPr>
          <a:xfrm>
            <a:off x="2535174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3" name="Lane 6 in warp 0, block 2 active"/>
          <p:cNvSpPr/>
          <p:nvPr/>
        </p:nvSpPr>
        <p:spPr>
          <a:xfrm>
            <a:off x="2542032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Lane 7 in warp 0, block 2 inactive"/>
          <p:cNvSpPr/>
          <p:nvPr/>
        </p:nvSpPr>
        <p:spPr>
          <a:xfrm>
            <a:off x="259232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Coalesced group in block 2, warp 0: lane 8"/>
          <p:cNvSpPr/>
          <p:nvPr/>
        </p:nvSpPr>
        <p:spPr>
          <a:xfrm>
            <a:off x="2635758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6" name="Lane 8 in warp 0, block 2 active"/>
          <p:cNvSpPr/>
          <p:nvPr/>
        </p:nvSpPr>
        <p:spPr>
          <a:xfrm>
            <a:off x="2642616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Lane 9 in warp 0, block 2 inactive"/>
          <p:cNvSpPr/>
          <p:nvPr/>
        </p:nvSpPr>
        <p:spPr>
          <a:xfrm>
            <a:off x="269290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Coalesced group in block 2, warp 0: lane 10"/>
          <p:cNvSpPr/>
          <p:nvPr/>
        </p:nvSpPr>
        <p:spPr>
          <a:xfrm>
            <a:off x="2736342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9" name="Lane 10 in warp 0, block 2 active"/>
          <p:cNvSpPr/>
          <p:nvPr/>
        </p:nvSpPr>
        <p:spPr>
          <a:xfrm>
            <a:off x="2743200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Lane 11 in warp 0, block 2 inactive"/>
          <p:cNvSpPr/>
          <p:nvPr/>
        </p:nvSpPr>
        <p:spPr>
          <a:xfrm>
            <a:off x="279349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Coalesced group in block 2, warp 0: lane 12"/>
          <p:cNvSpPr/>
          <p:nvPr/>
        </p:nvSpPr>
        <p:spPr>
          <a:xfrm>
            <a:off x="2836926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2" name="Lane 12 in warp 0, block 2 active"/>
          <p:cNvSpPr/>
          <p:nvPr/>
        </p:nvSpPr>
        <p:spPr>
          <a:xfrm>
            <a:off x="2843784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Lane 13 in warp 0, block 2 inactive"/>
          <p:cNvSpPr/>
          <p:nvPr/>
        </p:nvSpPr>
        <p:spPr>
          <a:xfrm>
            <a:off x="289407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Coalesced group in block 2, warp 0: lane 14"/>
          <p:cNvSpPr/>
          <p:nvPr/>
        </p:nvSpPr>
        <p:spPr>
          <a:xfrm>
            <a:off x="29375100" y="152933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5" name="Lane 14 in warp 0, block 2 active"/>
          <p:cNvSpPr/>
          <p:nvPr/>
        </p:nvSpPr>
        <p:spPr>
          <a:xfrm>
            <a:off x="2944368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Lane 15 in warp 0, block 2 inactive"/>
          <p:cNvSpPr/>
          <p:nvPr/>
        </p:nvSpPr>
        <p:spPr>
          <a:xfrm>
            <a:off x="299466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Coalesced group in block 2, warp 0: lane 16"/>
          <p:cNvSpPr/>
          <p:nvPr/>
        </p:nvSpPr>
        <p:spPr>
          <a:xfrm>
            <a:off x="2233422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8" name="Lane 16 in warp 0, block 2 active"/>
          <p:cNvSpPr/>
          <p:nvPr/>
        </p:nvSpPr>
        <p:spPr>
          <a:xfrm>
            <a:off x="2240280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Lane 17 in warp 0, block 2 inactive"/>
          <p:cNvSpPr/>
          <p:nvPr/>
        </p:nvSpPr>
        <p:spPr>
          <a:xfrm>
            <a:off x="229057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Coalesced group in block 2, warp 0: lane 18"/>
          <p:cNvSpPr/>
          <p:nvPr/>
        </p:nvSpPr>
        <p:spPr>
          <a:xfrm>
            <a:off x="2334006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1" name="Lane 18 in warp 0, block 2 active"/>
          <p:cNvSpPr/>
          <p:nvPr/>
        </p:nvSpPr>
        <p:spPr>
          <a:xfrm>
            <a:off x="2340864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Lane 19 in warp 0, block 2 inactive"/>
          <p:cNvSpPr/>
          <p:nvPr/>
        </p:nvSpPr>
        <p:spPr>
          <a:xfrm>
            <a:off x="239115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Coalesced group in block 2, warp 0: lane 20"/>
          <p:cNvSpPr/>
          <p:nvPr/>
        </p:nvSpPr>
        <p:spPr>
          <a:xfrm>
            <a:off x="2434590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4" name="Lane 20 in warp 0, block 2 active"/>
          <p:cNvSpPr/>
          <p:nvPr/>
        </p:nvSpPr>
        <p:spPr>
          <a:xfrm>
            <a:off x="2441448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Lane 21 in warp 0, block 2 inactive"/>
          <p:cNvSpPr/>
          <p:nvPr/>
        </p:nvSpPr>
        <p:spPr>
          <a:xfrm>
            <a:off x="249174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Coalesced group in block 2, warp 0: lane 22"/>
          <p:cNvSpPr/>
          <p:nvPr/>
        </p:nvSpPr>
        <p:spPr>
          <a:xfrm>
            <a:off x="2535174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7" name="Lane 22 in warp 0, block 2 active"/>
          <p:cNvSpPr/>
          <p:nvPr/>
        </p:nvSpPr>
        <p:spPr>
          <a:xfrm>
            <a:off x="2542032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Lane 23 in warp 0, block 2 inactive"/>
          <p:cNvSpPr/>
          <p:nvPr/>
        </p:nvSpPr>
        <p:spPr>
          <a:xfrm>
            <a:off x="259232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9" name="Coalesced group in block 2, warp 0: lane 24"/>
          <p:cNvSpPr/>
          <p:nvPr/>
        </p:nvSpPr>
        <p:spPr>
          <a:xfrm>
            <a:off x="2635758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0" name="Lane 24 in warp 0, block 2 active"/>
          <p:cNvSpPr/>
          <p:nvPr/>
        </p:nvSpPr>
        <p:spPr>
          <a:xfrm>
            <a:off x="2642616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Lane 25 in warp 0, block 2 inactive"/>
          <p:cNvSpPr/>
          <p:nvPr/>
        </p:nvSpPr>
        <p:spPr>
          <a:xfrm>
            <a:off x="269290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2" name="Coalesced group in block 2, warp 0: lane 26"/>
          <p:cNvSpPr/>
          <p:nvPr/>
        </p:nvSpPr>
        <p:spPr>
          <a:xfrm>
            <a:off x="2736342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3" name="Lane 26 in warp 0, block 2 active"/>
          <p:cNvSpPr/>
          <p:nvPr/>
        </p:nvSpPr>
        <p:spPr>
          <a:xfrm>
            <a:off x="2743200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Lane 27 in warp 0, block 2 inactive"/>
          <p:cNvSpPr/>
          <p:nvPr/>
        </p:nvSpPr>
        <p:spPr>
          <a:xfrm>
            <a:off x="279349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5" name="Coalesced group in block 2, warp 0: lane 28"/>
          <p:cNvSpPr/>
          <p:nvPr/>
        </p:nvSpPr>
        <p:spPr>
          <a:xfrm>
            <a:off x="2836926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6" name="Lane 28 in warp 0, block 2 active"/>
          <p:cNvSpPr/>
          <p:nvPr/>
        </p:nvSpPr>
        <p:spPr>
          <a:xfrm>
            <a:off x="2843784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Lane 29 in warp 0, block 2 inactive"/>
          <p:cNvSpPr/>
          <p:nvPr/>
        </p:nvSpPr>
        <p:spPr>
          <a:xfrm>
            <a:off x="289407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8" name="Coalesced group in block 2, warp 0: lane 30"/>
          <p:cNvSpPr/>
          <p:nvPr/>
        </p:nvSpPr>
        <p:spPr>
          <a:xfrm>
            <a:off x="29375100" y="15636240"/>
            <a:ext cx="274320" cy="27432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9" name="Lane 30 in warp 0, block 2 active"/>
          <p:cNvSpPr/>
          <p:nvPr/>
        </p:nvSpPr>
        <p:spPr>
          <a:xfrm>
            <a:off x="2944368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Lane 31 in warp 0, block 2 inactive"/>
          <p:cNvSpPr/>
          <p:nvPr/>
        </p:nvSpPr>
        <p:spPr>
          <a:xfrm>
            <a:off x="299466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1" name="Coalesced group in block 2, warp 1: lane 0"/>
          <p:cNvSpPr/>
          <p:nvPr/>
        </p:nvSpPr>
        <p:spPr>
          <a:xfrm>
            <a:off x="2233422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2" name="Lane 0 in warp 1, block 2 active"/>
          <p:cNvSpPr/>
          <p:nvPr/>
        </p:nvSpPr>
        <p:spPr>
          <a:xfrm>
            <a:off x="2240280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Lane 1 in warp 1, block 2 inactive"/>
          <p:cNvSpPr/>
          <p:nvPr/>
        </p:nvSpPr>
        <p:spPr>
          <a:xfrm>
            <a:off x="229057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4" name="Coalesced group in block 2, warp 1: lane 2"/>
          <p:cNvSpPr/>
          <p:nvPr/>
        </p:nvSpPr>
        <p:spPr>
          <a:xfrm>
            <a:off x="2334006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5" name="Lane 2 in warp 1, block 2 active"/>
          <p:cNvSpPr/>
          <p:nvPr/>
        </p:nvSpPr>
        <p:spPr>
          <a:xfrm>
            <a:off x="2340864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Lane 3 in warp 1, block 2 inactive"/>
          <p:cNvSpPr/>
          <p:nvPr/>
        </p:nvSpPr>
        <p:spPr>
          <a:xfrm>
            <a:off x="239115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7" name="Coalesced group in block 2, warp 1: lane 4"/>
          <p:cNvSpPr/>
          <p:nvPr/>
        </p:nvSpPr>
        <p:spPr>
          <a:xfrm>
            <a:off x="2434590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8" name="Lane 4 in warp 1, block 2 active"/>
          <p:cNvSpPr/>
          <p:nvPr/>
        </p:nvSpPr>
        <p:spPr>
          <a:xfrm>
            <a:off x="2441448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Lane 5 in warp 1, block 2 inactive"/>
          <p:cNvSpPr/>
          <p:nvPr/>
        </p:nvSpPr>
        <p:spPr>
          <a:xfrm>
            <a:off x="249174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0" name="Coalesced group in block 2, warp 1: lane 6"/>
          <p:cNvSpPr/>
          <p:nvPr/>
        </p:nvSpPr>
        <p:spPr>
          <a:xfrm>
            <a:off x="2535174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1" name="Lane 6 in warp 1, block 2 active"/>
          <p:cNvSpPr/>
          <p:nvPr/>
        </p:nvSpPr>
        <p:spPr>
          <a:xfrm>
            <a:off x="2542032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Lane 7 in warp 1, block 2 inactive"/>
          <p:cNvSpPr/>
          <p:nvPr/>
        </p:nvSpPr>
        <p:spPr>
          <a:xfrm>
            <a:off x="259232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3" name="Coalesced group in block 2, warp 1: lane 8"/>
          <p:cNvSpPr/>
          <p:nvPr/>
        </p:nvSpPr>
        <p:spPr>
          <a:xfrm>
            <a:off x="2635758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4" name="Lane 8 in warp 1, block 2 active"/>
          <p:cNvSpPr/>
          <p:nvPr/>
        </p:nvSpPr>
        <p:spPr>
          <a:xfrm>
            <a:off x="2642616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Lane 9 in warp 1, block 2 inactive"/>
          <p:cNvSpPr/>
          <p:nvPr/>
        </p:nvSpPr>
        <p:spPr>
          <a:xfrm>
            <a:off x="269290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6" name="Coalesced group in block 2, warp 1: lane 10"/>
          <p:cNvSpPr/>
          <p:nvPr/>
        </p:nvSpPr>
        <p:spPr>
          <a:xfrm>
            <a:off x="2736342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7" name="Lane 10 in warp 1, block 2 active"/>
          <p:cNvSpPr/>
          <p:nvPr/>
        </p:nvSpPr>
        <p:spPr>
          <a:xfrm>
            <a:off x="2743200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Lane 11 in warp 1, block 2 inactive"/>
          <p:cNvSpPr/>
          <p:nvPr/>
        </p:nvSpPr>
        <p:spPr>
          <a:xfrm>
            <a:off x="279349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9" name="Coalesced group in block 2, warp 1: lane 12"/>
          <p:cNvSpPr/>
          <p:nvPr/>
        </p:nvSpPr>
        <p:spPr>
          <a:xfrm>
            <a:off x="2836926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0" name="Lane 12 in warp 1, block 2 active"/>
          <p:cNvSpPr/>
          <p:nvPr/>
        </p:nvSpPr>
        <p:spPr>
          <a:xfrm>
            <a:off x="2843784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Lane 13 in warp 1, block 2 inactive"/>
          <p:cNvSpPr/>
          <p:nvPr/>
        </p:nvSpPr>
        <p:spPr>
          <a:xfrm>
            <a:off x="289407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2" name="Coalesced group in block 2, warp 1: lane 14"/>
          <p:cNvSpPr/>
          <p:nvPr/>
        </p:nvSpPr>
        <p:spPr>
          <a:xfrm>
            <a:off x="29375100" y="163906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3" name="Lane 14 in warp 1, block 2 active"/>
          <p:cNvSpPr/>
          <p:nvPr/>
        </p:nvSpPr>
        <p:spPr>
          <a:xfrm>
            <a:off x="29443680" y="164592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Lane 15 in warp 1, block 2 inactive"/>
          <p:cNvSpPr/>
          <p:nvPr/>
        </p:nvSpPr>
        <p:spPr>
          <a:xfrm>
            <a:off x="299466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5" name="Coalesced group in block 2, warp 1: lane 16"/>
          <p:cNvSpPr/>
          <p:nvPr/>
        </p:nvSpPr>
        <p:spPr>
          <a:xfrm>
            <a:off x="2233422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6" name="Lane 16 in warp 1, block 2 active"/>
          <p:cNvSpPr/>
          <p:nvPr/>
        </p:nvSpPr>
        <p:spPr>
          <a:xfrm>
            <a:off x="2240280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Lane 17 in warp 1, block 2 inactive"/>
          <p:cNvSpPr/>
          <p:nvPr/>
        </p:nvSpPr>
        <p:spPr>
          <a:xfrm>
            <a:off x="229057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8" name="Coalesced group in block 2, warp 1: lane 18"/>
          <p:cNvSpPr/>
          <p:nvPr/>
        </p:nvSpPr>
        <p:spPr>
          <a:xfrm>
            <a:off x="2334006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9" name="Lane 18 in warp 1, block 2 active"/>
          <p:cNvSpPr/>
          <p:nvPr/>
        </p:nvSpPr>
        <p:spPr>
          <a:xfrm>
            <a:off x="2340864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Lane 19 in warp 1, block 2 inactive"/>
          <p:cNvSpPr/>
          <p:nvPr/>
        </p:nvSpPr>
        <p:spPr>
          <a:xfrm>
            <a:off x="239115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1" name="Coalesced group in block 2, warp 1: lane 20"/>
          <p:cNvSpPr/>
          <p:nvPr/>
        </p:nvSpPr>
        <p:spPr>
          <a:xfrm>
            <a:off x="2434590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2" name="Lane 20 in warp 1, block 2 active"/>
          <p:cNvSpPr/>
          <p:nvPr/>
        </p:nvSpPr>
        <p:spPr>
          <a:xfrm>
            <a:off x="2441448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Lane 21 in warp 1, block 2 inactive"/>
          <p:cNvSpPr/>
          <p:nvPr/>
        </p:nvSpPr>
        <p:spPr>
          <a:xfrm>
            <a:off x="249174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4" name="Coalesced group in block 2, warp 1: lane 22"/>
          <p:cNvSpPr/>
          <p:nvPr/>
        </p:nvSpPr>
        <p:spPr>
          <a:xfrm>
            <a:off x="2535174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5" name="Lane 22 in warp 1, block 2 active"/>
          <p:cNvSpPr/>
          <p:nvPr/>
        </p:nvSpPr>
        <p:spPr>
          <a:xfrm>
            <a:off x="2542032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Lane 23 in warp 1, block 2 inactive"/>
          <p:cNvSpPr/>
          <p:nvPr/>
        </p:nvSpPr>
        <p:spPr>
          <a:xfrm>
            <a:off x="259232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7" name="Coalesced group in block 2, warp 1: lane 24"/>
          <p:cNvSpPr/>
          <p:nvPr/>
        </p:nvSpPr>
        <p:spPr>
          <a:xfrm>
            <a:off x="2635758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8" name="Lane 24 in warp 1, block 2 active"/>
          <p:cNvSpPr/>
          <p:nvPr/>
        </p:nvSpPr>
        <p:spPr>
          <a:xfrm>
            <a:off x="2642616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Lane 25 in warp 1, block 2 inactive"/>
          <p:cNvSpPr/>
          <p:nvPr/>
        </p:nvSpPr>
        <p:spPr>
          <a:xfrm>
            <a:off x="269290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0" name="Coalesced group in block 2, warp 1: lane 26"/>
          <p:cNvSpPr/>
          <p:nvPr/>
        </p:nvSpPr>
        <p:spPr>
          <a:xfrm>
            <a:off x="2736342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1" name="Lane 26 in warp 1, block 2 active"/>
          <p:cNvSpPr/>
          <p:nvPr/>
        </p:nvSpPr>
        <p:spPr>
          <a:xfrm>
            <a:off x="2743200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Lane 27 in warp 1, block 2 inactive"/>
          <p:cNvSpPr/>
          <p:nvPr/>
        </p:nvSpPr>
        <p:spPr>
          <a:xfrm>
            <a:off x="279349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3" name="Coalesced group in block 2, warp 1: lane 28"/>
          <p:cNvSpPr/>
          <p:nvPr/>
        </p:nvSpPr>
        <p:spPr>
          <a:xfrm>
            <a:off x="2836926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4" name="Lane 28 in warp 1, block 2 active"/>
          <p:cNvSpPr/>
          <p:nvPr/>
        </p:nvSpPr>
        <p:spPr>
          <a:xfrm>
            <a:off x="2843784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Lane 29 in warp 1, block 2 inactive"/>
          <p:cNvSpPr/>
          <p:nvPr/>
        </p:nvSpPr>
        <p:spPr>
          <a:xfrm>
            <a:off x="289407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6" name="Coalesced group in block 2, warp 1: lane 30"/>
          <p:cNvSpPr/>
          <p:nvPr/>
        </p:nvSpPr>
        <p:spPr>
          <a:xfrm>
            <a:off x="29375100" y="16733520"/>
            <a:ext cx="274320" cy="27432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7" name="Lane 30 in warp 1, block 2 active"/>
          <p:cNvSpPr/>
          <p:nvPr/>
        </p:nvSpPr>
        <p:spPr>
          <a:xfrm>
            <a:off x="29443680" y="168021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Lane 31 in warp 1, block 2 inactive"/>
          <p:cNvSpPr/>
          <p:nvPr/>
        </p:nvSpPr>
        <p:spPr>
          <a:xfrm>
            <a:off x="299466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9" name="Additional thread blocks"/>
          <p:cNvSpPr/>
          <p:nvPr/>
        </p:nvSpPr>
        <p:spPr>
          <a:xfrm>
            <a:off x="31318200" y="15521940"/>
            <a:ext cx="2286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310" name="Shape"/>
          <p:cNvSpPr/>
          <p:nvPr/>
        </p:nvSpPr>
        <p:spPr>
          <a:xfrm>
            <a:off x="4160520" y="18448020"/>
            <a:ext cx="228600" cy="22860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Active thread"/>
          <p:cNvSpPr/>
          <p:nvPr/>
        </p:nvSpPr>
        <p:spPr>
          <a:xfrm>
            <a:off x="4709160" y="1833372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Active thread</a:t>
            </a:r>
          </a:p>
        </p:txBody>
      </p:sp>
      <p:sp>
        <p:nvSpPr>
          <p:cNvPr id="312" name="Shape"/>
          <p:cNvSpPr/>
          <p:nvPr/>
        </p:nvSpPr>
        <p:spPr>
          <a:xfrm>
            <a:off x="11064240" y="18448020"/>
            <a:ext cx="228600" cy="22860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13" name="Inactive thread"/>
          <p:cNvSpPr/>
          <p:nvPr/>
        </p:nvSpPr>
        <p:spPr>
          <a:xfrm>
            <a:off x="11612880" y="1833372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Inactive thread</a:t>
            </a:r>
          </a:p>
        </p:txBody>
      </p:sp>
      <p:sp>
        <p:nvSpPr>
          <p:cNvPr id="314" name="Shape"/>
          <p:cNvSpPr/>
          <p:nvPr/>
        </p:nvSpPr>
        <p:spPr>
          <a:xfrm>
            <a:off x="18059400" y="18402300"/>
            <a:ext cx="320040" cy="32004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15" name="Shape"/>
          <p:cNvSpPr/>
          <p:nvPr/>
        </p:nvSpPr>
        <p:spPr>
          <a:xfrm>
            <a:off x="18516600" y="18402300"/>
            <a:ext cx="320040" cy="32004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16" name="Shape"/>
          <p:cNvSpPr/>
          <p:nvPr/>
        </p:nvSpPr>
        <p:spPr>
          <a:xfrm>
            <a:off x="18973800" y="18402300"/>
            <a:ext cx="320040" cy="32004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317" name="Shape"/>
          <p:cNvSpPr/>
          <p:nvPr/>
        </p:nvSpPr>
        <p:spPr>
          <a:xfrm>
            <a:off x="19431000" y="18402300"/>
            <a:ext cx="320040" cy="32004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318" name="Border colors identify coalesced groups"/>
          <p:cNvSpPr/>
          <p:nvPr/>
        </p:nvSpPr>
        <p:spPr>
          <a:xfrm>
            <a:off x="20345400" y="1833372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Border colors identify coalesced groups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 name="Derived Groups — Generic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Generic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Generic group</a:t>
            </a:r>
          </a:p>
        </p:txBody>
      </p:sp>
      <p:sp>
        <p:nvSpPr>
          <p:cNvPr id="4" name="2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roups units from a parent group"/>
          <p:cNvSpPr/>
          <p:nvPr/>
        </p:nvSpPr>
        <p:spPr>
          <a:xfrm>
            <a:off x="2583180" y="582930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Groups units from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apping determines membership"/>
          <p:cNvSpPr/>
          <p:nvPr/>
        </p:nvSpPr>
        <p:spPr>
          <a:xfrm>
            <a:off x="2583180" y="770382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Mapping determines membership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Each subgroup synchronizes independently"/>
          <p:cNvSpPr/>
          <p:nvPr/>
        </p:nvSpPr>
        <p:spPr>
          <a:xfrm>
            <a:off x="2583180" y="957834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Each subgroup synchronizes independently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All parent units construct collectively"/>
          <p:cNvSpPr/>
          <p:nvPr/>
        </p:nvSpPr>
        <p:spPr>
          <a:xfrm>
            <a:off x="2583180" y="1145286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All parent units construct collectively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229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eneric group use-case example" descr="Supplemental generic-group usage example based on repository documentation and implementation"/>
          <p:cNvSpPr/>
          <p:nvPr/>
        </p:nvSpPr>
        <p:spPr>
          <a:xfrm>
            <a:off x="13258800" y="5394960"/>
            <a:ext cx="21031200" cy="76123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generic_group_example(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cudax::coop::this_block block{config};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cuda::std::array barrier_ids{1, 2};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cudax::coop::generic_group group{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  cuda::warp, block, cudax::coop::group_by{2},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  cudax::coop::interwarp_synchronizer{barrier_ids}};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Each subgroup synchronizes independently.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group.sync();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Group rank within the parent and thread count.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rank = group.rank(block);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nthreads = cuda::gpu_thread.count(group);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128 threads"/>
          <p:cNvSpPr/>
          <p:nvPr/>
        </p:nvSpPr>
        <p:spPr>
          <a:xfrm>
            <a:off x="2560320" y="14058900"/>
            <a:ext cx="8869680" cy="40233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28750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Group 0 in block 0: two warps, barrier 1"/>
          <p:cNvSpPr/>
          <p:nvPr/>
        </p:nvSpPr>
        <p:spPr>
          <a:xfrm>
            <a:off x="2834640" y="1497330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Group 1 in block 0: two warps, barrier 2"/>
          <p:cNvSpPr/>
          <p:nvPr/>
        </p:nvSpPr>
        <p:spPr>
          <a:xfrm>
            <a:off x="2834640" y="1639062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128 threads"/>
          <p:cNvSpPr/>
          <p:nvPr/>
        </p:nvSpPr>
        <p:spPr>
          <a:xfrm>
            <a:off x="12252960" y="14058900"/>
            <a:ext cx="8869680" cy="40233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28750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Group 0 in block 1: two warps, barrier 1"/>
          <p:cNvSpPr/>
          <p:nvPr/>
        </p:nvSpPr>
        <p:spPr>
          <a:xfrm>
            <a:off x="12527280" y="1497330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Group 1 in block 1: two warps, barrier 2"/>
          <p:cNvSpPr/>
          <p:nvPr/>
        </p:nvSpPr>
        <p:spPr>
          <a:xfrm>
            <a:off x="12527280" y="1639062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128 threads"/>
          <p:cNvSpPr/>
          <p:nvPr/>
        </p:nvSpPr>
        <p:spPr>
          <a:xfrm>
            <a:off x="21945600" y="14058900"/>
            <a:ext cx="8869680" cy="40233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28750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Group 0 in block 2: two warps, barrier 1"/>
          <p:cNvSpPr/>
          <p:nvPr/>
        </p:nvSpPr>
        <p:spPr>
          <a:xfrm>
            <a:off x="22219920" y="1497330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Group 1 in block 2: two warps, barrier 2"/>
          <p:cNvSpPr/>
          <p:nvPr/>
        </p:nvSpPr>
        <p:spPr>
          <a:xfrm>
            <a:off x="22219920" y="1639062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521940"/>
            <a:ext cx="2286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45720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 · barrier 1"/>
          <p:cNvSpPr/>
          <p:nvPr/>
        </p:nvSpPr>
        <p:spPr>
          <a:xfrm>
            <a:off x="51435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 · barrier 1</a:t>
            </a:r>
          </a:p>
        </p:txBody>
      </p:sp>
      <p:sp>
        <p:nvSpPr>
          <p:cNvPr id="414" name="Shape"/>
          <p:cNvSpPr/>
          <p:nvPr/>
        </p:nvSpPr>
        <p:spPr>
          <a:xfrm>
            <a:off x="178308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 · barrier 2"/>
          <p:cNvSpPr/>
          <p:nvPr/>
        </p:nvSpPr>
        <p:spPr>
          <a:xfrm>
            <a:off x="184023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 · barrier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 name="Derived Groups — Virtual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Virtual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Virtual group</a:t>
            </a:r>
          </a:p>
        </p:txBody>
      </p:sp>
      <p:sp>
        <p:nvSpPr>
          <p:cNvPr id="4" name="2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Partitions a parent group"/>
          <p:cNvSpPr/>
          <p:nvPr/>
        </p:nvSpPr>
        <p:spPr>
          <a:xfrm>
            <a:off x="2583180" y="582930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Partitions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uses the parent synchronizer"/>
          <p:cNvSpPr/>
          <p:nvPr/>
        </p:nvSpPr>
        <p:spPr>
          <a:xfrm>
            <a:off x="2583180" y="770382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Reuses the parent synchronizer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Subgroups share synchronization points"/>
          <p:cNvSpPr/>
          <p:nvPr/>
        </p:nvSpPr>
        <p:spPr>
          <a:xfrm>
            <a:off x="2583180" y="957834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Subgroups share synchronization points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229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Virtual group use-case example" descr="Supplemental virtual-group usage example based on repository documentation and implementation"/>
          <p:cNvSpPr/>
          <p:nvPr/>
        </p:nvSpPr>
        <p:spPr>
          <a:xfrm>
            <a:off x="13258800" y="5394960"/>
            <a:ext cx="21031200" cy="76123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virtual_group_example(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cudax::coop::this_block block{config};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cudax::coop::virtual_group group{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  cuda::warp, block, cudax::coop::group_by{2}};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Queries refer to the virtual subgroup.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rank = group.rank(block);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nthreads = cuda::gpu_thread.count(group);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All subgroups share this synchronization point.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Synchronizes the entire parent block.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group.sync();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shared synchronization for all 128 threads"/>
          <p:cNvSpPr/>
          <p:nvPr/>
        </p:nvSpPr>
        <p:spPr>
          <a:xfrm>
            <a:off x="2560320" y="14058900"/>
            <a:ext cx="8869680" cy="40233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28750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Virtual group 0 in block 0: two warps, shared parent synchronization"/>
          <p:cNvSpPr/>
          <p:nvPr/>
        </p:nvSpPr>
        <p:spPr>
          <a:xfrm>
            <a:off x="2834640" y="1497330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Virtual group 1 in block 0: two warps, shared parent synchronization"/>
          <p:cNvSpPr/>
          <p:nvPr/>
        </p:nvSpPr>
        <p:spPr>
          <a:xfrm>
            <a:off x="2834640" y="1639062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shared synchronization for all 128 threads"/>
          <p:cNvSpPr/>
          <p:nvPr/>
        </p:nvSpPr>
        <p:spPr>
          <a:xfrm>
            <a:off x="12252960" y="14058900"/>
            <a:ext cx="8869680" cy="40233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28750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Virtual group 0 in block 1: two warps, shared parent synchronization"/>
          <p:cNvSpPr/>
          <p:nvPr/>
        </p:nvSpPr>
        <p:spPr>
          <a:xfrm>
            <a:off x="12527280" y="1497330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Virtual group 1 in block 1: two warps, shared parent synchronization"/>
          <p:cNvSpPr/>
          <p:nvPr/>
        </p:nvSpPr>
        <p:spPr>
          <a:xfrm>
            <a:off x="12527280" y="1639062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shared synchronization for all 128 threads"/>
          <p:cNvSpPr/>
          <p:nvPr/>
        </p:nvSpPr>
        <p:spPr>
          <a:xfrm>
            <a:off x="21945600" y="14058900"/>
            <a:ext cx="8869680" cy="40233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28750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Virtual group 0 in block 2: two warps, shared parent synchronization"/>
          <p:cNvSpPr/>
          <p:nvPr/>
        </p:nvSpPr>
        <p:spPr>
          <a:xfrm>
            <a:off x="22219920" y="1497330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17904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4305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577340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0248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Virtual group 1 in block 2: two warps, shared parent synchronization"/>
          <p:cNvSpPr/>
          <p:nvPr/>
        </p:nvSpPr>
        <p:spPr>
          <a:xfrm>
            <a:off x="22219920" y="16390620"/>
            <a:ext cx="8321040" cy="139446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59636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47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907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44218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521940"/>
            <a:ext cx="2286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"/>
          <p:cNvSpPr/>
          <p:nvPr/>
        </p:nvSpPr>
        <p:spPr>
          <a:xfrm>
            <a:off x="313182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</a:t>
            </a:r>
          </a:p>
        </p:txBody>
      </p:sp>
      <p:sp>
        <p:nvSpPr>
          <p:cNvPr id="414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"/>
          <p:cNvSpPr/>
          <p:nvPr/>
        </p:nvSpPr>
        <p:spPr>
          <a:xfrm>
            <a:off x="1337310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</a:t>
            </a:r>
          </a:p>
        </p:txBody>
      </p:sp>
      <p:sp>
        <p:nvSpPr>
          <p:cNvPr id="416" name="Shape"/>
          <p:cNvSpPr/>
          <p:nvPr/>
        </p:nvSpPr>
        <p:spPr>
          <a:xfrm>
            <a:off x="2304288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417" name="Parent block: shared synchronization"/>
          <p:cNvSpPr/>
          <p:nvPr/>
        </p:nvSpPr>
        <p:spPr>
          <a:xfrm>
            <a:off x="2361438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Parent block: shared synchronization</a:t>
            </a:r>
          </a:p>
        </p:txBody>
      </p:sp>
      <p:sp>
        <p:nvSpPr>
          <p:cNvPr id="418" name="Create subgroups without initializing new synchronization resources"/>
          <p:cNvSpPr/>
          <p:nvPr/>
        </p:nvSpPr>
        <p:spPr>
          <a:xfrm>
            <a:off x="2583180" y="11452860"/>
            <a:ext cx="907542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Create subgroups without initializing new synchronization resources</a:t>
            </a:r>
          </a:p>
        </p:txBody>
      </p:sp>
      <p:sp>
        <p:nvSpPr>
          <p:cNvPr id="419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 name="Group 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View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View</a:t>
            </a:r>
          </a:p>
        </p:txBody>
      </p:sp>
      <p:sp>
        <p:nvSpPr>
          <p:cNvPr id="3" name="Non-owning view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Non-owning view</a:t>
            </a:r>
          </a:p>
        </p:txBody>
      </p:sp>
      <p:sp>
        <p:nvSpPr>
          <p:cNvPr id="4" name="2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Non-owning view of an existing group"/>
          <p:cNvSpPr/>
          <p:nvPr/>
        </p:nvSpPr>
        <p:spPr>
          <a:xfrm>
            <a:off x="2583180" y="582930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Non-owning view of an existing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opyable and movable; pass by value"/>
          <p:cNvSpPr/>
          <p:nvPr/>
        </p:nvSpPr>
        <p:spPr>
          <a:xfrm>
            <a:off x="2583180" y="770382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Copyable and movable; pass by value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Can address finer-grained units"/>
          <p:cNvSpPr/>
          <p:nvPr/>
        </p:nvSpPr>
        <p:spPr>
          <a:xfrm>
            <a:off x="2583180" y="957834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Can address finer-grained units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Reuses the group's synchronization"/>
          <p:cNvSpPr/>
          <p:nvPr/>
        </p:nvSpPr>
        <p:spPr>
          <a:xfrm>
            <a:off x="2583180" y="11452860"/>
            <a:ext cx="907542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Reuses the group's synchronization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229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roup view use-case example" descr="Supplemental group-view usage example based on repository documentation and implementation"/>
          <p:cNvSpPr/>
          <p:nvPr/>
        </p:nvSpPr>
        <p:spPr>
          <a:xfrm>
            <a:off x="13258800" y="5394960"/>
            <a:ext cx="21031200" cy="76123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group_view_example(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cudax::coop::this_warp warp{config};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View the same warp as a group of threads.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cudax::coop::group_view view{cuda::gpu_thread, warp};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Views can be copied and passed by value.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copy = view;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Address the individual threads within the view.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rank = cuda::gpu_thread.rank(copy);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nthreads = cuda::gpu_thread.count(copy);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32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520" b="0">
                <a:solidFill>
                  <a:schemeClr val="accent6"/>
                </a:solidFill>
                <a:latin typeface="DejaVu Sans Mono"/>
              </a:rPr>
              <a:t xml:space="preserve">// Synchronize using the existing warp's mechanism.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  copy.sync();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r>
              <a:rPr lang="en-US" sz="252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52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buNone/>
              <a:defRPr lang="en-US" sz="2520" b="0">
                <a:solidFill>
                  <a:schemeClr val="dk1"/>
                </a:solidFill>
                <a:latin typeface="DejaVu Sans Mono"/>
              </a:defRPr>
            </a:pPr>
            <a:endParaRPr lang="en-US" sz="252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196060"/>
            <a:ext cx="8869680" cy="34518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42466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Original this_warp: one warp unit"/>
          <p:cNvSpPr/>
          <p:nvPr/>
        </p:nvSpPr>
        <p:spPr>
          <a:xfrm>
            <a:off x="2788920" y="15087600"/>
            <a:ext cx="8412480" cy="98298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8" name="group_view: same 32 threads, same synchronization"/>
          <p:cNvSpPr/>
          <p:nvPr/>
        </p:nvSpPr>
        <p:spPr>
          <a:xfrm>
            <a:off x="2880360" y="15179040"/>
            <a:ext cx="8229600" cy="800100"/>
          </a:xfrm>
          <a:prstGeom prst="roundRect">
            <a:avLst>
              <a:gd name="adj" fmla="val 6000"/>
            </a:avLst>
          </a:prstGeom>
          <a:noFill/>
          <a:ln w="32004">
            <a:solidFill>
              <a:schemeClr val="accent4"/>
            </a:solidFill>
            <a:prstDash val="dash"/>
          </a:ln>
        </p:spPr>
      </p:sp>
      <p:sp>
        <p:nvSpPr>
          <p:cNvPr id="19" name="Thread unit 0 in view"/>
          <p:cNvSpPr/>
          <p:nvPr/>
        </p:nvSpPr>
        <p:spPr>
          <a:xfrm>
            <a:off x="306324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0" name="Thread 0 in block 0"/>
          <p:cNvSpPr/>
          <p:nvPr/>
        </p:nvSpPr>
        <p:spPr>
          <a:xfrm>
            <a:off x="310896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unit 1 in view"/>
          <p:cNvSpPr/>
          <p:nvPr/>
        </p:nvSpPr>
        <p:spPr>
          <a:xfrm>
            <a:off x="354330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2" name="Thread 1 in block 0"/>
          <p:cNvSpPr/>
          <p:nvPr/>
        </p:nvSpPr>
        <p:spPr>
          <a:xfrm>
            <a:off x="358902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unit 2 in view"/>
          <p:cNvSpPr/>
          <p:nvPr/>
        </p:nvSpPr>
        <p:spPr>
          <a:xfrm>
            <a:off x="402336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6908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unit 3 in view"/>
          <p:cNvSpPr/>
          <p:nvPr/>
        </p:nvSpPr>
        <p:spPr>
          <a:xfrm>
            <a:off x="450342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6" name="Thread 3 in block 0"/>
          <p:cNvSpPr/>
          <p:nvPr/>
        </p:nvSpPr>
        <p:spPr>
          <a:xfrm>
            <a:off x="454914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unit 4 in view"/>
          <p:cNvSpPr/>
          <p:nvPr/>
        </p:nvSpPr>
        <p:spPr>
          <a:xfrm>
            <a:off x="498348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8" name="Thread 4 in block 0"/>
          <p:cNvSpPr/>
          <p:nvPr/>
        </p:nvSpPr>
        <p:spPr>
          <a:xfrm>
            <a:off x="502920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unit 5 in view"/>
          <p:cNvSpPr/>
          <p:nvPr/>
        </p:nvSpPr>
        <p:spPr>
          <a:xfrm>
            <a:off x="546354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0" name="Thread 5 in block 0"/>
          <p:cNvSpPr/>
          <p:nvPr/>
        </p:nvSpPr>
        <p:spPr>
          <a:xfrm>
            <a:off x="550926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unit 6 in view"/>
          <p:cNvSpPr/>
          <p:nvPr/>
        </p:nvSpPr>
        <p:spPr>
          <a:xfrm>
            <a:off x="594360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2" name="Thread 6 in block 0"/>
          <p:cNvSpPr/>
          <p:nvPr/>
        </p:nvSpPr>
        <p:spPr>
          <a:xfrm>
            <a:off x="598932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unit 7 in view"/>
          <p:cNvSpPr/>
          <p:nvPr/>
        </p:nvSpPr>
        <p:spPr>
          <a:xfrm>
            <a:off x="642366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4" name="Thread 7 in block 0"/>
          <p:cNvSpPr/>
          <p:nvPr/>
        </p:nvSpPr>
        <p:spPr>
          <a:xfrm>
            <a:off x="646938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unit 8 in view"/>
          <p:cNvSpPr/>
          <p:nvPr/>
        </p:nvSpPr>
        <p:spPr>
          <a:xfrm>
            <a:off x="690372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6" name="Thread 8 in block 0"/>
          <p:cNvSpPr/>
          <p:nvPr/>
        </p:nvSpPr>
        <p:spPr>
          <a:xfrm>
            <a:off x="694944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unit 9 in view"/>
          <p:cNvSpPr/>
          <p:nvPr/>
        </p:nvSpPr>
        <p:spPr>
          <a:xfrm>
            <a:off x="738378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8" name="Thread 9 in block 0"/>
          <p:cNvSpPr/>
          <p:nvPr/>
        </p:nvSpPr>
        <p:spPr>
          <a:xfrm>
            <a:off x="742950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unit 10 in view"/>
          <p:cNvSpPr/>
          <p:nvPr/>
        </p:nvSpPr>
        <p:spPr>
          <a:xfrm>
            <a:off x="786384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0" name="Thread 10 in block 0"/>
          <p:cNvSpPr/>
          <p:nvPr/>
        </p:nvSpPr>
        <p:spPr>
          <a:xfrm>
            <a:off x="790956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unit 11 in view"/>
          <p:cNvSpPr/>
          <p:nvPr/>
        </p:nvSpPr>
        <p:spPr>
          <a:xfrm>
            <a:off x="834390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2" name="Thread 11 in block 0"/>
          <p:cNvSpPr/>
          <p:nvPr/>
        </p:nvSpPr>
        <p:spPr>
          <a:xfrm>
            <a:off x="838962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unit 12 in view"/>
          <p:cNvSpPr/>
          <p:nvPr/>
        </p:nvSpPr>
        <p:spPr>
          <a:xfrm>
            <a:off x="882396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4" name="Thread 12 in block 0"/>
          <p:cNvSpPr/>
          <p:nvPr/>
        </p:nvSpPr>
        <p:spPr>
          <a:xfrm>
            <a:off x="886968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unit 13 in view"/>
          <p:cNvSpPr/>
          <p:nvPr/>
        </p:nvSpPr>
        <p:spPr>
          <a:xfrm>
            <a:off x="930402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6" name="Thread 13 in block 0"/>
          <p:cNvSpPr/>
          <p:nvPr/>
        </p:nvSpPr>
        <p:spPr>
          <a:xfrm>
            <a:off x="934974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unit 14 in view"/>
          <p:cNvSpPr/>
          <p:nvPr/>
        </p:nvSpPr>
        <p:spPr>
          <a:xfrm>
            <a:off x="978408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8" name="Thread 14 in block 0"/>
          <p:cNvSpPr/>
          <p:nvPr/>
        </p:nvSpPr>
        <p:spPr>
          <a:xfrm>
            <a:off x="982980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unit 15 in view"/>
          <p:cNvSpPr/>
          <p:nvPr/>
        </p:nvSpPr>
        <p:spPr>
          <a:xfrm>
            <a:off x="10264140" y="153162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0" name="Thread 15 in block 0"/>
          <p:cNvSpPr/>
          <p:nvPr/>
        </p:nvSpPr>
        <p:spPr>
          <a:xfrm>
            <a:off x="10309860" y="153619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unit 16 in view"/>
          <p:cNvSpPr/>
          <p:nvPr/>
        </p:nvSpPr>
        <p:spPr>
          <a:xfrm>
            <a:off x="306324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2" name="Thread 16 in block 0"/>
          <p:cNvSpPr/>
          <p:nvPr/>
        </p:nvSpPr>
        <p:spPr>
          <a:xfrm>
            <a:off x="310896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unit 17 in view"/>
          <p:cNvSpPr/>
          <p:nvPr/>
        </p:nvSpPr>
        <p:spPr>
          <a:xfrm>
            <a:off x="354330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4" name="Thread 17 in block 0"/>
          <p:cNvSpPr/>
          <p:nvPr/>
        </p:nvSpPr>
        <p:spPr>
          <a:xfrm>
            <a:off x="358902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unit 18 in view"/>
          <p:cNvSpPr/>
          <p:nvPr/>
        </p:nvSpPr>
        <p:spPr>
          <a:xfrm>
            <a:off x="402336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6" name="Thread 18 in block 0"/>
          <p:cNvSpPr/>
          <p:nvPr/>
        </p:nvSpPr>
        <p:spPr>
          <a:xfrm>
            <a:off x="406908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unit 19 in view"/>
          <p:cNvSpPr/>
          <p:nvPr/>
        </p:nvSpPr>
        <p:spPr>
          <a:xfrm>
            <a:off x="450342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8" name="Thread 19 in block 0"/>
          <p:cNvSpPr/>
          <p:nvPr/>
        </p:nvSpPr>
        <p:spPr>
          <a:xfrm>
            <a:off x="454914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unit 20 in view"/>
          <p:cNvSpPr/>
          <p:nvPr/>
        </p:nvSpPr>
        <p:spPr>
          <a:xfrm>
            <a:off x="498348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0" name="Thread 20 in block 0"/>
          <p:cNvSpPr/>
          <p:nvPr/>
        </p:nvSpPr>
        <p:spPr>
          <a:xfrm>
            <a:off x="502920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unit 21 in view"/>
          <p:cNvSpPr/>
          <p:nvPr/>
        </p:nvSpPr>
        <p:spPr>
          <a:xfrm>
            <a:off x="546354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2" name="Thread 21 in block 0"/>
          <p:cNvSpPr/>
          <p:nvPr/>
        </p:nvSpPr>
        <p:spPr>
          <a:xfrm>
            <a:off x="550926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unit 22 in view"/>
          <p:cNvSpPr/>
          <p:nvPr/>
        </p:nvSpPr>
        <p:spPr>
          <a:xfrm>
            <a:off x="594360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4" name="Thread 22 in block 0"/>
          <p:cNvSpPr/>
          <p:nvPr/>
        </p:nvSpPr>
        <p:spPr>
          <a:xfrm>
            <a:off x="598932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unit 23 in view"/>
          <p:cNvSpPr/>
          <p:nvPr/>
        </p:nvSpPr>
        <p:spPr>
          <a:xfrm>
            <a:off x="642366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6" name="Thread 23 in block 0"/>
          <p:cNvSpPr/>
          <p:nvPr/>
        </p:nvSpPr>
        <p:spPr>
          <a:xfrm>
            <a:off x="646938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unit 24 in view"/>
          <p:cNvSpPr/>
          <p:nvPr/>
        </p:nvSpPr>
        <p:spPr>
          <a:xfrm>
            <a:off x="690372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8" name="Thread 24 in block 0"/>
          <p:cNvSpPr/>
          <p:nvPr/>
        </p:nvSpPr>
        <p:spPr>
          <a:xfrm>
            <a:off x="694944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unit 25 in view"/>
          <p:cNvSpPr/>
          <p:nvPr/>
        </p:nvSpPr>
        <p:spPr>
          <a:xfrm>
            <a:off x="738378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0" name="Thread 25 in block 0"/>
          <p:cNvSpPr/>
          <p:nvPr/>
        </p:nvSpPr>
        <p:spPr>
          <a:xfrm>
            <a:off x="742950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unit 26 in view"/>
          <p:cNvSpPr/>
          <p:nvPr/>
        </p:nvSpPr>
        <p:spPr>
          <a:xfrm>
            <a:off x="786384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2" name="Thread 26 in block 0"/>
          <p:cNvSpPr/>
          <p:nvPr/>
        </p:nvSpPr>
        <p:spPr>
          <a:xfrm>
            <a:off x="790956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unit 27 in view"/>
          <p:cNvSpPr/>
          <p:nvPr/>
        </p:nvSpPr>
        <p:spPr>
          <a:xfrm>
            <a:off x="834390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4" name="Thread 27 in block 0"/>
          <p:cNvSpPr/>
          <p:nvPr/>
        </p:nvSpPr>
        <p:spPr>
          <a:xfrm>
            <a:off x="838962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unit 28 in view"/>
          <p:cNvSpPr/>
          <p:nvPr/>
        </p:nvSpPr>
        <p:spPr>
          <a:xfrm>
            <a:off x="882396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6" name="Thread 28 in block 0"/>
          <p:cNvSpPr/>
          <p:nvPr/>
        </p:nvSpPr>
        <p:spPr>
          <a:xfrm>
            <a:off x="886968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unit 29 in view"/>
          <p:cNvSpPr/>
          <p:nvPr/>
        </p:nvSpPr>
        <p:spPr>
          <a:xfrm>
            <a:off x="930402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8" name="Thread 29 in block 0"/>
          <p:cNvSpPr/>
          <p:nvPr/>
        </p:nvSpPr>
        <p:spPr>
          <a:xfrm>
            <a:off x="934974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unit 30 in view"/>
          <p:cNvSpPr/>
          <p:nvPr/>
        </p:nvSpPr>
        <p:spPr>
          <a:xfrm>
            <a:off x="978408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0" name="Thread 30 in block 0"/>
          <p:cNvSpPr/>
          <p:nvPr/>
        </p:nvSpPr>
        <p:spPr>
          <a:xfrm>
            <a:off x="982980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unit 31 in view"/>
          <p:cNvSpPr/>
          <p:nvPr/>
        </p:nvSpPr>
        <p:spPr>
          <a:xfrm>
            <a:off x="10264140" y="15659100"/>
            <a:ext cx="228600" cy="228600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2" name="Thread 31 in block 0"/>
          <p:cNvSpPr/>
          <p:nvPr/>
        </p:nvSpPr>
        <p:spPr>
          <a:xfrm>
            <a:off x="10309860" y="15704820"/>
            <a:ext cx="137160" cy="13716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32 in block 0"/>
          <p:cNvSpPr/>
          <p:nvPr/>
        </p:nvSpPr>
        <p:spPr>
          <a:xfrm>
            <a:off x="31089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33 in block 0"/>
          <p:cNvSpPr/>
          <p:nvPr/>
        </p:nvSpPr>
        <p:spPr>
          <a:xfrm>
            <a:off x="35890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5" name="Thread 34 in block 0"/>
          <p:cNvSpPr/>
          <p:nvPr/>
        </p:nvSpPr>
        <p:spPr>
          <a:xfrm>
            <a:off x="40690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35 in block 0"/>
          <p:cNvSpPr/>
          <p:nvPr/>
        </p:nvSpPr>
        <p:spPr>
          <a:xfrm>
            <a:off x="45491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36 in block 0"/>
          <p:cNvSpPr/>
          <p:nvPr/>
        </p:nvSpPr>
        <p:spPr>
          <a:xfrm>
            <a:off x="50292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37 in block 0"/>
          <p:cNvSpPr/>
          <p:nvPr/>
        </p:nvSpPr>
        <p:spPr>
          <a:xfrm>
            <a:off x="55092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38 in block 0"/>
          <p:cNvSpPr/>
          <p:nvPr/>
        </p:nvSpPr>
        <p:spPr>
          <a:xfrm>
            <a:off x="59893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39 in block 0"/>
          <p:cNvSpPr/>
          <p:nvPr/>
        </p:nvSpPr>
        <p:spPr>
          <a:xfrm>
            <a:off x="64693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1" name="Thread 40 in block 0"/>
          <p:cNvSpPr/>
          <p:nvPr/>
        </p:nvSpPr>
        <p:spPr>
          <a:xfrm>
            <a:off x="69494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41 in block 0"/>
          <p:cNvSpPr/>
          <p:nvPr/>
        </p:nvSpPr>
        <p:spPr>
          <a:xfrm>
            <a:off x="74295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42 in block 0"/>
          <p:cNvSpPr/>
          <p:nvPr/>
        </p:nvSpPr>
        <p:spPr>
          <a:xfrm>
            <a:off x="79095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43 in block 0"/>
          <p:cNvSpPr/>
          <p:nvPr/>
        </p:nvSpPr>
        <p:spPr>
          <a:xfrm>
            <a:off x="83896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44 in block 0"/>
          <p:cNvSpPr/>
          <p:nvPr/>
        </p:nvSpPr>
        <p:spPr>
          <a:xfrm>
            <a:off x="88696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45 in block 0"/>
          <p:cNvSpPr/>
          <p:nvPr/>
        </p:nvSpPr>
        <p:spPr>
          <a:xfrm>
            <a:off x="93497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46 in block 0"/>
          <p:cNvSpPr/>
          <p:nvPr/>
        </p:nvSpPr>
        <p:spPr>
          <a:xfrm>
            <a:off x="98298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47 in block 0"/>
          <p:cNvSpPr/>
          <p:nvPr/>
        </p:nvSpPr>
        <p:spPr>
          <a:xfrm>
            <a:off x="103098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48 in block 0"/>
          <p:cNvSpPr/>
          <p:nvPr/>
        </p:nvSpPr>
        <p:spPr>
          <a:xfrm>
            <a:off x="31089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49 in block 0"/>
          <p:cNvSpPr/>
          <p:nvPr/>
        </p:nvSpPr>
        <p:spPr>
          <a:xfrm>
            <a:off x="35890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50 in block 0"/>
          <p:cNvSpPr/>
          <p:nvPr/>
        </p:nvSpPr>
        <p:spPr>
          <a:xfrm>
            <a:off x="40690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51 in block 0"/>
          <p:cNvSpPr/>
          <p:nvPr/>
        </p:nvSpPr>
        <p:spPr>
          <a:xfrm>
            <a:off x="45491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3" name="Thread 52 in block 0"/>
          <p:cNvSpPr/>
          <p:nvPr/>
        </p:nvSpPr>
        <p:spPr>
          <a:xfrm>
            <a:off x="50292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53 in block 0"/>
          <p:cNvSpPr/>
          <p:nvPr/>
        </p:nvSpPr>
        <p:spPr>
          <a:xfrm>
            <a:off x="55092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54 in block 0"/>
          <p:cNvSpPr/>
          <p:nvPr/>
        </p:nvSpPr>
        <p:spPr>
          <a:xfrm>
            <a:off x="59893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55 in block 0"/>
          <p:cNvSpPr/>
          <p:nvPr/>
        </p:nvSpPr>
        <p:spPr>
          <a:xfrm>
            <a:off x="64693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56 in block 0"/>
          <p:cNvSpPr/>
          <p:nvPr/>
        </p:nvSpPr>
        <p:spPr>
          <a:xfrm>
            <a:off x="69494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57 in block 0"/>
          <p:cNvSpPr/>
          <p:nvPr/>
        </p:nvSpPr>
        <p:spPr>
          <a:xfrm>
            <a:off x="74295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58 in block 0"/>
          <p:cNvSpPr/>
          <p:nvPr/>
        </p:nvSpPr>
        <p:spPr>
          <a:xfrm>
            <a:off x="79095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59 in block 0"/>
          <p:cNvSpPr/>
          <p:nvPr/>
        </p:nvSpPr>
        <p:spPr>
          <a:xfrm>
            <a:off x="83896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60 in block 0"/>
          <p:cNvSpPr/>
          <p:nvPr/>
        </p:nvSpPr>
        <p:spPr>
          <a:xfrm>
            <a:off x="88696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61 in block 0"/>
          <p:cNvSpPr/>
          <p:nvPr/>
        </p:nvSpPr>
        <p:spPr>
          <a:xfrm>
            <a:off x="93497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62 in block 0"/>
          <p:cNvSpPr/>
          <p:nvPr/>
        </p:nvSpPr>
        <p:spPr>
          <a:xfrm>
            <a:off x="98298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63 in block 0"/>
          <p:cNvSpPr/>
          <p:nvPr/>
        </p:nvSpPr>
        <p:spPr>
          <a:xfrm>
            <a:off x="103098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block 1"/>
          <p:cNvSpPr/>
          <p:nvPr/>
        </p:nvSpPr>
        <p:spPr>
          <a:xfrm>
            <a:off x="12252960" y="14196060"/>
            <a:ext cx="8869680" cy="34518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6" name="Block 1"/>
          <p:cNvSpPr/>
          <p:nvPr/>
        </p:nvSpPr>
        <p:spPr>
          <a:xfrm>
            <a:off x="12527280" y="1442466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7" name="Thread 0 in block 1"/>
          <p:cNvSpPr/>
          <p:nvPr/>
        </p:nvSpPr>
        <p:spPr>
          <a:xfrm>
            <a:off x="128016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 in block 1"/>
          <p:cNvSpPr/>
          <p:nvPr/>
        </p:nvSpPr>
        <p:spPr>
          <a:xfrm>
            <a:off x="132816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2 in block 1"/>
          <p:cNvSpPr/>
          <p:nvPr/>
        </p:nvSpPr>
        <p:spPr>
          <a:xfrm>
            <a:off x="137617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3 in block 1"/>
          <p:cNvSpPr/>
          <p:nvPr/>
        </p:nvSpPr>
        <p:spPr>
          <a:xfrm>
            <a:off x="142417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4 in block 1"/>
          <p:cNvSpPr/>
          <p:nvPr/>
        </p:nvSpPr>
        <p:spPr>
          <a:xfrm>
            <a:off x="147218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5 in block 1"/>
          <p:cNvSpPr/>
          <p:nvPr/>
        </p:nvSpPr>
        <p:spPr>
          <a:xfrm>
            <a:off x="152019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6 in block 1"/>
          <p:cNvSpPr/>
          <p:nvPr/>
        </p:nvSpPr>
        <p:spPr>
          <a:xfrm>
            <a:off x="156819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7 in block 1"/>
          <p:cNvSpPr/>
          <p:nvPr/>
        </p:nvSpPr>
        <p:spPr>
          <a:xfrm>
            <a:off x="161620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8 in block 1"/>
          <p:cNvSpPr/>
          <p:nvPr/>
        </p:nvSpPr>
        <p:spPr>
          <a:xfrm>
            <a:off x="166420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9 in block 1"/>
          <p:cNvSpPr/>
          <p:nvPr/>
        </p:nvSpPr>
        <p:spPr>
          <a:xfrm>
            <a:off x="171221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0 in block 1"/>
          <p:cNvSpPr/>
          <p:nvPr/>
        </p:nvSpPr>
        <p:spPr>
          <a:xfrm>
            <a:off x="176022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 in block 1"/>
          <p:cNvSpPr/>
          <p:nvPr/>
        </p:nvSpPr>
        <p:spPr>
          <a:xfrm>
            <a:off x="180822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 in block 1"/>
          <p:cNvSpPr/>
          <p:nvPr/>
        </p:nvSpPr>
        <p:spPr>
          <a:xfrm>
            <a:off x="185623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3 in block 1"/>
          <p:cNvSpPr/>
          <p:nvPr/>
        </p:nvSpPr>
        <p:spPr>
          <a:xfrm>
            <a:off x="190423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4 in block 1"/>
          <p:cNvSpPr/>
          <p:nvPr/>
        </p:nvSpPr>
        <p:spPr>
          <a:xfrm>
            <a:off x="195224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5 in block 1"/>
          <p:cNvSpPr/>
          <p:nvPr/>
        </p:nvSpPr>
        <p:spPr>
          <a:xfrm>
            <a:off x="200025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6 in block 1"/>
          <p:cNvSpPr/>
          <p:nvPr/>
        </p:nvSpPr>
        <p:spPr>
          <a:xfrm>
            <a:off x="128016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7 in block 1"/>
          <p:cNvSpPr/>
          <p:nvPr/>
        </p:nvSpPr>
        <p:spPr>
          <a:xfrm>
            <a:off x="132816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8 in block 1"/>
          <p:cNvSpPr/>
          <p:nvPr/>
        </p:nvSpPr>
        <p:spPr>
          <a:xfrm>
            <a:off x="137617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9 in block 1"/>
          <p:cNvSpPr/>
          <p:nvPr/>
        </p:nvSpPr>
        <p:spPr>
          <a:xfrm>
            <a:off x="142417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20 in block 1"/>
          <p:cNvSpPr/>
          <p:nvPr/>
        </p:nvSpPr>
        <p:spPr>
          <a:xfrm>
            <a:off x="147218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21 in block 1"/>
          <p:cNvSpPr/>
          <p:nvPr/>
        </p:nvSpPr>
        <p:spPr>
          <a:xfrm>
            <a:off x="152019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22 in block 1"/>
          <p:cNvSpPr/>
          <p:nvPr/>
        </p:nvSpPr>
        <p:spPr>
          <a:xfrm>
            <a:off x="156819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23 in block 1"/>
          <p:cNvSpPr/>
          <p:nvPr/>
        </p:nvSpPr>
        <p:spPr>
          <a:xfrm>
            <a:off x="161620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4 in block 1"/>
          <p:cNvSpPr/>
          <p:nvPr/>
        </p:nvSpPr>
        <p:spPr>
          <a:xfrm>
            <a:off x="166420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25 in block 1"/>
          <p:cNvSpPr/>
          <p:nvPr/>
        </p:nvSpPr>
        <p:spPr>
          <a:xfrm>
            <a:off x="171221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26 in block 1"/>
          <p:cNvSpPr/>
          <p:nvPr/>
        </p:nvSpPr>
        <p:spPr>
          <a:xfrm>
            <a:off x="176022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27 in block 1"/>
          <p:cNvSpPr/>
          <p:nvPr/>
        </p:nvSpPr>
        <p:spPr>
          <a:xfrm>
            <a:off x="180822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28 in block 1"/>
          <p:cNvSpPr/>
          <p:nvPr/>
        </p:nvSpPr>
        <p:spPr>
          <a:xfrm>
            <a:off x="185623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29 in block 1"/>
          <p:cNvSpPr/>
          <p:nvPr/>
        </p:nvSpPr>
        <p:spPr>
          <a:xfrm>
            <a:off x="190423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30 in block 1"/>
          <p:cNvSpPr/>
          <p:nvPr/>
        </p:nvSpPr>
        <p:spPr>
          <a:xfrm>
            <a:off x="195224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Thread 31 in block 1"/>
          <p:cNvSpPr/>
          <p:nvPr/>
        </p:nvSpPr>
        <p:spPr>
          <a:xfrm>
            <a:off x="200025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32 in block 1"/>
          <p:cNvSpPr/>
          <p:nvPr/>
        </p:nvSpPr>
        <p:spPr>
          <a:xfrm>
            <a:off x="128016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33 in block 1"/>
          <p:cNvSpPr/>
          <p:nvPr/>
        </p:nvSpPr>
        <p:spPr>
          <a:xfrm>
            <a:off x="132816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34 in block 1"/>
          <p:cNvSpPr/>
          <p:nvPr/>
        </p:nvSpPr>
        <p:spPr>
          <a:xfrm>
            <a:off x="137617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35 in block 1"/>
          <p:cNvSpPr/>
          <p:nvPr/>
        </p:nvSpPr>
        <p:spPr>
          <a:xfrm>
            <a:off x="142417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36 in block 1"/>
          <p:cNvSpPr/>
          <p:nvPr/>
        </p:nvSpPr>
        <p:spPr>
          <a:xfrm>
            <a:off x="147218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37 in block 1"/>
          <p:cNvSpPr/>
          <p:nvPr/>
        </p:nvSpPr>
        <p:spPr>
          <a:xfrm>
            <a:off x="152019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38 in block 1"/>
          <p:cNvSpPr/>
          <p:nvPr/>
        </p:nvSpPr>
        <p:spPr>
          <a:xfrm>
            <a:off x="156819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39 in block 1"/>
          <p:cNvSpPr/>
          <p:nvPr/>
        </p:nvSpPr>
        <p:spPr>
          <a:xfrm>
            <a:off x="161620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40 in block 1"/>
          <p:cNvSpPr/>
          <p:nvPr/>
        </p:nvSpPr>
        <p:spPr>
          <a:xfrm>
            <a:off x="166420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41 in block 1"/>
          <p:cNvSpPr/>
          <p:nvPr/>
        </p:nvSpPr>
        <p:spPr>
          <a:xfrm>
            <a:off x="171221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9" name="Thread 42 in block 1"/>
          <p:cNvSpPr/>
          <p:nvPr/>
        </p:nvSpPr>
        <p:spPr>
          <a:xfrm>
            <a:off x="176022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43 in block 1"/>
          <p:cNvSpPr/>
          <p:nvPr/>
        </p:nvSpPr>
        <p:spPr>
          <a:xfrm>
            <a:off x="180822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44 in block 1"/>
          <p:cNvSpPr/>
          <p:nvPr/>
        </p:nvSpPr>
        <p:spPr>
          <a:xfrm>
            <a:off x="185623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2" name="Thread 45 in block 1"/>
          <p:cNvSpPr/>
          <p:nvPr/>
        </p:nvSpPr>
        <p:spPr>
          <a:xfrm>
            <a:off x="190423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46 in block 1"/>
          <p:cNvSpPr/>
          <p:nvPr/>
        </p:nvSpPr>
        <p:spPr>
          <a:xfrm>
            <a:off x="195224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47 in block 1"/>
          <p:cNvSpPr/>
          <p:nvPr/>
        </p:nvSpPr>
        <p:spPr>
          <a:xfrm>
            <a:off x="200025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48 in block 1"/>
          <p:cNvSpPr/>
          <p:nvPr/>
        </p:nvSpPr>
        <p:spPr>
          <a:xfrm>
            <a:off x="128016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49 in block 1"/>
          <p:cNvSpPr/>
          <p:nvPr/>
        </p:nvSpPr>
        <p:spPr>
          <a:xfrm>
            <a:off x="132816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50 in block 1"/>
          <p:cNvSpPr/>
          <p:nvPr/>
        </p:nvSpPr>
        <p:spPr>
          <a:xfrm>
            <a:off x="137617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51 in block 1"/>
          <p:cNvSpPr/>
          <p:nvPr/>
        </p:nvSpPr>
        <p:spPr>
          <a:xfrm>
            <a:off x="142417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52 in block 1"/>
          <p:cNvSpPr/>
          <p:nvPr/>
        </p:nvSpPr>
        <p:spPr>
          <a:xfrm>
            <a:off x="147218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53 in block 1"/>
          <p:cNvSpPr/>
          <p:nvPr/>
        </p:nvSpPr>
        <p:spPr>
          <a:xfrm>
            <a:off x="152019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54 in block 1"/>
          <p:cNvSpPr/>
          <p:nvPr/>
        </p:nvSpPr>
        <p:spPr>
          <a:xfrm>
            <a:off x="156819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55 in block 1"/>
          <p:cNvSpPr/>
          <p:nvPr/>
        </p:nvSpPr>
        <p:spPr>
          <a:xfrm>
            <a:off x="161620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56 in block 1"/>
          <p:cNvSpPr/>
          <p:nvPr/>
        </p:nvSpPr>
        <p:spPr>
          <a:xfrm>
            <a:off x="166420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57 in block 1"/>
          <p:cNvSpPr/>
          <p:nvPr/>
        </p:nvSpPr>
        <p:spPr>
          <a:xfrm>
            <a:off x="171221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58 in block 1"/>
          <p:cNvSpPr/>
          <p:nvPr/>
        </p:nvSpPr>
        <p:spPr>
          <a:xfrm>
            <a:off x="176022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59 in block 1"/>
          <p:cNvSpPr/>
          <p:nvPr/>
        </p:nvSpPr>
        <p:spPr>
          <a:xfrm>
            <a:off x="180822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60 in block 1"/>
          <p:cNvSpPr/>
          <p:nvPr/>
        </p:nvSpPr>
        <p:spPr>
          <a:xfrm>
            <a:off x="185623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61 in block 1"/>
          <p:cNvSpPr/>
          <p:nvPr/>
        </p:nvSpPr>
        <p:spPr>
          <a:xfrm>
            <a:off x="190423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62 in block 1"/>
          <p:cNvSpPr/>
          <p:nvPr/>
        </p:nvSpPr>
        <p:spPr>
          <a:xfrm>
            <a:off x="195224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63 in block 1"/>
          <p:cNvSpPr/>
          <p:nvPr/>
        </p:nvSpPr>
        <p:spPr>
          <a:xfrm>
            <a:off x="200025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block 2"/>
          <p:cNvSpPr/>
          <p:nvPr/>
        </p:nvSpPr>
        <p:spPr>
          <a:xfrm>
            <a:off x="21945600" y="14196060"/>
            <a:ext cx="8869680" cy="345186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82" name="Block 2"/>
          <p:cNvSpPr/>
          <p:nvPr/>
        </p:nvSpPr>
        <p:spPr>
          <a:xfrm>
            <a:off x="22219920" y="14424660"/>
            <a:ext cx="8321040" cy="502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34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83" name="Thread 0 in block 2"/>
          <p:cNvSpPr/>
          <p:nvPr/>
        </p:nvSpPr>
        <p:spPr>
          <a:xfrm>
            <a:off x="224942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1 in block 2"/>
          <p:cNvSpPr/>
          <p:nvPr/>
        </p:nvSpPr>
        <p:spPr>
          <a:xfrm>
            <a:off x="229743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2 in block 2"/>
          <p:cNvSpPr/>
          <p:nvPr/>
        </p:nvSpPr>
        <p:spPr>
          <a:xfrm>
            <a:off x="234543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3 in block 2"/>
          <p:cNvSpPr/>
          <p:nvPr/>
        </p:nvSpPr>
        <p:spPr>
          <a:xfrm>
            <a:off x="239344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 in block 2"/>
          <p:cNvSpPr/>
          <p:nvPr/>
        </p:nvSpPr>
        <p:spPr>
          <a:xfrm>
            <a:off x="244144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5 in block 2"/>
          <p:cNvSpPr/>
          <p:nvPr/>
        </p:nvSpPr>
        <p:spPr>
          <a:xfrm>
            <a:off x="248945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6 in block 2"/>
          <p:cNvSpPr/>
          <p:nvPr/>
        </p:nvSpPr>
        <p:spPr>
          <a:xfrm>
            <a:off x="253746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7 in block 2"/>
          <p:cNvSpPr/>
          <p:nvPr/>
        </p:nvSpPr>
        <p:spPr>
          <a:xfrm>
            <a:off x="258546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8 in block 2"/>
          <p:cNvSpPr/>
          <p:nvPr/>
        </p:nvSpPr>
        <p:spPr>
          <a:xfrm>
            <a:off x="263347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9 in block 2"/>
          <p:cNvSpPr/>
          <p:nvPr/>
        </p:nvSpPr>
        <p:spPr>
          <a:xfrm>
            <a:off x="268147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10 in block 2"/>
          <p:cNvSpPr/>
          <p:nvPr/>
        </p:nvSpPr>
        <p:spPr>
          <a:xfrm>
            <a:off x="272948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11 in block 2"/>
          <p:cNvSpPr/>
          <p:nvPr/>
        </p:nvSpPr>
        <p:spPr>
          <a:xfrm>
            <a:off x="2777490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12 in block 2"/>
          <p:cNvSpPr/>
          <p:nvPr/>
        </p:nvSpPr>
        <p:spPr>
          <a:xfrm>
            <a:off x="2825496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13 in block 2"/>
          <p:cNvSpPr/>
          <p:nvPr/>
        </p:nvSpPr>
        <p:spPr>
          <a:xfrm>
            <a:off x="2873502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14 in block 2"/>
          <p:cNvSpPr/>
          <p:nvPr/>
        </p:nvSpPr>
        <p:spPr>
          <a:xfrm>
            <a:off x="2921508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15 in block 2"/>
          <p:cNvSpPr/>
          <p:nvPr/>
        </p:nvSpPr>
        <p:spPr>
          <a:xfrm>
            <a:off x="29695140" y="153619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16 in block 2"/>
          <p:cNvSpPr/>
          <p:nvPr/>
        </p:nvSpPr>
        <p:spPr>
          <a:xfrm>
            <a:off x="224942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17 in block 2"/>
          <p:cNvSpPr/>
          <p:nvPr/>
        </p:nvSpPr>
        <p:spPr>
          <a:xfrm>
            <a:off x="229743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18 in block 2"/>
          <p:cNvSpPr/>
          <p:nvPr/>
        </p:nvSpPr>
        <p:spPr>
          <a:xfrm>
            <a:off x="234543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19 in block 2"/>
          <p:cNvSpPr/>
          <p:nvPr/>
        </p:nvSpPr>
        <p:spPr>
          <a:xfrm>
            <a:off x="239344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20 in block 2"/>
          <p:cNvSpPr/>
          <p:nvPr/>
        </p:nvSpPr>
        <p:spPr>
          <a:xfrm>
            <a:off x="244144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21 in block 2"/>
          <p:cNvSpPr/>
          <p:nvPr/>
        </p:nvSpPr>
        <p:spPr>
          <a:xfrm>
            <a:off x="248945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22 in block 2"/>
          <p:cNvSpPr/>
          <p:nvPr/>
        </p:nvSpPr>
        <p:spPr>
          <a:xfrm>
            <a:off x="253746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23 in block 2"/>
          <p:cNvSpPr/>
          <p:nvPr/>
        </p:nvSpPr>
        <p:spPr>
          <a:xfrm>
            <a:off x="258546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24 in block 2"/>
          <p:cNvSpPr/>
          <p:nvPr/>
        </p:nvSpPr>
        <p:spPr>
          <a:xfrm>
            <a:off x="263347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25 in block 2"/>
          <p:cNvSpPr/>
          <p:nvPr/>
        </p:nvSpPr>
        <p:spPr>
          <a:xfrm>
            <a:off x="268147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26 in block 2"/>
          <p:cNvSpPr/>
          <p:nvPr/>
        </p:nvSpPr>
        <p:spPr>
          <a:xfrm>
            <a:off x="272948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27 in block 2"/>
          <p:cNvSpPr/>
          <p:nvPr/>
        </p:nvSpPr>
        <p:spPr>
          <a:xfrm>
            <a:off x="2777490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28 in block 2"/>
          <p:cNvSpPr/>
          <p:nvPr/>
        </p:nvSpPr>
        <p:spPr>
          <a:xfrm>
            <a:off x="2825496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29 in block 2"/>
          <p:cNvSpPr/>
          <p:nvPr/>
        </p:nvSpPr>
        <p:spPr>
          <a:xfrm>
            <a:off x="2873502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30 in block 2"/>
          <p:cNvSpPr/>
          <p:nvPr/>
        </p:nvSpPr>
        <p:spPr>
          <a:xfrm>
            <a:off x="2921508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31 in block 2"/>
          <p:cNvSpPr/>
          <p:nvPr/>
        </p:nvSpPr>
        <p:spPr>
          <a:xfrm>
            <a:off x="29695140" y="1570482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32 in block 2"/>
          <p:cNvSpPr/>
          <p:nvPr/>
        </p:nvSpPr>
        <p:spPr>
          <a:xfrm>
            <a:off x="224942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33 in block 2"/>
          <p:cNvSpPr/>
          <p:nvPr/>
        </p:nvSpPr>
        <p:spPr>
          <a:xfrm>
            <a:off x="229743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34 in block 2"/>
          <p:cNvSpPr/>
          <p:nvPr/>
        </p:nvSpPr>
        <p:spPr>
          <a:xfrm>
            <a:off x="234543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35 in block 2"/>
          <p:cNvSpPr/>
          <p:nvPr/>
        </p:nvSpPr>
        <p:spPr>
          <a:xfrm>
            <a:off x="239344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36 in block 2"/>
          <p:cNvSpPr/>
          <p:nvPr/>
        </p:nvSpPr>
        <p:spPr>
          <a:xfrm>
            <a:off x="244144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37 in block 2"/>
          <p:cNvSpPr/>
          <p:nvPr/>
        </p:nvSpPr>
        <p:spPr>
          <a:xfrm>
            <a:off x="248945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38 in block 2"/>
          <p:cNvSpPr/>
          <p:nvPr/>
        </p:nvSpPr>
        <p:spPr>
          <a:xfrm>
            <a:off x="253746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39 in block 2"/>
          <p:cNvSpPr/>
          <p:nvPr/>
        </p:nvSpPr>
        <p:spPr>
          <a:xfrm>
            <a:off x="258546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40 in block 2"/>
          <p:cNvSpPr/>
          <p:nvPr/>
        </p:nvSpPr>
        <p:spPr>
          <a:xfrm>
            <a:off x="263347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41 in block 2"/>
          <p:cNvSpPr/>
          <p:nvPr/>
        </p:nvSpPr>
        <p:spPr>
          <a:xfrm>
            <a:off x="268147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42 in block 2"/>
          <p:cNvSpPr/>
          <p:nvPr/>
        </p:nvSpPr>
        <p:spPr>
          <a:xfrm>
            <a:off x="272948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43 in block 2"/>
          <p:cNvSpPr/>
          <p:nvPr/>
        </p:nvSpPr>
        <p:spPr>
          <a:xfrm>
            <a:off x="2777490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7" name="Thread 44 in block 2"/>
          <p:cNvSpPr/>
          <p:nvPr/>
        </p:nvSpPr>
        <p:spPr>
          <a:xfrm>
            <a:off x="2825496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45 in block 2"/>
          <p:cNvSpPr/>
          <p:nvPr/>
        </p:nvSpPr>
        <p:spPr>
          <a:xfrm>
            <a:off x="2873502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46 in block 2"/>
          <p:cNvSpPr/>
          <p:nvPr/>
        </p:nvSpPr>
        <p:spPr>
          <a:xfrm>
            <a:off x="2921508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47 in block 2"/>
          <p:cNvSpPr/>
          <p:nvPr/>
        </p:nvSpPr>
        <p:spPr>
          <a:xfrm>
            <a:off x="29695140" y="164592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48 in block 2"/>
          <p:cNvSpPr/>
          <p:nvPr/>
        </p:nvSpPr>
        <p:spPr>
          <a:xfrm>
            <a:off x="224942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49 in block 2"/>
          <p:cNvSpPr/>
          <p:nvPr/>
        </p:nvSpPr>
        <p:spPr>
          <a:xfrm>
            <a:off x="229743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50 in block 2"/>
          <p:cNvSpPr/>
          <p:nvPr/>
        </p:nvSpPr>
        <p:spPr>
          <a:xfrm>
            <a:off x="234543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Thread 51 in block 2"/>
          <p:cNvSpPr/>
          <p:nvPr/>
        </p:nvSpPr>
        <p:spPr>
          <a:xfrm>
            <a:off x="239344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52 in block 2"/>
          <p:cNvSpPr/>
          <p:nvPr/>
        </p:nvSpPr>
        <p:spPr>
          <a:xfrm>
            <a:off x="244144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53 in block 2"/>
          <p:cNvSpPr/>
          <p:nvPr/>
        </p:nvSpPr>
        <p:spPr>
          <a:xfrm>
            <a:off x="248945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54 in block 2"/>
          <p:cNvSpPr/>
          <p:nvPr/>
        </p:nvSpPr>
        <p:spPr>
          <a:xfrm>
            <a:off x="253746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55 in block 2"/>
          <p:cNvSpPr/>
          <p:nvPr/>
        </p:nvSpPr>
        <p:spPr>
          <a:xfrm>
            <a:off x="258546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56 in block 2"/>
          <p:cNvSpPr/>
          <p:nvPr/>
        </p:nvSpPr>
        <p:spPr>
          <a:xfrm>
            <a:off x="263347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57 in block 2"/>
          <p:cNvSpPr/>
          <p:nvPr/>
        </p:nvSpPr>
        <p:spPr>
          <a:xfrm>
            <a:off x="268147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58 in block 2"/>
          <p:cNvSpPr/>
          <p:nvPr/>
        </p:nvSpPr>
        <p:spPr>
          <a:xfrm>
            <a:off x="272948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59 in block 2"/>
          <p:cNvSpPr/>
          <p:nvPr/>
        </p:nvSpPr>
        <p:spPr>
          <a:xfrm>
            <a:off x="2777490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60 in block 2"/>
          <p:cNvSpPr/>
          <p:nvPr/>
        </p:nvSpPr>
        <p:spPr>
          <a:xfrm>
            <a:off x="2825496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61 in block 2"/>
          <p:cNvSpPr/>
          <p:nvPr/>
        </p:nvSpPr>
        <p:spPr>
          <a:xfrm>
            <a:off x="2873502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62 in block 2"/>
          <p:cNvSpPr/>
          <p:nvPr/>
        </p:nvSpPr>
        <p:spPr>
          <a:xfrm>
            <a:off x="2921508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63 in block 2"/>
          <p:cNvSpPr/>
          <p:nvPr/>
        </p:nvSpPr>
        <p:spPr>
          <a:xfrm>
            <a:off x="29695140" y="16802100"/>
            <a:ext cx="137160" cy="137160"/>
          </a:xfrm>
          <a:prstGeom prst="ellipse">
            <a:avLst/>
          </a:prstGeom>
          <a:solidFill>
            <a:schemeClr val="dk1">
              <a:tint val="10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7" name="Additional thread blocks"/>
          <p:cNvSpPr/>
          <p:nvPr/>
        </p:nvSpPr>
        <p:spPr>
          <a:xfrm>
            <a:off x="31318200" y="15521940"/>
            <a:ext cx="2286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48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49" name="Original group: one warp unit"/>
          <p:cNvSpPr/>
          <p:nvPr/>
        </p:nvSpPr>
        <p:spPr>
          <a:xfrm>
            <a:off x="313182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Original group: one warp unit</a:t>
            </a:r>
          </a:p>
        </p:txBody>
      </p:sp>
      <p:sp>
        <p:nvSpPr>
          <p:cNvPr id="250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51" name="View: 32 thread units"/>
          <p:cNvSpPr/>
          <p:nvPr/>
        </p:nvSpPr>
        <p:spPr>
          <a:xfrm>
            <a:off x="1337310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View: 32 thread units</a:t>
            </a:r>
          </a:p>
        </p:txBody>
      </p:sp>
      <p:sp>
        <p:nvSpPr>
          <p:cNvPr id="252" name="Same threads · same synchronization"/>
          <p:cNvSpPr/>
          <p:nvPr/>
        </p:nvSpPr>
        <p:spPr>
          <a:xfrm>
            <a:off x="23042880" y="18379440"/>
            <a:ext cx="11430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Same threads · same synchronization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 name="Group Mapp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Mappings</a:t>
            </a:r>
          </a:p>
        </p:txBody>
      </p:sp>
      <p:sp>
        <p:nvSpPr>
          <p:cNvPr id="3" name="Partition units and compose mapping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Partition units and compose mappings</a:t>
            </a:r>
          </a:p>
        </p:txBody>
      </p:sp>
      <p:sp>
        <p:nvSpPr>
          <p:cNvPr id="4" name="2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5" name="Determines how the units are split into subgroups"/>
          <p:cNvSpPr/>
          <p:nvPr/>
        </p:nvSpPr>
        <p:spPr>
          <a:xfrm>
            <a:off x="1874520" y="482346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Determines how the units are split into subgroups</a:t>
            </a:r>
          </a:p>
        </p:txBody>
      </p:sp>
      <p:sp>
        <p:nvSpPr>
          <p:cNvPr id="6" name="Needs to implement the `map` method that transforms `/*group-mapp"/>
          <p:cNvSpPr/>
          <p:nvPr/>
        </p:nvSpPr>
        <p:spPr>
          <a:xfrm>
            <a:off x="1874520" y="6149340"/>
            <a:ext cx="323469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method that transforms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/*group-mapping-result*/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types: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475220"/>
            <a:ext cx="32918400" cy="61264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8001000"/>
            <a:ext cx="31912560" cy="5074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PrevMappingResult&gt;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/*group-mapping*/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(T&amp; t,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PrevMappingResult&amp; prev_mapping_result)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{ t.map(unit, parent_group, prev_mapping_result) } -&gt; /*group-mapping-result*/;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{ t.map(non_exhaustive, unit, parent_group, prev_mapping_result) } -&gt; /*group-mapping-result*/;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The overload that takes the `non_exhaustive` tag does the non-exh"/>
          <p:cNvSpPr/>
          <p:nvPr/>
        </p:nvSpPr>
        <p:spPr>
          <a:xfrm>
            <a:off x="1874520" y="1426464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The overload that takes the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tag does the non-exhaustive mapping</a:t>
            </a:r>
          </a:p>
        </p:txBody>
      </p:sp>
      <p:sp>
        <p:nvSpPr>
          <p:cNvPr id="10" name="Mappings can be chained with `|` to transform the result from lef"/>
          <p:cNvSpPr/>
          <p:nvPr/>
        </p:nvSpPr>
        <p:spPr>
          <a:xfrm>
            <a:off x="1874520" y="1577340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Mappings can be chained with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to transform the result from left to right</a:t>
            </a:r>
          </a:p>
        </p:txBody>
      </p:sp>
      <p:sp>
        <p:nvSpPr>
          <p:cNvPr id="11" name="Goal is to preserve as much compile-time information as possible"/>
          <p:cNvSpPr/>
          <p:nvPr/>
        </p:nvSpPr>
        <p:spPr>
          <a:xfrm>
            <a:off x="1874520" y="1728216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Goal is to preserve as much compile-time information as 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 name="Predefined Group Mappings — identity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5" name="Current mapping"/>
          <p:cNvSpPr/>
          <p:nvPr/>
        </p:nvSpPr>
        <p:spPr>
          <a:xfrm>
            <a:off x="1828800" y="50520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identity_mapping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Preserves the previous mapping result without further partitionin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Preserves the previous mapping result without further partitioning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983980"/>
            <a:ext cx="20345400" cy="1371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cudax::coop::identity_mapping m{};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"/>
          <p:cNvSpPr/>
          <p:nvPr/>
        </p:nvSpPr>
        <p:spPr>
          <a:xfrm>
            <a:off x="1367028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21" name="Partition 1, row 0, threads 8,9,10,11,12,13,14,15"/>
          <p:cNvSpPr/>
          <p:nvPr/>
        </p:nvSpPr>
        <p:spPr>
          <a:xfrm>
            <a:off x="2409444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22" name="Partition 2, row 1, threads 16,17,18,19,20,21,22,23"/>
          <p:cNvSpPr/>
          <p:nvPr/>
        </p:nvSpPr>
        <p:spPr>
          <a:xfrm>
            <a:off x="1367028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23" name="Partition 3, row 1, threads 24,25,26,27,28,29,30,31"/>
          <p:cNvSpPr/>
          <p:nvPr/>
        </p:nvSpPr>
        <p:spPr>
          <a:xfrm>
            <a:off x="2409444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4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6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8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30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2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4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6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8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40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2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4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6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8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0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2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4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6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8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60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2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4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6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8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70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2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4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6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8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80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2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4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6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8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9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90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2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3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4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6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8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00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2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4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6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8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10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2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4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6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8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20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2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4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6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8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30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2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4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6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8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40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2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4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6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8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50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2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4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6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cSld name="Predefined Group Mappings — group_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mapping"/>
          <p:cNvSpPr/>
          <p:nvPr/>
        </p:nvSpPr>
        <p:spPr>
          <a:xfrm>
            <a:off x="1828800" y="717804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17804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group_by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the same specified number o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Splits each group into subgroups with the same specified number of units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983980"/>
            <a:ext cx="20345400" cy="1371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cudax::coop::group_by m{8};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2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4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6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8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0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2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4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6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8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0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2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4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6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8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0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2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4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6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8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0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2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4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6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8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0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2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4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6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8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0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2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4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 name="Predefined Group Mappings — group_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mapping"/>
          <p:cNvSpPr/>
          <p:nvPr/>
        </p:nvSpPr>
        <p:spPr>
          <a:xfrm>
            <a:off x="1828800" y="930402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930402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group_as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individually specified siz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Splits each group into subgroups with individually specified sizes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983980"/>
            <a:ext cx="20345400" cy="1371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cuda::std::array counts{5u, 9u, 6u, 12u};</a:t>
            </a:r>
            <a:endParaRPr lang="en-US" sz="324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>
                    <a:shade val="65000"/>
                  </a:schemeClr>
                </a:solidFill>
                <a:latin typeface="DejaVu Sans Mono"/>
              </a:rPr>
              <a:t xml:space="preserve">cudax::coop::group_as m{counts};</a:t>
            </a:r>
            <a:endParaRPr lang="en-US" sz="324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"/>
          <p:cNvSpPr/>
          <p:nvPr/>
        </p:nvSpPr>
        <p:spPr>
          <a:xfrm>
            <a:off x="13670280" y="169849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5,6,7,8,9,10,11,12,13"/>
          <p:cNvSpPr/>
          <p:nvPr/>
        </p:nvSpPr>
        <p:spPr>
          <a:xfrm>
            <a:off x="20185380" y="16984980"/>
            <a:ext cx="112471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0, threads 14,15"/>
          <p:cNvSpPr/>
          <p:nvPr/>
        </p:nvSpPr>
        <p:spPr>
          <a:xfrm>
            <a:off x="31912560" y="16984980"/>
            <a:ext cx="21259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2, row 1, threads 16,17,18,19"/>
          <p:cNvSpPr/>
          <p:nvPr/>
        </p:nvSpPr>
        <p:spPr>
          <a:xfrm>
            <a:off x="13670280" y="178079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2" name="Partition 3, row 1, threads 20,21,22,23,24,25,26,27,28,29,30,31"/>
          <p:cNvSpPr/>
          <p:nvPr/>
        </p:nvSpPr>
        <p:spPr>
          <a:xfrm>
            <a:off x="18882360" y="1780794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3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5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7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9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1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3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5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7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9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1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3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5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7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9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1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3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5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7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9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1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3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5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7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9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1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3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5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7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9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1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3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5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 name="Predefined Group Mappings — ta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mapping"/>
          <p:cNvSpPr/>
          <p:nvPr/>
        </p:nvSpPr>
        <p:spPr>
          <a:xfrm>
            <a:off x="1828800" y="1143000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143000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take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elects the first specified number of units from each group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Selects the first specified number of units from each group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983980"/>
            <a:ext cx="20345400" cy="1371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cudax::coop::take m{12};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,8,9,10,11"/>
          <p:cNvSpPr/>
          <p:nvPr/>
        </p:nvSpPr>
        <p:spPr>
          <a:xfrm>
            <a:off x="13670280" y="1698498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ex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ex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ex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ex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ex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ex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ex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ex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 name="Predefined Group Mappings — binary_par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Current mapping"/>
          <p:cNvSpPr/>
          <p:nvPr/>
        </p:nvSpPr>
        <p:spPr>
          <a:xfrm>
            <a:off x="1828800" y="1355598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0" name="Shape"/>
          <p:cNvSpPr/>
          <p:nvPr/>
        </p:nvSpPr>
        <p:spPr>
          <a:xfrm>
            <a:off x="1828800" y="1355598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binary_partition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threads within a warp into two groups based on a predicat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Splits threads within a warp into two groups based on a predicate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983980"/>
            <a:ext cx="20345400" cy="1371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 = cudax::coop::binary_partition{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[](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prev) { return prev.unit_rank() % 2 == 0; }};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"/>
          <p:cNvSpPr/>
          <p:nvPr/>
        </p:nvSpPr>
        <p:spPr>
          <a:xfrm>
            <a:off x="136702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0, row 0, threads 2"/>
          <p:cNvSpPr/>
          <p:nvPr/>
        </p:nvSpPr>
        <p:spPr>
          <a:xfrm>
            <a:off x="162763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0" name="Partition 0, row 0, threads 4"/>
          <p:cNvSpPr/>
          <p:nvPr/>
        </p:nvSpPr>
        <p:spPr>
          <a:xfrm>
            <a:off x="188823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0, row 0, threads 6"/>
          <p:cNvSpPr/>
          <p:nvPr/>
        </p:nvSpPr>
        <p:spPr>
          <a:xfrm>
            <a:off x="214884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2" name="Partition 0, row 0, threads 8"/>
          <p:cNvSpPr/>
          <p:nvPr/>
        </p:nvSpPr>
        <p:spPr>
          <a:xfrm>
            <a:off x="240944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3" name="Partition 0, row 0, threads 10"/>
          <p:cNvSpPr/>
          <p:nvPr/>
        </p:nvSpPr>
        <p:spPr>
          <a:xfrm>
            <a:off x="267004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4" name="Partition 0, row 0, threads 12"/>
          <p:cNvSpPr/>
          <p:nvPr/>
        </p:nvSpPr>
        <p:spPr>
          <a:xfrm>
            <a:off x="293065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5" name="Partition 0, row 0, threads 14"/>
          <p:cNvSpPr/>
          <p:nvPr/>
        </p:nvSpPr>
        <p:spPr>
          <a:xfrm>
            <a:off x="319125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6" name="Partition 0, row 1, threads 16"/>
          <p:cNvSpPr/>
          <p:nvPr/>
        </p:nvSpPr>
        <p:spPr>
          <a:xfrm>
            <a:off x="136702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7" name="Partition 0, row 1, threads 18"/>
          <p:cNvSpPr/>
          <p:nvPr/>
        </p:nvSpPr>
        <p:spPr>
          <a:xfrm>
            <a:off x="162763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8" name="Partition 0, row 1, threads 20"/>
          <p:cNvSpPr/>
          <p:nvPr/>
        </p:nvSpPr>
        <p:spPr>
          <a:xfrm>
            <a:off x="188823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9" name="Partition 0, row 1, threads 22"/>
          <p:cNvSpPr/>
          <p:nvPr/>
        </p:nvSpPr>
        <p:spPr>
          <a:xfrm>
            <a:off x="214884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0" name="Partition 0, row 1, threads 24"/>
          <p:cNvSpPr/>
          <p:nvPr/>
        </p:nvSpPr>
        <p:spPr>
          <a:xfrm>
            <a:off x="240944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1" name="Partition 0, row 1, threads 26"/>
          <p:cNvSpPr/>
          <p:nvPr/>
        </p:nvSpPr>
        <p:spPr>
          <a:xfrm>
            <a:off x="267004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2" name="Partition 0, row 1, threads 28"/>
          <p:cNvSpPr/>
          <p:nvPr/>
        </p:nvSpPr>
        <p:spPr>
          <a:xfrm>
            <a:off x="293065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3" name="Partition 0, row 1, threads 30"/>
          <p:cNvSpPr/>
          <p:nvPr/>
        </p:nvSpPr>
        <p:spPr>
          <a:xfrm>
            <a:off x="319125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4" name="Partition 1, row 0, threads 1"/>
          <p:cNvSpPr/>
          <p:nvPr/>
        </p:nvSpPr>
        <p:spPr>
          <a:xfrm>
            <a:off x="149733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5" name="Partition 1, row 0, threads 3"/>
          <p:cNvSpPr/>
          <p:nvPr/>
        </p:nvSpPr>
        <p:spPr>
          <a:xfrm>
            <a:off x="175793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6" name="Partition 1, row 0, threads 5"/>
          <p:cNvSpPr/>
          <p:nvPr/>
        </p:nvSpPr>
        <p:spPr>
          <a:xfrm>
            <a:off x="201853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7" name="Partition 1, row 0, threads 7"/>
          <p:cNvSpPr/>
          <p:nvPr/>
        </p:nvSpPr>
        <p:spPr>
          <a:xfrm>
            <a:off x="227914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8" name="Partition 1, row 0, threads 9"/>
          <p:cNvSpPr/>
          <p:nvPr/>
        </p:nvSpPr>
        <p:spPr>
          <a:xfrm>
            <a:off x="253974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9" name="Partition 1, row 0, threads 11"/>
          <p:cNvSpPr/>
          <p:nvPr/>
        </p:nvSpPr>
        <p:spPr>
          <a:xfrm>
            <a:off x="280035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0" name="Partition 1, row 0, threads 13"/>
          <p:cNvSpPr/>
          <p:nvPr/>
        </p:nvSpPr>
        <p:spPr>
          <a:xfrm>
            <a:off x="306095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1" name="Partition 1, row 0, threads 15"/>
          <p:cNvSpPr/>
          <p:nvPr/>
        </p:nvSpPr>
        <p:spPr>
          <a:xfrm>
            <a:off x="332155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2" name="Partition 1, row 1, threads 17"/>
          <p:cNvSpPr/>
          <p:nvPr/>
        </p:nvSpPr>
        <p:spPr>
          <a:xfrm>
            <a:off x="149733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3" name="Partition 1, row 1, threads 19"/>
          <p:cNvSpPr/>
          <p:nvPr/>
        </p:nvSpPr>
        <p:spPr>
          <a:xfrm>
            <a:off x="175793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4" name="Partition 1, row 1, threads 21"/>
          <p:cNvSpPr/>
          <p:nvPr/>
        </p:nvSpPr>
        <p:spPr>
          <a:xfrm>
            <a:off x="201853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5" name="Partition 1, row 1, threads 23"/>
          <p:cNvSpPr/>
          <p:nvPr/>
        </p:nvSpPr>
        <p:spPr>
          <a:xfrm>
            <a:off x="227914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6" name="Partition 1, row 1, threads 25"/>
          <p:cNvSpPr/>
          <p:nvPr/>
        </p:nvSpPr>
        <p:spPr>
          <a:xfrm>
            <a:off x="253974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7" name="Partition 1, row 1, threads 27"/>
          <p:cNvSpPr/>
          <p:nvPr/>
        </p:nvSpPr>
        <p:spPr>
          <a:xfrm>
            <a:off x="280035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8" name="Partition 1, row 1, threads 29"/>
          <p:cNvSpPr/>
          <p:nvPr/>
        </p:nvSpPr>
        <p:spPr>
          <a:xfrm>
            <a:off x="306095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9" name="Partition 1, row 1, threads 31"/>
          <p:cNvSpPr/>
          <p:nvPr/>
        </p:nvSpPr>
        <p:spPr>
          <a:xfrm>
            <a:off x="332155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20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22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24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26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28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30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32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34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36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38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40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42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44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46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48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50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52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54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56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58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60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62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64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66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68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70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72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74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76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78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80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82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 name="Predefined Group Mappings — composite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Current mapping"/>
          <p:cNvSpPr/>
          <p:nvPr/>
        </p:nvSpPr>
        <p:spPr>
          <a:xfrm>
            <a:off x="1828800" y="156819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1" name="Shape"/>
          <p:cNvSpPr/>
          <p:nvPr/>
        </p:nvSpPr>
        <p:spPr>
          <a:xfrm>
            <a:off x="1828800" y="156819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composite_mapping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Applies multiple mappings in sequence, composed with the `|` oper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Applies multiple mappings in sequence, composed with the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operator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983980"/>
            <a:ext cx="20345400" cy="1371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 = cudax::coop::take{20} | cudax::coop::group_by{5};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235940" y="14767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,5,6,7,8,9,10,11,12,13,14,15"/>
          <p:cNvSpPr/>
          <p:nvPr/>
        </p:nvSpPr>
        <p:spPr>
          <a:xfrm>
            <a:off x="13670280" y="14927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0, row 1, threads 16,17,18,19"/>
          <p:cNvSpPr/>
          <p:nvPr/>
        </p:nvSpPr>
        <p:spPr>
          <a:xfrm>
            <a:off x="13670280" y="15750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included"/>
          <p:cNvSpPr/>
          <p:nvPr/>
        </p:nvSpPr>
        <p:spPr>
          <a:xfrm>
            <a:off x="294436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included"/>
          <p:cNvSpPr/>
          <p:nvPr/>
        </p:nvSpPr>
        <p:spPr>
          <a:xfrm>
            <a:off x="307467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included"/>
          <p:cNvSpPr/>
          <p:nvPr/>
        </p:nvSpPr>
        <p:spPr>
          <a:xfrm>
            <a:off x="320497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included"/>
          <p:cNvSpPr/>
          <p:nvPr/>
        </p:nvSpPr>
        <p:spPr>
          <a:xfrm>
            <a:off x="333527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included"/>
          <p:cNvSpPr/>
          <p:nvPr/>
        </p:nvSpPr>
        <p:spPr>
          <a:xfrm>
            <a:off x="1380744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included"/>
          <p:cNvSpPr/>
          <p:nvPr/>
        </p:nvSpPr>
        <p:spPr>
          <a:xfrm>
            <a:off x="1511046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included"/>
          <p:cNvSpPr/>
          <p:nvPr/>
        </p:nvSpPr>
        <p:spPr>
          <a:xfrm>
            <a:off x="1641348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included"/>
          <p:cNvSpPr/>
          <p:nvPr/>
        </p:nvSpPr>
        <p:spPr>
          <a:xfrm>
            <a:off x="1771650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5864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3" name="Example warp: 32 threads"/>
          <p:cNvSpPr/>
          <p:nvPr/>
        </p:nvSpPr>
        <p:spPr>
          <a:xfrm>
            <a:off x="13235940" y="17053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Partition 0, row 0, threads 0,1,2,3,4"/>
          <p:cNvSpPr/>
          <p:nvPr/>
        </p:nvSpPr>
        <p:spPr>
          <a:xfrm>
            <a:off x="136702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55" name="Partition 1, row 0, threads 5,6,7,8,9"/>
          <p:cNvSpPr/>
          <p:nvPr/>
        </p:nvSpPr>
        <p:spPr>
          <a:xfrm>
            <a:off x="201853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56" name="Partition 2, row 0, threads 10,11,12,13,14"/>
          <p:cNvSpPr/>
          <p:nvPr/>
        </p:nvSpPr>
        <p:spPr>
          <a:xfrm>
            <a:off x="267004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57" name="Partition 3, row 0, threads 15"/>
          <p:cNvSpPr/>
          <p:nvPr/>
        </p:nvSpPr>
        <p:spPr>
          <a:xfrm>
            <a:off x="33215580" y="172135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8" name="Partition 3, row 1, threads 16,17,18,19"/>
          <p:cNvSpPr/>
          <p:nvPr/>
        </p:nvSpPr>
        <p:spPr>
          <a:xfrm>
            <a:off x="13670280" y="18036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9" name="Example thread 0 included"/>
          <p:cNvSpPr/>
          <p:nvPr/>
        </p:nvSpPr>
        <p:spPr>
          <a:xfrm>
            <a:off x="138074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0"/>
          <p:cNvSpPr/>
          <p:nvPr/>
        </p:nvSpPr>
        <p:spPr>
          <a:xfrm>
            <a:off x="138074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61" name="Example thread 1 included"/>
          <p:cNvSpPr/>
          <p:nvPr/>
        </p:nvSpPr>
        <p:spPr>
          <a:xfrm>
            <a:off x="151104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1"/>
          <p:cNvSpPr/>
          <p:nvPr/>
        </p:nvSpPr>
        <p:spPr>
          <a:xfrm>
            <a:off x="151104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63" name="Example thread 2 included"/>
          <p:cNvSpPr/>
          <p:nvPr/>
        </p:nvSpPr>
        <p:spPr>
          <a:xfrm>
            <a:off x="164134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2"/>
          <p:cNvSpPr/>
          <p:nvPr/>
        </p:nvSpPr>
        <p:spPr>
          <a:xfrm>
            <a:off x="164134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65" name="Example thread 3 included"/>
          <p:cNvSpPr/>
          <p:nvPr/>
        </p:nvSpPr>
        <p:spPr>
          <a:xfrm>
            <a:off x="177165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3"/>
          <p:cNvSpPr/>
          <p:nvPr/>
        </p:nvSpPr>
        <p:spPr>
          <a:xfrm>
            <a:off x="177165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67" name="Example thread 4 included"/>
          <p:cNvSpPr/>
          <p:nvPr/>
        </p:nvSpPr>
        <p:spPr>
          <a:xfrm>
            <a:off x="190195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4"/>
          <p:cNvSpPr/>
          <p:nvPr/>
        </p:nvSpPr>
        <p:spPr>
          <a:xfrm>
            <a:off x="190195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69" name="Example thread 5 included"/>
          <p:cNvSpPr/>
          <p:nvPr/>
        </p:nvSpPr>
        <p:spPr>
          <a:xfrm>
            <a:off x="203225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5"/>
          <p:cNvSpPr/>
          <p:nvPr/>
        </p:nvSpPr>
        <p:spPr>
          <a:xfrm>
            <a:off x="203225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71" name="Example thread 6 included"/>
          <p:cNvSpPr/>
          <p:nvPr/>
        </p:nvSpPr>
        <p:spPr>
          <a:xfrm>
            <a:off x="216255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6"/>
          <p:cNvSpPr/>
          <p:nvPr/>
        </p:nvSpPr>
        <p:spPr>
          <a:xfrm>
            <a:off x="216255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73" name="Example thread 7 included"/>
          <p:cNvSpPr/>
          <p:nvPr/>
        </p:nvSpPr>
        <p:spPr>
          <a:xfrm>
            <a:off x="229285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7"/>
          <p:cNvSpPr/>
          <p:nvPr/>
        </p:nvSpPr>
        <p:spPr>
          <a:xfrm>
            <a:off x="229285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75" name="Example thread 8 included"/>
          <p:cNvSpPr/>
          <p:nvPr/>
        </p:nvSpPr>
        <p:spPr>
          <a:xfrm>
            <a:off x="242316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8"/>
          <p:cNvSpPr/>
          <p:nvPr/>
        </p:nvSpPr>
        <p:spPr>
          <a:xfrm>
            <a:off x="242316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77" name="Example thread 9 included"/>
          <p:cNvSpPr/>
          <p:nvPr/>
        </p:nvSpPr>
        <p:spPr>
          <a:xfrm>
            <a:off x="255346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9"/>
          <p:cNvSpPr/>
          <p:nvPr/>
        </p:nvSpPr>
        <p:spPr>
          <a:xfrm>
            <a:off x="255346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79" name="Example thread 10 included"/>
          <p:cNvSpPr/>
          <p:nvPr/>
        </p:nvSpPr>
        <p:spPr>
          <a:xfrm>
            <a:off x="268376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10"/>
          <p:cNvSpPr/>
          <p:nvPr/>
        </p:nvSpPr>
        <p:spPr>
          <a:xfrm>
            <a:off x="268376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81" name="Example thread 11 included"/>
          <p:cNvSpPr/>
          <p:nvPr/>
        </p:nvSpPr>
        <p:spPr>
          <a:xfrm>
            <a:off x="281406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11"/>
          <p:cNvSpPr/>
          <p:nvPr/>
        </p:nvSpPr>
        <p:spPr>
          <a:xfrm>
            <a:off x="281406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83" name="Example thread 12 included"/>
          <p:cNvSpPr/>
          <p:nvPr/>
        </p:nvSpPr>
        <p:spPr>
          <a:xfrm>
            <a:off x="294436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12"/>
          <p:cNvSpPr/>
          <p:nvPr/>
        </p:nvSpPr>
        <p:spPr>
          <a:xfrm>
            <a:off x="294436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85" name="Example thread 13 included"/>
          <p:cNvSpPr/>
          <p:nvPr/>
        </p:nvSpPr>
        <p:spPr>
          <a:xfrm>
            <a:off x="307467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13"/>
          <p:cNvSpPr/>
          <p:nvPr/>
        </p:nvSpPr>
        <p:spPr>
          <a:xfrm>
            <a:off x="307467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87" name="Example thread 14 included"/>
          <p:cNvSpPr/>
          <p:nvPr/>
        </p:nvSpPr>
        <p:spPr>
          <a:xfrm>
            <a:off x="320497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14"/>
          <p:cNvSpPr/>
          <p:nvPr/>
        </p:nvSpPr>
        <p:spPr>
          <a:xfrm>
            <a:off x="320497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89" name="Example thread 15 included"/>
          <p:cNvSpPr/>
          <p:nvPr/>
        </p:nvSpPr>
        <p:spPr>
          <a:xfrm>
            <a:off x="333527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15"/>
          <p:cNvSpPr/>
          <p:nvPr/>
        </p:nvSpPr>
        <p:spPr>
          <a:xfrm>
            <a:off x="333527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91" name="Example thread 16 included"/>
          <p:cNvSpPr/>
          <p:nvPr/>
        </p:nvSpPr>
        <p:spPr>
          <a:xfrm>
            <a:off x="1380744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16"/>
          <p:cNvSpPr/>
          <p:nvPr/>
        </p:nvSpPr>
        <p:spPr>
          <a:xfrm>
            <a:off x="138074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93" name="Example thread 17 included"/>
          <p:cNvSpPr/>
          <p:nvPr/>
        </p:nvSpPr>
        <p:spPr>
          <a:xfrm>
            <a:off x="1511046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17"/>
          <p:cNvSpPr/>
          <p:nvPr/>
        </p:nvSpPr>
        <p:spPr>
          <a:xfrm>
            <a:off x="151104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95" name="Example thread 18 included"/>
          <p:cNvSpPr/>
          <p:nvPr/>
        </p:nvSpPr>
        <p:spPr>
          <a:xfrm>
            <a:off x="1641348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18"/>
          <p:cNvSpPr/>
          <p:nvPr/>
        </p:nvSpPr>
        <p:spPr>
          <a:xfrm>
            <a:off x="164134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97" name="Example thread 19 included"/>
          <p:cNvSpPr/>
          <p:nvPr/>
        </p:nvSpPr>
        <p:spPr>
          <a:xfrm>
            <a:off x="1771650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19"/>
          <p:cNvSpPr/>
          <p:nvPr/>
        </p:nvSpPr>
        <p:spPr>
          <a:xfrm>
            <a:off x="177165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99" name="Example thread 20 excluded"/>
          <p:cNvSpPr/>
          <p:nvPr/>
        </p:nvSpPr>
        <p:spPr>
          <a:xfrm>
            <a:off x="1901952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0" name="20"/>
          <p:cNvSpPr/>
          <p:nvPr/>
        </p:nvSpPr>
        <p:spPr>
          <a:xfrm>
            <a:off x="190195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201" name="Example thread 21 excluded"/>
          <p:cNvSpPr/>
          <p:nvPr/>
        </p:nvSpPr>
        <p:spPr>
          <a:xfrm>
            <a:off x="2032254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2" name="21"/>
          <p:cNvSpPr/>
          <p:nvPr/>
        </p:nvSpPr>
        <p:spPr>
          <a:xfrm>
            <a:off x="203225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203" name="Example thread 22 excluded"/>
          <p:cNvSpPr/>
          <p:nvPr/>
        </p:nvSpPr>
        <p:spPr>
          <a:xfrm>
            <a:off x="2162556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4" name="22"/>
          <p:cNvSpPr/>
          <p:nvPr/>
        </p:nvSpPr>
        <p:spPr>
          <a:xfrm>
            <a:off x="216255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205" name="Example thread 23 excluded"/>
          <p:cNvSpPr/>
          <p:nvPr/>
        </p:nvSpPr>
        <p:spPr>
          <a:xfrm>
            <a:off x="2292858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6" name="23"/>
          <p:cNvSpPr/>
          <p:nvPr/>
        </p:nvSpPr>
        <p:spPr>
          <a:xfrm>
            <a:off x="229285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207" name="Example thread 24 excluded"/>
          <p:cNvSpPr/>
          <p:nvPr/>
        </p:nvSpPr>
        <p:spPr>
          <a:xfrm>
            <a:off x="2423160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8" name="24"/>
          <p:cNvSpPr/>
          <p:nvPr/>
        </p:nvSpPr>
        <p:spPr>
          <a:xfrm>
            <a:off x="242316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209" name="Example thread 25 excluded"/>
          <p:cNvSpPr/>
          <p:nvPr/>
        </p:nvSpPr>
        <p:spPr>
          <a:xfrm>
            <a:off x="2553462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0" name="25"/>
          <p:cNvSpPr/>
          <p:nvPr/>
        </p:nvSpPr>
        <p:spPr>
          <a:xfrm>
            <a:off x="255346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211" name="Example thread 26 excluded"/>
          <p:cNvSpPr/>
          <p:nvPr/>
        </p:nvSpPr>
        <p:spPr>
          <a:xfrm>
            <a:off x="2683764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2" name="26"/>
          <p:cNvSpPr/>
          <p:nvPr/>
        </p:nvSpPr>
        <p:spPr>
          <a:xfrm>
            <a:off x="268376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213" name="Example thread 27 excluded"/>
          <p:cNvSpPr/>
          <p:nvPr/>
        </p:nvSpPr>
        <p:spPr>
          <a:xfrm>
            <a:off x="2814066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4" name="27"/>
          <p:cNvSpPr/>
          <p:nvPr/>
        </p:nvSpPr>
        <p:spPr>
          <a:xfrm>
            <a:off x="281406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215" name="Example thread 28 excluded"/>
          <p:cNvSpPr/>
          <p:nvPr/>
        </p:nvSpPr>
        <p:spPr>
          <a:xfrm>
            <a:off x="2944368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6" name="28"/>
          <p:cNvSpPr/>
          <p:nvPr/>
        </p:nvSpPr>
        <p:spPr>
          <a:xfrm>
            <a:off x="294436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217" name="Example thread 29 excluded"/>
          <p:cNvSpPr/>
          <p:nvPr/>
        </p:nvSpPr>
        <p:spPr>
          <a:xfrm>
            <a:off x="3074670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8" name="29"/>
          <p:cNvSpPr/>
          <p:nvPr/>
        </p:nvSpPr>
        <p:spPr>
          <a:xfrm>
            <a:off x="307467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219" name="Example thread 30 excluded"/>
          <p:cNvSpPr/>
          <p:nvPr/>
        </p:nvSpPr>
        <p:spPr>
          <a:xfrm>
            <a:off x="3204972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0" name="30"/>
          <p:cNvSpPr/>
          <p:nvPr/>
        </p:nvSpPr>
        <p:spPr>
          <a:xfrm>
            <a:off x="320497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221" name="Example thread 31 excluded"/>
          <p:cNvSpPr/>
          <p:nvPr/>
        </p:nvSpPr>
        <p:spPr>
          <a:xfrm>
            <a:off x="33352740" y="18150840"/>
            <a:ext cx="548640" cy="54864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2" name="31"/>
          <p:cNvSpPr/>
          <p:nvPr/>
        </p:nvSpPr>
        <p:spPr>
          <a:xfrm>
            <a:off x="333527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223" name="Shape"/>
          <p:cNvSpPr/>
          <p:nvPr/>
        </p:nvSpPr>
        <p:spPr>
          <a:xfrm>
            <a:off x="23591520" y="14447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24" name="Shape"/>
          <p:cNvSpPr/>
          <p:nvPr/>
        </p:nvSpPr>
        <p:spPr>
          <a:xfrm>
            <a:off x="23591520" y="16733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 name="Group Synchroniz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Synchronizers</a:t>
            </a:r>
          </a:p>
        </p:txBody>
      </p:sp>
      <p:sp>
        <p:nvSpPr>
          <p:cNvPr id="3" name="Create the synchronization mechanism for each sub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Create the synchronization mechanism for each subgroup</a:t>
            </a:r>
          </a:p>
        </p:txBody>
      </p:sp>
      <p:sp>
        <p:nvSpPr>
          <p:cNvPr id="4" name="3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5" name="Determines how the subgroups are synchronized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Determines how the subgroups are synchronized</a:t>
            </a:r>
          </a:p>
        </p:txBody>
      </p:sp>
      <p:sp>
        <p:nvSpPr>
          <p:cNvPr id="6" name="Needs to implement the `make_instance` method that returns the `/"/>
          <p:cNvSpPr/>
          <p:nvPr/>
        </p:nvSpPr>
        <p:spPr>
          <a:xfrm>
            <a:off x="1874520" y="6286500"/>
            <a:ext cx="32346900" cy="16230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returns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/*group-synchronizer-instance*/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8526780"/>
            <a:ext cx="32918400" cy="8001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9098280"/>
            <a:ext cx="31912560" cy="66751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T,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ParentGroup,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MappingResult&gt;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/*group-synchronizer*/ =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(T&amp; t,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MappingResult&amp; mapping_result)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{ t.make_instance(unit, parent_group, mapping_result) 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-&gt; /*group-synchronizer-instance*/&lt;MappingResult,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ParentGroup::hierarchy_type&gt;;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 name="Predefined Group Synchronizers — level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5" name="Current synchronizer"/>
          <p:cNvSpPr/>
          <p:nvPr/>
        </p:nvSpPr>
        <p:spPr>
          <a:xfrm>
            <a:off x="1828800" y="530352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30352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level_synchronizer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Synchronizes all threads within the group's level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Synchronizes all threads within the group's level.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1645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cudax::coop::level_synchronizer s{};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Level" descr="Supplemental synchronizer detail from repository docs and headers"/>
          <p:cNvSpPr/>
          <p:nvPr/>
        </p:nvSpPr>
        <p:spPr>
          <a:xfrm>
            <a:off x="13235940" y="12138660"/>
            <a:ext cx="36576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Level</a:t>
            </a:r>
          </a:p>
        </p:txBody>
      </p:sp>
      <p:sp>
        <p:nvSpPr>
          <p:cNvPr id="18" name="sync()" descr="Supplemental synchronizer detail from repository docs and headers"/>
          <p:cNvSpPr/>
          <p:nvPr/>
        </p:nvSpPr>
        <p:spPr>
          <a:xfrm>
            <a:off x="17259300" y="12138660"/>
            <a:ext cx="7543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9" name="sync_aligned()" descr="Supplemental synchronizer detail from repository docs and headers"/>
          <p:cNvSpPr/>
          <p:nvPr/>
        </p:nvSpPr>
        <p:spPr>
          <a:xfrm>
            <a:off x="25374600" y="12138660"/>
            <a:ext cx="89154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20" name="Shape"/>
          <p:cNvSpPr/>
          <p:nvPr/>
        </p:nvSpPr>
        <p:spPr>
          <a:xfrm>
            <a:off x="13235940" y="128016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" descr="Supplemental synchronizer detail from repository docs and headers"/>
          <p:cNvSpPr/>
          <p:nvPr/>
        </p:nvSpPr>
        <p:spPr>
          <a:xfrm>
            <a:off x="13235940" y="129844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Thread</a:t>
            </a:r>
          </a:p>
        </p:txBody>
      </p:sp>
      <p:sp>
        <p:nvSpPr>
          <p:cNvPr id="22" name="No operation" descr="Supplemental synchronizer detail from repository docs and headers"/>
          <p:cNvSpPr/>
          <p:nvPr/>
        </p:nvSpPr>
        <p:spPr>
          <a:xfrm>
            <a:off x="17259300" y="129844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3" name="No operation" descr="Supplemental synchronizer detail from repository docs and headers"/>
          <p:cNvSpPr/>
          <p:nvPr/>
        </p:nvSpPr>
        <p:spPr>
          <a:xfrm>
            <a:off x="25374600" y="129844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4" name="Shape"/>
          <p:cNvSpPr/>
          <p:nvPr/>
        </p:nvSpPr>
        <p:spPr>
          <a:xfrm>
            <a:off x="13235940" y="138303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5" name="Warp" descr="Supplemental synchronizer detail from repository docs and headers"/>
          <p:cNvSpPr/>
          <p:nvPr/>
        </p:nvSpPr>
        <p:spPr>
          <a:xfrm>
            <a:off x="13235940" y="140131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Warp</a:t>
            </a:r>
          </a:p>
        </p:txBody>
      </p:sp>
      <p:sp>
        <p:nvSpPr>
          <p:cNvPr id="26" name="`__syncwarp()`" descr="Supplemental synchronizer detail from repository docs and headers"/>
          <p:cNvSpPr/>
          <p:nvPr/>
        </p:nvSpPr>
        <p:spPr>
          <a:xfrm>
            <a:off x="17259300" y="140131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7" name="`__syncwarp()`" descr="Supplemental synchronizer detail from repository docs and headers"/>
          <p:cNvSpPr/>
          <p:nvPr/>
        </p:nvSpPr>
        <p:spPr>
          <a:xfrm>
            <a:off x="25374600" y="140131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8" name="Shape"/>
          <p:cNvSpPr/>
          <p:nvPr/>
        </p:nvSpPr>
        <p:spPr>
          <a:xfrm>
            <a:off x="13235940" y="148590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9" name="Block" descr="Supplemental synchronizer detail from repository docs and headers"/>
          <p:cNvSpPr/>
          <p:nvPr/>
        </p:nvSpPr>
        <p:spPr>
          <a:xfrm>
            <a:off x="13235940" y="150418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Block</a:t>
            </a:r>
          </a:p>
        </p:txBody>
      </p:sp>
      <p:sp>
        <p:nvSpPr>
          <p:cNvPr id="30" name="`__barrier_sync(0)`" descr="Supplemental synchronizer detail from repository docs and headers"/>
          <p:cNvSpPr/>
          <p:nvPr/>
        </p:nvSpPr>
        <p:spPr>
          <a:xfrm>
            <a:off x="17259300" y="150418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__barrier_sync(0)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`__syncthreads()`" descr="Supplemental synchronizer detail from repository docs and headers"/>
          <p:cNvSpPr/>
          <p:nvPr/>
        </p:nvSpPr>
        <p:spPr>
          <a:xfrm>
            <a:off x="25374600" y="150418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__syncthreads()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2" name="Shape"/>
          <p:cNvSpPr/>
          <p:nvPr/>
        </p:nvSpPr>
        <p:spPr>
          <a:xfrm>
            <a:off x="13235940" y="158877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3" name="Cluster" descr="Supplemental synchronizer detail from repository docs and headers"/>
          <p:cNvSpPr/>
          <p:nvPr/>
        </p:nvSpPr>
        <p:spPr>
          <a:xfrm>
            <a:off x="13235940" y="160705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Cluster</a:t>
            </a:r>
          </a:p>
        </p:txBody>
      </p:sp>
      <p:sp>
        <p:nvSpPr>
          <p:cNvPr id="34" name="Cluster arrive + wait" descr="Supplemental synchronizer detail from repository docs and headers"/>
          <p:cNvSpPr/>
          <p:nvPr/>
        </p:nvSpPr>
        <p:spPr>
          <a:xfrm>
            <a:off x="17259300" y="160705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 arrive + wait</a:t>
            </a:r>
          </a:p>
        </p:txBody>
      </p:sp>
      <p:sp>
        <p:nvSpPr>
          <p:cNvPr id="35" name="Aligned arrive + wait" descr="Supplemental synchronizer detail from repository docs and headers"/>
          <p:cNvSpPr/>
          <p:nvPr/>
        </p:nvSpPr>
        <p:spPr>
          <a:xfrm>
            <a:off x="25374600" y="160705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Aligned arrive + wait</a:t>
            </a:r>
          </a:p>
        </p:txBody>
      </p:sp>
      <p:sp>
        <p:nvSpPr>
          <p:cNvPr id="36" name="Shape"/>
          <p:cNvSpPr/>
          <p:nvPr/>
        </p:nvSpPr>
        <p:spPr>
          <a:xfrm>
            <a:off x="13235940" y="169164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7" name="Grid" descr="Supplemental synchronizer detail from repository docs and headers"/>
          <p:cNvSpPr/>
          <p:nvPr/>
        </p:nvSpPr>
        <p:spPr>
          <a:xfrm>
            <a:off x="13235940" y="170992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Grid</a:t>
            </a:r>
          </a:p>
        </p:txBody>
      </p:sp>
      <p:sp>
        <p:nvSpPr>
          <p:cNvPr id="38" name="Block + global + block barriers" descr="Supplemental synchronizer detail from repository docs and headers"/>
          <p:cNvSpPr/>
          <p:nvPr/>
        </p:nvSpPr>
        <p:spPr>
          <a:xfrm>
            <a:off x="17259300" y="170992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39" name="Block + global + block barriers" descr="Supplemental synchronizer detail from repository docs and headers"/>
          <p:cNvSpPr/>
          <p:nvPr/>
        </p:nvSpPr>
        <p:spPr>
          <a:xfrm>
            <a:off x="25374600" y="170992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40" name="Grid synchronization requires a cooperative kernel launch." descr="Supplemental synchronizer detail from repository docs and headers"/>
          <p:cNvSpPr/>
          <p:nvPr/>
        </p:nvSpPr>
        <p:spPr>
          <a:xfrm>
            <a:off x="13235940" y="18608040"/>
            <a:ext cx="2125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Grid synchronization requires a cooperative kernel launch.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 name="Predefined Group Synchronizers — lane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32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synchronizer"/>
          <p:cNvSpPr/>
          <p:nvPr/>
        </p:nvSpPr>
        <p:spPr>
          <a:xfrm>
            <a:off x="1828800" y="820674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820674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lane_synchronizer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syncwarp(mask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__syncwarp(mask)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1645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cudax::coop::lane_synchronizer s{};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213866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213866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298448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syncwarp(lane_mask)" descr="Supplemental synchronizer detail from repository docs and headers"/>
          <p:cNvSpPr/>
          <p:nvPr/>
        </p:nvSpPr>
        <p:spPr>
          <a:xfrm>
            <a:off x="13235940" y="1344168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1" name="__syncwarp(lane_mask)" descr="Supplemental synchronizer detail from repository docs and headers"/>
          <p:cNvSpPr/>
          <p:nvPr/>
        </p:nvSpPr>
        <p:spPr>
          <a:xfrm>
            <a:off x="24094440" y="1344168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49733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Uses the final mapping result’s lane mask.&#10;For groups of threads " descr="Supplemental synchronizer detail from repository docs and headers"/>
          <p:cNvSpPr/>
          <p:nvPr/>
        </p:nvSpPr>
        <p:spPr>
          <a:xfrm>
            <a:off x="13235940" y="16893540"/>
            <a:ext cx="21259800" cy="1645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Uses the final mapping result’s lane mask.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groups of threads within a single warp.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>
  <p:cSld name="Predefined Group Synchronizers — interwarp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33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synchronizer"/>
          <p:cNvSpPr/>
          <p:nvPr/>
        </p:nvSpPr>
        <p:spPr>
          <a:xfrm>
            <a:off x="1828800" y="1110996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1110996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interwarp_synchronizer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barrier_sync_count(barrier_id, nthreads)` for synchroniza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Array of warp barrier IDs.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cuda::std::array array{1, 3, 5, 7};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The constructor accepts any range of warp barrier IDs.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cudax::coop::interwarp_synchronizer s{array};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barrier_sync_count(barrier_id, nthreads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9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1" name="__barrier_sync_count(barrier_id, nthreads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9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For warps within one block; both calls use the counted, unaligned" descr="Supplemental synchronizer detail from repository docs and headers"/>
          <p:cNvSpPr/>
          <p:nvPr/>
        </p:nvSpPr>
        <p:spPr>
          <a:xfrm>
            <a:off x="13235940" y="16893540"/>
            <a:ext cx="21259800" cy="2011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For warps within one block; both calls use the counted, unaligned barrier.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Use unique barrier IDs 1–15, one per subgroup.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 name="Predefined Group Synchronizers — barrier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34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synchronizer"/>
          <p:cNvSpPr/>
          <p:nvPr/>
        </p:nvSpPr>
        <p:spPr>
          <a:xfrm>
            <a:off x="1828800" y="1401318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401318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barrier_synchronizer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cuda::barrier::arrive_and_wait(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cuda::barrier::arrive_and_wait()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Array of uninitialized block-scope barriers in shared memory.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__shared__ cuda::barrier&lt;cuda::thread_scope_block&gt; block_barriers[8];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The constructor accepts a contiguous range of CUDA barriers.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cudax::coop::barrier_synchronizer s{block_barriers};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barrier.arrive_and_wait(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1" name="barrier.arrive_and_wait(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Pass uninitialized barriers; one is assigned to each subgroup.&#10;Th" descr="Supplemental synchronizer detail from repository docs and headers"/>
          <p:cNvSpPr/>
          <p:nvPr/>
        </p:nvSpPr>
        <p:spPr>
          <a:xfrm>
            <a:off x="13235940" y="16893540"/>
            <a:ext cx="21259800" cy="2011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Pass uninitialized barriers; one is assigned to each subgroup.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The barrier scope must cover the group’s upper boundary.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 name="Optional participation — What we had previously — Scenari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1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had previously · Scenario 1</a:t>
            </a:r>
          </a:p>
        </p:txBody>
      </p:sp>
      <p:sp>
        <p:nvSpPr>
          <p:cNvPr id="4" name="3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35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assert(cuda::gpu_thread.is_part_of(group));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what_we_had(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cudax::coop::generic_group g{cuda::gpu_thread,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cudax::coop::group_by{3},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cudax::coop::lane_synchronizer{}};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coop_algorithm(g, ...);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 name="Optional participation — What we had previously — Scenari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2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had previously · Scenario 2</a:t>
            </a:r>
          </a:p>
        </p:txBody>
      </p:sp>
      <p:sp>
        <p:nvSpPr>
          <p:cNvPr id="4" name="3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36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assert(cuda::gpu_thread.is_part_of(group));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what_we_had(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cudax::coop::generic_group g{cuda::gpu_thread,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cudax::coop::group_by{cudax::coop::non_exhaustive, 3},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cudax::coop::lane_synchronizer{}};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coop_algorithm(g, ...);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 name="Optional participation — What we had previously — Scenari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3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had previously · Scenario 3</a:t>
            </a:r>
          </a:p>
        </p:txBody>
      </p:sp>
      <p:sp>
        <p:nvSpPr>
          <p:cNvPr id="4" name="3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37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493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assert(cuda::gpu_thread.is_part_of(group));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493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what_we_had(</a:t>
            </a:r>
            <a:r>
              <a:rPr lang="en-US" sz="3493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493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cudax::coop::generic_group g{cuda::gpu_thread,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                             cudax::coop::this_warp{config},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                             cudax::coop::group_by{cudax::coop::non_exhaustive, 3},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                             cudax::coop::lane_synchronizer{}};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493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if (cuda::gpu_thread.is_part_of(g))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{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  coop_algorithm(g, ...);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  }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r>
              <a:rPr lang="en-US" sz="3493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493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843"/>
              </a:lnSpc>
              <a:spcBef>
                <a:spcPts val="0"/>
              </a:spcBef>
              <a:spcAft>
                <a:spcPts val="0"/>
              </a:spcAft>
              <a:buNone/>
              <a:defRPr lang="en-US" sz="3493" b="0">
                <a:solidFill>
                  <a:schemeClr val="dk1"/>
                </a:solidFill>
                <a:latin typeface="DejaVu Sans Mono"/>
              </a:defRPr>
            </a:pPr>
            <a:endParaRPr lang="en-US" sz="3493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 name="Optional participation — What we had previously — 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Conclus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had previously · Conclusion</a:t>
            </a:r>
          </a:p>
        </p:txBody>
      </p:sp>
      <p:sp>
        <p:nvSpPr>
          <p:cNvPr id="4" name="3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38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9834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peated checks"/>
          <p:cNvSpPr/>
          <p:nvPr/>
        </p:nvSpPr>
        <p:spPr>
          <a:xfrm>
            <a:off x="25146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Repeated checks</a:t>
            </a:r>
          </a:p>
        </p:txBody>
      </p:sp>
      <p:sp>
        <p:nvSpPr>
          <p:cNvPr id="9" name="You need to constantly check whether a group is valid"/>
          <p:cNvSpPr/>
          <p:nvPr/>
        </p:nvSpPr>
        <p:spPr>
          <a:xfrm>
            <a:off x="25146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0">
                <a:solidFill>
                  <a:schemeClr val="dk1"/>
                </a:solidFill>
                <a:latin typeface="NVIDIA Sans"/>
              </a:rPr>
              <a:t xml:space="preserve">You need to constantly check whether a group is valid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nvalid objects"/>
          <p:cNvSpPr/>
          <p:nvPr/>
        </p:nvSpPr>
        <p:spPr>
          <a:xfrm>
            <a:off x="195453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Invalid objects</a:t>
            </a:r>
          </a:p>
        </p:txBody>
      </p:sp>
      <p:sp>
        <p:nvSpPr>
          <p:cNvPr id="13" name="It's easy to make a mistake, because you are left with an invalid"/>
          <p:cNvSpPr/>
          <p:nvPr/>
        </p:nvSpPr>
        <p:spPr>
          <a:xfrm>
            <a:off x="195453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0">
                <a:solidFill>
                  <a:schemeClr val="dk1"/>
                </a:solidFill>
                <a:latin typeface="NVIDIA Sans"/>
              </a:rPr>
              <a:t xml:space="preserve">It's easy to make a mistake, because you are left with an invalid object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>
  <p:cSld name="Optional participation — What we have now — Factory A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Factory API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have now · Factory API</a:t>
            </a:r>
          </a:p>
        </p:txBody>
      </p:sp>
      <p:sp>
        <p:nvSpPr>
          <p:cNvPr id="4" name="3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39</a:t>
            </a:r>
          </a:p>
        </p:txBody>
      </p:sp>
      <p:sp>
        <p:nvSpPr>
          <p:cNvPr id="5" name="Exhaustivity is a construction parameter."/>
          <p:cNvSpPr/>
          <p:nvPr/>
        </p:nvSpPr>
        <p:spPr>
          <a:xfrm>
            <a:off x="1874520" y="48691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Exhaustivity is a construction parameter.</a:t>
            </a:r>
          </a:p>
        </p:txBody>
      </p:sp>
      <p:sp>
        <p:nvSpPr>
          <p:cNvPr id="6" name=".. but for that we need a factory function, that returns `cuda::s"/>
          <p:cNvSpPr/>
          <p:nvPr/>
        </p:nvSpPr>
        <p:spPr>
          <a:xfrm>
            <a:off x="1874520" y="6240780"/>
            <a:ext cx="3234690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320" b="0">
                <a:solidFill>
                  <a:schemeClr val="dk1"/>
                </a:solidFill>
                <a:latin typeface="NVIDIA Sans"/>
              </a:rPr>
              <a:t xml:space="preserve">.. but for that we need a factory function, that returns </a:t>
            </a:r>
            <a:r>
              <a:rPr lang="en-US" sz="4320" b="0">
                <a:solidFill>
                  <a:schemeClr val="dk1"/>
                </a:solidFill>
                <a:latin typeface="DejaVu Sans Mono"/>
              </a:rPr>
              <a:t xml:space="preserve">cuda::std::optional</a:t>
            </a:r>
            <a:r>
              <a:rPr lang="en-US" sz="432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Shape"/>
          <p:cNvSpPr/>
          <p:nvPr/>
        </p:nvSpPr>
        <p:spPr>
          <a:xfrm>
            <a:off x="1828800" y="8343900"/>
            <a:ext cx="21945600" cy="7086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286000" y="8846820"/>
            <a:ext cx="21031200" cy="60807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...&gt;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GroupTempl&gt;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[[nodiscard]] __device__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make_group(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&amp;&amp;... args)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-&gt; /*GroupTempl-instantiated-with-args*/;            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...&gt;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GroupTempl&gt;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[[nodiscard]] __device__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make_group(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non_exhaustive_t&amp;,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&amp;&amp;... args)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-&gt; cuda::std::optional&lt;/*GroupTempl-instantiated-with-args*/&gt;;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1"/>
          <p:cNvSpPr/>
          <p:nvPr/>
        </p:nvSpPr>
        <p:spPr>
          <a:xfrm>
            <a:off x="24688800" y="8732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0" name="Equivalent to `GroupTempl{args...}`."/>
          <p:cNvSpPr/>
          <p:nvPr/>
        </p:nvSpPr>
        <p:spPr>
          <a:xfrm>
            <a:off x="25808940" y="87325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Equivalent to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GroupTempl{args...}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.</a:t>
            </a:r>
          </a:p>
        </p:txBody>
      </p:sp>
      <p:sp>
        <p:nvSpPr>
          <p:cNvPr id="11" name="2"/>
          <p:cNvSpPr/>
          <p:nvPr/>
        </p:nvSpPr>
        <p:spPr>
          <a:xfrm>
            <a:off x="24688800" y="118186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2" name="Does non-exhaustive mapping and optionally returns the initialize"/>
          <p:cNvSpPr/>
          <p:nvPr/>
        </p:nvSpPr>
        <p:spPr>
          <a:xfrm>
            <a:off x="25808940" y="118186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Does non-exhaustive mapping and optionally returns the initialized group.</a:t>
            </a:r>
          </a:p>
        </p:txBody>
      </p:sp>
      <p:sp>
        <p:nvSpPr>
          <p:cNvPr id="13" name="Shape"/>
          <p:cNvSpPr/>
          <p:nvPr/>
        </p:nvSpPr>
        <p:spPr>
          <a:xfrm>
            <a:off x="1828800" y="16642080"/>
            <a:ext cx="329184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s a consequence, a group object is never invalid."/>
          <p:cNvSpPr/>
          <p:nvPr/>
        </p:nvSpPr>
        <p:spPr>
          <a:xfrm>
            <a:off x="1874520" y="17487900"/>
            <a:ext cx="32346900" cy="11658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1">
                <a:solidFill>
                  <a:schemeClr val="dk1"/>
                </a:solidFill>
                <a:latin typeface="NVIDIA Sans Medium"/>
              </a:rPr>
              <a:t xml:space="preserve">As a consequence, a group object is never invalid.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>
  <p:cSld name="Optional participation — What we have now — Scenario 1 works the same as bef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1 works the same as before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have now · Scenario 1 works the same as before</a:t>
            </a:r>
          </a:p>
        </p:txBody>
      </p:sp>
      <p:sp>
        <p:nvSpPr>
          <p:cNvPr id="4" name="4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40</a:t>
            </a:r>
          </a:p>
        </p:txBody>
      </p:sp>
      <p:sp>
        <p:nvSpPr>
          <p:cNvPr id="5" name="Scenario 1 works the same as before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Scenario 1 works the same as before.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what_we_have(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cudax::coop::generic_group g{cuda::gpu_thread,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cudax::coop::group_by{3},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cudax::coop::lane_synchronizer{}};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coop_algorithm(g, ...);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>
  <p:cSld name="Optional participation — What we have now — Scenario 2 · Un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2 · Unchecked optional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have now · Scenario 2 · Unchecked optional</a:t>
            </a:r>
          </a:p>
        </p:txBody>
      </p:sp>
      <p:sp>
        <p:nvSpPr>
          <p:cNvPr id="4" name="4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41</a:t>
            </a:r>
          </a:p>
        </p:txBody>
      </p:sp>
      <p:sp>
        <p:nvSpPr>
          <p:cNvPr id="5" name="An empty optional is dereferenced before checking participation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An empty optional is dereferenced before checking participation.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what_we_have(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g = cudax::coop::make_optional_group&lt;cudax::coop::generic_group&gt;(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cudax::coop::group_by{3},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cudax::coop::lane_synchronizer{});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coop_algorithm(*g, ...);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 inside optional::operator*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>
  <p:cSld name="Optional participation — What we have now — Scenario 3 · 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3 · Checked optional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we have now · Scenario 3 · Checked optional</a:t>
            </a:r>
          </a:p>
        </p:txBody>
      </p:sp>
      <p:sp>
        <p:nvSpPr>
          <p:cNvPr id="4" name="4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42</a:t>
            </a:r>
          </a:p>
        </p:txBody>
      </p:sp>
      <p:sp>
        <p:nvSpPr>
          <p:cNvPr id="5" name="Check the optional before calling the cooperative algorithm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Check the optional before calling the cooperative algorithm.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2242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__device__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coop_algorithm(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 group, ...)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__global__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what_we_have(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config)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g = cudax::coop::make_optional_group&lt;cudax::coop::generic_group&gt;(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cuda::gpu_thread,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cudax::coop::this_warp{config},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cudax::coop::group_by{3},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cudax::coop::lane_synchronizer{});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if (g)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coop_algorithm(*g, ...);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>
  <p:cSld name="Interoperability with CTK’s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teroperability with CTK’s Cooperative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Interoperability with CTK’s Cooperative Groups</a:t>
            </a:r>
          </a:p>
        </p:txBody>
      </p:sp>
      <p:sp>
        <p:nvSpPr>
          <p:cNvPr id="3" name="Equivalent groups through the factory API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Equivalent groups through the factory API</a:t>
            </a:r>
          </a:p>
        </p:txBody>
      </p:sp>
      <p:sp>
        <p:nvSpPr>
          <p:cNvPr id="4" name="4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43</a:t>
            </a:r>
          </a:p>
        </p:txBody>
      </p:sp>
      <p:sp>
        <p:nvSpPr>
          <p:cNvPr id="5" name="Every CTK's Cooperative Groups group has a CCCL equivalent."/>
          <p:cNvSpPr/>
          <p:nvPr/>
        </p:nvSpPr>
        <p:spPr>
          <a:xfrm>
            <a:off x="1874520" y="4892040"/>
            <a:ext cx="32346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Every CTK's Cooperative Groups group has a CCCL equivalent.</a:t>
            </a:r>
          </a:p>
        </p:txBody>
      </p:sp>
      <p:sp>
        <p:nvSpPr>
          <p:cNvPr id="6" name="CTK Cooperative Groups"/>
          <p:cNvSpPr/>
          <p:nvPr/>
        </p:nvSpPr>
        <p:spPr>
          <a:xfrm>
            <a:off x="2286000" y="6446520"/>
            <a:ext cx="144018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CTK Cooperative Groups</a:t>
            </a:r>
          </a:p>
        </p:txBody>
      </p:sp>
      <p:sp>
        <p:nvSpPr>
          <p:cNvPr id="7" name="CCCL Cooperative Groups"/>
          <p:cNvSpPr/>
          <p:nvPr/>
        </p:nvSpPr>
        <p:spPr>
          <a:xfrm>
            <a:off x="17716500" y="6446520"/>
            <a:ext cx="165735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73380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9" name="thread_block" descr="Supplemental interoperability detail from repository make_group.cuh"/>
          <p:cNvSpPr/>
          <p:nvPr/>
        </p:nvSpPr>
        <p:spPr>
          <a:xfrm>
            <a:off x="2286000" y="75666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thread_block</a:t>
            </a:r>
          </a:p>
        </p:txBody>
      </p:sp>
      <p:sp>
        <p:nvSpPr>
          <p:cNvPr id="10" name="this_block" descr="Supplemental interoperability detail from repository make_group.cuh"/>
          <p:cNvSpPr/>
          <p:nvPr/>
        </p:nvSpPr>
        <p:spPr>
          <a:xfrm>
            <a:off x="17716500" y="75666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this_block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83667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cluster_group" descr="Supplemental interoperability detail from repository make_group.cuh"/>
          <p:cNvSpPr/>
          <p:nvPr/>
        </p:nvSpPr>
        <p:spPr>
          <a:xfrm>
            <a:off x="2286000" y="85953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cluster_group</a:t>
            </a:r>
          </a:p>
        </p:txBody>
      </p:sp>
      <p:sp>
        <p:nvSpPr>
          <p:cNvPr id="13" name="this_cluster" descr="Supplemental interoperability detail from repository make_group.cuh"/>
          <p:cNvSpPr/>
          <p:nvPr/>
        </p:nvSpPr>
        <p:spPr>
          <a:xfrm>
            <a:off x="17716500" y="85953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this_cluster</a:t>
            </a:r>
          </a:p>
        </p:txBody>
      </p:sp>
      <p:sp>
        <p:nvSpPr>
          <p:cNvPr id="14" name="Shape"/>
          <p:cNvSpPr/>
          <p:nvPr/>
        </p:nvSpPr>
        <p:spPr>
          <a:xfrm>
            <a:off x="1828800" y="93954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5" name="grid_group" descr="Supplemental interoperability detail from repository make_group.cuh"/>
          <p:cNvSpPr/>
          <p:nvPr/>
        </p:nvSpPr>
        <p:spPr>
          <a:xfrm>
            <a:off x="2286000" y="96240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grid_group</a:t>
            </a:r>
          </a:p>
        </p:txBody>
      </p:sp>
      <p:sp>
        <p:nvSpPr>
          <p:cNvPr id="16" name="this_grid" descr="Supplemental interoperability detail from repository make_group.cuh"/>
          <p:cNvSpPr/>
          <p:nvPr/>
        </p:nvSpPr>
        <p:spPr>
          <a:xfrm>
            <a:off x="17716500" y="96240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this_grid</a:t>
            </a:r>
          </a:p>
        </p:txBody>
      </p:sp>
      <p:sp>
        <p:nvSpPr>
          <p:cNvPr id="17" name="Shape"/>
          <p:cNvSpPr/>
          <p:nvPr/>
        </p:nvSpPr>
        <p:spPr>
          <a:xfrm>
            <a:off x="1828800" y="104241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8" name="thread_block_tile&lt;1&gt; (standalone)" descr="Supplemental interoperability detail from repository make_group.cuh"/>
          <p:cNvSpPr/>
          <p:nvPr/>
        </p:nvSpPr>
        <p:spPr>
          <a:xfrm>
            <a:off x="2286000" y="106527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thread_block_tile&lt;1&gt; (standalone)</a:t>
            </a:r>
          </a:p>
        </p:txBody>
      </p:sp>
      <p:sp>
        <p:nvSpPr>
          <p:cNvPr id="19" name="this_thread" descr="Supplemental interoperability detail from repository make_group.cuh"/>
          <p:cNvSpPr/>
          <p:nvPr/>
        </p:nvSpPr>
        <p:spPr>
          <a:xfrm>
            <a:off x="17716500" y="106527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this_thread</a:t>
            </a:r>
          </a:p>
        </p:txBody>
      </p:sp>
      <p:sp>
        <p:nvSpPr>
          <p:cNvPr id="20" name="Shape"/>
          <p:cNvSpPr/>
          <p:nvPr/>
        </p:nvSpPr>
        <p:spPr>
          <a:xfrm>
            <a:off x="1828800" y="114528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_block_tile&lt;32&gt; (block parent)" descr="Supplemental interoperability detail from repository make_group.cuh"/>
          <p:cNvSpPr/>
          <p:nvPr/>
        </p:nvSpPr>
        <p:spPr>
          <a:xfrm>
            <a:off x="2286000" y="116814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thread_block_tile&lt;32&gt; (block parent)</a:t>
            </a:r>
          </a:p>
        </p:txBody>
      </p:sp>
      <p:sp>
        <p:nvSpPr>
          <p:cNvPr id="22" name="this_warp" descr="Supplemental interoperability detail from repository make_group.cuh"/>
          <p:cNvSpPr/>
          <p:nvPr/>
        </p:nvSpPr>
        <p:spPr>
          <a:xfrm>
            <a:off x="17716500" y="116814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this_warp</a:t>
            </a:r>
          </a:p>
        </p:txBody>
      </p:sp>
      <p:sp>
        <p:nvSpPr>
          <p:cNvPr id="23" name="Shape"/>
          <p:cNvSpPr/>
          <p:nvPr/>
        </p:nvSpPr>
        <p:spPr>
          <a:xfrm>
            <a:off x="1828800" y="124815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4" name="thread_block_tile&lt;Size&gt;, Size &lt; 32" descr="Supplemental interoperability detail from repository make_group.cuh"/>
          <p:cNvSpPr/>
          <p:nvPr/>
        </p:nvSpPr>
        <p:spPr>
          <a:xfrm>
            <a:off x="2286000" y="127101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thread_block_tile&lt;Size&gt;, Size &lt; 32</a:t>
            </a:r>
          </a:p>
        </p:txBody>
      </p:sp>
      <p:sp>
        <p:nvSpPr>
          <p:cNvPr id="25" name="generic_group + group_by&lt;Size&gt; + lane_synchronizer" descr="Supplemental interoperability detail from repository make_group.cuh"/>
          <p:cNvSpPr/>
          <p:nvPr/>
        </p:nvSpPr>
        <p:spPr>
          <a:xfrm>
            <a:off x="17716500" y="127101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90" b="0">
                <a:solidFill>
                  <a:schemeClr val="dk1"/>
                </a:solidFill>
                <a:latin typeface="DejaVu Sans Mono"/>
              </a:rPr>
              <a:t xml:space="preserve">generic_group + group_by&lt;Size&gt; + lane_synchronizer</a:t>
            </a:r>
          </a:p>
        </p:txBody>
      </p:sp>
      <p:sp>
        <p:nvSpPr>
          <p:cNvPr id="26" name="Shape"/>
          <p:cNvSpPr/>
          <p:nvPr/>
        </p:nvSpPr>
        <p:spPr>
          <a:xfrm>
            <a:off x="1828800" y="135102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7" name="coalesced_group" descr="Supplemental interoperability detail from repository make_group.cuh"/>
          <p:cNvSpPr/>
          <p:nvPr/>
        </p:nvSpPr>
        <p:spPr>
          <a:xfrm>
            <a:off x="2286000" y="137388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</a:p>
        </p:txBody>
      </p:sp>
      <p:sp>
        <p:nvSpPr>
          <p:cNvPr id="28" name="coalesced_group (untiled)" descr="Supplemental interoperability detail from repository make_group.cuh"/>
          <p:cNvSpPr/>
          <p:nvPr/>
        </p:nvSpPr>
        <p:spPr>
          <a:xfrm>
            <a:off x="17716500" y="137388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coalesced_group (untiled)</a:t>
            </a:r>
          </a:p>
        </p:txBody>
      </p:sp>
      <p:sp>
        <p:nvSpPr>
          <p:cNvPr id="29" name="We can just extend the `make_group` factory function:"/>
          <p:cNvSpPr/>
          <p:nvPr/>
        </p:nvSpPr>
        <p:spPr>
          <a:xfrm>
            <a:off x="1874520" y="16207740"/>
            <a:ext cx="323469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320" b="0">
                <a:solidFill>
                  <a:schemeClr val="dk1"/>
                </a:solidFill>
                <a:latin typeface="NVIDIA Sans"/>
              </a:rPr>
              <a:t xml:space="preserve">We can just extend the </a:t>
            </a:r>
            <a:r>
              <a:rPr lang="en-US" sz="432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4320" b="0">
                <a:solidFill>
                  <a:schemeClr val="dk1"/>
                </a:solidFill>
                <a:latin typeface="NVIDIA Sans"/>
              </a:rPr>
              <a:t xml:space="preserve"> factory function:</a:t>
            </a:r>
          </a:p>
        </p:txBody>
      </p:sp>
      <p:sp>
        <p:nvSpPr>
          <p:cNvPr id="30" name="Shape"/>
          <p:cNvSpPr/>
          <p:nvPr/>
        </p:nvSpPr>
        <p:spPr>
          <a:xfrm>
            <a:off x="1828800" y="17259300"/>
            <a:ext cx="32918400" cy="17373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31" name="Verbatim C++ snippet" descr="Verbatim fenced C++ snippet from slides.md"/>
          <p:cNvSpPr/>
          <p:nvPr/>
        </p:nvSpPr>
        <p:spPr>
          <a:xfrm>
            <a:off x="2331720" y="17510760"/>
            <a:ext cx="31912560" cy="1371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[[nodiscard]] __device__ group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make_group(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cg_group,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hierarchy_like)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>
  <p:cSld name="Thank you for your atten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 you&#10;for your attention"/>
          <p:cNvSpPr/>
          <p:nvPr/>
        </p:nvSpPr>
        <p:spPr>
          <a:xfrm>
            <a:off x="18059400" y="2537460"/>
            <a:ext cx="16687800" cy="5257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Thank you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44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